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322" r:id="rId2"/>
    <p:sldId id="374" r:id="rId3"/>
    <p:sldId id="375" r:id="rId4"/>
    <p:sldId id="376" r:id="rId5"/>
    <p:sldId id="377" r:id="rId6"/>
    <p:sldId id="378" r:id="rId7"/>
    <p:sldId id="379" r:id="rId8"/>
    <p:sldId id="380" r:id="rId9"/>
    <p:sldId id="381" r:id="rId10"/>
    <p:sldId id="382" r:id="rId11"/>
    <p:sldId id="383" r:id="rId12"/>
    <p:sldId id="384" r:id="rId13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1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1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1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1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FFCC66"/>
    <a:srgbClr val="F5E985"/>
    <a:srgbClr val="DE2C28"/>
    <a:srgbClr val="FF4C00"/>
    <a:srgbClr val="953A1F"/>
    <a:srgbClr val="27333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614" autoAdjust="0"/>
    <p:restoredTop sz="94660" autoAdjust="0"/>
  </p:normalViewPr>
  <p:slideViewPr>
    <p:cSldViewPr>
      <p:cViewPr varScale="1">
        <p:scale>
          <a:sx n="105" d="100"/>
          <a:sy n="105" d="100"/>
        </p:scale>
        <p:origin x="1050" y="96"/>
      </p:cViewPr>
      <p:guideLst>
        <p:guide orient="horz" pos="912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43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8.xml"/><Relationship Id="rId2" Type="http://schemas.openxmlformats.org/officeDocument/2006/relationships/slide" Target="slides/slide4.xml"/><Relationship Id="rId1" Type="http://schemas.openxmlformats.org/officeDocument/2006/relationships/slide" Target="slides/slide2.xml"/><Relationship Id="rId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 smtClean="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 smtClean="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 smtClean="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 smtClean="0">
                <a:ea typeface="굴림" pitchFamily="50" charset="-127"/>
              </a:defRPr>
            </a:lvl1pPr>
          </a:lstStyle>
          <a:p>
            <a:pPr>
              <a:defRPr/>
            </a:pPr>
            <a:fld id="{93FA5576-FA53-430E-85B1-525A14BBF9B6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078874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 smtClean="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 smtClean="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5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 smtClean="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 smtClean="0">
                <a:ea typeface="굴림" pitchFamily="50" charset="-127"/>
              </a:defRPr>
            </a:lvl1pPr>
          </a:lstStyle>
          <a:p>
            <a:pPr>
              <a:defRPr/>
            </a:pPr>
            <a:fld id="{BBD0A32E-1BC3-4B95-B2A7-68184E3479B6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00850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2556ACE-81A5-4193-84DF-A26714D1878B}" type="slidenum">
              <a:rPr lang="ko-KR" altLang="en-US"/>
              <a:pPr/>
              <a:t>1</a:t>
            </a:fld>
            <a:endParaRPr lang="en-US" altLang="ko-KR"/>
          </a:p>
        </p:txBody>
      </p:sp>
      <p:sp>
        <p:nvSpPr>
          <p:cNvPr id="227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7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9043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06BA09-04C4-4E11-9091-C2AEA4B9CA92}" type="slidenum">
              <a:rPr lang="ko-KR" altLang="en-US"/>
              <a:pPr/>
              <a:t>2</a:t>
            </a:fld>
            <a:endParaRPr lang="en-US" altLang="ko-KR"/>
          </a:p>
        </p:txBody>
      </p:sp>
      <p:sp>
        <p:nvSpPr>
          <p:cNvPr id="228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8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177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9A63B7-04B0-4447-9B6B-04A40DFF260C}" type="slidenum">
              <a:rPr lang="ko-KR" altLang="en-US"/>
              <a:pPr/>
              <a:t>3</a:t>
            </a:fld>
            <a:endParaRPr lang="en-US" altLang="ko-KR"/>
          </a:p>
        </p:txBody>
      </p:sp>
      <p:sp>
        <p:nvSpPr>
          <p:cNvPr id="229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9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7755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F2F4D4-2F7C-467C-ADBC-BB9BF1CD3BD2}" type="slidenum">
              <a:rPr lang="ko-KR" altLang="en-US"/>
              <a:pPr/>
              <a:t>4</a:t>
            </a:fld>
            <a:endParaRPr lang="en-US" altLang="ko-KR"/>
          </a:p>
        </p:txBody>
      </p:sp>
      <p:sp>
        <p:nvSpPr>
          <p:cNvPr id="230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30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878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EE7A537-B5E3-4319-B1EC-5C7C3EDA43DC}" type="slidenum">
              <a:rPr lang="ko-KR" altLang="en-US"/>
              <a:pPr/>
              <a:t>5</a:t>
            </a:fld>
            <a:endParaRPr lang="en-US" altLang="ko-KR"/>
          </a:p>
        </p:txBody>
      </p:sp>
      <p:sp>
        <p:nvSpPr>
          <p:cNvPr id="231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31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4679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70577CE-D245-4DBB-A24C-67FB84E20105}" type="slidenum">
              <a:rPr lang="ko-KR" altLang="en-US"/>
              <a:pPr/>
              <a:t>6</a:t>
            </a:fld>
            <a:endParaRPr lang="en-US" altLang="ko-KR"/>
          </a:p>
        </p:txBody>
      </p:sp>
      <p:sp>
        <p:nvSpPr>
          <p:cNvPr id="232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32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13912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0FEAD2-6519-4D69-8232-76533B5E285B}" type="slidenum">
              <a:rPr lang="ko-KR" altLang="en-US"/>
              <a:pPr/>
              <a:t>7</a:t>
            </a:fld>
            <a:endParaRPr lang="en-US" altLang="ko-KR"/>
          </a:p>
        </p:txBody>
      </p:sp>
      <p:sp>
        <p:nvSpPr>
          <p:cNvPr id="233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33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59680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4EAF592-E061-443B-97B0-B3F90FAD17BB}" type="slidenum">
              <a:rPr lang="ko-KR" altLang="en-US"/>
              <a:pPr/>
              <a:t>8</a:t>
            </a:fld>
            <a:endParaRPr lang="en-US" altLang="ko-KR"/>
          </a:p>
        </p:txBody>
      </p:sp>
      <p:sp>
        <p:nvSpPr>
          <p:cNvPr id="234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34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56590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4C0902-DCAD-46AE-9EFF-BB38E6719A31}" type="slidenum">
              <a:rPr lang="ko-KR" altLang="en-US"/>
              <a:pPr/>
              <a:t>9</a:t>
            </a:fld>
            <a:endParaRPr lang="en-US" altLang="ko-KR"/>
          </a:p>
        </p:txBody>
      </p:sp>
      <p:sp>
        <p:nvSpPr>
          <p:cNvPr id="235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35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26365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88CF2D-227A-44B1-A708-1896A5F2DC84}" type="slidenum">
              <a:rPr lang="ko-KR" altLang="en-US"/>
              <a:pPr/>
              <a:t>10</a:t>
            </a:fld>
            <a:endParaRPr lang="en-US" altLang="ko-KR"/>
          </a:p>
        </p:txBody>
      </p:sp>
      <p:sp>
        <p:nvSpPr>
          <p:cNvPr id="236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36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7064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BAD463-9178-45CA-9789-2CC72E6F414C}" type="slidenum">
              <a:rPr lang="ko-KR" altLang="en-US"/>
              <a:pPr/>
              <a:t>11</a:t>
            </a:fld>
            <a:endParaRPr lang="en-US" altLang="ko-KR"/>
          </a:p>
        </p:txBody>
      </p:sp>
      <p:sp>
        <p:nvSpPr>
          <p:cNvPr id="237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37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44946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17BC6A-E41C-4AE3-BDE7-237263651EAE}" type="slidenum">
              <a:rPr lang="ko-KR" altLang="en-US"/>
              <a:pPr/>
              <a:t>12</a:t>
            </a:fld>
            <a:endParaRPr lang="en-US" altLang="ko-KR"/>
          </a:p>
        </p:txBody>
      </p:sp>
      <p:sp>
        <p:nvSpPr>
          <p:cNvPr id="238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38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489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제목 슬라이드">
    <p:bg>
      <p:bgPr>
        <a:gradFill rotWithShape="0">
          <a:gsLst>
            <a:gs pos="0">
              <a:srgbClr val="FFCC66"/>
            </a:gs>
            <a:gs pos="100000">
              <a:srgbClr val="FF993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304800" y="1295400"/>
            <a:ext cx="548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3200" dirty="0">
                <a:solidFill>
                  <a:srgbClr val="953A1F"/>
                </a:solidFill>
                <a:ea typeface="굴림" pitchFamily="50" charset="-127"/>
              </a:rPr>
              <a:t>객체지향 프로그래밍</a:t>
            </a:r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663825"/>
            <a:ext cx="7772400" cy="2365375"/>
          </a:xfrm>
        </p:spPr>
        <p:txBody>
          <a:bodyPr/>
          <a:lstStyle>
            <a:lvl1pPr algn="ctr">
              <a:defRPr>
                <a:solidFill>
                  <a:srgbClr val="953A1F"/>
                </a:solidFill>
                <a:ea typeface="굴림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  <p:transition spd="med">
    <p:wheel spokes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한국항공대학교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576BF5-840A-4EEF-91FA-34709C0CA24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wheel spokes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한국항공대학교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8403B2-225D-4DFD-B332-7E11AD87D80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wheel spokes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990600" y="1219200"/>
            <a:ext cx="38862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219200"/>
            <a:ext cx="38862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한국항공대학교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23E957-F0D9-4D39-A489-CCA9AA8B7BC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wheel spokes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한국항공대학교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6EE1FB-ECEC-407F-8C9B-AB697FF3153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wheel spokes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한국항공대학교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6CB3C1-B5A5-4EC0-86DB-DAAF7997DC5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wheel spokes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한국항공대학교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35B1F7-9D6B-44F0-8C5D-B8AA570A8CB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wheel spokes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한국항공대학교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178323-6F48-42D8-BBA7-809E554E53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wheel spokes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한국항공대학교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D9BEA0-CE39-4A65-9E51-32CB2CD80D2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wheel spokes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한국항공대학교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BE629-D582-4A28-BD43-B96668C884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wheel spokes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934200" y="304800"/>
            <a:ext cx="1981200" cy="5867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990600" y="304800"/>
            <a:ext cx="5791200" cy="5867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한국항공대학교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6A538F-A160-4654-AB15-7968FA4930A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wheel spokes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0600" y="304800"/>
            <a:ext cx="7924800" cy="685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990600" y="1219200"/>
            <a:ext cx="3886200" cy="4953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219200"/>
            <a:ext cx="3886200" cy="4953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한국항공대학교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AD1101-A753-4EEC-A912-9B34DBD1395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wheel spokes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304800"/>
            <a:ext cx="7924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1219200"/>
            <a:ext cx="79248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90600" y="6324600"/>
            <a:ext cx="3505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FF4C00"/>
                </a:solidFill>
                <a:latin typeface="+mn-lt"/>
                <a:ea typeface="굴림" pitchFamily="50" charset="-127"/>
                <a:cs typeface="Arial" pitchFamily="34" charset="0"/>
              </a:defRPr>
            </a:lvl1pPr>
          </a:lstStyle>
          <a:p>
            <a:pPr>
              <a:defRPr/>
            </a:pPr>
            <a:r>
              <a:rPr lang="ko-KR" altLang="en-US" dirty="0"/>
              <a:t>한국항공대학교 항공전자정보공학부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3246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FF4C00"/>
                </a:solidFill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A0C4684F-4D9A-4FE4-BFD0-BEA05012ED6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5638800" y="0"/>
            <a:ext cx="3276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r">
              <a:defRPr/>
            </a:pPr>
            <a:r>
              <a:rPr lang="en-US" altLang="ko-KR" sz="1200">
                <a:solidFill>
                  <a:srgbClr val="FF4C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GUI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 spd="med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/>
      <p:bldP spid="1027" grpId="0" build="p" bldLvl="2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4C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4C00"/>
          </a:solidFill>
          <a:latin typeface="Arial" pitchFamily="34" charset="0"/>
          <a:ea typeface="바탕체" pitchFamily="17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4C00"/>
          </a:solidFill>
          <a:latin typeface="Arial" pitchFamily="34" charset="0"/>
          <a:ea typeface="바탕체" pitchFamily="17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4C00"/>
          </a:solidFill>
          <a:latin typeface="Arial" pitchFamily="34" charset="0"/>
          <a:ea typeface="바탕체" pitchFamily="17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4C00"/>
          </a:solidFill>
          <a:latin typeface="Arial" pitchFamily="34" charset="0"/>
          <a:ea typeface="바탕체" pitchFamily="17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FF4C00"/>
          </a:solidFill>
          <a:latin typeface="Arial" pitchFamily="34" charset="0"/>
          <a:ea typeface="바탕체" pitchFamily="17" charset="-127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FF4C00"/>
          </a:solidFill>
          <a:latin typeface="Arial" pitchFamily="34" charset="0"/>
          <a:ea typeface="바탕체" pitchFamily="17" charset="-127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FF4C00"/>
          </a:solidFill>
          <a:latin typeface="Arial" pitchFamily="34" charset="0"/>
          <a:ea typeface="바탕체" pitchFamily="17" charset="-127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FF4C00"/>
          </a:solidFill>
          <a:latin typeface="Arial" pitchFamily="34" charset="0"/>
          <a:ea typeface="바탕체" pitchFamily="17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Ø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0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../examples/chap07/RubberLines.java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../examples/chap07/RubberLinesPanel.java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C792E5-ABD7-4DEB-9D27-A819E878F824}" type="slidenum">
              <a:rPr lang="en-US" altLang="ko-KR"/>
              <a:pPr>
                <a:defRPr/>
              </a:pPr>
              <a:t>1</a:t>
            </a:fld>
            <a:endParaRPr lang="en-US" altLang="ko-KR"/>
          </a:p>
        </p:txBody>
      </p:sp>
      <p:sp>
        <p:nvSpPr>
          <p:cNvPr id="942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Event</a:t>
            </a:r>
            <a:endParaRPr lang="ko-KR" altLang="en-US"/>
          </a:p>
        </p:txBody>
      </p:sp>
      <p:sp>
        <p:nvSpPr>
          <p:cNvPr id="942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925" y="1331913"/>
            <a:ext cx="8929688" cy="4905375"/>
          </a:xfrm>
        </p:spPr>
        <p:txBody>
          <a:bodyPr/>
          <a:lstStyle/>
          <a:p>
            <a:pPr lvl="2" eaLnBrk="1" hangingPunct="1">
              <a:lnSpc>
                <a:spcPct val="110000"/>
              </a:lnSpc>
            </a:pPr>
            <a:r>
              <a:rPr lang="en-US" altLang="ko-KR" sz="2000">
                <a:ea typeface="굴림" pitchFamily="50" charset="-127"/>
              </a:rPr>
              <a:t> MouseEvent</a:t>
            </a:r>
          </a:p>
          <a:p>
            <a:pPr lvl="3" eaLnBrk="1" hangingPunct="1">
              <a:lnSpc>
                <a:spcPct val="110000"/>
              </a:lnSpc>
            </a:pPr>
            <a:r>
              <a:rPr lang="ko-KR" altLang="en-US">
                <a:ea typeface="굴림" pitchFamily="50" charset="-127"/>
              </a:rPr>
              <a:t>마우스 관련 이벤트는 마우스 클릭과 마우스 이동에 관한  </a:t>
            </a:r>
            <a:r>
              <a:rPr lang="en-US" altLang="ko-KR">
                <a:latin typeface="굴림체" pitchFamily="49" charset="-127"/>
                <a:ea typeface="굴림체" pitchFamily="49" charset="-127"/>
              </a:rPr>
              <a:t>2</a:t>
            </a:r>
            <a:r>
              <a:rPr lang="ko-KR" altLang="en-US">
                <a:ea typeface="굴림" pitchFamily="50" charset="-127"/>
              </a:rPr>
              <a:t>가지 형태로 분류할 수 있다</a:t>
            </a:r>
            <a:r>
              <a:rPr lang="en-US" altLang="ko-KR">
                <a:ea typeface="굴림" pitchFamily="50" charset="-127"/>
              </a:rPr>
              <a:t>.</a:t>
            </a:r>
            <a:endParaRPr lang="en-US" altLang="ko-KR" sz="1600">
              <a:ea typeface="굴림" pitchFamily="50" charset="-127"/>
            </a:endParaRPr>
          </a:p>
          <a:p>
            <a:pPr lvl="4" eaLnBrk="1" hangingPunct="1">
              <a:lnSpc>
                <a:spcPct val="110000"/>
              </a:lnSpc>
            </a:pPr>
            <a:r>
              <a:rPr lang="ko-KR" altLang="en-US">
                <a:ea typeface="굴림" pitchFamily="50" charset="-127"/>
              </a:rPr>
              <a:t>마우스 클릭 관련 이벤트는 </a:t>
            </a:r>
            <a:r>
              <a:rPr lang="en-US" altLang="ko-KR">
                <a:ea typeface="굴림" pitchFamily="50" charset="-127"/>
              </a:rPr>
              <a:t>MouseListener </a:t>
            </a:r>
            <a:r>
              <a:rPr lang="ko-KR" altLang="en-US">
                <a:ea typeface="굴림" pitchFamily="50" charset="-127"/>
              </a:rPr>
              <a:t>인터페이스에서 관리</a:t>
            </a:r>
          </a:p>
          <a:p>
            <a:pPr lvl="4" eaLnBrk="1" hangingPunct="1">
              <a:lnSpc>
                <a:spcPct val="110000"/>
              </a:lnSpc>
            </a:pPr>
            <a:r>
              <a:rPr lang="ko-KR" altLang="en-US">
                <a:ea typeface="굴림" pitchFamily="50" charset="-127"/>
              </a:rPr>
              <a:t>마우스 이동 관련 이벤트는 </a:t>
            </a:r>
            <a:r>
              <a:rPr lang="en-US" altLang="ko-KR">
                <a:ea typeface="굴림" pitchFamily="50" charset="-127"/>
              </a:rPr>
              <a:t>MouseMotionListener </a:t>
            </a:r>
            <a:r>
              <a:rPr lang="ko-KR" altLang="en-US">
                <a:ea typeface="굴림" pitchFamily="50" charset="-127"/>
              </a:rPr>
              <a:t>인터페이스에서 관리 </a:t>
            </a:r>
          </a:p>
          <a:p>
            <a:pPr lvl="3" eaLnBrk="1" hangingPunct="1">
              <a:lnSpc>
                <a:spcPct val="110000"/>
              </a:lnSpc>
            </a:pPr>
            <a:r>
              <a:rPr lang="ko-KR" altLang="en-US">
                <a:ea typeface="굴림" pitchFamily="50" charset="-127"/>
              </a:rPr>
              <a:t>각각 </a:t>
            </a:r>
            <a:r>
              <a:rPr lang="en-US" altLang="ko-KR">
                <a:ea typeface="굴림" pitchFamily="50" charset="-127"/>
              </a:rPr>
              <a:t>MouseAdapter</a:t>
            </a:r>
            <a:r>
              <a:rPr lang="ko-KR" altLang="en-US">
                <a:ea typeface="굴림" pitchFamily="50" charset="-127"/>
              </a:rPr>
              <a:t>와 </a:t>
            </a:r>
            <a:r>
              <a:rPr lang="en-US" altLang="ko-KR">
                <a:ea typeface="굴림" pitchFamily="50" charset="-127"/>
              </a:rPr>
              <a:t>MouseMotionAdapter </a:t>
            </a:r>
            <a:r>
              <a:rPr lang="ko-KR" altLang="en-US">
                <a:ea typeface="굴림" pitchFamily="50" charset="-127"/>
              </a:rPr>
              <a:t>클래스들을 제공</a:t>
            </a:r>
          </a:p>
        </p:txBody>
      </p:sp>
    </p:spTree>
  </p:cSld>
  <p:clrMapOvr>
    <a:masterClrMapping/>
  </p:clrMapOvr>
  <p:transition spd="med">
    <p:wheel spokes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한국항공대학교 정보통신전공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EB6C0E-694F-4699-AC2A-C6881FD70962}" type="slidenum">
              <a:rPr lang="en-US" altLang="ko-KR"/>
              <a:pPr>
                <a:defRPr/>
              </a:pPr>
              <a:t>2</a:t>
            </a:fld>
            <a:endParaRPr lang="en-US" altLang="ko-KR"/>
          </a:p>
        </p:txBody>
      </p:sp>
      <p:sp>
        <p:nvSpPr>
          <p:cNvPr id="952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ea typeface="굴림" pitchFamily="50" charset="-127"/>
              </a:rPr>
              <a:t>Dots.java </a:t>
            </a:r>
          </a:p>
        </p:txBody>
      </p:sp>
      <p:sp>
        <p:nvSpPr>
          <p:cNvPr id="95237" name="Text Box 3"/>
          <p:cNvSpPr txBox="1">
            <a:spLocks noChangeArrowheads="1"/>
          </p:cNvSpPr>
          <p:nvPr/>
        </p:nvSpPr>
        <p:spPr bwMode="auto">
          <a:xfrm>
            <a:off x="990600" y="1066800"/>
            <a:ext cx="7924800" cy="5035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ko-KR" altLang="en-US" sz="1800" dirty="0">
                <a:solidFill>
                  <a:srgbClr val="008000"/>
                </a:solidFill>
                <a:latin typeface="Lucida Sans Unicode" pitchFamily="34" charset="0"/>
                <a:ea typeface="타이프"/>
                <a:cs typeface="타이프"/>
              </a:rPr>
              <a:t>//  마우스 이벤트들을 보인다. </a:t>
            </a:r>
          </a:p>
          <a:p>
            <a:pPr algn="just"/>
            <a:endParaRPr lang="ko-KR" altLang="en-US" sz="1800" dirty="0">
              <a:solidFill>
                <a:srgbClr val="000000"/>
              </a:solidFill>
              <a:latin typeface="Lucida Sans Unicode" pitchFamily="34" charset="0"/>
              <a:ea typeface="타이프"/>
              <a:cs typeface="타이프"/>
            </a:endParaRPr>
          </a:p>
          <a:p>
            <a:pPr algn="just"/>
            <a:r>
              <a:rPr lang="en-US" altLang="ko-KR" sz="1800" dirty="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import</a:t>
            </a:r>
            <a:r>
              <a:rPr lang="en-US" altLang="ko-KR" sz="1800" dirty="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</a:t>
            </a:r>
            <a:r>
              <a:rPr lang="en-US" altLang="ko-KR" sz="1800" dirty="0" err="1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javax.swing.JFrame</a:t>
            </a:r>
            <a:r>
              <a:rPr lang="en-US" altLang="ko-KR" sz="1800" dirty="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;</a:t>
            </a:r>
            <a:r>
              <a:rPr lang="en-US" altLang="ko-KR" sz="1800" dirty="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 </a:t>
            </a:r>
          </a:p>
          <a:p>
            <a:pPr algn="just"/>
            <a:endParaRPr lang="en-US" altLang="ko-KR" sz="1800" dirty="0">
              <a:solidFill>
                <a:srgbClr val="000000"/>
              </a:solidFill>
              <a:latin typeface="Lucida Sans Unicode" pitchFamily="34" charset="0"/>
              <a:ea typeface="타이프"/>
              <a:cs typeface="타이프"/>
            </a:endParaRPr>
          </a:p>
          <a:p>
            <a:pPr algn="just"/>
            <a:r>
              <a:rPr lang="en-US" altLang="ko-KR" sz="1800" dirty="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public</a:t>
            </a:r>
            <a:r>
              <a:rPr lang="en-US" altLang="ko-KR" sz="1800" dirty="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class Dots</a:t>
            </a:r>
            <a:r>
              <a:rPr lang="en-US" altLang="ko-KR" sz="1800" dirty="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 </a:t>
            </a:r>
          </a:p>
          <a:p>
            <a:pPr algn="just"/>
            <a:r>
              <a:rPr lang="en-US" altLang="ko-KR" sz="1800" dirty="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{ </a:t>
            </a:r>
          </a:p>
          <a:p>
            <a:pPr algn="just"/>
            <a:r>
              <a:rPr lang="en-US" altLang="ko-KR" sz="1800" dirty="0">
                <a:solidFill>
                  <a:srgbClr val="008000"/>
                </a:solidFill>
                <a:latin typeface="Lucida Sans Unicode" pitchFamily="34" charset="0"/>
                <a:ea typeface="타이프"/>
                <a:cs typeface="타이프"/>
              </a:rPr>
              <a:t>   //  </a:t>
            </a:r>
            <a:r>
              <a:rPr lang="ko-KR" altLang="en-US" sz="1800" dirty="0">
                <a:solidFill>
                  <a:srgbClr val="008000"/>
                </a:solidFill>
                <a:latin typeface="Lucida Sans Unicode" pitchFamily="34" charset="0"/>
                <a:ea typeface="타이프"/>
                <a:cs typeface="타이프"/>
              </a:rPr>
              <a:t>응용 프레임을 생성하여 </a:t>
            </a:r>
            <a:r>
              <a:rPr lang="ko-KR" altLang="en-US" sz="1800" dirty="0" err="1">
                <a:solidFill>
                  <a:srgbClr val="008000"/>
                </a:solidFill>
                <a:latin typeface="Lucida Sans Unicode" pitchFamily="34" charset="0"/>
                <a:ea typeface="타이프"/>
                <a:cs typeface="타이프"/>
              </a:rPr>
              <a:t>디스플레이한다</a:t>
            </a:r>
            <a:r>
              <a:rPr lang="ko-KR" altLang="en-US" sz="1800" dirty="0">
                <a:solidFill>
                  <a:srgbClr val="008000"/>
                </a:solidFill>
                <a:latin typeface="Lucida Sans Unicode" pitchFamily="34" charset="0"/>
                <a:ea typeface="타이프"/>
                <a:cs typeface="타이프"/>
              </a:rPr>
              <a:t>.  </a:t>
            </a:r>
          </a:p>
          <a:p>
            <a:pPr algn="just"/>
            <a:r>
              <a:rPr lang="ko-KR" altLang="en-US" sz="1800" dirty="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 </a:t>
            </a:r>
            <a:r>
              <a:rPr lang="en-US" altLang="ko-KR" sz="1800" dirty="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public static void</a:t>
            </a:r>
            <a:r>
              <a:rPr lang="en-US" altLang="ko-KR" sz="1800" dirty="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main (String[] </a:t>
            </a:r>
            <a:r>
              <a:rPr lang="en-US" altLang="ko-KR" sz="1800" dirty="0" err="1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args</a:t>
            </a:r>
            <a:r>
              <a:rPr lang="en-US" altLang="ko-KR" sz="1800" dirty="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) </a:t>
            </a:r>
          </a:p>
          <a:p>
            <a:pPr algn="just"/>
            <a:r>
              <a:rPr lang="en-US" altLang="ko-KR" sz="1800" dirty="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 { </a:t>
            </a:r>
          </a:p>
          <a:p>
            <a:pPr algn="just"/>
            <a:r>
              <a:rPr lang="en-US" altLang="ko-KR" sz="1800" dirty="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    </a:t>
            </a:r>
            <a:r>
              <a:rPr lang="en-US" altLang="ko-KR" sz="1800" dirty="0" err="1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JFrame</a:t>
            </a:r>
            <a:r>
              <a:rPr lang="en-US" altLang="ko-KR" sz="1800" dirty="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frame = </a:t>
            </a:r>
            <a:r>
              <a:rPr lang="en-US" altLang="ko-KR" sz="1800" dirty="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new</a:t>
            </a:r>
            <a:r>
              <a:rPr lang="en-US" altLang="ko-KR" sz="1800" dirty="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</a:t>
            </a:r>
            <a:r>
              <a:rPr lang="en-US" altLang="ko-KR" sz="1800" dirty="0" err="1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JFrame</a:t>
            </a:r>
            <a:r>
              <a:rPr lang="en-US" altLang="ko-KR" sz="1800" dirty="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("Dots"); </a:t>
            </a:r>
          </a:p>
          <a:p>
            <a:pPr algn="just"/>
            <a:r>
              <a:rPr lang="en-US" altLang="ko-KR" sz="1800" dirty="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    </a:t>
            </a:r>
            <a:r>
              <a:rPr lang="en-US" altLang="ko-KR" sz="1800" dirty="0" err="1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frame.setDefaultCloseOperation</a:t>
            </a:r>
            <a:r>
              <a:rPr lang="en-US" altLang="ko-KR" sz="1800" dirty="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(</a:t>
            </a:r>
            <a:r>
              <a:rPr lang="en-US" altLang="ko-KR" sz="1800" dirty="0" err="1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JFrame.EXIT_ON_CLOSE</a:t>
            </a:r>
            <a:r>
              <a:rPr lang="en-US" altLang="ko-KR" sz="1800" dirty="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); </a:t>
            </a:r>
          </a:p>
          <a:p>
            <a:pPr algn="just"/>
            <a:endParaRPr lang="en-US" altLang="ko-KR" sz="1800" dirty="0">
              <a:solidFill>
                <a:srgbClr val="000000"/>
              </a:solidFill>
              <a:latin typeface="Lucida Sans Unicode" pitchFamily="34" charset="0"/>
              <a:ea typeface="타이프"/>
              <a:cs typeface="타이프"/>
            </a:endParaRPr>
          </a:p>
          <a:p>
            <a:pPr algn="just"/>
            <a:r>
              <a:rPr lang="en-US" altLang="ko-KR" sz="1800" dirty="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    </a:t>
            </a:r>
            <a:r>
              <a:rPr lang="en-US" altLang="ko-KR" sz="1800" dirty="0" err="1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frame.getContentPane</a:t>
            </a:r>
            <a:r>
              <a:rPr lang="en-US" altLang="ko-KR" sz="1800" dirty="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().add (</a:t>
            </a:r>
            <a:r>
              <a:rPr lang="en-US" altLang="ko-KR" sz="1800" dirty="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new</a:t>
            </a:r>
            <a:r>
              <a:rPr lang="en-US" altLang="ko-KR" sz="1800" dirty="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</a:t>
            </a:r>
            <a:r>
              <a:rPr lang="en-US" altLang="ko-KR" sz="1800" dirty="0" err="1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DotsPanel</a:t>
            </a:r>
            <a:r>
              <a:rPr lang="en-US" altLang="ko-KR" sz="1800" dirty="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()); </a:t>
            </a:r>
          </a:p>
          <a:p>
            <a:pPr algn="just"/>
            <a:endParaRPr lang="en-US" altLang="ko-KR" sz="1800" dirty="0">
              <a:solidFill>
                <a:srgbClr val="000000"/>
              </a:solidFill>
              <a:latin typeface="Lucida Sans Unicode" pitchFamily="34" charset="0"/>
              <a:ea typeface="타이프"/>
              <a:cs typeface="타이프"/>
            </a:endParaRPr>
          </a:p>
          <a:p>
            <a:pPr algn="just"/>
            <a:r>
              <a:rPr lang="en-US" altLang="ko-KR" sz="1800" dirty="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    </a:t>
            </a:r>
            <a:r>
              <a:rPr lang="en-US" altLang="ko-KR" sz="1800" dirty="0" err="1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frame.pack</a:t>
            </a:r>
            <a:r>
              <a:rPr lang="en-US" altLang="ko-KR" sz="1800" dirty="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(); </a:t>
            </a:r>
          </a:p>
          <a:p>
            <a:pPr algn="just"/>
            <a:r>
              <a:rPr lang="en-US" altLang="ko-KR" sz="1800" dirty="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    </a:t>
            </a:r>
            <a:r>
              <a:rPr lang="en-US" altLang="ko-KR" sz="1800" dirty="0" err="1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frame.setVisible</a:t>
            </a:r>
            <a:r>
              <a:rPr lang="en-US" altLang="ko-KR" sz="1800" dirty="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(</a:t>
            </a:r>
            <a:r>
              <a:rPr lang="en-US" altLang="ko-KR" sz="1800" dirty="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true</a:t>
            </a:r>
            <a:r>
              <a:rPr lang="en-US" altLang="ko-KR" sz="1800" dirty="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); </a:t>
            </a:r>
          </a:p>
          <a:p>
            <a:pPr algn="just"/>
            <a:r>
              <a:rPr lang="en-US" altLang="ko-KR" sz="1800" dirty="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 } </a:t>
            </a:r>
          </a:p>
          <a:p>
            <a:pPr algn="just"/>
            <a:r>
              <a:rPr lang="en-US" altLang="ko-KR" sz="1800" dirty="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} </a:t>
            </a:r>
          </a:p>
        </p:txBody>
      </p:sp>
    </p:spTree>
  </p:cSld>
  <p:clrMapOvr>
    <a:masterClrMapping/>
  </p:clrMapOvr>
  <p:transition spd="med">
    <p:wheel spokes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998C15D-2B5B-4302-AEC7-46BE606986C4}" type="slidenum">
              <a:rPr lang="en-US" altLang="ko-KR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962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ea typeface="굴림" pitchFamily="50" charset="-127"/>
              </a:rPr>
              <a:t>Dots.java </a:t>
            </a:r>
            <a:r>
              <a:rPr lang="ko-KR" altLang="en-US">
                <a:ea typeface="굴림" pitchFamily="50" charset="-127"/>
              </a:rPr>
              <a:t>실행 결과</a:t>
            </a:r>
          </a:p>
        </p:txBody>
      </p:sp>
      <p:pic>
        <p:nvPicPr>
          <p:cNvPr id="96261" name="Picture 3" descr="Dot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1447800"/>
            <a:ext cx="5819775" cy="442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heel spokes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5650840-2F6F-4A66-BD9C-EF90C92C8780}" type="slidenum">
              <a:rPr lang="en-US" altLang="ko-KR"/>
              <a:pPr>
                <a:defRPr/>
              </a:pPr>
              <a:t>4</a:t>
            </a:fld>
            <a:endParaRPr lang="en-US" altLang="ko-KR"/>
          </a:p>
        </p:txBody>
      </p:sp>
      <p:sp>
        <p:nvSpPr>
          <p:cNvPr id="972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ea typeface="굴림" pitchFamily="50" charset="-127"/>
              </a:rPr>
              <a:t>DotsPanel.java (1/3)</a:t>
            </a:r>
          </a:p>
        </p:txBody>
      </p:sp>
      <p:sp>
        <p:nvSpPr>
          <p:cNvPr id="97285" name="Text Box 3"/>
          <p:cNvSpPr txBox="1">
            <a:spLocks noChangeArrowheads="1"/>
          </p:cNvSpPr>
          <p:nvPr/>
        </p:nvSpPr>
        <p:spPr bwMode="auto">
          <a:xfrm>
            <a:off x="990600" y="1066800"/>
            <a:ext cx="7924800" cy="3387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ko-KR" altLang="en-US" sz="1800">
                <a:solidFill>
                  <a:srgbClr val="008000"/>
                </a:solidFill>
                <a:latin typeface="Lucida Sans Unicode" pitchFamily="34" charset="0"/>
                <a:ea typeface="타이프"/>
                <a:cs typeface="타이프"/>
              </a:rPr>
              <a:t>//  </a:t>
            </a:r>
            <a:r>
              <a:rPr lang="en-US" altLang="ko-KR" sz="1800">
                <a:solidFill>
                  <a:srgbClr val="008000"/>
                </a:solidFill>
                <a:latin typeface="Lucida Sans Unicode" pitchFamily="34" charset="0"/>
                <a:ea typeface="타이프"/>
                <a:cs typeface="타이프"/>
              </a:rPr>
              <a:t>Dots </a:t>
            </a:r>
            <a:r>
              <a:rPr lang="ko-KR" altLang="en-US" sz="1800">
                <a:solidFill>
                  <a:srgbClr val="008000"/>
                </a:solidFill>
                <a:latin typeface="Lucida Sans Unicode" pitchFamily="34" charset="0"/>
                <a:ea typeface="타이프"/>
                <a:cs typeface="타이프"/>
              </a:rPr>
              <a:t>프로그램의 주 패널을 나타낸다. </a:t>
            </a:r>
          </a:p>
          <a:p>
            <a:pPr algn="just"/>
            <a:endParaRPr lang="ko-KR" altLang="en-US" sz="1800">
              <a:solidFill>
                <a:srgbClr val="000000"/>
              </a:solidFill>
              <a:latin typeface="Lucida Sans Unicode" pitchFamily="34" charset="0"/>
              <a:ea typeface="타이프"/>
              <a:cs typeface="타이프"/>
            </a:endParaRPr>
          </a:p>
          <a:p>
            <a:pPr algn="just"/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import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java.util.ArrayList;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 </a:t>
            </a:r>
          </a:p>
          <a:p>
            <a:pPr algn="just"/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import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javax.swing.JPanel;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 </a:t>
            </a:r>
          </a:p>
          <a:p>
            <a:pPr algn="just"/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import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java.awt.*;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 </a:t>
            </a:r>
          </a:p>
          <a:p>
            <a:pPr algn="just"/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import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java.awt.event.*;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 </a:t>
            </a:r>
          </a:p>
          <a:p>
            <a:pPr algn="just"/>
            <a:endParaRPr lang="en-US" altLang="ko-KR" sz="1800">
              <a:solidFill>
                <a:srgbClr val="000000"/>
              </a:solidFill>
              <a:latin typeface="Lucida Sans Unicode" pitchFamily="34" charset="0"/>
              <a:ea typeface="타이프"/>
              <a:cs typeface="타이프"/>
            </a:endParaRPr>
          </a:p>
          <a:p>
            <a:pPr algn="just"/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public class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DotsPanel 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extends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JPanel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{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 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private final int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SIZE = 6;  </a:t>
            </a:r>
            <a:r>
              <a:rPr lang="en-US" altLang="ko-KR" sz="1800">
                <a:solidFill>
                  <a:srgbClr val="339966"/>
                </a:solidFill>
                <a:latin typeface="Lucida Sans Unicode" pitchFamily="34" charset="0"/>
                <a:ea typeface="타이프"/>
                <a:cs typeface="타이프"/>
              </a:rPr>
              <a:t>// </a:t>
            </a:r>
            <a:r>
              <a:rPr lang="ko-KR" altLang="en-US" sz="1800">
                <a:solidFill>
                  <a:srgbClr val="339966"/>
                </a:solidFill>
                <a:latin typeface="Lucida Sans Unicode" pitchFamily="34" charset="0"/>
                <a:ea typeface="타이프"/>
                <a:cs typeface="타이프"/>
              </a:rPr>
              <a:t>각 점의 반지름 </a:t>
            </a:r>
            <a:endParaRPr lang="ko-KR" altLang="en-US" sz="1800">
              <a:solidFill>
                <a:srgbClr val="000000"/>
              </a:solidFill>
              <a:latin typeface="Lucida Sans Unicode" pitchFamily="34" charset="0"/>
              <a:ea typeface="타이프"/>
              <a:cs typeface="타이프"/>
            </a:endParaRPr>
          </a:p>
          <a:p>
            <a:pPr algn="just"/>
            <a:endParaRPr lang="ko-KR" altLang="en-US" sz="1800">
              <a:solidFill>
                <a:srgbClr val="000000"/>
              </a:solidFill>
              <a:latin typeface="Lucida Sans Unicode" pitchFamily="34" charset="0"/>
              <a:ea typeface="타이프"/>
              <a:cs typeface="타이프"/>
            </a:endParaRPr>
          </a:p>
          <a:p>
            <a:pPr algn="just"/>
            <a:r>
              <a:rPr lang="ko-KR" altLang="en-US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 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private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ArrayList&lt;Point&gt; pointList; </a:t>
            </a:r>
          </a:p>
        </p:txBody>
      </p:sp>
    </p:spTree>
  </p:cSld>
  <p:clrMapOvr>
    <a:masterClrMapping/>
  </p:clrMapOvr>
  <p:transition spd="med">
    <p:wheel spokes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4689CE-4339-4860-9873-DD2689DE3910}" type="slidenum">
              <a:rPr lang="en-US" altLang="ko-KR"/>
              <a:pPr>
                <a:defRPr/>
              </a:pPr>
              <a:t>5</a:t>
            </a:fld>
            <a:endParaRPr lang="en-US" altLang="ko-KR"/>
          </a:p>
        </p:txBody>
      </p:sp>
      <p:sp>
        <p:nvSpPr>
          <p:cNvPr id="983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ea typeface="굴림" pitchFamily="50" charset="-127"/>
              </a:rPr>
              <a:t>DotsPanel.java (2/3)</a:t>
            </a:r>
          </a:p>
        </p:txBody>
      </p:sp>
      <p:sp>
        <p:nvSpPr>
          <p:cNvPr id="98309" name="Text Box 3"/>
          <p:cNvSpPr txBox="1">
            <a:spLocks noChangeArrowheads="1"/>
          </p:cNvSpPr>
          <p:nvPr/>
        </p:nvSpPr>
        <p:spPr bwMode="auto">
          <a:xfrm>
            <a:off x="990600" y="1066800"/>
            <a:ext cx="7924800" cy="5130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</a:pPr>
            <a:r>
              <a:rPr lang="en-US" altLang="ko-KR" sz="1800">
                <a:solidFill>
                  <a:srgbClr val="008000"/>
                </a:solidFill>
                <a:latin typeface="Lucida Sans Unicode" pitchFamily="34" charset="0"/>
                <a:ea typeface="타이프"/>
                <a:cs typeface="타이프"/>
              </a:rPr>
              <a:t>   //  </a:t>
            </a:r>
            <a:r>
              <a:rPr lang="ko-KR" altLang="en-US" sz="1800">
                <a:solidFill>
                  <a:srgbClr val="008000"/>
                </a:solidFill>
                <a:latin typeface="Lucida Sans Unicode" pitchFamily="34" charset="0"/>
                <a:ea typeface="타이프"/>
                <a:cs typeface="타이프"/>
              </a:rPr>
              <a:t>구성자: 마우스 이벤트들을 감청하도록 설정한다. </a:t>
            </a:r>
          </a:p>
          <a:p>
            <a:pPr algn="just">
              <a:lnSpc>
                <a:spcPct val="80000"/>
              </a:lnSpc>
            </a:pPr>
            <a:r>
              <a:rPr lang="ko-KR" altLang="en-US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 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public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DotsPanel() </a:t>
            </a:r>
          </a:p>
          <a:p>
            <a:pPr algn="just">
              <a:lnSpc>
                <a:spcPct val="80000"/>
              </a:lnSpc>
            </a:pP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 { </a:t>
            </a:r>
          </a:p>
          <a:p>
            <a:pPr algn="just">
              <a:lnSpc>
                <a:spcPct val="80000"/>
              </a:lnSpc>
            </a:pP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    pointList = 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new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ArrayList&lt;Point&gt;(); </a:t>
            </a:r>
          </a:p>
          <a:p>
            <a:pPr algn="just">
              <a:lnSpc>
                <a:spcPct val="80000"/>
              </a:lnSpc>
            </a:pPr>
            <a:endParaRPr lang="en-US" altLang="ko-KR" sz="1800">
              <a:solidFill>
                <a:srgbClr val="000000"/>
              </a:solidFill>
              <a:latin typeface="Lucida Sans Unicode" pitchFamily="34" charset="0"/>
              <a:ea typeface="타이프"/>
              <a:cs typeface="타이프"/>
            </a:endParaRPr>
          </a:p>
          <a:p>
            <a:pPr algn="just">
              <a:lnSpc>
                <a:spcPct val="80000"/>
              </a:lnSpc>
            </a:pP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    addMouseListener (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new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DotsListener()); </a:t>
            </a:r>
          </a:p>
          <a:p>
            <a:pPr algn="just">
              <a:lnSpc>
                <a:spcPct val="80000"/>
              </a:lnSpc>
            </a:pPr>
            <a:endParaRPr lang="en-US" altLang="ko-KR" sz="1800">
              <a:solidFill>
                <a:srgbClr val="000000"/>
              </a:solidFill>
              <a:latin typeface="Lucida Sans Unicode" pitchFamily="34" charset="0"/>
              <a:ea typeface="타이프"/>
              <a:cs typeface="타이프"/>
            </a:endParaRPr>
          </a:p>
          <a:p>
            <a:pPr algn="just">
              <a:lnSpc>
                <a:spcPct val="80000"/>
              </a:lnSpc>
            </a:pP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    setBackground (Color.black); </a:t>
            </a:r>
          </a:p>
          <a:p>
            <a:pPr algn="just">
              <a:lnSpc>
                <a:spcPct val="80000"/>
              </a:lnSpc>
            </a:pP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    setPreferredSize (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new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Dimension(300, 200)); </a:t>
            </a:r>
          </a:p>
          <a:p>
            <a:pPr algn="just">
              <a:lnSpc>
                <a:spcPct val="80000"/>
              </a:lnSpc>
            </a:pP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 } </a:t>
            </a:r>
          </a:p>
          <a:p>
            <a:pPr algn="just">
              <a:lnSpc>
                <a:spcPct val="80000"/>
              </a:lnSpc>
            </a:pPr>
            <a:endParaRPr lang="en-US" altLang="ko-KR" sz="1800">
              <a:solidFill>
                <a:srgbClr val="008000"/>
              </a:solidFill>
              <a:latin typeface="Lucida Sans Unicode" pitchFamily="34" charset="0"/>
              <a:ea typeface="타이프"/>
              <a:cs typeface="타이프"/>
            </a:endParaRPr>
          </a:p>
          <a:p>
            <a:pPr algn="just">
              <a:lnSpc>
                <a:spcPct val="80000"/>
              </a:lnSpc>
            </a:pPr>
            <a:r>
              <a:rPr lang="en-US" altLang="ko-KR" sz="1800">
                <a:solidFill>
                  <a:srgbClr val="008000"/>
                </a:solidFill>
                <a:latin typeface="Lucida Sans Unicode" pitchFamily="34" charset="0"/>
                <a:ea typeface="타이프"/>
                <a:cs typeface="타이프"/>
              </a:rPr>
              <a:t>   //  </a:t>
            </a:r>
            <a:r>
              <a:rPr lang="ko-KR" altLang="en-US" sz="1800">
                <a:solidFill>
                  <a:srgbClr val="008000"/>
                </a:solidFill>
                <a:latin typeface="Lucida Sans Unicode" pitchFamily="34" charset="0"/>
                <a:ea typeface="타이프"/>
                <a:cs typeface="타이프"/>
              </a:rPr>
              <a:t>리스트에 저장되어 있는 모든 점들을 그린다. </a:t>
            </a:r>
          </a:p>
          <a:p>
            <a:pPr algn="just">
              <a:lnSpc>
                <a:spcPct val="80000"/>
              </a:lnSpc>
            </a:pPr>
            <a:r>
              <a:rPr lang="ko-KR" altLang="en-US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 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public void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paintComponent (Graphics page) </a:t>
            </a:r>
          </a:p>
          <a:p>
            <a:pPr algn="just">
              <a:lnSpc>
                <a:spcPct val="80000"/>
              </a:lnSpc>
            </a:pP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 { </a:t>
            </a:r>
          </a:p>
          <a:p>
            <a:pPr algn="just">
              <a:lnSpc>
                <a:spcPct val="80000"/>
              </a:lnSpc>
            </a:pP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    super.paintComponent(page); </a:t>
            </a:r>
          </a:p>
          <a:p>
            <a:pPr algn="just">
              <a:lnSpc>
                <a:spcPct val="80000"/>
              </a:lnSpc>
            </a:pPr>
            <a:endParaRPr lang="en-US" altLang="ko-KR" sz="1800">
              <a:solidFill>
                <a:srgbClr val="000000"/>
              </a:solidFill>
              <a:latin typeface="Lucida Sans Unicode" pitchFamily="34" charset="0"/>
              <a:ea typeface="타이프"/>
              <a:cs typeface="타이프"/>
            </a:endParaRPr>
          </a:p>
          <a:p>
            <a:pPr algn="just">
              <a:lnSpc>
                <a:spcPct val="80000"/>
              </a:lnSpc>
            </a:pP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    page.setColor (Color.green); </a:t>
            </a:r>
          </a:p>
          <a:p>
            <a:pPr algn="just">
              <a:lnSpc>
                <a:spcPct val="80000"/>
              </a:lnSpc>
            </a:pPr>
            <a:endParaRPr lang="en-US" altLang="ko-KR" sz="1800">
              <a:solidFill>
                <a:srgbClr val="000000"/>
              </a:solidFill>
              <a:latin typeface="Lucida Sans Unicode" pitchFamily="34" charset="0"/>
              <a:ea typeface="타이프"/>
              <a:cs typeface="타이프"/>
            </a:endParaRPr>
          </a:p>
          <a:p>
            <a:pPr algn="just">
              <a:lnSpc>
                <a:spcPct val="80000"/>
              </a:lnSpc>
            </a:pP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    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for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(Point spot : pointList) </a:t>
            </a:r>
          </a:p>
          <a:p>
            <a:pPr algn="just">
              <a:lnSpc>
                <a:spcPct val="80000"/>
              </a:lnSpc>
            </a:pP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       page.fillOval (spot.x-SIZE, spot.y-SIZE, SIZE*2, SIZE*2); </a:t>
            </a:r>
          </a:p>
          <a:p>
            <a:pPr algn="just">
              <a:lnSpc>
                <a:spcPct val="80000"/>
              </a:lnSpc>
            </a:pPr>
            <a:endParaRPr lang="en-US" altLang="ko-KR" sz="1800">
              <a:solidFill>
                <a:srgbClr val="000000"/>
              </a:solidFill>
              <a:latin typeface="Lucida Sans Unicode" pitchFamily="34" charset="0"/>
              <a:ea typeface="타이프"/>
              <a:cs typeface="타이프"/>
            </a:endParaRPr>
          </a:p>
          <a:p>
            <a:pPr algn="just">
              <a:lnSpc>
                <a:spcPct val="80000"/>
              </a:lnSpc>
            </a:pP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    page.drawString ("Count: " + pointList.size(), 5, 15); </a:t>
            </a:r>
          </a:p>
          <a:p>
            <a:pPr algn="just">
              <a:lnSpc>
                <a:spcPct val="80000"/>
              </a:lnSpc>
            </a:pP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 } </a:t>
            </a:r>
          </a:p>
        </p:txBody>
      </p:sp>
    </p:spTree>
  </p:cSld>
  <p:clrMapOvr>
    <a:masterClrMapping/>
  </p:clrMapOvr>
  <p:transition spd="med">
    <p:wheel spokes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3AEE649-21BF-4A4D-9F37-50C69864CF7D}" type="slidenum">
              <a:rPr lang="en-US" altLang="ko-KR"/>
              <a:pPr>
                <a:defRPr/>
              </a:pPr>
              <a:t>6</a:t>
            </a:fld>
            <a:endParaRPr lang="en-US" altLang="ko-KR"/>
          </a:p>
        </p:txBody>
      </p:sp>
      <p:sp>
        <p:nvSpPr>
          <p:cNvPr id="993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ea typeface="굴림" pitchFamily="50" charset="-127"/>
              </a:rPr>
              <a:t>DotsPanel.java (3/3)</a:t>
            </a:r>
          </a:p>
        </p:txBody>
      </p:sp>
      <p:sp>
        <p:nvSpPr>
          <p:cNvPr id="99333" name="Text Box 3"/>
          <p:cNvSpPr txBox="1">
            <a:spLocks noChangeArrowheads="1"/>
          </p:cNvSpPr>
          <p:nvPr/>
        </p:nvSpPr>
        <p:spPr bwMode="auto">
          <a:xfrm>
            <a:off x="990600" y="1066800"/>
            <a:ext cx="7924800" cy="5035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altLang="ko-KR" sz="1800">
                <a:solidFill>
                  <a:srgbClr val="008000"/>
                </a:solidFill>
                <a:latin typeface="Lucida Sans Unicode" pitchFamily="34" charset="0"/>
                <a:ea typeface="타이프"/>
                <a:cs typeface="타이프"/>
              </a:rPr>
              <a:t>   //  </a:t>
            </a:r>
            <a:r>
              <a:rPr lang="ko-KR" altLang="en-US" sz="1800">
                <a:solidFill>
                  <a:srgbClr val="008000"/>
                </a:solidFill>
                <a:latin typeface="Lucida Sans Unicode" pitchFamily="34" charset="0"/>
                <a:ea typeface="타이프"/>
                <a:cs typeface="타이프"/>
              </a:rPr>
              <a:t>마우스 이벤트들을 위한 감청자들을 표현한다. </a:t>
            </a:r>
          </a:p>
          <a:p>
            <a:pPr algn="just"/>
            <a:r>
              <a:rPr lang="ko-KR" altLang="en-US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 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private class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DotsListener 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implements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MouseListener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 { </a:t>
            </a:r>
          </a:p>
          <a:p>
            <a:pPr algn="just"/>
            <a:r>
              <a:rPr lang="en-US" altLang="ko-KR" sz="1800">
                <a:solidFill>
                  <a:srgbClr val="008000"/>
                </a:solidFill>
                <a:latin typeface="Lucida Sans Unicode" pitchFamily="34" charset="0"/>
                <a:ea typeface="타이프"/>
                <a:cs typeface="타이프"/>
              </a:rPr>
              <a:t>      //  </a:t>
            </a:r>
            <a:r>
              <a:rPr lang="ko-KR" altLang="en-US" sz="1800">
                <a:solidFill>
                  <a:srgbClr val="008000"/>
                </a:solidFill>
                <a:latin typeface="Lucida Sans Unicode" pitchFamily="34" charset="0"/>
                <a:ea typeface="타이프"/>
                <a:cs typeface="타이프"/>
              </a:rPr>
              <a:t>현재 점을 점들의 리스트에 추가하고</a:t>
            </a:r>
          </a:p>
          <a:p>
            <a:pPr algn="just"/>
            <a:r>
              <a:rPr lang="ko-KR" altLang="en-US" sz="1800">
                <a:solidFill>
                  <a:srgbClr val="008000"/>
                </a:solidFill>
                <a:latin typeface="Lucida Sans Unicode" pitchFamily="34" charset="0"/>
                <a:ea typeface="타이프"/>
                <a:cs typeface="타이프"/>
              </a:rPr>
              <a:t>   // 마우스 버튼이 눌려질 때마다 다시 그린다. </a:t>
            </a:r>
          </a:p>
          <a:p>
            <a:pPr algn="just"/>
            <a:r>
              <a:rPr lang="ko-KR" altLang="en-US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    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public void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mousePressed (MouseEvent event)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    {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       pointList.add(event.getPoint());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       repaint();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    } </a:t>
            </a:r>
          </a:p>
          <a:p>
            <a:pPr algn="just"/>
            <a:endParaRPr lang="en-US" altLang="ko-KR" sz="1800">
              <a:solidFill>
                <a:srgbClr val="008000"/>
              </a:solidFill>
              <a:latin typeface="Lucida Sans Unicode" pitchFamily="34" charset="0"/>
              <a:ea typeface="타이프"/>
              <a:cs typeface="타이프"/>
            </a:endParaRPr>
          </a:p>
          <a:p>
            <a:pPr algn="just"/>
            <a:r>
              <a:rPr lang="en-US" altLang="ko-KR" sz="1800">
                <a:solidFill>
                  <a:srgbClr val="008000"/>
                </a:solidFill>
                <a:latin typeface="Lucida Sans Unicode" pitchFamily="34" charset="0"/>
                <a:ea typeface="타이프"/>
                <a:cs typeface="타이프"/>
              </a:rPr>
              <a:t>      //  </a:t>
            </a:r>
            <a:r>
              <a:rPr lang="ko-KR" altLang="en-US" sz="1800">
                <a:solidFill>
                  <a:srgbClr val="008000"/>
                </a:solidFill>
                <a:latin typeface="Lucida Sans Unicode" pitchFamily="34" charset="0"/>
                <a:ea typeface="타이프"/>
                <a:cs typeface="타이프"/>
              </a:rPr>
              <a:t>사용되지 않는 이벤트들에 대해 공백 메쏘드를 포함한다. </a:t>
            </a:r>
          </a:p>
          <a:p>
            <a:pPr algn="just"/>
            <a:r>
              <a:rPr lang="ko-KR" altLang="en-US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    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public void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mouseClicked (MouseEvent event) {}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    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public void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mouseReleased (MouseEvent event) {}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    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public void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mouseEntered (MouseEvent event) {}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    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public void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mouseExited (MouseEvent event) {}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 }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} </a:t>
            </a:r>
          </a:p>
        </p:txBody>
      </p:sp>
    </p:spTree>
  </p:cSld>
  <p:clrMapOvr>
    <a:masterClrMapping/>
  </p:clrMapOvr>
  <p:transition spd="med">
    <p:wheel spokes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DD91899-FDB6-40F0-896E-1A590FED7C31}" type="slidenum">
              <a:rPr lang="en-US" altLang="ko-KR"/>
              <a:pPr>
                <a:defRPr/>
              </a:pPr>
              <a:t>7</a:t>
            </a:fld>
            <a:endParaRPr lang="en-US" altLang="ko-KR"/>
          </a:p>
        </p:txBody>
      </p:sp>
      <p:sp>
        <p:nvSpPr>
          <p:cNvPr id="1003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ea typeface="굴림" pitchFamily="50" charset="-127"/>
              </a:rPr>
              <a:t>마우스 이벤트</a:t>
            </a:r>
            <a:endParaRPr lang="en-US" altLang="ko-KR">
              <a:ea typeface="굴림" pitchFamily="50" charset="-127"/>
            </a:endParaRPr>
          </a:p>
        </p:txBody>
      </p:sp>
      <p:sp>
        <p:nvSpPr>
          <p:cNvPr id="1003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75000"/>
              </a:spcBef>
            </a:pPr>
            <a:r>
              <a:rPr lang="ko-KR" altLang="en-US">
                <a:ea typeface="굴림" pitchFamily="50" charset="-127"/>
              </a:rPr>
              <a:t>고무줄 효과(</a:t>
            </a:r>
            <a:r>
              <a:rPr lang="en-US" altLang="ko-KR" i="1">
                <a:ea typeface="굴림" pitchFamily="50" charset="-127"/>
              </a:rPr>
              <a:t>Rubberbanding</a:t>
            </a:r>
            <a:r>
              <a:rPr lang="en-US" altLang="ko-KR">
                <a:ea typeface="굴림" pitchFamily="50" charset="-127"/>
              </a:rPr>
              <a:t>)</a:t>
            </a:r>
            <a:r>
              <a:rPr lang="ko-KR" altLang="en-US">
                <a:ea typeface="굴림" pitchFamily="50" charset="-127"/>
              </a:rPr>
              <a:t>란 마우스를 끌어 도형을 “늘이는” 시각적 효과를 말한다.</a:t>
            </a:r>
          </a:p>
          <a:p>
            <a:pPr eaLnBrk="1" hangingPunct="1">
              <a:spcBef>
                <a:spcPct val="75000"/>
              </a:spcBef>
            </a:pPr>
            <a:r>
              <a:rPr lang="ko-KR" altLang="en-US">
                <a:ea typeface="굴림" pitchFamily="50" charset="-127"/>
              </a:rPr>
              <a:t>다음 예제는 마우스를 끌어 선분을 연속적으로 다시 그린다.</a:t>
            </a:r>
            <a:endParaRPr lang="en-US" altLang="ko-KR">
              <a:ea typeface="굴림" pitchFamily="50" charset="-127"/>
            </a:endParaRPr>
          </a:p>
          <a:p>
            <a:pPr eaLnBrk="1" hangingPunct="1">
              <a:spcBef>
                <a:spcPct val="75000"/>
              </a:spcBef>
            </a:pPr>
            <a:r>
              <a:rPr lang="en-US" altLang="ko-KR" u="sng">
                <a:latin typeface="Courier New" pitchFamily="49" charset="0"/>
                <a:ea typeface="굴림" pitchFamily="50" charset="-127"/>
                <a:hlinkClick r:id="rId3" action="ppaction://hlinkfile"/>
              </a:rPr>
              <a:t>RubberLines.java</a:t>
            </a:r>
            <a:r>
              <a:rPr lang="en-US" altLang="ko-KR">
                <a:ea typeface="굴림" pitchFamily="50" charset="-127"/>
              </a:rPr>
              <a:t> </a:t>
            </a:r>
            <a:r>
              <a:rPr lang="ko-KR" altLang="en-US">
                <a:ea typeface="굴림" pitchFamily="50" charset="-127"/>
              </a:rPr>
              <a:t>참조 </a:t>
            </a:r>
            <a:r>
              <a:rPr lang="en-US" altLang="ko-KR">
                <a:ea typeface="굴림" pitchFamily="50" charset="-127"/>
              </a:rPr>
              <a:t>(413</a:t>
            </a:r>
            <a:r>
              <a:rPr lang="ko-KR" altLang="en-US">
                <a:ea typeface="굴림" pitchFamily="50" charset="-127"/>
              </a:rPr>
              <a:t>쪽)</a:t>
            </a:r>
          </a:p>
          <a:p>
            <a:pPr eaLnBrk="1" hangingPunct="1"/>
            <a:r>
              <a:rPr lang="en-US" altLang="ko-KR" u="sng">
                <a:latin typeface="Courier New" pitchFamily="49" charset="0"/>
                <a:ea typeface="굴림" pitchFamily="50" charset="-127"/>
                <a:hlinkClick r:id="rId4" action="ppaction://hlinkfile"/>
              </a:rPr>
              <a:t>RubberLinesPanel.java</a:t>
            </a:r>
            <a:r>
              <a:rPr lang="en-US" altLang="ko-KR">
                <a:ea typeface="굴림" pitchFamily="50" charset="-127"/>
              </a:rPr>
              <a:t> </a:t>
            </a:r>
            <a:r>
              <a:rPr lang="ko-KR" altLang="en-US">
                <a:ea typeface="굴림" pitchFamily="50" charset="-127"/>
              </a:rPr>
              <a:t>참조 </a:t>
            </a:r>
            <a:r>
              <a:rPr lang="en-US" altLang="ko-KR">
                <a:ea typeface="굴림" pitchFamily="50" charset="-127"/>
              </a:rPr>
              <a:t>(414</a:t>
            </a:r>
            <a:r>
              <a:rPr lang="ko-KR" altLang="en-US">
                <a:ea typeface="굴림" pitchFamily="50" charset="-127"/>
              </a:rPr>
              <a:t>쪽)</a:t>
            </a:r>
          </a:p>
        </p:txBody>
      </p:sp>
    </p:spTree>
  </p:cSld>
  <p:clrMapOvr>
    <a:masterClrMapping/>
  </p:clrMapOvr>
  <p:transition spd="med">
    <p:wheel spokes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416A18E-896B-4F5D-9A51-9A0DD3E22CA3}" type="slidenum">
              <a:rPr lang="en-US" altLang="ko-KR"/>
              <a:pPr>
                <a:defRPr/>
              </a:pPr>
              <a:t>8</a:t>
            </a:fld>
            <a:endParaRPr lang="en-US" altLang="ko-KR"/>
          </a:p>
        </p:txBody>
      </p:sp>
      <p:sp>
        <p:nvSpPr>
          <p:cNvPr id="1013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ea typeface="굴림" pitchFamily="50" charset="-127"/>
              </a:rPr>
              <a:t>RubberLines.java</a:t>
            </a:r>
          </a:p>
        </p:txBody>
      </p:sp>
      <p:sp>
        <p:nvSpPr>
          <p:cNvPr id="101381" name="Text Box 3"/>
          <p:cNvSpPr txBox="1">
            <a:spLocks noChangeArrowheads="1"/>
          </p:cNvSpPr>
          <p:nvPr/>
        </p:nvSpPr>
        <p:spPr bwMode="auto">
          <a:xfrm>
            <a:off x="990600" y="1066800"/>
            <a:ext cx="7924800" cy="5035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ko-KR" altLang="en-US" sz="1800">
                <a:solidFill>
                  <a:srgbClr val="008000"/>
                </a:solidFill>
                <a:latin typeface="Lucida Sans Unicode" pitchFamily="34" charset="0"/>
                <a:ea typeface="타이프"/>
                <a:cs typeface="타이프"/>
              </a:rPr>
              <a:t>// 이벤트, 감청자, 고무줄 효과를 보여준다. </a:t>
            </a:r>
          </a:p>
          <a:p>
            <a:pPr algn="just"/>
            <a:endParaRPr lang="ko-KR" altLang="en-US" sz="1800">
              <a:solidFill>
                <a:srgbClr val="000000"/>
              </a:solidFill>
              <a:latin typeface="Lucida Sans Unicode" pitchFamily="34" charset="0"/>
              <a:ea typeface="타이프"/>
              <a:cs typeface="타이프"/>
            </a:endParaRPr>
          </a:p>
          <a:p>
            <a:pPr algn="just"/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import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javax.swing.JFrame;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 </a:t>
            </a:r>
          </a:p>
          <a:p>
            <a:pPr algn="just"/>
            <a:endParaRPr lang="en-US" altLang="ko-KR" sz="1800">
              <a:solidFill>
                <a:srgbClr val="000000"/>
              </a:solidFill>
              <a:latin typeface="Lucida Sans Unicode" pitchFamily="34" charset="0"/>
              <a:ea typeface="타이프"/>
              <a:cs typeface="타이프"/>
            </a:endParaRPr>
          </a:p>
          <a:p>
            <a:pPr algn="just"/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public class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RubberLines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{ </a:t>
            </a:r>
          </a:p>
          <a:p>
            <a:pPr algn="just"/>
            <a:r>
              <a:rPr lang="en-US" altLang="ko-KR" sz="1800">
                <a:solidFill>
                  <a:srgbClr val="008000"/>
                </a:solidFill>
                <a:latin typeface="Lucida Sans Unicode" pitchFamily="34" charset="0"/>
                <a:ea typeface="타이프"/>
                <a:cs typeface="타이프"/>
              </a:rPr>
              <a:t>    //  </a:t>
            </a:r>
            <a:r>
              <a:rPr lang="ko-KR" altLang="en-US" sz="1800">
                <a:solidFill>
                  <a:srgbClr val="008000"/>
                </a:solidFill>
                <a:latin typeface="Lucida Sans Unicode" pitchFamily="34" charset="0"/>
                <a:ea typeface="타이프"/>
                <a:cs typeface="타이프"/>
              </a:rPr>
              <a:t>응용 프레임을 생성하고 디스플레이 한다. </a:t>
            </a:r>
          </a:p>
          <a:p>
            <a:pPr algn="just"/>
            <a:r>
              <a:rPr lang="ko-KR" altLang="en-US" sz="1800">
                <a:solidFill>
                  <a:srgbClr val="008000"/>
                </a:solidFill>
                <a:latin typeface="Lucida Sans Unicode" pitchFamily="34" charset="0"/>
                <a:ea typeface="타이프"/>
                <a:cs typeface="타이프"/>
              </a:rPr>
              <a:t> </a:t>
            </a:r>
            <a:r>
              <a:rPr lang="ko-KR" altLang="en-US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 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public static void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main (String[] args)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 {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    JFrame frame = 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new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JFrame ("Rubber Lines");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    frame.setDefaultCloseOperation (JFrame.EXIT_ON_CLOSE); </a:t>
            </a:r>
          </a:p>
          <a:p>
            <a:pPr algn="just"/>
            <a:endParaRPr lang="en-US" altLang="ko-KR" sz="1800">
              <a:solidFill>
                <a:srgbClr val="000000"/>
              </a:solidFill>
              <a:latin typeface="Lucida Sans Unicode" pitchFamily="34" charset="0"/>
              <a:ea typeface="타이프"/>
              <a:cs typeface="타이프"/>
            </a:endParaRP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    frame.getContentPane().add (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new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 RubberLinesPanel()); </a:t>
            </a:r>
          </a:p>
          <a:p>
            <a:pPr algn="just"/>
            <a:endParaRPr lang="en-US" altLang="ko-KR" sz="1800">
              <a:solidFill>
                <a:srgbClr val="000000"/>
              </a:solidFill>
              <a:latin typeface="Lucida Sans Unicode" pitchFamily="34" charset="0"/>
              <a:ea typeface="타이프"/>
              <a:cs typeface="타이프"/>
            </a:endParaRP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    frame.pack();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    frame.setVisible(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타이프"/>
                <a:cs typeface="타이프"/>
              </a:rPr>
              <a:t>true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);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   }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타이프"/>
                <a:cs typeface="타이프"/>
              </a:rPr>
              <a:t>} </a:t>
            </a:r>
          </a:p>
        </p:txBody>
      </p:sp>
    </p:spTree>
  </p:cSld>
  <p:clrMapOvr>
    <a:masterClrMapping/>
  </p:clrMapOvr>
  <p:transition spd="med">
    <p:wheel spokes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30E0D5D-F2BA-4AED-8C25-8E63576CD3E9}" type="slidenum">
              <a:rPr lang="en-US" altLang="ko-KR"/>
              <a:pPr>
                <a:defRPr/>
              </a:pPr>
              <a:t>9</a:t>
            </a:fld>
            <a:endParaRPr lang="en-US" altLang="ko-KR"/>
          </a:p>
        </p:txBody>
      </p:sp>
      <p:sp>
        <p:nvSpPr>
          <p:cNvPr id="1024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ea typeface="굴림" pitchFamily="50" charset="-127"/>
              </a:rPr>
              <a:t>RubberLines.java </a:t>
            </a:r>
            <a:r>
              <a:rPr lang="ko-KR" altLang="en-US">
                <a:ea typeface="굴림" pitchFamily="50" charset="-127"/>
              </a:rPr>
              <a:t>실행 결과</a:t>
            </a:r>
          </a:p>
        </p:txBody>
      </p:sp>
      <p:pic>
        <p:nvPicPr>
          <p:cNvPr id="102405" name="Picture 3" descr="RubberLine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1219200"/>
            <a:ext cx="7334250" cy="4799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heel spokes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455BE48-6C4C-4FBE-936E-5D3C6DFF0387}" type="slidenum">
              <a:rPr lang="en-US" altLang="ko-KR"/>
              <a:pPr>
                <a:defRPr/>
              </a:pPr>
              <a:t>10</a:t>
            </a:fld>
            <a:endParaRPr lang="en-US" altLang="ko-KR"/>
          </a:p>
        </p:txBody>
      </p:sp>
      <p:sp>
        <p:nvSpPr>
          <p:cNvPr id="1034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ea typeface="굴림" pitchFamily="50" charset="-127"/>
              </a:rPr>
              <a:t>RubberLinesPanel.java (1/3)</a:t>
            </a:r>
          </a:p>
        </p:txBody>
      </p:sp>
      <p:sp>
        <p:nvSpPr>
          <p:cNvPr id="103429" name="Text Box 3"/>
          <p:cNvSpPr txBox="1">
            <a:spLocks noChangeArrowheads="1"/>
          </p:cNvSpPr>
          <p:nvPr/>
        </p:nvSpPr>
        <p:spPr bwMode="auto">
          <a:xfrm>
            <a:off x="990600" y="1066800"/>
            <a:ext cx="7924800" cy="5035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바탕체" pitchFamily="17" charset="-127"/>
              </a:rPr>
              <a:t>import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 javax.swing.JPanel;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바탕체" pitchFamily="17" charset="-127"/>
              </a:rPr>
              <a:t> </a:t>
            </a:r>
          </a:p>
          <a:p>
            <a:pPr algn="just"/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바탕체" pitchFamily="17" charset="-127"/>
              </a:rPr>
              <a:t>import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 java.awt.*;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바탕체" pitchFamily="17" charset="-127"/>
              </a:rPr>
              <a:t> </a:t>
            </a:r>
          </a:p>
          <a:p>
            <a:pPr algn="just"/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바탕체" pitchFamily="17" charset="-127"/>
              </a:rPr>
              <a:t>import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 java.awt.event.*;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바탕체" pitchFamily="17" charset="-127"/>
              </a:rPr>
              <a:t> </a:t>
            </a:r>
          </a:p>
          <a:p>
            <a:pPr algn="just"/>
            <a:endParaRPr lang="en-US" altLang="ko-KR" sz="1800">
              <a:solidFill>
                <a:srgbClr val="000000"/>
              </a:solidFill>
              <a:latin typeface="Lucida Sans Unicode" pitchFamily="34" charset="0"/>
              <a:ea typeface="바탕체" pitchFamily="17" charset="-127"/>
            </a:endParaRPr>
          </a:p>
          <a:p>
            <a:pPr algn="just"/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바탕체" pitchFamily="17" charset="-127"/>
              </a:rPr>
              <a:t>public class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 RubberLinesPanel 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바탕체" pitchFamily="17" charset="-127"/>
              </a:rPr>
              <a:t>extends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 JPanel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바탕체" pitchFamily="17" charset="-127"/>
              </a:rPr>
              <a:t>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{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 private Point point1 = null, point2 = null; </a:t>
            </a:r>
          </a:p>
          <a:p>
            <a:pPr algn="just"/>
            <a:endParaRPr lang="en-US" altLang="ko-KR" sz="1800">
              <a:solidFill>
                <a:srgbClr val="008000"/>
              </a:solidFill>
              <a:latin typeface="Lucida Sans Unicode" pitchFamily="34" charset="0"/>
              <a:ea typeface="바탕체" pitchFamily="17" charset="-127"/>
            </a:endParaRPr>
          </a:p>
          <a:p>
            <a:pPr algn="just"/>
            <a:r>
              <a:rPr lang="en-US" altLang="ko-KR" sz="1800">
                <a:solidFill>
                  <a:srgbClr val="008000"/>
                </a:solidFill>
                <a:latin typeface="Lucida Sans Unicode" pitchFamily="34" charset="0"/>
                <a:ea typeface="바탕체" pitchFamily="17" charset="-127"/>
              </a:rPr>
              <a:t>   //  </a:t>
            </a:r>
            <a:r>
              <a:rPr lang="ko-KR" altLang="en-US" sz="1800">
                <a:solidFill>
                  <a:srgbClr val="008000"/>
                </a:solidFill>
                <a:latin typeface="Lucida Sans Unicode" pitchFamily="34" charset="0"/>
                <a:ea typeface="바탕체" pitchFamily="17" charset="-127"/>
              </a:rPr>
              <a:t>구성자: 이 패널이 마우스 이벤트들을 감청하도록 설정한다. </a:t>
            </a:r>
          </a:p>
          <a:p>
            <a:pPr algn="just"/>
            <a:r>
              <a:rPr lang="ko-KR" altLang="en-US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 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바탕체" pitchFamily="17" charset="-127"/>
              </a:rPr>
              <a:t>public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 RubberLinesPanel()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 {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    LineListener listener = 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바탕체" pitchFamily="17" charset="-127"/>
              </a:rPr>
              <a:t>new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 LineListener();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    addMouseListener (listener);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    addMouseMotionListener (listener);</a:t>
            </a:r>
          </a:p>
          <a:p>
            <a:pPr algn="just"/>
            <a:endParaRPr lang="en-US" altLang="ko-KR" sz="1800">
              <a:solidFill>
                <a:srgbClr val="000000"/>
              </a:solidFill>
              <a:latin typeface="Lucida Sans Unicode" pitchFamily="34" charset="0"/>
              <a:ea typeface="바탕체" pitchFamily="17" charset="-127"/>
            </a:endParaRP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    setBackground (Color.black);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    setPreferredSize (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바탕체" pitchFamily="17" charset="-127"/>
              </a:rPr>
              <a:t>new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 Dimension(400, 200));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 } </a:t>
            </a:r>
            <a:endParaRPr lang="en-US" altLang="ko-KR" sz="1800">
              <a:latin typeface="Lucida Sans Unicode" pitchFamily="34" charset="0"/>
              <a:ea typeface="바탕체" pitchFamily="17" charset="-127"/>
            </a:endParaRPr>
          </a:p>
        </p:txBody>
      </p:sp>
    </p:spTree>
  </p:cSld>
  <p:clrMapOvr>
    <a:masterClrMapping/>
  </p:clrMapOvr>
  <p:transition spd="med">
    <p:wheel spokes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2EEBDD-7D7E-4A83-835C-1A42C93FB8EF}" type="slidenum">
              <a:rPr lang="en-US" altLang="ko-KR"/>
              <a:pPr>
                <a:defRPr/>
              </a:pPr>
              <a:t>11</a:t>
            </a:fld>
            <a:endParaRPr lang="en-US" altLang="ko-KR"/>
          </a:p>
        </p:txBody>
      </p:sp>
      <p:sp>
        <p:nvSpPr>
          <p:cNvPr id="1044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ea typeface="굴림" pitchFamily="50" charset="-127"/>
              </a:rPr>
              <a:t>RubberLinesPanel.java (2/3)</a:t>
            </a:r>
          </a:p>
        </p:txBody>
      </p:sp>
      <p:sp>
        <p:nvSpPr>
          <p:cNvPr id="104453" name="Text Box 3"/>
          <p:cNvSpPr txBox="1">
            <a:spLocks noChangeArrowheads="1"/>
          </p:cNvSpPr>
          <p:nvPr/>
        </p:nvSpPr>
        <p:spPr bwMode="auto">
          <a:xfrm>
            <a:off x="990600" y="1066800"/>
            <a:ext cx="7924800" cy="53101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ko-KR" altLang="en-US" sz="1800">
                <a:solidFill>
                  <a:srgbClr val="008000"/>
                </a:solidFill>
                <a:latin typeface="Lucida Sans Unicode" pitchFamily="34" charset="0"/>
                <a:ea typeface="바탕체" pitchFamily="17" charset="-127"/>
              </a:rPr>
              <a:t>   // 처음 마우스가 눌려진 곳부터 마우스의 현재 위치까지 선분을 그린다. </a:t>
            </a:r>
          </a:p>
          <a:p>
            <a:pPr algn="just"/>
            <a:r>
              <a:rPr lang="ko-KR" altLang="en-US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 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바탕체" pitchFamily="17" charset="-127"/>
              </a:rPr>
              <a:t>public void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 paintComponent (Graphics page)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 {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    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바탕체" pitchFamily="17" charset="-127"/>
              </a:rPr>
              <a:t>super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.paintComponent (page); </a:t>
            </a:r>
          </a:p>
          <a:p>
            <a:pPr algn="just"/>
            <a:endParaRPr lang="en-US" altLang="ko-KR" sz="1800">
              <a:solidFill>
                <a:srgbClr val="000000"/>
              </a:solidFill>
              <a:latin typeface="Lucida Sans Unicode" pitchFamily="34" charset="0"/>
              <a:ea typeface="바탕체" pitchFamily="17" charset="-127"/>
            </a:endParaRP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    page.setColor (Color.yellow);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    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바탕체" pitchFamily="17" charset="-127"/>
              </a:rPr>
              <a:t>if 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(point1 != null &amp;&amp; point2 != null)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       page.drawLine (point1.x, point1.y, point2.x, point2.y);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 } </a:t>
            </a:r>
          </a:p>
          <a:p>
            <a:pPr algn="just"/>
            <a:b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</a:br>
            <a:r>
              <a:rPr lang="en-US" altLang="ko-KR" sz="1800">
                <a:solidFill>
                  <a:srgbClr val="008000"/>
                </a:solidFill>
                <a:latin typeface="Lucida Sans Unicode" pitchFamily="34" charset="0"/>
                <a:ea typeface="바탕체" pitchFamily="17" charset="-127"/>
              </a:rPr>
              <a:t>   //  </a:t>
            </a:r>
            <a:r>
              <a:rPr lang="ko-KR" altLang="en-US" sz="1800">
                <a:solidFill>
                  <a:srgbClr val="008000"/>
                </a:solidFill>
                <a:latin typeface="Lucida Sans Unicode" pitchFamily="34" charset="0"/>
                <a:ea typeface="바탕체" pitchFamily="17" charset="-127"/>
              </a:rPr>
              <a:t>모든 마우스 이벤트들을 위한 감청자를 나타낸다. </a:t>
            </a:r>
          </a:p>
          <a:p>
            <a:pPr algn="just"/>
            <a:r>
              <a:rPr lang="ko-KR" altLang="en-US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 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바탕체" pitchFamily="17" charset="-127"/>
              </a:rPr>
              <a:t>private class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 LineListener 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바탕체" pitchFamily="17" charset="-127"/>
              </a:rPr>
              <a:t>implements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 MouseListener,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                                                     MouseMotionListener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 { </a:t>
            </a:r>
          </a:p>
          <a:p>
            <a:pPr algn="just"/>
            <a:r>
              <a:rPr lang="en-US" altLang="ko-KR" sz="1800">
                <a:solidFill>
                  <a:srgbClr val="008000"/>
                </a:solidFill>
                <a:latin typeface="Lucida Sans Unicode" pitchFamily="34" charset="0"/>
                <a:ea typeface="바탕체" pitchFamily="17" charset="-127"/>
              </a:rPr>
              <a:t>      //  </a:t>
            </a:r>
            <a:r>
              <a:rPr lang="ko-KR" altLang="en-US" sz="1800">
                <a:solidFill>
                  <a:srgbClr val="008000"/>
                </a:solidFill>
                <a:latin typeface="Lucida Sans Unicode" pitchFamily="34" charset="0"/>
                <a:ea typeface="바탕체" pitchFamily="17" charset="-127"/>
              </a:rPr>
              <a:t>마우스 버튼이 눌려진 처음 지점을 포착한다. </a:t>
            </a:r>
          </a:p>
          <a:p>
            <a:pPr algn="just"/>
            <a:r>
              <a:rPr lang="ko-KR" altLang="en-US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    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바탕체" pitchFamily="17" charset="-127"/>
              </a:rPr>
              <a:t>public void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 mousePressed (MouseEvent event)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    {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       point1 = event.getPoint();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    } </a:t>
            </a:r>
            <a:endParaRPr lang="en-US" altLang="ko-KR" sz="1800">
              <a:latin typeface="Lucida Sans Unicode" pitchFamily="34" charset="0"/>
              <a:ea typeface="바탕체" pitchFamily="17" charset="-127"/>
            </a:endParaRPr>
          </a:p>
        </p:txBody>
      </p:sp>
    </p:spTree>
  </p:cSld>
  <p:clrMapOvr>
    <a:masterClrMapping/>
  </p:clrMapOvr>
  <p:transition spd="med">
    <p:wheel spokes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040746-AAED-4E33-9F69-AF69033E7027}" type="slidenum">
              <a:rPr lang="en-US" altLang="ko-KR"/>
              <a:pPr>
                <a:defRPr/>
              </a:pPr>
              <a:t>12</a:t>
            </a:fld>
            <a:endParaRPr lang="en-US" altLang="ko-KR"/>
          </a:p>
        </p:txBody>
      </p:sp>
      <p:sp>
        <p:nvSpPr>
          <p:cNvPr id="1054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ea typeface="굴림" pitchFamily="50" charset="-127"/>
              </a:rPr>
              <a:t>RubberLinesPanel.java (3/3)</a:t>
            </a:r>
          </a:p>
        </p:txBody>
      </p:sp>
      <p:sp>
        <p:nvSpPr>
          <p:cNvPr id="105477" name="Text Box 3"/>
          <p:cNvSpPr txBox="1">
            <a:spLocks noChangeArrowheads="1"/>
          </p:cNvSpPr>
          <p:nvPr/>
        </p:nvSpPr>
        <p:spPr bwMode="auto">
          <a:xfrm>
            <a:off x="990600" y="1066800"/>
            <a:ext cx="7924800" cy="5035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endParaRPr lang="ko-KR" altLang="en-US" sz="1800">
              <a:solidFill>
                <a:srgbClr val="008000"/>
              </a:solidFill>
              <a:latin typeface="Lucida Sans Unicode" pitchFamily="34" charset="0"/>
              <a:ea typeface="바탕체" pitchFamily="17" charset="-127"/>
            </a:endParaRPr>
          </a:p>
          <a:p>
            <a:pPr algn="just"/>
            <a:r>
              <a:rPr lang="ko-KR" altLang="en-US" sz="1800">
                <a:solidFill>
                  <a:srgbClr val="008000"/>
                </a:solidFill>
                <a:latin typeface="Lucida Sans Unicode" pitchFamily="34" charset="0"/>
                <a:ea typeface="바탕체" pitchFamily="17" charset="-127"/>
              </a:rPr>
              <a:t>      // 마우스가 끌려짐에 따라 그것의 현재 위치를 구해서, </a:t>
            </a:r>
          </a:p>
          <a:p>
            <a:pPr algn="just"/>
            <a:r>
              <a:rPr lang="ko-KR" altLang="en-US" sz="1800">
                <a:solidFill>
                  <a:srgbClr val="008000"/>
                </a:solidFill>
                <a:latin typeface="Lucida Sans Unicode" pitchFamily="34" charset="0"/>
                <a:ea typeface="바탕체" pitchFamily="17" charset="-127"/>
              </a:rPr>
              <a:t>      // 고무줄 효과가 생기도록 선분을 그린다. </a:t>
            </a:r>
          </a:p>
          <a:p>
            <a:pPr algn="just"/>
            <a:r>
              <a:rPr lang="ko-KR" altLang="en-US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    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바탕체" pitchFamily="17" charset="-127"/>
              </a:rPr>
              <a:t>public void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 mouseDragged (MouseEvent event)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    {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       point2 = event.getPoint();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       repaint();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    } </a:t>
            </a:r>
          </a:p>
          <a:p>
            <a:pPr algn="just"/>
            <a:b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</a:br>
            <a:r>
              <a:rPr lang="en-US" altLang="ko-KR" sz="1800">
                <a:solidFill>
                  <a:srgbClr val="008000"/>
                </a:solidFill>
                <a:latin typeface="Lucida Sans Unicode" pitchFamily="34" charset="0"/>
                <a:ea typeface="바탕체" pitchFamily="17" charset="-127"/>
              </a:rPr>
              <a:t>      //  </a:t>
            </a:r>
            <a:r>
              <a:rPr lang="ko-KR" altLang="en-US" sz="1800">
                <a:solidFill>
                  <a:srgbClr val="008000"/>
                </a:solidFill>
                <a:latin typeface="Lucida Sans Unicode" pitchFamily="34" charset="0"/>
                <a:ea typeface="바탕체" pitchFamily="17" charset="-127"/>
              </a:rPr>
              <a:t>사용하지 않는 이벤트 메쏘드들을 위한 공백 정의를 제공한다. </a:t>
            </a:r>
          </a:p>
          <a:p>
            <a:pPr algn="just"/>
            <a:r>
              <a:rPr lang="ko-KR" altLang="en-US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    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바탕체" pitchFamily="17" charset="-127"/>
              </a:rPr>
              <a:t>public void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 mouseClicked (MouseEvent event) {}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    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바탕체" pitchFamily="17" charset="-127"/>
              </a:rPr>
              <a:t>public void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 mouseReleased (MouseEvent event) {}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    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바탕체" pitchFamily="17" charset="-127"/>
              </a:rPr>
              <a:t>public void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 mouseEntered (MouseEvent event) {}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    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바탕체" pitchFamily="17" charset="-127"/>
              </a:rPr>
              <a:t>public void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 mouseExited (MouseEvent event) {}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    </a:t>
            </a:r>
            <a:r>
              <a:rPr lang="en-US" altLang="ko-KR" sz="1800">
                <a:solidFill>
                  <a:srgbClr val="0000FF"/>
                </a:solidFill>
                <a:latin typeface="Lucida Sans Unicode" pitchFamily="34" charset="0"/>
                <a:ea typeface="바탕체" pitchFamily="17" charset="-127"/>
              </a:rPr>
              <a:t>public void</a:t>
            </a:r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 mouseMoved (MouseEvent event) {}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   } </a:t>
            </a:r>
          </a:p>
          <a:p>
            <a:pPr algn="just"/>
            <a:r>
              <a:rPr lang="en-US" altLang="ko-KR" sz="1800">
                <a:solidFill>
                  <a:srgbClr val="000000"/>
                </a:solidFill>
                <a:latin typeface="Lucida Sans Unicode" pitchFamily="34" charset="0"/>
                <a:ea typeface="바탕체" pitchFamily="17" charset="-127"/>
              </a:rPr>
              <a:t>} </a:t>
            </a:r>
          </a:p>
          <a:p>
            <a:endParaRPr lang="en-US" altLang="ko-KR" sz="1800">
              <a:latin typeface="Lucida Sans Unicode" pitchFamily="34" charset="0"/>
              <a:ea typeface="바탕체" pitchFamily="17" charset="-127"/>
            </a:endParaRPr>
          </a:p>
        </p:txBody>
      </p:sp>
    </p:spTree>
  </p:cSld>
  <p:clrMapOvr>
    <a:masterClrMapping/>
  </p:clrMapOvr>
  <p:transition spd="med">
    <p:wheel spokes="1"/>
  </p:transition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Arial"/>
        <a:ea typeface="바탕체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Cliff</Template>
  <TotalTime>10846</TotalTime>
  <Words>228</Words>
  <Application>Microsoft Office PowerPoint</Application>
  <PresentationFormat>화면 슬라이드 쇼(4:3)</PresentationFormat>
  <Paragraphs>198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굴림</vt:lpstr>
      <vt:lpstr>굴림체</vt:lpstr>
      <vt:lpstr>Arial</vt:lpstr>
      <vt:lpstr>Courier New</vt:lpstr>
      <vt:lpstr>Lucida Sans Unicode</vt:lpstr>
      <vt:lpstr>Times</vt:lpstr>
      <vt:lpstr>Wingdings</vt:lpstr>
      <vt:lpstr>Blank</vt:lpstr>
      <vt:lpstr>Event</vt:lpstr>
      <vt:lpstr>Dots.java </vt:lpstr>
      <vt:lpstr>Dots.java 실행 결과</vt:lpstr>
      <vt:lpstr>DotsPanel.java (1/3)</vt:lpstr>
      <vt:lpstr>DotsPanel.java (2/3)</vt:lpstr>
      <vt:lpstr>DotsPanel.java (3/3)</vt:lpstr>
      <vt:lpstr>마우스 이벤트</vt:lpstr>
      <vt:lpstr>RubberLines.java</vt:lpstr>
      <vt:lpstr>RubberLines.java 실행 결과</vt:lpstr>
      <vt:lpstr>RubberLinesPanel.java (1/3)</vt:lpstr>
      <vt:lpstr>RubberLinesPanel.java (2/3)</vt:lpstr>
      <vt:lpstr>RubberLinesPanel.java (3/3)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Copyright 2004 Pearson Addison-Wesley</dc:creator>
  <cp:lastModifiedBy>한정희 항공전자정보공학부(교수)</cp:lastModifiedBy>
  <cp:revision>189</cp:revision>
  <dcterms:created xsi:type="dcterms:W3CDTF">2003-05-23T15:49:24Z</dcterms:created>
  <dcterms:modified xsi:type="dcterms:W3CDTF">2020-06-03T05:00:39Z</dcterms:modified>
</cp:coreProperties>
</file>