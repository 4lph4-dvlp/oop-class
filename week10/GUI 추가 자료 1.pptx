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ppt/tags/tag15.xml" ContentType="application/vnd.openxmlformats-officedocument.presentationml.tags+xml"/>
  <Override PartName="/ppt/notesSlides/notesSlide16.xml" ContentType="application/vnd.openxmlformats-officedocument.presentationml.notesSlide+xml"/>
  <Override PartName="/ppt/tags/tag16.xml" ContentType="application/vnd.openxmlformats-officedocument.presentationml.tags+xml"/>
  <Override PartName="/ppt/notesSlides/notesSlide17.xml" ContentType="application/vnd.openxmlformats-officedocument.presentationml.notesSlide+xml"/>
  <Override PartName="/ppt/tags/tag17.xml" ContentType="application/vnd.openxmlformats-officedocument.presentationml.tags+xml"/>
  <Override PartName="/ppt/notesSlides/notesSlide18.xml" ContentType="application/vnd.openxmlformats-officedocument.presentationml.notesSlide+xml"/>
  <Override PartName="/ppt/tags/tag18.xml" ContentType="application/vnd.openxmlformats-officedocument.presentationml.tags+xml"/>
  <Override PartName="/ppt/notesSlides/notesSlide19.xml" ContentType="application/vnd.openxmlformats-officedocument.presentationml.notesSlide+xml"/>
  <Override PartName="/ppt/tags/tag19.xml" ContentType="application/vnd.openxmlformats-officedocument.presentationml.tags+xml"/>
  <Override PartName="/ppt/notesSlides/notesSlide20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21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22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notesSlides/notesSlide23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notesSlides/notesSlide24.xml" ContentType="application/vnd.openxmlformats-officedocument.presentationml.notesSlide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notesSlides/notesSlide25.xml" ContentType="application/vnd.openxmlformats-officedocument.presentationml.notesSlide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notesSlides/notesSlide26.xml" ContentType="application/vnd.openxmlformats-officedocument.presentationml.notesSlide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tags/tag20.xml" ContentType="application/vnd.openxmlformats-officedocument.presentationml.tags+xml"/>
  <Override PartName="/ppt/notesSlides/notesSlide27.xml" ContentType="application/vnd.openxmlformats-officedocument.presentationml.notesSlide+xml"/>
  <Override PartName="/ppt/tags/tag21.xml" ContentType="application/vnd.openxmlformats-officedocument.presentationml.tags+xml"/>
  <Override PartName="/ppt/notesSlides/notesSlide28.xml" ContentType="application/vnd.openxmlformats-officedocument.presentationml.notesSlide+xml"/>
  <Override PartName="/ppt/tags/tag22.xml" ContentType="application/vnd.openxmlformats-officedocument.presentationml.tags+xml"/>
  <Override PartName="/ppt/notesSlides/notesSlide29.xml" ContentType="application/vnd.openxmlformats-officedocument.presentationml.notesSlide+xml"/>
  <Override PartName="/ppt/tags/tag23.xml" ContentType="application/vnd.openxmlformats-officedocument.presentationml.tags+xml"/>
  <Override PartName="/ppt/notesSlides/notesSlide30.xml" ContentType="application/vnd.openxmlformats-officedocument.presentationml.notesSlide+xml"/>
  <Override PartName="/ppt/tags/tag24.xml" ContentType="application/vnd.openxmlformats-officedocument.presentationml.tags+xml"/>
  <Override PartName="/ppt/notesSlides/notesSlide31.xml" ContentType="application/vnd.openxmlformats-officedocument.presentationml.notesSlide+xml"/>
  <Override PartName="/ppt/tags/tag25.xml" ContentType="application/vnd.openxmlformats-officedocument.presentationml.tags+xml"/>
  <Override PartName="/ppt/notesSlides/notesSlide32.xml" ContentType="application/vnd.openxmlformats-officedocument.presentationml.notesSlide+xml"/>
  <Override PartName="/ppt/tags/tag26.xml" ContentType="application/vnd.openxmlformats-officedocument.presentationml.tags+xml"/>
  <Override PartName="/ppt/notesSlides/notesSlide33.xml" ContentType="application/vnd.openxmlformats-officedocument.presentationml.notesSlide+xml"/>
  <Override PartName="/ppt/tags/tag27.xml" ContentType="application/vnd.openxmlformats-officedocument.presentationml.tags+xml"/>
  <Override PartName="/ppt/notesSlides/notesSlide34.xml" ContentType="application/vnd.openxmlformats-officedocument.presentationml.notesSlide+xml"/>
  <Override PartName="/ppt/tags/tag28.xml" ContentType="application/vnd.openxmlformats-officedocument.presentationml.tags+xml"/>
  <Override PartName="/ppt/notesSlides/notesSlide35.xml" ContentType="application/vnd.openxmlformats-officedocument.presentationml.notesSlide+xml"/>
  <Override PartName="/ppt/tags/tag29.xml" ContentType="application/vnd.openxmlformats-officedocument.presentationml.tags+xml"/>
  <Override PartName="/ppt/notesSlides/notesSlide36.xml" ContentType="application/vnd.openxmlformats-officedocument.presentationml.notesSlide+xml"/>
  <Override PartName="/ppt/tags/tag30.xml" ContentType="application/vnd.openxmlformats-officedocument.presentationml.tags+xml"/>
  <Override PartName="/ppt/notesSlides/notesSlide37.xml" ContentType="application/vnd.openxmlformats-officedocument.presentationml.notesSlide+xml"/>
  <Override PartName="/ppt/tags/tag31.xml" ContentType="application/vnd.openxmlformats-officedocument.presentationml.tags+xml"/>
  <Override PartName="/ppt/notesSlides/notesSlide38.xml" ContentType="application/vnd.openxmlformats-officedocument.presentationml.notesSlide+xml"/>
  <Override PartName="/ppt/tags/tag32.xml" ContentType="application/vnd.openxmlformats-officedocument.presentationml.tags+xml"/>
  <Override PartName="/ppt/notesSlides/notesSlide39.xml" ContentType="application/vnd.openxmlformats-officedocument.presentationml.notesSlide+xml"/>
  <Override PartName="/ppt/tags/tag33.xml" ContentType="application/vnd.openxmlformats-officedocument.presentationml.tags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263" r:id="rId2"/>
    <p:sldId id="400" r:id="rId3"/>
    <p:sldId id="401" r:id="rId4"/>
    <p:sldId id="350" r:id="rId5"/>
    <p:sldId id="351" r:id="rId6"/>
    <p:sldId id="352" r:id="rId7"/>
    <p:sldId id="353" r:id="rId8"/>
    <p:sldId id="354" r:id="rId9"/>
    <p:sldId id="357" r:id="rId10"/>
    <p:sldId id="267" r:id="rId11"/>
    <p:sldId id="358" r:id="rId12"/>
    <p:sldId id="359" r:id="rId13"/>
    <p:sldId id="360" r:id="rId14"/>
    <p:sldId id="361" r:id="rId15"/>
    <p:sldId id="362" r:id="rId16"/>
    <p:sldId id="363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1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6pPr>
    <a:lvl7pPr marL="2743200" algn="l" defTabSz="914400" rtl="0" eaLnBrk="1" latinLnBrk="1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7pPr>
    <a:lvl8pPr marL="3200400" algn="l" defTabSz="914400" rtl="0" eaLnBrk="1" latinLnBrk="1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8pPr>
    <a:lvl9pPr marL="3657600" algn="l" defTabSz="914400" rtl="0" eaLnBrk="1" latinLnBrk="1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FFCC66"/>
    <a:srgbClr val="F5E985"/>
    <a:srgbClr val="DE2C28"/>
    <a:srgbClr val="FF4C00"/>
    <a:srgbClr val="953A1F"/>
    <a:srgbClr val="27333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14" autoAdjust="0"/>
    <p:restoredTop sz="94660" autoAdjust="0"/>
  </p:normalViewPr>
  <p:slideViewPr>
    <p:cSldViewPr>
      <p:cViewPr varScale="1">
        <p:scale>
          <a:sx n="105" d="100"/>
          <a:sy n="105" d="100"/>
        </p:scale>
        <p:origin x="1050" y="96"/>
      </p:cViewPr>
      <p:guideLst>
        <p:guide orient="horz" pos="9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43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 smtClean="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 smtClean="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72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 smtClean="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72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 smtClean="0">
                <a:ea typeface="굴림" pitchFamily="50" charset="-127"/>
              </a:defRPr>
            </a:lvl1pPr>
          </a:lstStyle>
          <a:p>
            <a:pPr>
              <a:defRPr/>
            </a:pPr>
            <a:fld id="{93FA5576-FA53-430E-85B1-525A14BBF9B6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078874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0-05-27T05:25:57.78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9456 7044 0,'88'-22'104,"67"0"-96,67 0 0,-23-22-1,23 44 10,-45 0-3,199 0 3,-22 0-1,-132 0 1,-134 0 0,-43 0 0,-23-23 92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0-05-27T05:25:58.63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12490 7022 0,'66'0'48,"67"0"-41,66 0 1,23 0 8,-45 0 0,266-22 0,132 22 1,-65 0-1,-67 0 1,-133 0 0,-111 0 0,-177 0 44,-66-44 20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0-05-27T05:25:59.52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16409 7022 0,'67'0'8,"21"-44"8,89 44 1,89 0 0,111 0-1,110 0 1,22 0-1,-66 0 1,-22 0 0,-200 0 0,-154 0-2,-1 0 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0-05-27T05:26:00.52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5780 8019 0,'0'-22'18,"66"22"-16,89 0 13,222 0 3,88 0-2,0 0 2,22 0-2,0 0 1,-310 0-2,-22 0 1,-133-44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0-05-27T05:26:01.17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9899 8174 0,'44'-22'38,"89"0"-30,22-45 1,0 45 7,0 0 0,133 0 2,-89 22-3,-110 0 0,-45 0 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0-05-27T05:26:01.71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12246 8174 0,'22'0'65,"22"0"-58,67-22 1,0 22 1,110-44 5,687-1 5,-177 45-4,-22 0 1,-377 0 1,-288 0-1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0-05-27T05:25:53.66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6533 5582 0,'22'22'8,"-67"134"0,1-1 3,-67 221 6,-21 89 3,132-221-3,0-155-3,0-67 1,44 66 2,-22-88 1,0 0-1,0-22-2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0-05-27T05:26:01.85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10231 8816 0,'22'23'17,"44"-23"-11,-43-23 6,176-65 5,177-23 0,1 22 2,-244 89-4,88-44 0,-22 44 2,-132 0-1,-1 0 1,-66 22 70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0-05-27T05:26:02.54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9744 9791 0,'22'0'41,"111"-44"-34,-45 44 2,311-45 8,44 45 2,-67 0-5,-132 0 2,66 0 1,44 0 0,-88 0 0,-178 0-2,-43 0 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0-05-27T05:26:04.57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10607 11718 0,'-22'0'137,"22"22"-131,-66 45 3,44-1 8,-23 23-1,1-23 3,44 23-2,0 44-2,-22-22 0,-22 44 3,21-22-1,23-89 1,0 67-5,0 44 4,0 44 0,0 45 0,0-23-1,0-44 1,23-22 0,-1-22-1,22 22 1,22-44 2,-21-22-2,-45-111 175,0 0-184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0-05-27T05:26:06.34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4362 10035 0,'-22'22'89,"22"22"-82,0 23 1,0 43 8,0 23-2,0 22 3,0 488 0,-44-134-1,-22 1 1,21-89-1,45-67 2,22-177-2,23-88 0,43-23 1,-66-66 2,1 0-5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0-05-27T05:26:07.40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4628 4696 0,'-66'89'47,"21"-23"-36,1 67-5,-44 0 5,-45 199 6,-67 45 0,68-45-1,21 133 1,67 1 1,44-223-4,0 112 0,0-245 2,88 68 1,23-1 0,44-89 0,-89-43 2,-44-45-3,1 0 14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0-05-27T05:25:53.13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3122 3611 0,'0'-22'54,"22"22"-46,23 0 2,21 0 6,-44 0 1,23 0 0,43 0-1,222 0 1,310 0-1,67 0 2,44 0-1,-311 0-2,-154 0 2,421 0-1,-577 0 1,-88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0-05-27T05:26:01.91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5802 11607 0,'0'-22'113,"0"-22"-107,44 44 1,45 0 6,243-22 4,155 22-1,177 0 1,200 0 0,-554 0-2,354 0 2,-287 0-1,-355 0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0-05-27T05:26:04.72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5758 13335 0,'66'0'167,"133"0"-159,67 0 1,465 0 9,420 0-1,355 0-2,-177 0 2,-310 0 1,-399 0-1,-266 0-1,-243 0 1,-67 0-2,22 0 2,45 0-1,177 0 1,155 0 0,-111 0-1,-243-22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0-05-27T05:26:12.88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4230 13047 0,'22'-22'26,"22"22"-21,22 22 6,23 89 5,0 44 1,-23-22 1,45 0 0,-1 22-2,-43-44 1,-1-23 0,-44-66 0,-22-44 44,45-22-53,-1-45 3,23-132 6,43-89 3,-88 265-4,1 23 2,-1 22-2,-22-22 38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0-05-27T05:26:15.36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5691 12383 0,'177'0'63,"222"-22"-54,155-23-1,110 45 3,1085 0 4,111 0 2,1 0 0,-621-66 0,-620 66 0,-532 0-1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0-05-27T05:25:53.41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3809 4253 0,'44'0'7,"-22"0"8,23 0 2,-1 0-3,22 0 1,23 0 1,177 0 2,442 45-2,-88 21 1,133 23-1,133-23 2,-355-66-2,-376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0-05-27T05:26:04.50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13863 2681 0,'0'88'47,"0"23"-39,-45 66 0,23-22 0,0-44 8,0 44 2,22-44-2,0-23-2,0-43 3,0-23 0,0 22-1,22-44 86,22 0-94,89-22 1,111-67 7,66 67 1,-155-22 1,-22 44 0,-89 0-4,-22 0 30,-22-22 29,0-23-58,0-132 3,0-44-2,-44-45 1,44 133 0,0 44 0,-22 23-1,22-1 0,-23 23 2,23 22 15,-22 22 23,0 0-40,-66 0-5,-245 22 7,-21 22-2,44 1 1,111-1 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0-05-27T05:26:06.73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15634 3124 0,'44'0'62,"23"0"-54,-23 0 3,111 0 4,288 0 2,332 0 0,133 0 0,-111 0-1,-265 0 2,-311 0-1,-199 0-2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0-05-27T05:26:08.50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13641 1706 0,'44'0'46,"23"22"-38,-45 22 2,44 178 7,23 110 1,0 67 0,-45-200-1,-44-110-2,0-1-1,0-21 3,0-45 19,22-22-20,0 0 14,0 0 3,23 0-9,21-22-12,133-200 5,89-110 0,155-44 1,-266 176 0,-88 89-2,-67 67 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0-05-27T05:26:20.18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4318 11386 0,'44'-22'104,"-21"22"-88,65 0-9,89-22 6,377 22 4,752-133-1,555 133 3,-776 0-5,775 0 3,-775 0-1,-642 0 1,-355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0-05-27T05:26:24.86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17118 13955 0,'22'0'89,"89"0"-82,44 0 11,88 0-16,532 0 14,200 0 0,-245 0 1,-132 0 0,-110 0 0,-267 0-1,67 0 0,-200 0 1,-65 0 30,43 0-39,0-22 4,23 0 5,22 0 0,-45 22 1,1-22-4,-1 22 4,-22 0-2,-21 0 1,21 0 0,22 0 0,1 0-1,-23 0 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0-05-27T05:26:33.61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13863 1440 0,'0'22'72,"0"89"-65,0 22 1,22-22 3,44 132 5,-44 67 1,0-22 3,1-133-5,21-22 2,-22 155-1,0-243 1,-22-90 71,67-43-81,-45 43 1,22-43 4,111-45 9,-66 44-5,21 45 0,1-22 1,-22-23 0,21 22-1,1 23 1,22-22 0,-89 21-2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0-05-27T05:26:40.87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17251 14044 0,'66'-22'65,"89"22"-58,22-44 0,89 21 8,509-21-1,864 44 6,-1152 0-5,-133 0-1,45-22 3,265-44 0,-575 43-1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0-05-27T05:26:50.69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10519 15351 0,'0'44'39,"-22"67"-30,22-44-1,0-1 6,0-22 1,-23-44 2,23 22 114,45-22-125,132 0 2,0 0 0,22 0 7,355 0 2,-222 0-1,620 0 0,133 0 0,-110 0 1,-156 67 0,-110-23 0,-89 23 0,-111-67 0,-155 0-1,-132 0 0,-67 0 2,-133 0 48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0-05-27T05:25:53.26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3897 4054 0,'23'0'72,"132"0"-65,88 0 4,421 0 5,1019 0 1,67 0 1,-311 0-1,-1018 0-3,-89 0 3,200 0 0,-399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0-05-27T05:25:55.33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17605 3345 0,'0'22'64,"-22"-22"-49,0 0 32,0 0-22,-1 0-9,1 0 7,0 0-14,0 0 7,0-22-2,0 22 2,0-22 10,-1 0 6,1 22-16,0-22-7,22-1 10,-22-21-4,22 22 4,-22-22-5,22-1 5,0 23-4,0-44 1,0-1 1,0 45-1,0-22 0,0 22 1,0-23 0,0 23-1,0-44 1,22 66 0,22-44-1,-22 21 1,1-21 0,-1 22 2,22 0-2,22-23 0,-21 45-1,-23 0-2,0 0 3,0 0-1,0 0 1,0 0 0,1 0 0,21 0 0,-22 23-1,44 43 1,-43-22-1,21 23 4,-22-1-4,0 1 0,0-1 1,-22 1 0,0 21-3,0-43 3,0-1 0,0-22-1,0 22 1,-22-22 0,0 23 0,0-45-16,-22 0 14,-1 0 2,23 22 0,0-22-1,0 0 4,0 0-4,-23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0-05-27T05:25:57.16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18978 3035 0,'22'0'62,"67"0"-54,132 0 3,443 0 6,599 0 0,243 0-1,-798 0 2,-641 0-2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0-05-27T05:25:59.42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19089 4098 0,'0'-22'25,"44"0"-10,-22 22 15,89-22-28,88-23 14,266-21 2,0 66-2,89-22 0,-45 22 1,111 0-1,-133-22 1,-132 22-1,-245-22 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0-05-27T05:26:00.39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18092 4209 0,'0'-22'64,"-22"22"-56,-22 0 0,-45 0 0,-88 0 9,0 0-1,88 0 1,1 0-1,66 0 6,-1-22-10,-21-23 4,0-21 2,44 44 0,0 0-5,0-1 4,-22-65 0,22 21-1,22-43 1,66 21 0,1 45 0,-23 22 2,112-45-3,-112 67 1,111 0-3,-133 0 3,67 44 0,-67 23-1,45 88 1,-89-89 1,0 1-3,0-23 2,0-22 0,-22 0 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0-05-27T05:26:07.66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17251 2681 0,'-67'-23'182,"-43"23"-174,65 0 0,-21 0 9,22 23-2,-23 21 1,-22-22 1,23 44 2,22 1-2,22-1-1,22-21 1,0-1-3,0-22 3,-45 45 0,45 21-1,0-21 2,0 88-2,0-89 1,0 1-1,22 21 1,45 1 0,-23-23-1,-22-44 4,45 45-3,-1-23-1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0-05-27T05:26:12.54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14638 5206 0,'22'-22'26,"-22"-1"-12,44 1 4,67-22-2,88 0 2,133-1 1,-132 45-5,43-22 0,377-22 3,355 44 0,-68 0-1,-286 0 1,-156 44 0,-178 1-1,-109-23 1,-112-22 0,-44 0 47,22 0-58,23 0 3,-23 0-2,45 0 8,88 0 1,-88-22 2,-23 22-3,89 0 1,-66 0 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0-05-27T05:26:31.28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5138 4918 0,'22'0'64,"0"0"-57,66 0 0,1 0 1,44 0 5,177 0 4,177 0-1,111 0 1,44 44 1,-398 45-3,110-67 1,-177-22 2,-133 0-3,1 0 2,198 0 0,200 0 0,22 0-1,-66 88 1,-155-88 0,-200 23-1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0-05-27T05:26:39.84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15612 9481 0,'44'0'31,"45"0"-23,66 0 3,288 0 5,199 66 1,199 45 0,200 44-1,221 22 2,-132-132 0,-997-45-2,-67 0-2,-44 0 3,67 0 241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0-05-27T05:26:05.90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8880 6535 0,'44'0'30,"23"0"-21,-1 0-1,45 0 1,287 0 8,333 66-1,199-44 1,-177-22 1,-465 0-3,-266 0 2,-22 23 98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0-05-27T05:26:06.68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13619 6380 0,'66'0'14,"1"0"-5,88 0 8,-67 0-1,156 0 3,221 0-5,199 0 3,178 0 0,-178 0 1,-287 0-3,-267-22 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0-05-27T05:26:07.75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3543 3877 0,'22'0'15,"23"-22"-7,-45-1 7,44 23-1,89-22 3,775 0 3,-244 22-6,177 0 1,1020 0 1,-356 0 3,-331 67-2,-709 21-3,-398-88 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0-05-27T05:26:22.29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10962 7155 0,'-23'22'13,"-43"0"-11,-67-22 14,-221 45 1,-178-45 2,89 0-5,133 0 3,23 0 0,87-67-1,112-66 1,21-88 0,67 66 2,0-111-6,0-111 3,45 89 1,87 0 0,-43 111 2,44 66-2,110 45 0,577-45 0,-112 111 1,156 0-4,-355 0 1,-265 67 2,110 199-1,-309-1 1,-45 68 2,-23 110-5,-242-22 3,21-111 0,89-133 2,0-89-1,89-88-3,21 23 2,23-23 16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21405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0-05-27T05:26:23.22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18336 7199 0,'0'0'3,"-111"0"1,-66 0 11,-45 0 1,-375 0 0,-68 0 1,-198-133 0,309-66-1,244 44 3,66-111-2,178 111 1,44-88-2,66-1 1,177-155-4,-88 222 4,510-333 3,-68 245-3,67 176 0,45 89-1,66 22-3,-199 155 6,-289 67-4,-176 110 2,-89 200 0,-199 177 1,-599 133-4,488-687 5,-310 200-1,532-355-2,66-22 21,22-22-25,0-45 4,0 23 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 smtClean="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 smtClean="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5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 smtClean="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 smtClean="0">
                <a:ea typeface="굴림" pitchFamily="50" charset="-127"/>
              </a:defRPr>
            </a:lvl1pPr>
          </a:lstStyle>
          <a:p>
            <a:pPr>
              <a:defRPr/>
            </a:pPr>
            <a:fld id="{BBD0A32E-1BC3-4B95-B2A7-68184E3479B6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100850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D2B744-356C-4A51-9DBD-F72263B86BAF}" type="slidenum">
              <a:rPr lang="ko-KR" altLang="en-US"/>
              <a:pPr/>
              <a:t>1</a:t>
            </a:fld>
            <a:endParaRPr lang="en-US" altLang="ko-KR"/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2513"/>
            <a:ext cx="5207000" cy="4603750"/>
          </a:xfrm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3373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358306A-5A4E-406D-8FC1-3FAB1996B949}" type="slidenum">
              <a:rPr lang="ko-KR" altLang="en-US"/>
              <a:pPr/>
              <a:t>2</a:t>
            </a:fld>
            <a:endParaRPr lang="en-US" altLang="ko-KR"/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8242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AAB540D-431B-4F7C-98D2-C568A70850A9}" type="slidenum">
              <a:rPr lang="ko-KR" altLang="en-US"/>
              <a:pPr/>
              <a:t>3</a:t>
            </a:fld>
            <a:endParaRPr lang="en-US" altLang="ko-KR"/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6481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0463B39-74EF-4B98-A528-EF5108720360}" type="slidenum">
              <a:rPr lang="ko-KR" altLang="en-US"/>
              <a:pPr/>
              <a:t>4</a:t>
            </a:fld>
            <a:endParaRPr lang="en-US" altLang="ko-KR"/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24750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17E3112-D2E2-42C0-8DDD-81545010C621}" type="slidenum">
              <a:rPr lang="ko-KR" altLang="en-US"/>
              <a:pPr/>
              <a:t>5</a:t>
            </a:fld>
            <a:endParaRPr lang="en-US" altLang="ko-KR"/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3221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677085-8669-475D-9DE9-E95ED677CA7E}" type="slidenum">
              <a:rPr lang="ko-KR" altLang="en-US"/>
              <a:pPr/>
              <a:t>6</a:t>
            </a:fld>
            <a:endParaRPr lang="en-US" altLang="ko-KR"/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546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5489347-0605-4D45-8C0C-C31C8C3506C4}" type="slidenum">
              <a:rPr lang="ko-KR" altLang="en-US"/>
              <a:pPr/>
              <a:t>7</a:t>
            </a:fld>
            <a:endParaRPr lang="en-US" altLang="ko-KR"/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8539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AB4DA88-1B79-48EF-9C70-FD1F686BAA47}" type="slidenum">
              <a:rPr lang="ko-KR" altLang="en-US"/>
              <a:pPr/>
              <a:t>8</a:t>
            </a:fld>
            <a:endParaRPr lang="en-US" altLang="ko-KR"/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39043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54043A-0538-4B3B-867F-D334FA077E3C}" type="slidenum">
              <a:rPr lang="ko-KR" altLang="en-US"/>
              <a:pPr/>
              <a:t>9</a:t>
            </a:fld>
            <a:endParaRPr lang="en-US" altLang="ko-KR"/>
          </a:p>
        </p:txBody>
      </p:sp>
      <p:sp>
        <p:nvSpPr>
          <p:cNvPr id="153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53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1782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ED38CAA-BE0E-4602-BB6A-DEF0E95541FF}" type="slidenum">
              <a:rPr lang="ko-KR" altLang="en-US"/>
              <a:pPr/>
              <a:t>10</a:t>
            </a:fld>
            <a:endParaRPr lang="en-US" altLang="ko-KR"/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2513"/>
            <a:ext cx="5207000" cy="4603750"/>
          </a:xfrm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749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C8C79A-F22D-4B8A-9AA6-1D63A5D34D62}" type="slidenum">
              <a:rPr lang="ko-KR" altLang="en-US"/>
              <a:pPr/>
              <a:t>11</a:t>
            </a:fld>
            <a:endParaRPr lang="en-US" altLang="ko-KR"/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41247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6F898D-A29C-4B1D-B992-5A555284F712}" type="slidenum">
              <a:rPr lang="ko-KR" altLang="en-US"/>
              <a:pPr/>
              <a:t>12</a:t>
            </a:fld>
            <a:endParaRPr lang="en-US" altLang="ko-KR"/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92708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950D0B-1561-48CD-9EAC-304234919320}" type="slidenum">
              <a:rPr lang="ko-KR" altLang="en-US"/>
              <a:pPr/>
              <a:t>13</a:t>
            </a:fld>
            <a:endParaRPr lang="en-US" altLang="ko-KR"/>
          </a:p>
        </p:txBody>
      </p:sp>
      <p:sp>
        <p:nvSpPr>
          <p:cNvPr id="157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7359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5C6D83-E8B8-4254-BA18-14538CD42177}" type="slidenum">
              <a:rPr lang="ko-KR" altLang="en-US"/>
              <a:pPr/>
              <a:t>14</a:t>
            </a:fld>
            <a:endParaRPr lang="en-US" altLang="ko-KR"/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98501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74C1EA-0327-48A3-A43E-CDFF8152626A}" type="slidenum">
              <a:rPr lang="ko-KR" altLang="en-US"/>
              <a:pPr/>
              <a:t>15</a:t>
            </a:fld>
            <a:endParaRPr lang="en-US" altLang="ko-KR"/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25559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1BC16E8-8E66-41D2-B6BB-0CD6ABB29874}" type="slidenum">
              <a:rPr lang="ko-KR" altLang="en-US"/>
              <a:pPr/>
              <a:t>16</a:t>
            </a:fld>
            <a:endParaRPr lang="en-US" altLang="ko-KR"/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92038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BBB8E3B-CE47-47FD-9198-B610FCF81331}" type="slidenum">
              <a:rPr lang="ko-KR" altLang="en-US"/>
              <a:pPr/>
              <a:t>17</a:t>
            </a:fld>
            <a:endParaRPr lang="en-US" altLang="ko-KR"/>
          </a:p>
        </p:txBody>
      </p:sp>
      <p:sp>
        <p:nvSpPr>
          <p:cNvPr id="161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61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2513"/>
            <a:ext cx="5207000" cy="4603750"/>
          </a:xfrm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9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AC7F9C0-7C57-421E-9F89-3E06F009AB66}" type="slidenum">
              <a:rPr lang="ko-KR" altLang="en-US"/>
              <a:pPr/>
              <a:t>18</a:t>
            </a:fld>
            <a:endParaRPr lang="en-US" altLang="ko-KR"/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2513"/>
            <a:ext cx="5207000" cy="4603750"/>
          </a:xfrm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34831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45720D-FDBD-447B-8F25-F89BF7573DFD}" type="slidenum">
              <a:rPr lang="ko-KR" altLang="en-US"/>
              <a:pPr/>
              <a:t>19</a:t>
            </a:fld>
            <a:endParaRPr lang="en-US" altLang="ko-KR"/>
          </a:p>
        </p:txBody>
      </p:sp>
      <p:sp>
        <p:nvSpPr>
          <p:cNvPr id="163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2513"/>
            <a:ext cx="5207000" cy="4603750"/>
          </a:xfrm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36302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A40CB7-86B9-47F1-8FD8-DFAC063AA80C}" type="slidenum">
              <a:rPr lang="ko-KR" altLang="en-US"/>
              <a:pPr/>
              <a:t>20</a:t>
            </a:fld>
            <a:endParaRPr lang="en-US" altLang="ko-KR"/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2513"/>
            <a:ext cx="5207000" cy="4603750"/>
          </a:xfrm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36073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E03AAB7-FC8F-4741-A925-3C34495F8491}" type="slidenum">
              <a:rPr lang="ko-KR" altLang="en-US"/>
              <a:pPr/>
              <a:t>21</a:t>
            </a:fld>
            <a:endParaRPr lang="en-US" altLang="ko-KR"/>
          </a:p>
        </p:txBody>
      </p:sp>
      <p:sp>
        <p:nvSpPr>
          <p:cNvPr id="165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2513"/>
            <a:ext cx="5207000" cy="4603750"/>
          </a:xfrm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126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6DE432B-755D-4E13-AA1B-353A32C380C1}" type="slidenum">
              <a:rPr lang="ko-KR" altLang="en-US"/>
              <a:pPr/>
              <a:t>22</a:t>
            </a:fld>
            <a:endParaRPr lang="en-US" altLang="ko-KR"/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2513"/>
            <a:ext cx="5207000" cy="4603750"/>
          </a:xfrm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71242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D33B8A0-565F-4D09-ADC1-02D55F75676A}" type="slidenum">
              <a:rPr lang="ko-KR" altLang="en-US"/>
              <a:pPr/>
              <a:t>23</a:t>
            </a:fld>
            <a:endParaRPr lang="en-US" altLang="ko-KR"/>
          </a:p>
        </p:txBody>
      </p:sp>
      <p:sp>
        <p:nvSpPr>
          <p:cNvPr id="167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2513"/>
            <a:ext cx="5207000" cy="4603750"/>
          </a:xfrm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7066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CCFF57-91DB-405B-B898-AD5CE1DE138F}" type="slidenum">
              <a:rPr lang="ko-KR" altLang="en-US"/>
              <a:pPr/>
              <a:t>24</a:t>
            </a:fld>
            <a:endParaRPr lang="en-US" altLang="ko-KR"/>
          </a:p>
        </p:txBody>
      </p:sp>
      <p:sp>
        <p:nvSpPr>
          <p:cNvPr id="173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73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2513"/>
            <a:ext cx="5207000" cy="4603750"/>
          </a:xfrm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3158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1BAC1B-9DAD-46A8-A14F-1297399A5377}" type="slidenum">
              <a:rPr lang="ko-KR" altLang="en-US"/>
              <a:pPr/>
              <a:t>25</a:t>
            </a:fld>
            <a:endParaRPr lang="en-US" altLang="ko-KR"/>
          </a:p>
        </p:txBody>
      </p:sp>
      <p:sp>
        <p:nvSpPr>
          <p:cNvPr id="174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74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2513"/>
            <a:ext cx="5207000" cy="4603750"/>
          </a:xfrm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27365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31D8945-F3E5-4AE8-9894-F8184E2A6DE9}" type="slidenum">
              <a:rPr lang="ko-KR" altLang="en-US"/>
              <a:pPr/>
              <a:t>26</a:t>
            </a:fld>
            <a:endParaRPr lang="en-US" altLang="ko-KR"/>
          </a:p>
        </p:txBody>
      </p:sp>
      <p:sp>
        <p:nvSpPr>
          <p:cNvPr id="175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75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2513"/>
            <a:ext cx="5207000" cy="4603750"/>
          </a:xfrm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13285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76C59CC-5DB8-48C3-945C-D23E92C074DB}" type="slidenum">
              <a:rPr lang="ko-KR" altLang="en-US"/>
              <a:pPr/>
              <a:t>27</a:t>
            </a:fld>
            <a:endParaRPr lang="en-US" altLang="ko-KR"/>
          </a:p>
        </p:txBody>
      </p:sp>
      <p:sp>
        <p:nvSpPr>
          <p:cNvPr id="176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76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2513"/>
            <a:ext cx="5207000" cy="4603750"/>
          </a:xfrm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8674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C4F166A-5DA1-4941-984C-A4EDDF58192D}" type="slidenum">
              <a:rPr lang="ko-KR" altLang="en-US"/>
              <a:pPr/>
              <a:t>28</a:t>
            </a:fld>
            <a:endParaRPr lang="en-US" altLang="ko-KR"/>
          </a:p>
        </p:txBody>
      </p:sp>
      <p:sp>
        <p:nvSpPr>
          <p:cNvPr id="177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77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2513"/>
            <a:ext cx="5207000" cy="4603750"/>
          </a:xfrm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10980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E2731C7-894C-467F-AE47-4E3986CBAA02}" type="slidenum">
              <a:rPr lang="ko-KR" altLang="en-US"/>
              <a:pPr/>
              <a:t>29</a:t>
            </a:fld>
            <a:endParaRPr lang="en-US" altLang="ko-KR"/>
          </a:p>
        </p:txBody>
      </p:sp>
      <p:sp>
        <p:nvSpPr>
          <p:cNvPr id="178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78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2513"/>
            <a:ext cx="5207000" cy="4603750"/>
          </a:xfrm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10755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8DB8C3-810A-45CE-BAC5-CC758A336374}" type="slidenum">
              <a:rPr lang="ko-KR" altLang="en-US"/>
              <a:pPr/>
              <a:t>30</a:t>
            </a:fld>
            <a:endParaRPr lang="en-US" altLang="ko-KR"/>
          </a:p>
        </p:txBody>
      </p:sp>
      <p:sp>
        <p:nvSpPr>
          <p:cNvPr id="179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79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2513"/>
            <a:ext cx="5207000" cy="4603750"/>
          </a:xfrm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38493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8E2D887-0735-4E73-875A-1AF9FFD47B6A}" type="slidenum">
              <a:rPr lang="ko-KR" altLang="en-US"/>
              <a:pPr/>
              <a:t>31</a:t>
            </a:fld>
            <a:endParaRPr lang="en-US" altLang="ko-KR"/>
          </a:p>
        </p:txBody>
      </p:sp>
      <p:sp>
        <p:nvSpPr>
          <p:cNvPr id="180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80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2513"/>
            <a:ext cx="5207000" cy="4603750"/>
          </a:xfrm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9167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904848-1707-41C3-A1A2-AAF4B5F1A445}" type="slidenum">
              <a:rPr lang="ko-KR" altLang="en-US"/>
              <a:pPr/>
              <a:t>32</a:t>
            </a:fld>
            <a:endParaRPr lang="en-US" altLang="ko-KR"/>
          </a:p>
        </p:txBody>
      </p:sp>
      <p:sp>
        <p:nvSpPr>
          <p:cNvPr id="181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81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2513"/>
            <a:ext cx="5207000" cy="4603750"/>
          </a:xfrm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992481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680A3FE-5E81-49B9-BB90-389BF071AF49}" type="slidenum">
              <a:rPr lang="ko-KR" altLang="en-US"/>
              <a:pPr/>
              <a:t>33</a:t>
            </a:fld>
            <a:endParaRPr lang="en-US" altLang="ko-KR"/>
          </a:p>
        </p:txBody>
      </p:sp>
      <p:sp>
        <p:nvSpPr>
          <p:cNvPr id="182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82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2513"/>
            <a:ext cx="5207000" cy="4603750"/>
          </a:xfrm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47579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86CD23-1DB8-4460-8007-3ECEA629C3C2}" type="slidenum">
              <a:rPr lang="ko-KR" altLang="en-US"/>
              <a:pPr/>
              <a:t>34</a:t>
            </a:fld>
            <a:endParaRPr lang="en-US" altLang="ko-KR"/>
          </a:p>
        </p:txBody>
      </p:sp>
      <p:sp>
        <p:nvSpPr>
          <p:cNvPr id="183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83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2513"/>
            <a:ext cx="5207000" cy="4603750"/>
          </a:xfrm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445526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B23C8D3-D153-4C17-9460-C407C8F46898}" type="slidenum">
              <a:rPr lang="ko-KR" altLang="en-US"/>
              <a:pPr/>
              <a:t>35</a:t>
            </a:fld>
            <a:endParaRPr lang="en-US" altLang="ko-KR"/>
          </a:p>
        </p:txBody>
      </p:sp>
      <p:sp>
        <p:nvSpPr>
          <p:cNvPr id="184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84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2513"/>
            <a:ext cx="5207000" cy="4603750"/>
          </a:xfrm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47164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A9534E1-72AC-476C-BF3F-3395F423B523}" type="slidenum">
              <a:rPr lang="ko-KR" altLang="en-US"/>
              <a:pPr/>
              <a:t>36</a:t>
            </a:fld>
            <a:endParaRPr lang="en-US" altLang="ko-KR"/>
          </a:p>
        </p:txBody>
      </p:sp>
      <p:sp>
        <p:nvSpPr>
          <p:cNvPr id="185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85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2513"/>
            <a:ext cx="5207000" cy="4603750"/>
          </a:xfrm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886471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9194CC7-8BA2-4A68-9514-EF21C8C49C8A}" type="slidenum">
              <a:rPr lang="ko-KR" altLang="en-US"/>
              <a:pPr/>
              <a:t>37</a:t>
            </a:fld>
            <a:endParaRPr lang="en-US" altLang="ko-KR"/>
          </a:p>
        </p:txBody>
      </p:sp>
      <p:sp>
        <p:nvSpPr>
          <p:cNvPr id="186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86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2513"/>
            <a:ext cx="5207000" cy="4603750"/>
          </a:xfrm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107371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0AEE1B-188C-4EB6-B87B-A75BC27AA6B8}" type="slidenum">
              <a:rPr lang="ko-KR" altLang="en-US"/>
              <a:pPr/>
              <a:t>38</a:t>
            </a:fld>
            <a:endParaRPr lang="en-US" altLang="ko-KR"/>
          </a:p>
        </p:txBody>
      </p:sp>
      <p:sp>
        <p:nvSpPr>
          <p:cNvPr id="187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87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2513"/>
            <a:ext cx="5207000" cy="4603750"/>
          </a:xfrm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52171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A20E64-AE96-41FA-AFCF-1B360362F362}" type="slidenum">
              <a:rPr lang="ko-KR" altLang="en-US"/>
              <a:pPr/>
              <a:t>39</a:t>
            </a:fld>
            <a:endParaRPr lang="en-US" altLang="ko-KR"/>
          </a:p>
        </p:txBody>
      </p:sp>
      <p:sp>
        <p:nvSpPr>
          <p:cNvPr id="188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2513"/>
            <a:ext cx="5207000" cy="4603750"/>
          </a:xfrm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772749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BFBCAA5-FFBD-4AD0-A806-5E5AE9F4D6B1}" type="slidenum">
              <a:rPr lang="ko-KR" altLang="en-US"/>
              <a:pPr/>
              <a:t>40</a:t>
            </a:fld>
            <a:endParaRPr lang="en-US" altLang="ko-KR"/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2513"/>
            <a:ext cx="5207000" cy="4603750"/>
          </a:xfrm>
          <a:noFill/>
          <a:ln/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0520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제목 슬라이드">
    <p:bg>
      <p:bgPr>
        <a:gradFill rotWithShape="0">
          <a:gsLst>
            <a:gs pos="0">
              <a:srgbClr val="FFCC66"/>
            </a:gs>
            <a:gs pos="100000">
              <a:srgbClr val="FF993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304800" y="1295400"/>
            <a:ext cx="548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3200" dirty="0">
                <a:solidFill>
                  <a:srgbClr val="953A1F"/>
                </a:solidFill>
                <a:ea typeface="굴림" pitchFamily="50" charset="-127"/>
              </a:rPr>
              <a:t>객체지향 프로그래밍</a:t>
            </a:r>
          </a:p>
        </p:txBody>
      </p:sp>
      <p:sp>
        <p:nvSpPr>
          <p:cNvPr id="3080" name="Rectangle 8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663825"/>
            <a:ext cx="7772400" cy="2365375"/>
          </a:xfrm>
        </p:spPr>
        <p:txBody>
          <a:bodyPr/>
          <a:lstStyle>
            <a:lvl1pPr algn="ctr">
              <a:defRPr>
                <a:solidFill>
                  <a:srgbClr val="953A1F"/>
                </a:solidFill>
                <a:ea typeface="굴림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  <p:transition spd="med">
    <p:wheel spokes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한국항공대학교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576BF5-840A-4EEF-91FA-34709C0CA24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 spd="med">
    <p:wheel spokes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한국항공대학교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8403B2-225D-4DFD-B332-7E11AD87D80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 spd="med">
    <p:wheel spokes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990600" y="1219200"/>
            <a:ext cx="38862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219200"/>
            <a:ext cx="38862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한국항공대학교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23E957-F0D9-4D39-A489-CCA9AA8B7BC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 spd="med">
    <p:wheel spokes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한국항공대학교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6EE1FB-ECEC-407F-8C9B-AB697FF3153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 spd="med">
    <p:wheel spokes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한국항공대학교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6CB3C1-B5A5-4EC0-86DB-DAAF7997DC5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 spd="med">
    <p:wheel spokes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한국항공대학교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35B1F7-9D6B-44F0-8C5D-B8AA570A8CB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 spd="med">
    <p:wheel spokes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한국항공대학교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178323-6F48-42D8-BBA7-809E554E53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 spd="med">
    <p:wheel spokes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한국항공대학교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D9BEA0-CE39-4A65-9E51-32CB2CD80D2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 spd="med">
    <p:wheel spokes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한국항공대학교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EBE629-D582-4A28-BD43-B96668C884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 spd="med">
    <p:wheel spokes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934200" y="304800"/>
            <a:ext cx="1981200" cy="5867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990600" y="304800"/>
            <a:ext cx="5791200" cy="58674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한국항공대학교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6A538F-A160-4654-AB15-7968FA4930A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 spd="med">
    <p:wheel spokes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0600" y="304800"/>
            <a:ext cx="7924800" cy="6858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990600" y="1219200"/>
            <a:ext cx="3886200" cy="4953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219200"/>
            <a:ext cx="3886200" cy="4953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한국항공대학교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AD1101-A753-4EEC-A912-9B34DBD1395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 spd="med">
    <p:wheel spokes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304800"/>
            <a:ext cx="7924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1219200"/>
            <a:ext cx="79248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990600" y="6324600"/>
            <a:ext cx="3505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FF4C00"/>
                </a:solidFill>
                <a:latin typeface="+mn-lt"/>
                <a:ea typeface="굴림" pitchFamily="50" charset="-127"/>
                <a:cs typeface="Arial" pitchFamily="34" charset="0"/>
              </a:defRPr>
            </a:lvl1pPr>
          </a:lstStyle>
          <a:p>
            <a:pPr>
              <a:defRPr/>
            </a:pPr>
            <a:r>
              <a:rPr lang="ko-KR" altLang="en-US" dirty="0"/>
              <a:t>한국항공대학교 항공전자정보공학부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3246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FF4C00"/>
                </a:solidFill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A0C4684F-4D9A-4FE4-BFD0-BEA05012ED6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5638800" y="0"/>
            <a:ext cx="3276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r">
              <a:defRPr/>
            </a:pPr>
            <a:r>
              <a:rPr lang="en-US" altLang="ko-KR" sz="1200">
                <a:solidFill>
                  <a:srgbClr val="FF4C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GUI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 spd="med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/>
      <p:bldP spid="1027" grpId="0" build="p" bldLvl="2">
        <p:tmplLst>
          <p:tmpl lvl="1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4C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4C00"/>
          </a:solidFill>
          <a:latin typeface="Arial" pitchFamily="34" charset="0"/>
          <a:ea typeface="바탕체" pitchFamily="17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4C00"/>
          </a:solidFill>
          <a:latin typeface="Arial" pitchFamily="34" charset="0"/>
          <a:ea typeface="바탕체" pitchFamily="17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4C00"/>
          </a:solidFill>
          <a:latin typeface="Arial" pitchFamily="34" charset="0"/>
          <a:ea typeface="바탕체" pitchFamily="17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4C00"/>
          </a:solidFill>
          <a:latin typeface="Arial" pitchFamily="34" charset="0"/>
          <a:ea typeface="바탕체" pitchFamily="17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FF4C00"/>
          </a:solidFill>
          <a:latin typeface="Arial" pitchFamily="34" charset="0"/>
          <a:ea typeface="바탕체" pitchFamily="17" charset="-127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FF4C00"/>
          </a:solidFill>
          <a:latin typeface="Arial" pitchFamily="34" charset="0"/>
          <a:ea typeface="바탕체" pitchFamily="17" charset="-127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FF4C00"/>
          </a:solidFill>
          <a:latin typeface="Arial" pitchFamily="34" charset="0"/>
          <a:ea typeface="바탕체" pitchFamily="17" charset="-127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FF4C00"/>
          </a:solidFill>
          <a:latin typeface="Arial" pitchFamily="34" charset="0"/>
          <a:ea typeface="바탕체" pitchFamily="17" charset="-127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Ø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0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hyperlink" Target="../examples/chap03/NestedPanels.java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13" Type="http://schemas.openxmlformats.org/officeDocument/2006/relationships/customXml" Target="../ink/ink4.xml"/><Relationship Id="rId18" Type="http://schemas.openxmlformats.org/officeDocument/2006/relationships/image" Target="../media/image24.emf"/><Relationship Id="rId3" Type="http://schemas.openxmlformats.org/officeDocument/2006/relationships/notesSlide" Target="../notesSlides/notesSlide20.xml"/><Relationship Id="rId12" Type="http://schemas.openxmlformats.org/officeDocument/2006/relationships/image" Target="../media/image21.emf"/><Relationship Id="rId17" Type="http://schemas.openxmlformats.org/officeDocument/2006/relationships/customXml" Target="../ink/ink6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3.emf"/><Relationship Id="rId1" Type="http://schemas.openxmlformats.org/officeDocument/2006/relationships/tags" Target="../tags/tag19.xml"/><Relationship Id="rId11" Type="http://schemas.openxmlformats.org/officeDocument/2006/relationships/customXml" Target="../ink/ink3.xml"/><Relationship Id="rId15" Type="http://schemas.openxmlformats.org/officeDocument/2006/relationships/customXml" Target="../ink/ink5.xml"/><Relationship Id="rId10" Type="http://schemas.openxmlformats.org/officeDocument/2006/relationships/image" Target="../media/image20.emf"/><Relationship Id="rId4" Type="http://schemas.openxmlformats.org/officeDocument/2006/relationships/customXml" Target="../ink/ink1.xml"/><Relationship Id="rId9" Type="http://schemas.openxmlformats.org/officeDocument/2006/relationships/customXml" Target="../ink/ink2.xml"/><Relationship Id="rId14" Type="http://schemas.openxmlformats.org/officeDocument/2006/relationships/image" Target="../media/image22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emf"/><Relationship Id="rId5" Type="http://schemas.openxmlformats.org/officeDocument/2006/relationships/customXml" Target="../ink/ink8.xml"/><Relationship Id="rId10" Type="http://schemas.openxmlformats.org/officeDocument/2006/relationships/image" Target="../media/image28.emf"/><Relationship Id="rId4" Type="http://schemas.openxmlformats.org/officeDocument/2006/relationships/image" Target="../media/image25.emf"/><Relationship Id="rId9" Type="http://schemas.openxmlformats.org/officeDocument/2006/relationships/customXml" Target="../ink/ink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emf"/><Relationship Id="rId5" Type="http://schemas.openxmlformats.org/officeDocument/2006/relationships/customXml" Target="../ink/ink12.xml"/><Relationship Id="rId4" Type="http://schemas.openxmlformats.org/officeDocument/2006/relationships/image" Target="../media/image29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customXml" Target="../ink/ink13.xml"/><Relationship Id="rId7" Type="http://schemas.openxmlformats.org/officeDocument/2006/relationships/customXml" Target="../ink/ink15.xml"/><Relationship Id="rId12" Type="http://schemas.openxmlformats.org/officeDocument/2006/relationships/image" Target="../media/image35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emf"/><Relationship Id="rId11" Type="http://schemas.openxmlformats.org/officeDocument/2006/relationships/customXml" Target="../ink/ink17.xml"/><Relationship Id="rId5" Type="http://schemas.openxmlformats.org/officeDocument/2006/relationships/customXml" Target="../ink/ink14.xml"/><Relationship Id="rId10" Type="http://schemas.openxmlformats.org/officeDocument/2006/relationships/image" Target="../media/image34.emf"/><Relationship Id="rId4" Type="http://schemas.openxmlformats.org/officeDocument/2006/relationships/image" Target="../media/image31.emf"/><Relationship Id="rId9" Type="http://schemas.openxmlformats.org/officeDocument/2006/relationships/customXml" Target="../ink/ink16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13" Type="http://schemas.openxmlformats.org/officeDocument/2006/relationships/customXml" Target="../ink/ink23.xml"/><Relationship Id="rId18" Type="http://schemas.openxmlformats.org/officeDocument/2006/relationships/image" Target="../media/image43.emf"/><Relationship Id="rId3" Type="http://schemas.openxmlformats.org/officeDocument/2006/relationships/customXml" Target="../ink/ink18.xml"/><Relationship Id="rId7" Type="http://schemas.openxmlformats.org/officeDocument/2006/relationships/customXml" Target="../ink/ink20.xml"/><Relationship Id="rId12" Type="http://schemas.openxmlformats.org/officeDocument/2006/relationships/image" Target="../media/image40.emf"/><Relationship Id="rId17" Type="http://schemas.openxmlformats.org/officeDocument/2006/relationships/customXml" Target="../ink/ink25.xml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42.emf"/><Relationship Id="rId20" Type="http://schemas.openxmlformats.org/officeDocument/2006/relationships/image" Target="../media/image4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emf"/><Relationship Id="rId11" Type="http://schemas.openxmlformats.org/officeDocument/2006/relationships/customXml" Target="../ink/ink22.xml"/><Relationship Id="rId5" Type="http://schemas.openxmlformats.org/officeDocument/2006/relationships/customXml" Target="../ink/ink19.xml"/><Relationship Id="rId15" Type="http://schemas.openxmlformats.org/officeDocument/2006/relationships/customXml" Target="../ink/ink24.xml"/><Relationship Id="rId10" Type="http://schemas.openxmlformats.org/officeDocument/2006/relationships/image" Target="../media/image39.emf"/><Relationship Id="rId19" Type="http://schemas.openxmlformats.org/officeDocument/2006/relationships/customXml" Target="../ink/ink26.xml"/><Relationship Id="rId4" Type="http://schemas.openxmlformats.org/officeDocument/2006/relationships/image" Target="../media/image36.emf"/><Relationship Id="rId9" Type="http://schemas.openxmlformats.org/officeDocument/2006/relationships/customXml" Target="../ink/ink21.xml"/><Relationship Id="rId14" Type="http://schemas.openxmlformats.org/officeDocument/2006/relationships/image" Target="../media/image41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emf"/><Relationship Id="rId13" Type="http://schemas.openxmlformats.org/officeDocument/2006/relationships/customXml" Target="../ink/ink32.xml"/><Relationship Id="rId18" Type="http://schemas.openxmlformats.org/officeDocument/2006/relationships/image" Target="../media/image52.emf"/><Relationship Id="rId3" Type="http://schemas.openxmlformats.org/officeDocument/2006/relationships/customXml" Target="../ink/ink27.xml"/><Relationship Id="rId7" Type="http://schemas.openxmlformats.org/officeDocument/2006/relationships/customXml" Target="../ink/ink29.xml"/><Relationship Id="rId12" Type="http://schemas.openxmlformats.org/officeDocument/2006/relationships/image" Target="../media/image49.emf"/><Relationship Id="rId17" Type="http://schemas.openxmlformats.org/officeDocument/2006/relationships/customXml" Target="../ink/ink34.xml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51.emf"/><Relationship Id="rId20" Type="http://schemas.openxmlformats.org/officeDocument/2006/relationships/image" Target="../media/image5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emf"/><Relationship Id="rId11" Type="http://schemas.openxmlformats.org/officeDocument/2006/relationships/customXml" Target="../ink/ink31.xml"/><Relationship Id="rId5" Type="http://schemas.openxmlformats.org/officeDocument/2006/relationships/customXml" Target="../ink/ink28.xml"/><Relationship Id="rId15" Type="http://schemas.openxmlformats.org/officeDocument/2006/relationships/customXml" Target="../ink/ink33.xml"/><Relationship Id="rId10" Type="http://schemas.openxmlformats.org/officeDocument/2006/relationships/image" Target="../media/image48.emf"/><Relationship Id="rId19" Type="http://schemas.openxmlformats.org/officeDocument/2006/relationships/customXml" Target="../ink/ink35.xml"/><Relationship Id="rId4" Type="http://schemas.openxmlformats.org/officeDocument/2006/relationships/image" Target="../media/image45.emf"/><Relationship Id="rId9" Type="http://schemas.openxmlformats.org/officeDocument/2006/relationships/customXml" Target="../ink/ink30.xml"/><Relationship Id="rId14" Type="http://schemas.openxmlformats.org/officeDocument/2006/relationships/image" Target="../media/image50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emf"/><Relationship Id="rId3" Type="http://schemas.openxmlformats.org/officeDocument/2006/relationships/customXml" Target="../ink/ink36.xml"/><Relationship Id="rId7" Type="http://schemas.openxmlformats.org/officeDocument/2006/relationships/customXml" Target="../ink/ink38.xml"/><Relationship Id="rId12" Type="http://schemas.openxmlformats.org/officeDocument/2006/relationships/image" Target="../media/image58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emf"/><Relationship Id="rId11" Type="http://schemas.openxmlformats.org/officeDocument/2006/relationships/customXml" Target="../ink/ink40.xml"/><Relationship Id="rId5" Type="http://schemas.openxmlformats.org/officeDocument/2006/relationships/customXml" Target="../ink/ink37.xml"/><Relationship Id="rId10" Type="http://schemas.openxmlformats.org/officeDocument/2006/relationships/image" Target="../media/image57.emf"/><Relationship Id="rId4" Type="http://schemas.openxmlformats.org/officeDocument/2006/relationships/image" Target="../media/image54.emf"/><Relationship Id="rId9" Type="http://schemas.openxmlformats.org/officeDocument/2006/relationships/customXml" Target="../ink/ink3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3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4" Type="http://schemas.openxmlformats.org/officeDocument/2006/relationships/image" Target="../media/image4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3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GUI </a:t>
            </a:r>
            <a:r>
              <a:rPr lang="ko-KR" altLang="en-US"/>
              <a:t>프로그래밍</a:t>
            </a:r>
          </a:p>
        </p:txBody>
      </p:sp>
    </p:spTree>
  </p:cSld>
  <p:clrMapOvr>
    <a:masterClrMapping/>
  </p:clrMapOvr>
  <p:transition spd="med">
    <p:wheel spokes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FB3C019-8E23-4ED1-ACB0-5C5C7463EBFF}" type="slidenum">
              <a:rPr lang="en-US" altLang="ko-KR"/>
              <a:pPr>
                <a:defRPr/>
              </a:pPr>
              <a:t>2</a:t>
            </a:fld>
            <a:endParaRPr lang="en-US" altLang="ko-KR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>
                <a:ea typeface="굴림" pitchFamily="50" charset="-127"/>
              </a:rPr>
              <a:t>좌표계</a:t>
            </a:r>
            <a:r>
              <a:rPr lang="en-US" altLang="ko-KR">
                <a:ea typeface="굴림" pitchFamily="50" charset="-127"/>
              </a:rPr>
              <a:t>(Coordinate Systems)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219200"/>
            <a:ext cx="8153400" cy="49530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ko-KR" altLang="en-US">
                <a:solidFill>
                  <a:srgbClr val="3333FF"/>
                </a:solidFill>
                <a:ea typeface="굴림" pitchFamily="50" charset="-127"/>
              </a:rPr>
              <a:t>화소</a:t>
            </a:r>
            <a:r>
              <a:rPr lang="en-US" altLang="ko-KR">
                <a:solidFill>
                  <a:srgbClr val="3333FF"/>
                </a:solidFill>
                <a:ea typeface="굴림" pitchFamily="50" charset="-127"/>
              </a:rPr>
              <a:t>(pixel)</a:t>
            </a:r>
          </a:p>
          <a:p>
            <a:pPr lvl="1" eaLnBrk="1" hangingPunct="1">
              <a:spcBef>
                <a:spcPct val="60000"/>
              </a:spcBef>
            </a:pPr>
            <a:r>
              <a:rPr lang="en-US" altLang="ko-KR">
                <a:ea typeface="굴림" pitchFamily="50" charset="-127"/>
              </a:rPr>
              <a:t>2</a:t>
            </a:r>
            <a:r>
              <a:rPr lang="ko-KR" altLang="en-US">
                <a:ea typeface="굴림" pitchFamily="50" charset="-127"/>
              </a:rPr>
              <a:t>차원 좌표계</a:t>
            </a:r>
            <a:r>
              <a:rPr lang="en-US" altLang="ko-KR">
                <a:ea typeface="굴림" pitchFamily="50" charset="-127"/>
              </a:rPr>
              <a:t>(two-dimensional coordinate system)</a:t>
            </a:r>
            <a:r>
              <a:rPr lang="ko-KR" altLang="en-US">
                <a:ea typeface="굴림" pitchFamily="50" charset="-127"/>
              </a:rPr>
              <a:t>를 통해 지칭될 수 있다</a:t>
            </a:r>
            <a:r>
              <a:rPr lang="en-US" altLang="ko-KR">
                <a:ea typeface="굴림" pitchFamily="50" charset="-127"/>
              </a:rPr>
              <a:t>.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ko-KR">
                <a:solidFill>
                  <a:srgbClr val="3333FF"/>
                </a:solidFill>
                <a:ea typeface="굴림" pitchFamily="50" charset="-127"/>
              </a:rPr>
              <a:t>Java </a:t>
            </a:r>
            <a:r>
              <a:rPr lang="ko-KR" altLang="en-US">
                <a:solidFill>
                  <a:srgbClr val="3333FF"/>
                </a:solidFill>
                <a:ea typeface="굴림" pitchFamily="50" charset="-127"/>
              </a:rPr>
              <a:t>좌표계</a:t>
            </a:r>
          </a:p>
          <a:p>
            <a:pPr lvl="1" eaLnBrk="1" hangingPunct="1">
              <a:spcBef>
                <a:spcPct val="60000"/>
              </a:spcBef>
            </a:pPr>
            <a:r>
              <a:rPr lang="ko-KR" altLang="en-US">
                <a:ea typeface="굴림" pitchFamily="50" charset="-127"/>
              </a:rPr>
              <a:t>위쪽 좌측 모서리</a:t>
            </a:r>
            <a:r>
              <a:rPr lang="en-US" altLang="ko-KR">
                <a:ea typeface="굴림" pitchFamily="50" charset="-127"/>
              </a:rPr>
              <a:t>(top-left corner)</a:t>
            </a:r>
            <a:r>
              <a:rPr lang="ko-KR" altLang="en-US">
                <a:ea typeface="굴림" pitchFamily="50" charset="-127"/>
              </a:rPr>
              <a:t>를 원점</a:t>
            </a:r>
            <a:r>
              <a:rPr lang="en-US" altLang="ko-KR">
                <a:ea typeface="굴림" pitchFamily="50" charset="-127"/>
              </a:rPr>
              <a:t>(0,0)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209800" y="3519488"/>
            <a:ext cx="4800600" cy="2652712"/>
            <a:chOff x="1008" y="2064"/>
            <a:chExt cx="3024" cy="1671"/>
          </a:xfrm>
        </p:grpSpPr>
        <p:sp>
          <p:nvSpPr>
            <p:cNvPr id="4108" name="Line 5"/>
            <p:cNvSpPr>
              <a:spLocks noChangeShapeType="1"/>
            </p:cNvSpPr>
            <p:nvPr/>
          </p:nvSpPr>
          <p:spPr bwMode="auto">
            <a:xfrm>
              <a:off x="1392" y="2304"/>
              <a:ext cx="0" cy="1344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109" name="Line 6"/>
            <p:cNvSpPr>
              <a:spLocks noChangeShapeType="1"/>
            </p:cNvSpPr>
            <p:nvPr/>
          </p:nvSpPr>
          <p:spPr bwMode="auto">
            <a:xfrm>
              <a:off x="1392" y="2304"/>
              <a:ext cx="2592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110" name="Text Box 7"/>
            <p:cNvSpPr txBox="1">
              <a:spLocks noChangeArrowheads="1"/>
            </p:cNvSpPr>
            <p:nvPr/>
          </p:nvSpPr>
          <p:spPr bwMode="auto">
            <a:xfrm>
              <a:off x="1104" y="3504"/>
              <a:ext cx="220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altLang="ko-KR" sz="1800" b="1">
                  <a:latin typeface="Times New Roman" pitchFamily="18" charset="0"/>
                  <a:ea typeface="굴림" pitchFamily="50" charset="-127"/>
                </a:rPr>
                <a:t>Y</a:t>
              </a:r>
              <a:endParaRPr lang="en-US" altLang="ko-KR"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4111" name="Text Box 8"/>
            <p:cNvSpPr txBox="1">
              <a:spLocks noChangeArrowheads="1"/>
            </p:cNvSpPr>
            <p:nvPr/>
          </p:nvSpPr>
          <p:spPr bwMode="auto">
            <a:xfrm>
              <a:off x="3812" y="2064"/>
              <a:ext cx="220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altLang="ko-KR" sz="1800" b="1">
                  <a:latin typeface="Times New Roman" pitchFamily="18" charset="0"/>
                  <a:ea typeface="굴림" pitchFamily="50" charset="-127"/>
                </a:rPr>
                <a:t>X</a:t>
              </a:r>
              <a:endParaRPr lang="en-US" altLang="ko-KR"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4112" name="Text Box 9"/>
            <p:cNvSpPr txBox="1">
              <a:spLocks noChangeArrowheads="1"/>
            </p:cNvSpPr>
            <p:nvPr/>
          </p:nvSpPr>
          <p:spPr bwMode="auto">
            <a:xfrm>
              <a:off x="1008" y="2064"/>
              <a:ext cx="428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altLang="ko-KR" sz="1800" b="1">
                  <a:latin typeface="Times New Roman" pitchFamily="18" charset="0"/>
                  <a:ea typeface="굴림" pitchFamily="50" charset="-127"/>
                </a:rPr>
                <a:t>(0, 0)</a:t>
              </a:r>
              <a:endParaRPr lang="en-US" altLang="ko-KR">
                <a:latin typeface="Times New Roman" pitchFamily="18" charset="0"/>
                <a:ea typeface="굴림" pitchFamily="50" charset="-127"/>
              </a:endParaRPr>
            </a:p>
          </p:txBody>
        </p:sp>
      </p:grpSp>
      <p:sp>
        <p:nvSpPr>
          <p:cNvPr id="2807818" name="Line 10"/>
          <p:cNvSpPr>
            <a:spLocks noChangeShapeType="1"/>
          </p:cNvSpPr>
          <p:nvPr/>
        </p:nvSpPr>
        <p:spPr bwMode="auto">
          <a:xfrm>
            <a:off x="2819400" y="4967288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07819" name="Line 11"/>
          <p:cNvSpPr>
            <a:spLocks noChangeShapeType="1"/>
          </p:cNvSpPr>
          <p:nvPr/>
        </p:nvSpPr>
        <p:spPr bwMode="auto">
          <a:xfrm>
            <a:off x="5181600" y="3900488"/>
            <a:ext cx="0" cy="1066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07820" name="Text Box 12"/>
          <p:cNvSpPr txBox="1">
            <a:spLocks noChangeArrowheads="1"/>
          </p:cNvSpPr>
          <p:nvPr/>
        </p:nvSpPr>
        <p:spPr bwMode="auto">
          <a:xfrm>
            <a:off x="4876800" y="4967288"/>
            <a:ext cx="102235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ko-KR" sz="1800" b="1">
                <a:latin typeface="Times New Roman" pitchFamily="18" charset="0"/>
                <a:ea typeface="굴림" pitchFamily="50" charset="-127"/>
              </a:rPr>
              <a:t>(112, 40)</a:t>
            </a:r>
            <a:endParaRPr lang="en-US" altLang="ko-KR"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2807821" name="Text Box 13"/>
          <p:cNvSpPr txBox="1">
            <a:spLocks noChangeArrowheads="1"/>
          </p:cNvSpPr>
          <p:nvPr/>
        </p:nvSpPr>
        <p:spPr bwMode="auto">
          <a:xfrm>
            <a:off x="4883150" y="3443288"/>
            <a:ext cx="52705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ko-KR" sz="1800" b="1">
                <a:latin typeface="Times New Roman" pitchFamily="18" charset="0"/>
                <a:ea typeface="굴림" pitchFamily="50" charset="-127"/>
              </a:rPr>
              <a:t>112</a:t>
            </a:r>
            <a:endParaRPr lang="en-US" altLang="ko-KR"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2807822" name="Text Box 14"/>
          <p:cNvSpPr txBox="1">
            <a:spLocks noChangeArrowheads="1"/>
          </p:cNvSpPr>
          <p:nvPr/>
        </p:nvSpPr>
        <p:spPr bwMode="auto">
          <a:xfrm>
            <a:off x="2362200" y="4738688"/>
            <a:ext cx="41275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ko-KR" sz="1800" b="1">
                <a:latin typeface="Times New Roman" pitchFamily="18" charset="0"/>
                <a:ea typeface="굴림" pitchFamily="50" charset="-127"/>
              </a:rPr>
              <a:t>40</a:t>
            </a:r>
            <a:endParaRPr lang="en-US" altLang="ko-KR">
              <a:latin typeface="Times New Roman" pitchFamily="18" charset="0"/>
              <a:ea typeface="굴림" pitchFamily="50" charset="-127"/>
            </a:endParaRPr>
          </a:p>
        </p:txBody>
      </p:sp>
    </p:spTree>
    <p:custDataLst>
      <p:tags r:id="rId1"/>
    </p:custDataLst>
  </p:cSld>
  <p:clrMapOvr>
    <a:masterClrMapping/>
  </p:clrMapOvr>
  <p:transition spd="med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7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807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7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807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7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07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7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07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7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807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7818" grpId="0" animBg="1"/>
      <p:bldP spid="2807819" grpId="0" animBg="1"/>
      <p:bldP spid="2807820" grpId="0" autoUpdateAnimBg="0"/>
      <p:bldP spid="2807821" grpId="0" autoUpdateAnimBg="0"/>
      <p:bldP spid="2807822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2510427-AF48-433A-9D99-459468D61A08}" type="slidenum">
              <a:rPr lang="en-US" altLang="ko-KR"/>
              <a:pPr>
                <a:defRPr/>
              </a:pPr>
              <a:t>3</a:t>
            </a:fld>
            <a:endParaRPr lang="en-US" altLang="ko-KR"/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ea typeface="굴림" pitchFamily="50" charset="-127"/>
              </a:rPr>
              <a:t>Color </a:t>
            </a:r>
            <a:r>
              <a:rPr lang="ko-KR" altLang="en-US">
                <a:ea typeface="굴림" pitchFamily="50" charset="-127"/>
              </a:rPr>
              <a:t>클래스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219200"/>
            <a:ext cx="7924800" cy="2154238"/>
          </a:xfrm>
        </p:spPr>
        <p:txBody>
          <a:bodyPr/>
          <a:lstStyle/>
          <a:p>
            <a:pPr eaLnBrk="1" hangingPunct="1">
              <a:spcBef>
                <a:spcPct val="70000"/>
              </a:spcBef>
            </a:pPr>
            <a:r>
              <a:rPr lang="ko-KR" altLang="en-US">
                <a:ea typeface="굴림" pitchFamily="50" charset="-127"/>
              </a:rPr>
              <a:t>컬러 표현</a:t>
            </a:r>
          </a:p>
          <a:p>
            <a:pPr lvl="1" eaLnBrk="1" hangingPunct="1">
              <a:spcBef>
                <a:spcPct val="70000"/>
              </a:spcBef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Color</a:t>
            </a:r>
            <a:r>
              <a:rPr lang="en-US" altLang="ko-KR">
                <a:ea typeface="굴림" pitchFamily="50" charset="-127"/>
              </a:rPr>
              <a:t> class</a:t>
            </a:r>
            <a:r>
              <a:rPr lang="ko-KR" altLang="en-US">
                <a:ea typeface="굴림" pitchFamily="50" charset="-127"/>
              </a:rPr>
              <a:t>로부터 만들어지는 객체</a:t>
            </a:r>
            <a:r>
              <a:rPr lang="en-US" altLang="ko-KR">
                <a:ea typeface="굴림" pitchFamily="50" charset="-127"/>
              </a:rPr>
              <a:t>(object)</a:t>
            </a:r>
            <a:r>
              <a:rPr lang="ko-KR" altLang="en-US">
                <a:ea typeface="굴림" pitchFamily="50" charset="-127"/>
              </a:rPr>
              <a:t>로 표현된다</a:t>
            </a:r>
            <a:r>
              <a:rPr lang="en-US" altLang="ko-KR">
                <a:ea typeface="굴림" pitchFamily="50" charset="-127"/>
              </a:rPr>
              <a:t>.</a:t>
            </a:r>
          </a:p>
          <a:p>
            <a:pPr eaLnBrk="1" hangingPunct="1">
              <a:spcBef>
                <a:spcPct val="70000"/>
              </a:spcBef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Color</a:t>
            </a:r>
            <a:r>
              <a:rPr lang="en-US" altLang="ko-KR">
                <a:ea typeface="굴림" pitchFamily="50" charset="-127"/>
              </a:rPr>
              <a:t> class</a:t>
            </a:r>
            <a:r>
              <a:rPr lang="ko-KR" altLang="en-US">
                <a:ea typeface="굴림" pitchFamily="50" charset="-127"/>
              </a:rPr>
              <a:t>의 미리 정의된 컬러들</a:t>
            </a:r>
            <a:endParaRPr lang="en-US" altLang="ko-KR">
              <a:ea typeface="굴림" pitchFamily="50" charset="-127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514600" y="3190875"/>
            <a:ext cx="4648200" cy="2438400"/>
            <a:chOff x="1632" y="2064"/>
            <a:chExt cx="2928" cy="1536"/>
          </a:xfrm>
        </p:grpSpPr>
        <p:sp>
          <p:nvSpPr>
            <p:cNvPr id="5127" name="Text Box 5"/>
            <p:cNvSpPr txBox="1">
              <a:spLocks noChangeArrowheads="1"/>
            </p:cNvSpPr>
            <p:nvPr/>
          </p:nvSpPr>
          <p:spPr bwMode="auto">
            <a:xfrm>
              <a:off x="1632" y="2064"/>
              <a:ext cx="1268" cy="1536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anchorCtr="1">
              <a:spAutoFit/>
            </a:bodyPr>
            <a:lstStyle/>
            <a:p>
              <a:r>
                <a:rPr lang="ko-KR" altLang="en-US" sz="2000" b="1" u="sng">
                  <a:solidFill>
                    <a:schemeClr val="hlink"/>
                  </a:solidFill>
                  <a:latin typeface="Arial Unicode MS" pitchFamily="50" charset="-127"/>
                  <a:ea typeface="굴림" pitchFamily="50" charset="-127"/>
                </a:rPr>
                <a:t>객체</a:t>
              </a:r>
              <a:r>
                <a:rPr lang="en-US" altLang="ko-KR" sz="2000" b="1" u="sng">
                  <a:solidFill>
                    <a:schemeClr val="hlink"/>
                  </a:solidFill>
                  <a:latin typeface="Arial Unicode MS" pitchFamily="50" charset="-127"/>
                  <a:ea typeface="굴림" pitchFamily="50" charset="-127"/>
                </a:rPr>
                <a:t>(Object)</a:t>
              </a:r>
              <a:endParaRPr lang="en-US" altLang="ko-KR" sz="2000" b="1">
                <a:solidFill>
                  <a:schemeClr val="hlink"/>
                </a:solidFill>
                <a:latin typeface="Arial Unicode MS" pitchFamily="50" charset="-127"/>
                <a:ea typeface="굴림" pitchFamily="50" charset="-127"/>
              </a:endParaRPr>
            </a:p>
            <a:p>
              <a:pPr>
                <a:spcBef>
                  <a:spcPct val="70000"/>
                </a:spcBef>
              </a:pPr>
              <a:r>
                <a:rPr lang="en-US" altLang="ko-KR" sz="2000" b="1">
                  <a:latin typeface="Courier New" pitchFamily="49" charset="0"/>
                  <a:ea typeface="굴림" pitchFamily="50" charset="-127"/>
                </a:rPr>
                <a:t>Color.black</a:t>
              </a:r>
            </a:p>
            <a:p>
              <a:r>
                <a:rPr lang="en-US" altLang="ko-KR" sz="2000" b="1">
                  <a:latin typeface="Courier New" pitchFamily="49" charset="0"/>
                  <a:ea typeface="굴림" pitchFamily="50" charset="-127"/>
                </a:rPr>
                <a:t>Color.blue</a:t>
              </a:r>
            </a:p>
            <a:p>
              <a:r>
                <a:rPr lang="en-US" altLang="ko-KR" sz="2000" b="1">
                  <a:latin typeface="Courier New" pitchFamily="49" charset="0"/>
                  <a:ea typeface="굴림" pitchFamily="50" charset="-127"/>
                </a:rPr>
                <a:t>Color.cyan</a:t>
              </a:r>
            </a:p>
            <a:p>
              <a:r>
                <a:rPr lang="en-US" altLang="ko-KR" sz="2000" b="1">
                  <a:latin typeface="Courier New" pitchFamily="49" charset="0"/>
                  <a:ea typeface="굴림" pitchFamily="50" charset="-127"/>
                </a:rPr>
                <a:t>Color.orange</a:t>
              </a:r>
            </a:p>
            <a:p>
              <a:r>
                <a:rPr lang="en-US" altLang="ko-KR" sz="2000" b="1">
                  <a:latin typeface="Courier New" pitchFamily="49" charset="0"/>
                  <a:ea typeface="굴림" pitchFamily="50" charset="-127"/>
                </a:rPr>
                <a:t>Color.white</a:t>
              </a:r>
            </a:p>
            <a:p>
              <a:r>
                <a:rPr lang="en-US" altLang="ko-KR" sz="2000" b="1">
                  <a:latin typeface="Courier New" pitchFamily="49" charset="0"/>
                  <a:ea typeface="굴림" pitchFamily="50" charset="-127"/>
                </a:rPr>
                <a:t>Color.yellow</a:t>
              </a:r>
            </a:p>
          </p:txBody>
        </p:sp>
        <p:sp>
          <p:nvSpPr>
            <p:cNvPr id="5128" name="Text Box 6"/>
            <p:cNvSpPr txBox="1">
              <a:spLocks noChangeArrowheads="1"/>
            </p:cNvSpPr>
            <p:nvPr/>
          </p:nvSpPr>
          <p:spPr bwMode="auto">
            <a:xfrm>
              <a:off x="3196" y="2064"/>
              <a:ext cx="1364" cy="1536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anchorCtr="1">
              <a:spAutoFit/>
            </a:bodyPr>
            <a:lstStyle/>
            <a:p>
              <a:r>
                <a:rPr lang="en-US" altLang="ko-KR" sz="2000" b="1" u="sng">
                  <a:solidFill>
                    <a:schemeClr val="hlink"/>
                  </a:solidFill>
                  <a:latin typeface="Arial Unicode MS" pitchFamily="50" charset="-127"/>
                  <a:ea typeface="굴림" pitchFamily="50" charset="-127"/>
                </a:rPr>
                <a:t>RGB </a:t>
              </a:r>
              <a:r>
                <a:rPr lang="ko-KR" altLang="en-US" sz="2000" b="1" u="sng">
                  <a:solidFill>
                    <a:schemeClr val="hlink"/>
                  </a:solidFill>
                  <a:latin typeface="Arial Unicode MS" pitchFamily="50" charset="-127"/>
                  <a:ea typeface="굴림" pitchFamily="50" charset="-127"/>
                </a:rPr>
                <a:t>값</a:t>
              </a:r>
              <a:endParaRPr lang="ko-KR" altLang="en-US" sz="2000" b="1">
                <a:solidFill>
                  <a:schemeClr val="hlink"/>
                </a:solidFill>
                <a:latin typeface="Arial Unicode MS" pitchFamily="50" charset="-127"/>
                <a:ea typeface="굴림" pitchFamily="50" charset="-127"/>
              </a:endParaRPr>
            </a:p>
            <a:p>
              <a:pPr>
                <a:spcBef>
                  <a:spcPct val="70000"/>
                </a:spcBef>
              </a:pPr>
              <a:r>
                <a:rPr lang="en-US" altLang="ko-KR" sz="2000" b="1">
                  <a:solidFill>
                    <a:schemeClr val="hlink"/>
                  </a:solidFill>
                  <a:latin typeface="Courier New" pitchFamily="49" charset="0"/>
                  <a:ea typeface="굴림" pitchFamily="50" charset="-127"/>
                </a:rPr>
                <a:t>0, 0, 0</a:t>
              </a:r>
            </a:p>
            <a:p>
              <a:r>
                <a:rPr lang="en-US" altLang="ko-KR" sz="2000" b="1">
                  <a:solidFill>
                    <a:schemeClr val="hlink"/>
                  </a:solidFill>
                  <a:latin typeface="Courier New" pitchFamily="49" charset="0"/>
                  <a:ea typeface="굴림" pitchFamily="50" charset="-127"/>
                </a:rPr>
                <a:t>0, 0, 255</a:t>
              </a:r>
            </a:p>
            <a:p>
              <a:r>
                <a:rPr lang="en-US" altLang="ko-KR" sz="2000" b="1">
                  <a:solidFill>
                    <a:schemeClr val="hlink"/>
                  </a:solidFill>
                  <a:latin typeface="Courier New" pitchFamily="49" charset="0"/>
                  <a:ea typeface="굴림" pitchFamily="50" charset="-127"/>
                </a:rPr>
                <a:t>0, 255, 255</a:t>
              </a:r>
            </a:p>
            <a:p>
              <a:r>
                <a:rPr lang="en-US" altLang="ko-KR" sz="2000" b="1">
                  <a:solidFill>
                    <a:schemeClr val="hlink"/>
                  </a:solidFill>
                  <a:latin typeface="Courier New" pitchFamily="49" charset="0"/>
                  <a:ea typeface="굴림" pitchFamily="50" charset="-127"/>
                </a:rPr>
                <a:t>255, 200, 0</a:t>
              </a:r>
            </a:p>
            <a:p>
              <a:r>
                <a:rPr lang="en-US" altLang="ko-KR" sz="2000" b="1">
                  <a:solidFill>
                    <a:schemeClr val="hlink"/>
                  </a:solidFill>
                  <a:latin typeface="Courier New" pitchFamily="49" charset="0"/>
                  <a:ea typeface="굴림" pitchFamily="50" charset="-127"/>
                </a:rPr>
                <a:t>255, 255, 255</a:t>
              </a:r>
            </a:p>
            <a:p>
              <a:r>
                <a:rPr lang="en-US" altLang="ko-KR" sz="2000" b="1">
                  <a:solidFill>
                    <a:schemeClr val="hlink"/>
                  </a:solidFill>
                  <a:latin typeface="Courier New" pitchFamily="49" charset="0"/>
                  <a:ea typeface="굴림" pitchFamily="50" charset="-127"/>
                </a:rPr>
                <a:t>255, 255, 0</a:t>
              </a:r>
            </a:p>
          </p:txBody>
        </p:sp>
      </p:grpSp>
    </p:spTree>
    <p:custDataLst>
      <p:tags r:id="rId1"/>
    </p:custDataLst>
  </p:cSld>
  <p:clrMapOvr>
    <a:masterClrMapping/>
  </p:clrMapOvr>
  <p:transition spd="med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1D770BF-02A0-4269-9F1B-B784218F6530}" type="slidenum">
              <a:rPr lang="en-US" altLang="ko-KR"/>
              <a:pPr>
                <a:defRPr/>
              </a:pPr>
              <a:t>4</a:t>
            </a:fld>
            <a:endParaRPr lang="en-US" altLang="ko-KR"/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>
                <a:ea typeface="굴림" pitchFamily="50" charset="-127"/>
              </a:rPr>
              <a:t>형상 그리기</a:t>
            </a:r>
            <a:r>
              <a:rPr lang="en-US" altLang="ko-KR">
                <a:ea typeface="굴림" pitchFamily="50" charset="-127"/>
              </a:rPr>
              <a:t>(drawing shapes)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219200"/>
            <a:ext cx="8001000" cy="5638800"/>
          </a:xfrm>
        </p:spPr>
        <p:txBody>
          <a:bodyPr/>
          <a:lstStyle/>
          <a:p>
            <a:pPr eaLnBrk="1" hangingPunct="1">
              <a:spcBef>
                <a:spcPct val="55000"/>
              </a:spcBef>
            </a:pPr>
            <a:r>
              <a:rPr lang="en-US" altLang="ko-KR">
                <a:solidFill>
                  <a:srgbClr val="FF4C00"/>
                </a:solidFill>
                <a:latin typeface="Courier New" pitchFamily="49" charset="0"/>
                <a:ea typeface="굴림" pitchFamily="50" charset="-127"/>
              </a:rPr>
              <a:t>Graphics</a:t>
            </a:r>
            <a:r>
              <a:rPr lang="en-US" altLang="ko-KR">
                <a:solidFill>
                  <a:srgbClr val="FF4C00"/>
                </a:solidFill>
                <a:ea typeface="굴림" pitchFamily="50" charset="-127"/>
              </a:rPr>
              <a:t> class</a:t>
            </a:r>
            <a:r>
              <a:rPr lang="ko-KR" altLang="en-US">
                <a:solidFill>
                  <a:srgbClr val="FF4C00"/>
                </a:solidFill>
                <a:ea typeface="굴림" pitchFamily="50" charset="-127"/>
              </a:rPr>
              <a:t>의 메소드</a:t>
            </a:r>
            <a:r>
              <a:rPr lang="ko-KR" altLang="en-US">
                <a:ea typeface="굴림" pitchFamily="50" charset="-127"/>
              </a:rPr>
              <a:t> </a:t>
            </a:r>
            <a:r>
              <a:rPr lang="ko-KR" altLang="en-US">
                <a:solidFill>
                  <a:srgbClr val="FF4C00"/>
                </a:solidFill>
                <a:ea typeface="굴림" pitchFamily="50" charset="-127"/>
              </a:rPr>
              <a:t>사용</a:t>
            </a:r>
          </a:p>
          <a:p>
            <a:pPr eaLnBrk="1" hangingPunct="1">
              <a:spcBef>
                <a:spcPct val="55000"/>
              </a:spcBef>
            </a:pPr>
            <a:r>
              <a:rPr lang="ko-KR" altLang="en-US">
                <a:ea typeface="굴림" pitchFamily="50" charset="-127"/>
              </a:rPr>
              <a:t>사각형 그리기 </a:t>
            </a:r>
          </a:p>
          <a:p>
            <a:pPr lvl="1" eaLnBrk="1" hangingPunct="1">
              <a:spcBef>
                <a:spcPct val="55000"/>
              </a:spcBef>
            </a:pPr>
            <a:r>
              <a:rPr lang="en-US" altLang="ko-KR" b="0">
                <a:solidFill>
                  <a:srgbClr val="3333FF"/>
                </a:solidFill>
                <a:ea typeface="굴림" pitchFamily="50" charset="-127"/>
              </a:rPr>
              <a:t>void drawRect (int x, int y, int width, int height)</a:t>
            </a:r>
          </a:p>
          <a:p>
            <a:pPr lvl="1" eaLnBrk="1" hangingPunct="1">
              <a:spcBef>
                <a:spcPct val="55000"/>
              </a:spcBef>
            </a:pPr>
            <a:r>
              <a:rPr lang="en-US" altLang="ko-KR" b="0">
                <a:solidFill>
                  <a:srgbClr val="3333FF"/>
                </a:solidFill>
                <a:ea typeface="굴림" pitchFamily="50" charset="-127"/>
              </a:rPr>
              <a:t>void fillRect (int x, int y, int width, int height)</a:t>
            </a:r>
            <a:endParaRPr lang="en-US" altLang="ko-KR">
              <a:solidFill>
                <a:srgbClr val="3333FF"/>
              </a:solidFill>
              <a:ea typeface="굴림" pitchFamily="50" charset="-127"/>
            </a:endParaRPr>
          </a:p>
          <a:p>
            <a:pPr lvl="1" eaLnBrk="1" hangingPunct="1">
              <a:spcBef>
                <a:spcPct val="55000"/>
              </a:spcBef>
            </a:pPr>
            <a:r>
              <a:rPr lang="ko-KR" altLang="en-US">
                <a:ea typeface="굴림" pitchFamily="50" charset="-127"/>
              </a:rPr>
              <a:t>매개변수는 좌표</a:t>
            </a:r>
            <a:r>
              <a:rPr lang="en-US" altLang="ko-KR">
                <a:ea typeface="굴림" pitchFamily="50" charset="-127"/>
              </a:rPr>
              <a:t>(coordinates)</a:t>
            </a:r>
            <a:r>
              <a:rPr lang="ko-KR" altLang="en-US">
                <a:ea typeface="굴림" pitchFamily="50" charset="-127"/>
              </a:rPr>
              <a:t>와 크기</a:t>
            </a:r>
            <a:r>
              <a:rPr lang="en-US" altLang="ko-KR">
                <a:ea typeface="굴림" pitchFamily="50" charset="-127"/>
              </a:rPr>
              <a:t>(sizes)</a:t>
            </a:r>
            <a:r>
              <a:rPr lang="ko-KR" altLang="en-US">
                <a:ea typeface="굴림" pitchFamily="50" charset="-127"/>
              </a:rPr>
              <a:t>를 정의한다</a:t>
            </a:r>
            <a:r>
              <a:rPr lang="en-US" altLang="ko-KR">
                <a:ea typeface="굴림" pitchFamily="50" charset="-127"/>
              </a:rPr>
              <a:t>.</a:t>
            </a:r>
          </a:p>
          <a:p>
            <a:pPr eaLnBrk="1" hangingPunct="1">
              <a:spcBef>
                <a:spcPct val="55000"/>
              </a:spcBef>
            </a:pPr>
            <a:r>
              <a:rPr lang="ko-KR" altLang="en-US">
                <a:ea typeface="굴림" pitchFamily="50" charset="-127"/>
              </a:rPr>
              <a:t>타원형</a:t>
            </a:r>
            <a:r>
              <a:rPr lang="en-US" altLang="ko-KR">
                <a:ea typeface="굴림" pitchFamily="50" charset="-127"/>
              </a:rPr>
              <a:t>(oval)</a:t>
            </a:r>
          </a:p>
          <a:p>
            <a:pPr lvl="1" eaLnBrk="1" hangingPunct="1">
              <a:spcBef>
                <a:spcPct val="55000"/>
              </a:spcBef>
            </a:pPr>
            <a:r>
              <a:rPr lang="ko-KR" altLang="en-US">
                <a:solidFill>
                  <a:srgbClr val="3333FF"/>
                </a:solidFill>
                <a:ea typeface="굴림" pitchFamily="50" charset="-127"/>
              </a:rPr>
              <a:t>경계사각형</a:t>
            </a:r>
            <a:r>
              <a:rPr lang="en-US" altLang="ko-KR">
                <a:solidFill>
                  <a:srgbClr val="3333FF"/>
                </a:solidFill>
                <a:ea typeface="굴림" pitchFamily="50" charset="-127"/>
              </a:rPr>
              <a:t>(</a:t>
            </a:r>
            <a:r>
              <a:rPr lang="en-US" altLang="ko-KR" i="1">
                <a:solidFill>
                  <a:srgbClr val="3333FF"/>
                </a:solidFill>
                <a:ea typeface="굴림" pitchFamily="50" charset="-127"/>
              </a:rPr>
              <a:t>bounding rectangle</a:t>
            </a:r>
            <a:r>
              <a:rPr lang="en-US" altLang="ko-KR">
                <a:solidFill>
                  <a:srgbClr val="3333FF"/>
                </a:solidFill>
                <a:ea typeface="굴림" pitchFamily="50" charset="-127"/>
              </a:rPr>
              <a:t>)</a:t>
            </a:r>
            <a:r>
              <a:rPr lang="ko-KR" altLang="en-US">
                <a:ea typeface="굴림" pitchFamily="50" charset="-127"/>
              </a:rPr>
              <a:t>으로 정의한다</a:t>
            </a:r>
            <a:r>
              <a:rPr lang="en-US" altLang="ko-KR">
                <a:ea typeface="굴림" pitchFamily="50" charset="-127"/>
              </a:rPr>
              <a:t>.          </a:t>
            </a:r>
          </a:p>
          <a:p>
            <a:pPr lvl="1" eaLnBrk="1" hangingPunct="1">
              <a:spcBef>
                <a:spcPct val="55000"/>
              </a:spcBef>
            </a:pPr>
            <a:r>
              <a:rPr lang="ko-KR" altLang="en-US">
                <a:ea typeface="굴림" pitchFamily="50" charset="-127"/>
              </a:rPr>
              <a:t>왼쪽 윗모서리 좌표와</a:t>
            </a:r>
            <a:r>
              <a:rPr lang="en-US" altLang="ko-KR">
                <a:ea typeface="굴림" pitchFamily="50" charset="-127"/>
              </a:rPr>
              <a:t> </a:t>
            </a:r>
            <a:r>
              <a:rPr lang="ko-KR" altLang="en-US">
                <a:ea typeface="굴림" pitchFamily="50" charset="-127"/>
              </a:rPr>
              <a:t>타원이 들어갈 사각형의 폭과 높이로 정의</a:t>
            </a:r>
            <a:endParaRPr lang="en-US" altLang="ko-KR">
              <a:ea typeface="굴림" pitchFamily="50" charset="-127"/>
            </a:endParaRPr>
          </a:p>
          <a:p>
            <a:pPr eaLnBrk="1" hangingPunct="1">
              <a:spcBef>
                <a:spcPct val="55000"/>
              </a:spcBef>
            </a:pPr>
            <a:r>
              <a:rPr lang="ko-KR" altLang="en-US">
                <a:ea typeface="굴림" pitchFamily="50" charset="-127"/>
              </a:rPr>
              <a:t>호</a:t>
            </a:r>
            <a:r>
              <a:rPr lang="en-US" altLang="ko-KR">
                <a:ea typeface="굴림" pitchFamily="50" charset="-127"/>
              </a:rPr>
              <a:t>(arc)</a:t>
            </a:r>
          </a:p>
          <a:p>
            <a:pPr lvl="1" eaLnBrk="1" hangingPunct="1">
              <a:spcBef>
                <a:spcPct val="55000"/>
              </a:spcBef>
            </a:pPr>
            <a:r>
              <a:rPr lang="ko-KR" altLang="en-US">
                <a:ea typeface="굴림" pitchFamily="50" charset="-127"/>
              </a:rPr>
              <a:t>타원의</a:t>
            </a:r>
            <a:r>
              <a:rPr lang="en-US" altLang="ko-KR">
                <a:ea typeface="굴림" pitchFamily="50" charset="-127"/>
              </a:rPr>
              <a:t>(oval) </a:t>
            </a:r>
            <a:r>
              <a:rPr lang="ko-KR" altLang="en-US">
                <a:ea typeface="굴림" pitchFamily="50" charset="-127"/>
              </a:rPr>
              <a:t>한 부분으로 생각할 수 있다</a:t>
            </a:r>
            <a:r>
              <a:rPr lang="en-US" altLang="ko-KR">
                <a:ea typeface="굴림" pitchFamily="50" charset="-127"/>
              </a:rPr>
              <a:t>.</a:t>
            </a:r>
          </a:p>
        </p:txBody>
      </p:sp>
    </p:spTree>
    <p:custDataLst>
      <p:tags r:id="rId1"/>
    </p:custDataLst>
  </p:cSld>
  <p:clrMapOvr>
    <a:masterClrMapping/>
  </p:clrMapOvr>
  <p:transition spd="med">
    <p:wheel spokes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7FCE745-7862-4908-83B6-097DF44B0044}" type="slidenum">
              <a:rPr lang="en-US" altLang="ko-KR"/>
              <a:pPr>
                <a:defRPr/>
              </a:pPr>
              <a:t>5</a:t>
            </a:fld>
            <a:endParaRPr lang="en-US" altLang="ko-KR"/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ea typeface="굴림" pitchFamily="50" charset="-127"/>
              </a:rPr>
              <a:t>Drawing a Line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244600" y="1397000"/>
            <a:ext cx="6908800" cy="3479800"/>
            <a:chOff x="688" y="880"/>
            <a:chExt cx="4352" cy="2192"/>
          </a:xfrm>
        </p:grpSpPr>
        <p:sp>
          <p:nvSpPr>
            <p:cNvPr id="12307" name="Line 4"/>
            <p:cNvSpPr>
              <a:spLocks noChangeShapeType="1"/>
            </p:cNvSpPr>
            <p:nvPr/>
          </p:nvSpPr>
          <p:spPr bwMode="auto">
            <a:xfrm>
              <a:off x="912" y="1104"/>
              <a:ext cx="41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2308" name="Line 5"/>
            <p:cNvSpPr>
              <a:spLocks noChangeShapeType="1"/>
            </p:cNvSpPr>
            <p:nvPr/>
          </p:nvSpPr>
          <p:spPr bwMode="auto">
            <a:xfrm>
              <a:off x="912" y="1104"/>
              <a:ext cx="0" cy="19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2309" name="Text Box 6"/>
            <p:cNvSpPr txBox="1">
              <a:spLocks noChangeArrowheads="1"/>
            </p:cNvSpPr>
            <p:nvPr/>
          </p:nvSpPr>
          <p:spPr bwMode="auto">
            <a:xfrm>
              <a:off x="4704" y="880"/>
              <a:ext cx="220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altLang="ko-KR" sz="1800" b="1">
                  <a:latin typeface="Times New Roman" pitchFamily="18" charset="0"/>
                  <a:ea typeface="굴림" pitchFamily="50" charset="-127"/>
                </a:rPr>
                <a:t>X</a:t>
              </a:r>
              <a:endParaRPr lang="en-US" altLang="ko-KR"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2310" name="Text Box 7"/>
            <p:cNvSpPr txBox="1">
              <a:spLocks noChangeArrowheads="1"/>
            </p:cNvSpPr>
            <p:nvPr/>
          </p:nvSpPr>
          <p:spPr bwMode="auto">
            <a:xfrm>
              <a:off x="688" y="2784"/>
              <a:ext cx="220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altLang="ko-KR" sz="1800" b="1">
                  <a:latin typeface="Times New Roman" pitchFamily="18" charset="0"/>
                  <a:ea typeface="굴림" pitchFamily="50" charset="-127"/>
                </a:rPr>
                <a:t>Y</a:t>
              </a:r>
              <a:endParaRPr lang="en-US" altLang="ko-KR">
                <a:latin typeface="Times New Roman" pitchFamily="18" charset="0"/>
                <a:ea typeface="굴림" pitchFamily="50" charset="-127"/>
              </a:endParaRPr>
            </a:p>
          </p:txBody>
        </p:sp>
      </p:grpSp>
      <p:sp>
        <p:nvSpPr>
          <p:cNvPr id="2824200" name="Text Box 8"/>
          <p:cNvSpPr txBox="1">
            <a:spLocks noChangeArrowheads="1"/>
          </p:cNvSpPr>
          <p:nvPr/>
        </p:nvSpPr>
        <p:spPr bwMode="auto">
          <a:xfrm>
            <a:off x="1854200" y="1371600"/>
            <a:ext cx="4127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ko-KR" sz="1800" b="1">
                <a:latin typeface="Times New Roman" pitchFamily="18" charset="0"/>
                <a:ea typeface="굴림" pitchFamily="50" charset="-127"/>
              </a:rPr>
              <a:t>10</a:t>
            </a:r>
            <a:endParaRPr lang="en-US" altLang="ko-KR"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2824201" name="Text Box 9"/>
          <p:cNvSpPr txBox="1">
            <a:spLocks noChangeArrowheads="1"/>
          </p:cNvSpPr>
          <p:nvPr/>
        </p:nvSpPr>
        <p:spPr bwMode="auto">
          <a:xfrm>
            <a:off x="1168400" y="2171700"/>
            <a:ext cx="4127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ko-KR" sz="1800" b="1">
                <a:latin typeface="Times New Roman" pitchFamily="18" charset="0"/>
                <a:ea typeface="굴림" pitchFamily="50" charset="-127"/>
              </a:rPr>
              <a:t>20</a:t>
            </a:r>
            <a:endParaRPr lang="en-US" altLang="ko-KR"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2824202" name="Line 10"/>
          <p:cNvSpPr>
            <a:spLocks noChangeShapeType="1"/>
          </p:cNvSpPr>
          <p:nvPr/>
        </p:nvSpPr>
        <p:spPr bwMode="auto">
          <a:xfrm>
            <a:off x="2057400" y="175260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24203" name="Line 11"/>
          <p:cNvSpPr>
            <a:spLocks noChangeShapeType="1"/>
          </p:cNvSpPr>
          <p:nvPr/>
        </p:nvSpPr>
        <p:spPr bwMode="auto">
          <a:xfrm>
            <a:off x="1600200" y="23622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24204" name="Text Box 12"/>
          <p:cNvSpPr txBox="1">
            <a:spLocks noChangeArrowheads="1"/>
          </p:cNvSpPr>
          <p:nvPr/>
        </p:nvSpPr>
        <p:spPr bwMode="auto">
          <a:xfrm>
            <a:off x="5524500" y="1371600"/>
            <a:ext cx="5270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ko-KR" sz="1800" b="1">
                <a:latin typeface="Times New Roman" pitchFamily="18" charset="0"/>
                <a:ea typeface="굴림" pitchFamily="50" charset="-127"/>
              </a:rPr>
              <a:t>150</a:t>
            </a:r>
            <a:endParaRPr lang="en-US" altLang="ko-KR"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2824205" name="Text Box 13"/>
          <p:cNvSpPr txBox="1">
            <a:spLocks noChangeArrowheads="1"/>
          </p:cNvSpPr>
          <p:nvPr/>
        </p:nvSpPr>
        <p:spPr bwMode="auto">
          <a:xfrm>
            <a:off x="1181100" y="3314700"/>
            <a:ext cx="4127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ko-KR" sz="1800" b="1">
                <a:latin typeface="Times New Roman" pitchFamily="18" charset="0"/>
                <a:ea typeface="굴림" pitchFamily="50" charset="-127"/>
              </a:rPr>
              <a:t>45</a:t>
            </a:r>
            <a:endParaRPr lang="en-US" altLang="ko-KR"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2824206" name="Line 14"/>
          <p:cNvSpPr>
            <a:spLocks noChangeShapeType="1"/>
          </p:cNvSpPr>
          <p:nvPr/>
        </p:nvSpPr>
        <p:spPr bwMode="auto">
          <a:xfrm>
            <a:off x="5791200" y="1752600"/>
            <a:ext cx="0" cy="1752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24207" name="Line 15"/>
          <p:cNvSpPr>
            <a:spLocks noChangeShapeType="1"/>
          </p:cNvSpPr>
          <p:nvPr/>
        </p:nvSpPr>
        <p:spPr bwMode="auto">
          <a:xfrm>
            <a:off x="1600200" y="3505200"/>
            <a:ext cx="4191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2590800" y="4648200"/>
            <a:ext cx="5060950" cy="1158875"/>
            <a:chOff x="1248" y="3168"/>
            <a:chExt cx="3188" cy="730"/>
          </a:xfrm>
        </p:grpSpPr>
        <p:sp>
          <p:nvSpPr>
            <p:cNvPr id="12304" name="Text Box 17"/>
            <p:cNvSpPr txBox="1">
              <a:spLocks noChangeArrowheads="1"/>
            </p:cNvSpPr>
            <p:nvPr/>
          </p:nvSpPr>
          <p:spPr bwMode="auto">
            <a:xfrm>
              <a:off x="1248" y="3168"/>
              <a:ext cx="3188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altLang="ko-KR" sz="2000" b="1">
                  <a:latin typeface="Courier New" pitchFamily="49" charset="0"/>
                  <a:ea typeface="굴림" pitchFamily="50" charset="-127"/>
                </a:rPr>
                <a:t>page.drawLine (10, 20, 150, 45);</a:t>
              </a:r>
            </a:p>
          </p:txBody>
        </p:sp>
        <p:sp>
          <p:nvSpPr>
            <p:cNvPr id="12305" name="Text Box 18"/>
            <p:cNvSpPr txBox="1">
              <a:spLocks noChangeArrowheads="1"/>
            </p:cNvSpPr>
            <p:nvPr/>
          </p:nvSpPr>
          <p:spPr bwMode="auto">
            <a:xfrm>
              <a:off x="1248" y="3648"/>
              <a:ext cx="3188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altLang="ko-KR" sz="2000" b="1">
                  <a:latin typeface="Courier New" pitchFamily="49" charset="0"/>
                  <a:ea typeface="굴림" pitchFamily="50" charset="-127"/>
                </a:rPr>
                <a:t>page.drawLine (150, 45, 10, 20);</a:t>
              </a:r>
            </a:p>
          </p:txBody>
        </p:sp>
        <p:sp>
          <p:nvSpPr>
            <p:cNvPr id="12306" name="Text Box 19"/>
            <p:cNvSpPr txBox="1">
              <a:spLocks noChangeArrowheads="1"/>
            </p:cNvSpPr>
            <p:nvPr/>
          </p:nvSpPr>
          <p:spPr bwMode="auto">
            <a:xfrm>
              <a:off x="2680" y="3409"/>
              <a:ext cx="258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altLang="ko-KR" sz="2000" b="1">
                  <a:solidFill>
                    <a:schemeClr val="hlink"/>
                  </a:solidFill>
                  <a:latin typeface="Arial Unicode MS" pitchFamily="50" charset="-127"/>
                  <a:ea typeface="굴림" pitchFamily="50" charset="-127"/>
                </a:rPr>
                <a:t>or</a:t>
              </a:r>
              <a:endParaRPr lang="en-US" altLang="ko-KR">
                <a:solidFill>
                  <a:schemeClr val="hlink"/>
                </a:solidFill>
                <a:latin typeface="Arial Unicode MS" pitchFamily="50" charset="-127"/>
                <a:ea typeface="굴림" pitchFamily="50" charset="-127"/>
              </a:endParaRPr>
            </a:p>
          </p:txBody>
        </p:sp>
      </p:grpSp>
      <p:sp>
        <p:nvSpPr>
          <p:cNvPr id="2824212" name="Line 20"/>
          <p:cNvSpPr>
            <a:spLocks noChangeShapeType="1"/>
          </p:cNvSpPr>
          <p:nvPr/>
        </p:nvSpPr>
        <p:spPr bwMode="auto">
          <a:xfrm>
            <a:off x="2057400" y="2362200"/>
            <a:ext cx="3733800" cy="114300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ko-KR" altLang="en-US"/>
          </a:p>
        </p:txBody>
      </p:sp>
    </p:spTree>
    <p:custDataLst>
      <p:tags r:id="rId1"/>
    </p:custDataLst>
  </p:cSld>
  <p:clrMapOvr>
    <a:masterClrMapping/>
  </p:clrMapOvr>
  <p:transition spd="med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4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4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824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4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24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4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4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824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4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4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24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24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4200" grpId="0" autoUpdateAnimBg="0"/>
      <p:bldP spid="2824201" grpId="0" autoUpdateAnimBg="0"/>
      <p:bldP spid="2824202" grpId="0" animBg="1"/>
      <p:bldP spid="2824203" grpId="0" animBg="1"/>
      <p:bldP spid="2824204" grpId="0" autoUpdateAnimBg="0"/>
      <p:bldP spid="2824205" grpId="0" autoUpdateAnimBg="0"/>
      <p:bldP spid="2824206" grpId="0" animBg="1"/>
      <p:bldP spid="2824207" grpId="0" animBg="1"/>
      <p:bldP spid="28242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76FDA1F-C25B-44F6-B4F6-6E91215E408C}" type="slidenum">
              <a:rPr lang="en-US" altLang="ko-KR"/>
              <a:pPr>
                <a:defRPr/>
              </a:pPr>
              <a:t>6</a:t>
            </a:fld>
            <a:endParaRPr lang="en-US" altLang="ko-KR"/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ea typeface="굴림" pitchFamily="50" charset="-127"/>
              </a:rPr>
              <a:t>Drawing a Rectangle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244600" y="1397000"/>
            <a:ext cx="6908800" cy="3479800"/>
            <a:chOff x="688" y="880"/>
            <a:chExt cx="4352" cy="2192"/>
          </a:xfrm>
        </p:grpSpPr>
        <p:sp>
          <p:nvSpPr>
            <p:cNvPr id="13330" name="Line 4"/>
            <p:cNvSpPr>
              <a:spLocks noChangeShapeType="1"/>
            </p:cNvSpPr>
            <p:nvPr/>
          </p:nvSpPr>
          <p:spPr bwMode="auto">
            <a:xfrm>
              <a:off x="912" y="1104"/>
              <a:ext cx="41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3331" name="Line 5"/>
            <p:cNvSpPr>
              <a:spLocks noChangeShapeType="1"/>
            </p:cNvSpPr>
            <p:nvPr/>
          </p:nvSpPr>
          <p:spPr bwMode="auto">
            <a:xfrm>
              <a:off x="912" y="1104"/>
              <a:ext cx="0" cy="19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3332" name="Text Box 6"/>
            <p:cNvSpPr txBox="1">
              <a:spLocks noChangeArrowheads="1"/>
            </p:cNvSpPr>
            <p:nvPr/>
          </p:nvSpPr>
          <p:spPr bwMode="auto">
            <a:xfrm>
              <a:off x="4704" y="880"/>
              <a:ext cx="220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altLang="ko-KR" sz="1800" b="1">
                  <a:latin typeface="Times New Roman" pitchFamily="18" charset="0"/>
                  <a:ea typeface="굴림" pitchFamily="50" charset="-127"/>
                </a:rPr>
                <a:t>X</a:t>
              </a:r>
              <a:endParaRPr lang="en-US" altLang="ko-KR"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3333" name="Text Box 7"/>
            <p:cNvSpPr txBox="1">
              <a:spLocks noChangeArrowheads="1"/>
            </p:cNvSpPr>
            <p:nvPr/>
          </p:nvSpPr>
          <p:spPr bwMode="auto">
            <a:xfrm>
              <a:off x="688" y="2784"/>
              <a:ext cx="220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altLang="ko-KR" sz="1800" b="1">
                  <a:latin typeface="Times New Roman" pitchFamily="18" charset="0"/>
                  <a:ea typeface="굴림" pitchFamily="50" charset="-127"/>
                </a:rPr>
                <a:t>Y</a:t>
              </a:r>
              <a:endParaRPr lang="en-US" altLang="ko-KR">
                <a:latin typeface="Times New Roman" pitchFamily="18" charset="0"/>
                <a:ea typeface="굴림" pitchFamily="50" charset="-127"/>
              </a:endParaRPr>
            </a:p>
          </p:txBody>
        </p:sp>
      </p:grpSp>
      <p:sp>
        <p:nvSpPr>
          <p:cNvPr id="2826248" name="Text Box 8"/>
          <p:cNvSpPr txBox="1">
            <a:spLocks noChangeArrowheads="1"/>
          </p:cNvSpPr>
          <p:nvPr/>
        </p:nvSpPr>
        <p:spPr bwMode="auto">
          <a:xfrm>
            <a:off x="2482850" y="5029200"/>
            <a:ext cx="506095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ko-KR" sz="2000" b="1">
                <a:latin typeface="Courier New" pitchFamily="49" charset="0"/>
                <a:ea typeface="굴림" pitchFamily="50" charset="-127"/>
              </a:rPr>
              <a:t>page.drawRect (50, 20, 100, 40);</a:t>
            </a:r>
          </a:p>
        </p:txBody>
      </p:sp>
      <p:sp>
        <p:nvSpPr>
          <p:cNvPr id="2826249" name="Text Box 9"/>
          <p:cNvSpPr txBox="1">
            <a:spLocks noChangeArrowheads="1"/>
          </p:cNvSpPr>
          <p:nvPr/>
        </p:nvSpPr>
        <p:spPr bwMode="auto">
          <a:xfrm>
            <a:off x="2768600" y="1371600"/>
            <a:ext cx="4127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ko-KR" sz="1800" b="1">
                <a:latin typeface="Times New Roman" pitchFamily="18" charset="0"/>
                <a:ea typeface="굴림" pitchFamily="50" charset="-127"/>
              </a:rPr>
              <a:t>50</a:t>
            </a:r>
            <a:endParaRPr lang="en-US" altLang="ko-KR"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2826250" name="Text Box 10"/>
          <p:cNvSpPr txBox="1">
            <a:spLocks noChangeArrowheads="1"/>
          </p:cNvSpPr>
          <p:nvPr/>
        </p:nvSpPr>
        <p:spPr bwMode="auto">
          <a:xfrm>
            <a:off x="1168400" y="2171700"/>
            <a:ext cx="4127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ko-KR" sz="1800" b="1">
                <a:latin typeface="Times New Roman" pitchFamily="18" charset="0"/>
                <a:ea typeface="굴림" pitchFamily="50" charset="-127"/>
              </a:rPr>
              <a:t>20</a:t>
            </a:r>
            <a:endParaRPr lang="en-US" altLang="ko-KR"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2826251" name="Line 11"/>
          <p:cNvSpPr>
            <a:spLocks noChangeShapeType="1"/>
          </p:cNvSpPr>
          <p:nvPr/>
        </p:nvSpPr>
        <p:spPr bwMode="auto">
          <a:xfrm>
            <a:off x="2971800" y="175260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26252" name="Line 12"/>
          <p:cNvSpPr>
            <a:spLocks noChangeShapeType="1"/>
          </p:cNvSpPr>
          <p:nvPr/>
        </p:nvSpPr>
        <p:spPr bwMode="auto">
          <a:xfrm>
            <a:off x="1600200" y="23622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26253" name="Rectangle 13"/>
          <p:cNvSpPr>
            <a:spLocks noChangeArrowheads="1"/>
          </p:cNvSpPr>
          <p:nvPr/>
        </p:nvSpPr>
        <p:spPr bwMode="auto">
          <a:xfrm>
            <a:off x="2971800" y="2362200"/>
            <a:ext cx="2590800" cy="990600"/>
          </a:xfrm>
          <a:prstGeom prst="rect">
            <a:avLst/>
          </a:prstGeom>
          <a:noFill/>
          <a:ln w="31750">
            <a:solidFill>
              <a:srgbClr val="FF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2971800" y="3543300"/>
            <a:ext cx="2590800" cy="366713"/>
            <a:chOff x="1776" y="2232"/>
            <a:chExt cx="1632" cy="231"/>
          </a:xfrm>
        </p:grpSpPr>
        <p:sp>
          <p:nvSpPr>
            <p:cNvPr id="13328" name="Line 15"/>
            <p:cNvSpPr>
              <a:spLocks noChangeShapeType="1"/>
            </p:cNvSpPr>
            <p:nvPr/>
          </p:nvSpPr>
          <p:spPr bwMode="auto">
            <a:xfrm>
              <a:off x="1776" y="2256"/>
              <a:ext cx="16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3329" name="Text Box 16"/>
            <p:cNvSpPr txBox="1">
              <a:spLocks noChangeArrowheads="1"/>
            </p:cNvSpPr>
            <p:nvPr/>
          </p:nvSpPr>
          <p:spPr bwMode="auto">
            <a:xfrm>
              <a:off x="2446" y="2232"/>
              <a:ext cx="332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altLang="ko-KR" sz="1800" b="1">
                  <a:latin typeface="Times New Roman" pitchFamily="18" charset="0"/>
                  <a:ea typeface="굴림" pitchFamily="50" charset="-127"/>
                </a:rPr>
                <a:t>100</a:t>
              </a:r>
              <a:endParaRPr lang="en-US" altLang="ko-KR">
                <a:latin typeface="Times New Roman" pitchFamily="18" charset="0"/>
                <a:ea typeface="굴림" pitchFamily="50" charset="-127"/>
              </a:endParaRPr>
            </a:p>
          </p:txBody>
        </p:sp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5791200" y="2362200"/>
            <a:ext cx="412750" cy="990600"/>
            <a:chOff x="3552" y="1488"/>
            <a:chExt cx="260" cy="624"/>
          </a:xfrm>
        </p:grpSpPr>
        <p:sp>
          <p:nvSpPr>
            <p:cNvPr id="13326" name="Line 18"/>
            <p:cNvSpPr>
              <a:spLocks noChangeShapeType="1"/>
            </p:cNvSpPr>
            <p:nvPr/>
          </p:nvSpPr>
          <p:spPr bwMode="auto">
            <a:xfrm>
              <a:off x="3552" y="1488"/>
              <a:ext cx="0" cy="6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3327" name="Text Box 19"/>
            <p:cNvSpPr txBox="1">
              <a:spLocks noChangeArrowheads="1"/>
            </p:cNvSpPr>
            <p:nvPr/>
          </p:nvSpPr>
          <p:spPr bwMode="auto">
            <a:xfrm>
              <a:off x="3552" y="1704"/>
              <a:ext cx="260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altLang="ko-KR" sz="1800" b="1">
                  <a:latin typeface="Times New Roman" pitchFamily="18" charset="0"/>
                  <a:ea typeface="굴림" pitchFamily="50" charset="-127"/>
                </a:rPr>
                <a:t>40</a:t>
              </a:r>
              <a:endParaRPr lang="en-US" altLang="ko-KR">
                <a:latin typeface="Times New Roman" pitchFamily="18" charset="0"/>
                <a:ea typeface="굴림" pitchFamily="50" charset="-127"/>
              </a:endParaRPr>
            </a:p>
          </p:txBody>
        </p:sp>
      </p:grpSp>
    </p:spTree>
    <p:custDataLst>
      <p:tags r:id="rId1"/>
    </p:custDataLst>
  </p:cSld>
  <p:clrMapOvr>
    <a:masterClrMapping/>
  </p:clrMapOvr>
  <p:transition spd="med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26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26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6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826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6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26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26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6248" grpId="0" autoUpdateAnimBg="0"/>
      <p:bldP spid="2826249" grpId="0" autoUpdateAnimBg="0"/>
      <p:bldP spid="2826250" grpId="0" autoUpdateAnimBg="0"/>
      <p:bldP spid="2826251" grpId="0" animBg="1"/>
      <p:bldP spid="2826252" grpId="0" animBg="1"/>
      <p:bldP spid="282625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87E363F-4788-4AE6-B6F8-6E626C0AEC9D}" type="slidenum">
              <a:rPr lang="en-US" altLang="ko-KR"/>
              <a:pPr>
                <a:defRPr/>
              </a:pPr>
              <a:t>7</a:t>
            </a:fld>
            <a:endParaRPr lang="en-US" altLang="ko-KR"/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ea typeface="굴림" pitchFamily="50" charset="-127"/>
              </a:rPr>
              <a:t>Drawing an Oval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244600" y="1397000"/>
            <a:ext cx="6908800" cy="3479800"/>
            <a:chOff x="688" y="880"/>
            <a:chExt cx="4352" cy="2192"/>
          </a:xfrm>
        </p:grpSpPr>
        <p:sp>
          <p:nvSpPr>
            <p:cNvPr id="14357" name="Line 4"/>
            <p:cNvSpPr>
              <a:spLocks noChangeShapeType="1"/>
            </p:cNvSpPr>
            <p:nvPr/>
          </p:nvSpPr>
          <p:spPr bwMode="auto">
            <a:xfrm>
              <a:off x="912" y="1104"/>
              <a:ext cx="41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4358" name="Line 5"/>
            <p:cNvSpPr>
              <a:spLocks noChangeShapeType="1"/>
            </p:cNvSpPr>
            <p:nvPr/>
          </p:nvSpPr>
          <p:spPr bwMode="auto">
            <a:xfrm>
              <a:off x="912" y="1104"/>
              <a:ext cx="0" cy="19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4359" name="Text Box 6"/>
            <p:cNvSpPr txBox="1">
              <a:spLocks noChangeArrowheads="1"/>
            </p:cNvSpPr>
            <p:nvPr/>
          </p:nvSpPr>
          <p:spPr bwMode="auto">
            <a:xfrm>
              <a:off x="4704" y="880"/>
              <a:ext cx="220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altLang="ko-KR" sz="1800" b="1">
                  <a:latin typeface="Times New Roman" pitchFamily="18" charset="0"/>
                  <a:ea typeface="굴림" pitchFamily="50" charset="-127"/>
                </a:rPr>
                <a:t>X</a:t>
              </a:r>
              <a:endParaRPr lang="en-US" altLang="ko-KR"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4360" name="Text Box 7"/>
            <p:cNvSpPr txBox="1">
              <a:spLocks noChangeArrowheads="1"/>
            </p:cNvSpPr>
            <p:nvPr/>
          </p:nvSpPr>
          <p:spPr bwMode="auto">
            <a:xfrm>
              <a:off x="688" y="2784"/>
              <a:ext cx="220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altLang="ko-KR" sz="1800" b="1">
                  <a:latin typeface="Times New Roman" pitchFamily="18" charset="0"/>
                  <a:ea typeface="굴림" pitchFamily="50" charset="-127"/>
                </a:rPr>
                <a:t>Y</a:t>
              </a:r>
              <a:endParaRPr lang="en-US" altLang="ko-KR">
                <a:latin typeface="Times New Roman" pitchFamily="18" charset="0"/>
                <a:ea typeface="굴림" pitchFamily="50" charset="-127"/>
              </a:endParaRPr>
            </a:p>
          </p:txBody>
        </p:sp>
      </p:grpSp>
      <p:sp>
        <p:nvSpPr>
          <p:cNvPr id="2828296" name="Text Box 8"/>
          <p:cNvSpPr txBox="1">
            <a:spLocks noChangeArrowheads="1"/>
          </p:cNvSpPr>
          <p:nvPr/>
        </p:nvSpPr>
        <p:spPr bwMode="auto">
          <a:xfrm>
            <a:off x="2406650" y="5295900"/>
            <a:ext cx="506095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ko-KR" sz="2000" b="1">
                <a:latin typeface="Courier New" pitchFamily="49" charset="0"/>
                <a:ea typeface="굴림" pitchFamily="50" charset="-127"/>
              </a:rPr>
              <a:t>page.drawOval (175, 20, 50, 80);</a:t>
            </a:r>
          </a:p>
        </p:txBody>
      </p:sp>
      <p:sp>
        <p:nvSpPr>
          <p:cNvPr id="2828297" name="Text Box 9"/>
          <p:cNvSpPr txBox="1">
            <a:spLocks noChangeArrowheads="1"/>
          </p:cNvSpPr>
          <p:nvPr/>
        </p:nvSpPr>
        <p:spPr bwMode="auto">
          <a:xfrm>
            <a:off x="4927600" y="1371600"/>
            <a:ext cx="5270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ko-KR" sz="1800" b="1">
                <a:latin typeface="Times New Roman" pitchFamily="18" charset="0"/>
                <a:ea typeface="굴림" pitchFamily="50" charset="-127"/>
              </a:rPr>
              <a:t>175</a:t>
            </a:r>
            <a:endParaRPr lang="en-US" altLang="ko-KR"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2828298" name="Text Box 10"/>
          <p:cNvSpPr txBox="1">
            <a:spLocks noChangeArrowheads="1"/>
          </p:cNvSpPr>
          <p:nvPr/>
        </p:nvSpPr>
        <p:spPr bwMode="auto">
          <a:xfrm>
            <a:off x="1168400" y="2171700"/>
            <a:ext cx="4127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ko-KR" sz="1800" b="1">
                <a:latin typeface="Times New Roman" pitchFamily="18" charset="0"/>
                <a:ea typeface="굴림" pitchFamily="50" charset="-127"/>
              </a:rPr>
              <a:t>20</a:t>
            </a:r>
            <a:endParaRPr lang="en-US" altLang="ko-KR"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2828299" name="Line 11"/>
          <p:cNvSpPr>
            <a:spLocks noChangeShapeType="1"/>
          </p:cNvSpPr>
          <p:nvPr/>
        </p:nvSpPr>
        <p:spPr bwMode="auto">
          <a:xfrm>
            <a:off x="5181600" y="175260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28300" name="Line 12"/>
          <p:cNvSpPr>
            <a:spLocks noChangeShapeType="1"/>
          </p:cNvSpPr>
          <p:nvPr/>
        </p:nvSpPr>
        <p:spPr bwMode="auto">
          <a:xfrm>
            <a:off x="1600200" y="2362200"/>
            <a:ext cx="35814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28301" name="Rectangle 13"/>
          <p:cNvSpPr>
            <a:spLocks noChangeArrowheads="1"/>
          </p:cNvSpPr>
          <p:nvPr/>
        </p:nvSpPr>
        <p:spPr bwMode="auto">
          <a:xfrm>
            <a:off x="5181600" y="2362200"/>
            <a:ext cx="1600200" cy="1905000"/>
          </a:xfrm>
          <a:prstGeom prst="rect">
            <a:avLst/>
          </a:prstGeom>
          <a:noFill/>
          <a:ln w="12700" cap="rnd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5181600" y="4381500"/>
            <a:ext cx="1600200" cy="366713"/>
            <a:chOff x="2064" y="2760"/>
            <a:chExt cx="1008" cy="231"/>
          </a:xfrm>
        </p:grpSpPr>
        <p:sp>
          <p:nvSpPr>
            <p:cNvPr id="14355" name="Line 15"/>
            <p:cNvSpPr>
              <a:spLocks noChangeShapeType="1"/>
            </p:cNvSpPr>
            <p:nvPr/>
          </p:nvSpPr>
          <p:spPr bwMode="auto">
            <a:xfrm>
              <a:off x="2064" y="2784"/>
              <a:ext cx="10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4356" name="Text Box 16"/>
            <p:cNvSpPr txBox="1">
              <a:spLocks noChangeArrowheads="1"/>
            </p:cNvSpPr>
            <p:nvPr/>
          </p:nvSpPr>
          <p:spPr bwMode="auto">
            <a:xfrm>
              <a:off x="2478" y="2760"/>
              <a:ext cx="260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altLang="ko-KR" sz="1800" b="1">
                  <a:latin typeface="Times New Roman" pitchFamily="18" charset="0"/>
                  <a:ea typeface="굴림" pitchFamily="50" charset="-127"/>
                </a:rPr>
                <a:t>50</a:t>
              </a:r>
              <a:endParaRPr lang="en-US" altLang="ko-KR">
                <a:latin typeface="Times New Roman" pitchFamily="18" charset="0"/>
                <a:ea typeface="굴림" pitchFamily="50" charset="-127"/>
              </a:endParaRPr>
            </a:p>
          </p:txBody>
        </p:sp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6934200" y="2362200"/>
            <a:ext cx="412750" cy="1905000"/>
            <a:chOff x="3168" y="1488"/>
            <a:chExt cx="260" cy="1200"/>
          </a:xfrm>
        </p:grpSpPr>
        <p:sp>
          <p:nvSpPr>
            <p:cNvPr id="14353" name="Line 18"/>
            <p:cNvSpPr>
              <a:spLocks noChangeShapeType="1"/>
            </p:cNvSpPr>
            <p:nvPr/>
          </p:nvSpPr>
          <p:spPr bwMode="auto">
            <a:xfrm>
              <a:off x="3168" y="1488"/>
              <a:ext cx="0" cy="1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4354" name="Text Box 19"/>
            <p:cNvSpPr txBox="1">
              <a:spLocks noChangeArrowheads="1"/>
            </p:cNvSpPr>
            <p:nvPr/>
          </p:nvSpPr>
          <p:spPr bwMode="auto">
            <a:xfrm>
              <a:off x="3168" y="2000"/>
              <a:ext cx="260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altLang="ko-KR" sz="1800" b="1">
                  <a:latin typeface="Times New Roman" pitchFamily="18" charset="0"/>
                  <a:ea typeface="굴림" pitchFamily="50" charset="-127"/>
                </a:rPr>
                <a:t>80</a:t>
              </a:r>
              <a:endParaRPr lang="en-US" altLang="ko-KR">
                <a:latin typeface="Times New Roman" pitchFamily="18" charset="0"/>
                <a:ea typeface="굴림" pitchFamily="50" charset="-127"/>
              </a:endParaRPr>
            </a:p>
          </p:txBody>
        </p:sp>
      </p:grpSp>
      <p:sp>
        <p:nvSpPr>
          <p:cNvPr id="2828308" name="Oval 20"/>
          <p:cNvSpPr>
            <a:spLocks noChangeArrowheads="1"/>
          </p:cNvSpPr>
          <p:nvPr/>
        </p:nvSpPr>
        <p:spPr bwMode="auto">
          <a:xfrm>
            <a:off x="5181600" y="2362200"/>
            <a:ext cx="1600200" cy="1905000"/>
          </a:xfrm>
          <a:prstGeom prst="ellipse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2828309" name="Text Box 21"/>
          <p:cNvSpPr txBox="1">
            <a:spLocks noChangeArrowheads="1"/>
          </p:cNvSpPr>
          <p:nvPr/>
        </p:nvSpPr>
        <p:spPr bwMode="auto">
          <a:xfrm>
            <a:off x="2827338" y="3659188"/>
            <a:ext cx="1504950" cy="10064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Ctr="1">
            <a:spAutoFit/>
          </a:bodyPr>
          <a:lstStyle/>
          <a:p>
            <a:pPr algn="ctr"/>
            <a:r>
              <a:rPr lang="ko-KR" altLang="en-US" sz="2000" b="1">
                <a:solidFill>
                  <a:schemeClr val="hlink"/>
                </a:solidFill>
                <a:latin typeface="Arial Unicode MS" pitchFamily="50" charset="-127"/>
                <a:ea typeface="굴림" pitchFamily="50" charset="-127"/>
              </a:rPr>
              <a:t>경계 사각형</a:t>
            </a:r>
          </a:p>
          <a:p>
            <a:pPr algn="ctr"/>
            <a:r>
              <a:rPr lang="en-US" altLang="ko-KR" sz="2000" b="1">
                <a:solidFill>
                  <a:schemeClr val="hlink"/>
                </a:solidFill>
                <a:latin typeface="Arial Unicode MS" pitchFamily="50" charset="-127"/>
                <a:ea typeface="굴림" pitchFamily="50" charset="-127"/>
              </a:rPr>
              <a:t>(bounding</a:t>
            </a:r>
          </a:p>
          <a:p>
            <a:pPr algn="ctr"/>
            <a:r>
              <a:rPr lang="en-US" altLang="ko-KR" sz="2000" b="1">
                <a:solidFill>
                  <a:schemeClr val="hlink"/>
                </a:solidFill>
                <a:latin typeface="Arial Unicode MS" pitchFamily="50" charset="-127"/>
                <a:ea typeface="굴림" pitchFamily="50" charset="-127"/>
              </a:rPr>
              <a:t>rectangle)</a:t>
            </a:r>
            <a:endParaRPr lang="en-US" altLang="ko-KR">
              <a:solidFill>
                <a:schemeClr val="hlink"/>
              </a:solidFill>
              <a:latin typeface="Arial Unicode MS" pitchFamily="50" charset="-127"/>
              <a:ea typeface="굴림" pitchFamily="50" charset="-127"/>
            </a:endParaRPr>
          </a:p>
        </p:txBody>
      </p:sp>
      <p:sp>
        <p:nvSpPr>
          <p:cNvPr id="2828310" name="Line 22"/>
          <p:cNvSpPr>
            <a:spLocks noChangeShapeType="1"/>
          </p:cNvSpPr>
          <p:nvPr/>
        </p:nvSpPr>
        <p:spPr bwMode="auto">
          <a:xfrm>
            <a:off x="4267200" y="4038600"/>
            <a:ext cx="8382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 type="none" w="sm" len="sm"/>
            <a:tailEnd type="triangle" w="med" len="med"/>
          </a:ln>
        </p:spPr>
        <p:txBody>
          <a:bodyPr anchor="ctr">
            <a:spAutoFit/>
          </a:bodyPr>
          <a:lstStyle/>
          <a:p>
            <a:endParaRPr lang="ko-KR" altLang="en-US"/>
          </a:p>
        </p:txBody>
      </p:sp>
    </p:spTree>
    <p:custDataLst>
      <p:tags r:id="rId1"/>
    </p:custDataLst>
  </p:cSld>
  <p:clrMapOvr>
    <a:masterClrMapping/>
  </p:clrMapOvr>
  <p:transition spd="med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8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28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28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8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8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828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8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8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28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8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28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828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828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828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8296" grpId="0" autoUpdateAnimBg="0"/>
      <p:bldP spid="2828297" grpId="0" autoUpdateAnimBg="0"/>
      <p:bldP spid="2828298" grpId="0" autoUpdateAnimBg="0"/>
      <p:bldP spid="2828299" grpId="0" animBg="1"/>
      <p:bldP spid="2828300" grpId="0" animBg="1"/>
      <p:bldP spid="2828301" grpId="0" animBg="1"/>
      <p:bldP spid="2828308" grpId="0" animBg="1"/>
      <p:bldP spid="2828309" grpId="0" autoUpdateAnimBg="0"/>
      <p:bldP spid="28283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C65252A-1DF4-4F00-ABAE-6FDC2A4B4DE8}" type="slidenum">
              <a:rPr lang="en-US" altLang="ko-KR"/>
              <a:pPr>
                <a:defRPr/>
              </a:pPr>
              <a:t>8</a:t>
            </a:fld>
            <a:endParaRPr lang="en-US" altLang="ko-KR"/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ea typeface="굴림" pitchFamily="50" charset="-127"/>
              </a:rPr>
              <a:t>Drawing Shapes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80000"/>
              </a:spcBef>
            </a:pPr>
            <a:r>
              <a:rPr lang="ko-KR" altLang="en-US" dirty="0">
                <a:ea typeface="굴림" pitchFamily="50" charset="-127"/>
              </a:rPr>
              <a:t>배경 색상</a:t>
            </a:r>
            <a:r>
              <a:rPr lang="en-US" altLang="ko-KR" dirty="0">
                <a:ea typeface="굴림" pitchFamily="50" charset="-127"/>
              </a:rPr>
              <a:t>(</a:t>
            </a:r>
            <a:r>
              <a:rPr lang="en-US" altLang="ko-KR" i="1" dirty="0">
                <a:ea typeface="굴림" pitchFamily="50" charset="-127"/>
              </a:rPr>
              <a:t>background color</a:t>
            </a:r>
            <a:r>
              <a:rPr lang="en-US" altLang="ko-KR" dirty="0">
                <a:ea typeface="굴림" pitchFamily="50" charset="-127"/>
              </a:rPr>
              <a:t>) </a:t>
            </a:r>
            <a:r>
              <a:rPr lang="ko-KR" altLang="en-US" dirty="0">
                <a:ea typeface="굴림" pitchFamily="50" charset="-127"/>
              </a:rPr>
              <a:t>지정</a:t>
            </a:r>
          </a:p>
          <a:p>
            <a:pPr lvl="1" eaLnBrk="1" hangingPunct="1">
              <a:spcBef>
                <a:spcPct val="80000"/>
              </a:spcBef>
            </a:pPr>
            <a:r>
              <a:rPr lang="en-US" altLang="ko-KR" dirty="0" err="1">
                <a:solidFill>
                  <a:srgbClr val="3333FF"/>
                </a:solidFill>
                <a:ea typeface="굴림" pitchFamily="50" charset="-127"/>
              </a:rPr>
              <a:t>setBackground</a:t>
            </a:r>
            <a:r>
              <a:rPr lang="en-US" altLang="ko-KR" dirty="0">
                <a:solidFill>
                  <a:srgbClr val="3333FF"/>
                </a:solidFill>
                <a:ea typeface="굴림" pitchFamily="50" charset="-127"/>
              </a:rPr>
              <a:t> (</a:t>
            </a:r>
            <a:r>
              <a:rPr lang="en-US" altLang="ko-KR" dirty="0" err="1">
                <a:solidFill>
                  <a:srgbClr val="3333FF"/>
                </a:solidFill>
                <a:ea typeface="굴림" pitchFamily="50" charset="-127"/>
              </a:rPr>
              <a:t>Color.cyan</a:t>
            </a:r>
            <a:r>
              <a:rPr lang="en-US" altLang="ko-KR" dirty="0">
                <a:solidFill>
                  <a:srgbClr val="3333FF"/>
                </a:solidFill>
                <a:ea typeface="굴림" pitchFamily="50" charset="-127"/>
              </a:rPr>
              <a:t>);</a:t>
            </a:r>
            <a:endParaRPr lang="en-US" altLang="ko-KR" i="1" dirty="0">
              <a:ea typeface="굴림" pitchFamily="50" charset="-127"/>
            </a:endParaRPr>
          </a:p>
          <a:p>
            <a:pPr eaLnBrk="1" hangingPunct="1">
              <a:spcBef>
                <a:spcPct val="80000"/>
              </a:spcBef>
            </a:pPr>
            <a:r>
              <a:rPr lang="ko-KR" altLang="en-US" dirty="0">
                <a:ea typeface="굴림" pitchFamily="50" charset="-127"/>
              </a:rPr>
              <a:t>전경색상</a:t>
            </a:r>
            <a:r>
              <a:rPr lang="en-US" altLang="ko-KR" dirty="0">
                <a:ea typeface="굴림" pitchFamily="50" charset="-127"/>
              </a:rPr>
              <a:t>(</a:t>
            </a:r>
            <a:r>
              <a:rPr lang="en-US" altLang="ko-KR" i="1" dirty="0">
                <a:ea typeface="굴림" pitchFamily="50" charset="-127"/>
              </a:rPr>
              <a:t>foreground color</a:t>
            </a:r>
            <a:r>
              <a:rPr lang="en-US" altLang="ko-KR" dirty="0">
                <a:ea typeface="굴림" pitchFamily="50" charset="-127"/>
              </a:rPr>
              <a:t>) </a:t>
            </a:r>
            <a:r>
              <a:rPr lang="ko-KR" altLang="en-US" dirty="0">
                <a:ea typeface="굴림" pitchFamily="50" charset="-127"/>
              </a:rPr>
              <a:t>지정</a:t>
            </a:r>
          </a:p>
          <a:p>
            <a:pPr lvl="1" eaLnBrk="1" hangingPunct="1">
              <a:spcBef>
                <a:spcPct val="80000"/>
              </a:spcBef>
            </a:pPr>
            <a:r>
              <a:rPr lang="en-US" altLang="ko-KR" dirty="0" err="1">
                <a:solidFill>
                  <a:srgbClr val="3333FF"/>
                </a:solidFill>
                <a:ea typeface="굴림" pitchFamily="50" charset="-127"/>
              </a:rPr>
              <a:t>page.setColor</a:t>
            </a:r>
            <a:r>
              <a:rPr lang="en-US" altLang="ko-KR" dirty="0">
                <a:solidFill>
                  <a:srgbClr val="3333FF"/>
                </a:solidFill>
                <a:ea typeface="굴림" pitchFamily="50" charset="-127"/>
              </a:rPr>
              <a:t> (</a:t>
            </a:r>
            <a:r>
              <a:rPr lang="en-US" altLang="ko-KR" dirty="0" err="1">
                <a:solidFill>
                  <a:srgbClr val="3333FF"/>
                </a:solidFill>
                <a:ea typeface="굴림" pitchFamily="50" charset="-127"/>
              </a:rPr>
              <a:t>Color.blue</a:t>
            </a:r>
            <a:r>
              <a:rPr lang="en-US" altLang="ko-KR" dirty="0">
                <a:solidFill>
                  <a:srgbClr val="3333FF"/>
                </a:solidFill>
                <a:ea typeface="굴림" pitchFamily="50" charset="-127"/>
              </a:rPr>
              <a:t>);</a:t>
            </a:r>
            <a:endParaRPr lang="en-US" altLang="ko-KR" dirty="0">
              <a:ea typeface="굴림" pitchFamily="50" charset="-127"/>
            </a:endParaRPr>
          </a:p>
          <a:p>
            <a:pPr eaLnBrk="1" hangingPunct="1"/>
            <a:endParaRPr lang="ko-KR" altLang="en-US" dirty="0">
              <a:ea typeface="굴림" pitchFamily="50" charset="-127"/>
            </a:endParaRPr>
          </a:p>
        </p:txBody>
      </p:sp>
    </p:spTree>
    <p:custDataLst>
      <p:tags r:id="rId1"/>
    </p:custDataLst>
  </p:cSld>
  <p:clrMapOvr>
    <a:masterClrMapping/>
  </p:clrMapOvr>
  <p:transition spd="med">
    <p:wheel spokes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E039BB-DF95-452B-B7C8-01B8E4991890}" type="slidenum">
              <a:rPr lang="en-US" altLang="ko-KR"/>
              <a:pPr>
                <a:defRPr/>
              </a:pPr>
              <a:t>9</a:t>
            </a:fld>
            <a:endParaRPr lang="en-US" altLang="ko-KR"/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>
                <a:ea typeface="굴림" pitchFamily="50" charset="-127"/>
              </a:rPr>
              <a:t>중첩 패널</a:t>
            </a:r>
            <a:endParaRPr lang="en-US" altLang="ko-KR">
              <a:ea typeface="굴림" pitchFamily="50" charset="-127"/>
            </a:endParaRPr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70000"/>
              </a:spcBef>
            </a:pPr>
            <a:r>
              <a:rPr lang="ko-KR" altLang="en-US" dirty="0">
                <a:solidFill>
                  <a:srgbClr val="3333FF"/>
                </a:solidFill>
                <a:ea typeface="굴림" pitchFamily="50" charset="-127"/>
              </a:rPr>
              <a:t>포함 계층구조</a:t>
            </a:r>
            <a:r>
              <a:rPr lang="en-US" altLang="ko-KR" dirty="0">
                <a:solidFill>
                  <a:srgbClr val="3333FF"/>
                </a:solidFill>
                <a:ea typeface="굴림" pitchFamily="50" charset="-127"/>
              </a:rPr>
              <a:t>(</a:t>
            </a:r>
            <a:r>
              <a:rPr lang="en-US" altLang="ko-KR" i="1" dirty="0">
                <a:solidFill>
                  <a:srgbClr val="3333FF"/>
                </a:solidFill>
                <a:ea typeface="굴림" pitchFamily="50" charset="-127"/>
              </a:rPr>
              <a:t>containment hierarchy</a:t>
            </a:r>
            <a:r>
              <a:rPr lang="en-US" altLang="ko-KR" dirty="0">
                <a:solidFill>
                  <a:srgbClr val="3333FF"/>
                </a:solidFill>
                <a:ea typeface="굴림" pitchFamily="50" charset="-127"/>
              </a:rPr>
              <a:t>)</a:t>
            </a:r>
            <a:endParaRPr lang="ko-KR" altLang="en-US" dirty="0">
              <a:solidFill>
                <a:srgbClr val="3333FF"/>
              </a:solidFill>
              <a:ea typeface="굴림" pitchFamily="50" charset="-127"/>
            </a:endParaRPr>
          </a:p>
          <a:p>
            <a:pPr lvl="1" eaLnBrk="1" hangingPunct="1">
              <a:spcBef>
                <a:spcPct val="70000"/>
              </a:spcBef>
            </a:pPr>
            <a:r>
              <a:rPr lang="ko-KR" altLang="en-US" dirty="0">
                <a:ea typeface="굴림" pitchFamily="50" charset="-127"/>
              </a:rPr>
              <a:t>컨테이너가 다른 컴포넌트를 포함하여 계층구조 형성</a:t>
            </a:r>
          </a:p>
          <a:p>
            <a:pPr lvl="1" eaLnBrk="1" hangingPunct="1">
              <a:spcBef>
                <a:spcPct val="70000"/>
              </a:spcBef>
            </a:pPr>
            <a:r>
              <a:rPr lang="ko-KR" altLang="en-US" dirty="0">
                <a:ea typeface="굴림" pitchFamily="50" charset="-127"/>
              </a:rPr>
              <a:t>원하는 가시적 효과를 내도록 형성</a:t>
            </a:r>
          </a:p>
          <a:p>
            <a:pPr lvl="4" eaLnBrk="1" hangingPunct="1">
              <a:spcBef>
                <a:spcPct val="70000"/>
              </a:spcBef>
            </a:pPr>
            <a:endParaRPr lang="en-US" altLang="ko-KR" dirty="0">
              <a:ea typeface="굴림" pitchFamily="50" charset="-127"/>
            </a:endParaRPr>
          </a:p>
          <a:p>
            <a:pPr eaLnBrk="1" hangingPunct="1">
              <a:spcBef>
                <a:spcPct val="70000"/>
              </a:spcBef>
            </a:pPr>
            <a:r>
              <a:rPr lang="ko-KR" altLang="en-US" dirty="0">
                <a:solidFill>
                  <a:srgbClr val="3333FF"/>
                </a:solidFill>
                <a:ea typeface="굴림" pitchFamily="50" charset="-127"/>
              </a:rPr>
              <a:t>예제</a:t>
            </a:r>
            <a:r>
              <a:rPr lang="ko-KR" altLang="en-US" dirty="0">
                <a:ea typeface="굴림" pitchFamily="50" charset="-127"/>
              </a:rPr>
              <a:t> </a:t>
            </a:r>
            <a:r>
              <a:rPr lang="en-US" altLang="ko-KR" dirty="0">
                <a:ea typeface="굴림" pitchFamily="50" charset="-127"/>
                <a:hlinkClick r:id="rId4" action="ppaction://hlinkfile"/>
              </a:rPr>
              <a:t>NestedPanels.java</a:t>
            </a:r>
            <a:endParaRPr lang="ko-KR" altLang="en-US" dirty="0">
              <a:ea typeface="굴림" pitchFamily="50" charset="-127"/>
            </a:endParaRPr>
          </a:p>
          <a:p>
            <a:pPr lvl="1" eaLnBrk="1" hangingPunct="1">
              <a:spcBef>
                <a:spcPct val="70000"/>
              </a:spcBef>
            </a:pPr>
            <a:r>
              <a:rPr lang="ko-KR" altLang="en-US" dirty="0">
                <a:ea typeface="굴림" pitchFamily="50" charset="-127"/>
              </a:rPr>
              <a:t>한 패널 내의 두 개의 패널 중첩 </a:t>
            </a:r>
          </a:p>
        </p:txBody>
      </p:sp>
    </p:spTree>
    <p:custDataLst>
      <p:tags r:id="rId1"/>
    </p:custDataLst>
  </p:cSld>
  <p:clrMapOvr>
    <a:masterClrMapping/>
  </p:clrMapOvr>
  <p:transition spd="med">
    <p:wheel spokes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40FDE2-9356-4CEF-B570-AC7315B0546E}" type="slidenum">
              <a:rPr lang="en-US" altLang="ko-KR"/>
              <a:pPr>
                <a:defRPr/>
              </a:pPr>
              <a:t>10</a:t>
            </a:fld>
            <a:endParaRPr lang="en-US" altLang="ko-KR"/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NestedPanels.java</a:t>
            </a:r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90600" y="1114425"/>
            <a:ext cx="7781925" cy="5591175"/>
          </a:xfrm>
        </p:spPr>
        <p:txBody>
          <a:bodyPr/>
          <a:lstStyle/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400">
                <a:latin typeface="Courier New" pitchFamily="49" charset="0"/>
                <a:ea typeface="굴림" pitchFamily="50" charset="-127"/>
              </a:rPr>
              <a:t>import java.awt.*;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400">
                <a:latin typeface="Courier New" pitchFamily="49" charset="0"/>
                <a:ea typeface="굴림" pitchFamily="50" charset="-127"/>
              </a:rPr>
              <a:t>import javax.swing.*;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400">
                <a:latin typeface="Courier New" pitchFamily="49" charset="0"/>
                <a:ea typeface="굴림" pitchFamily="50" charset="-127"/>
              </a:rPr>
              <a:t>public class NestedPanels {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400">
                <a:latin typeface="Courier New" pitchFamily="49" charset="0"/>
                <a:ea typeface="굴림" pitchFamily="50" charset="-127"/>
              </a:rPr>
              <a:t>   public static void main (String[] args)   {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400">
                <a:latin typeface="Courier New" pitchFamily="49" charset="0"/>
                <a:ea typeface="굴림" pitchFamily="50" charset="-127"/>
              </a:rPr>
              <a:t>      JFrame frame = new JFrame ("Nested Panels");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400">
                <a:latin typeface="Courier New" pitchFamily="49" charset="0"/>
                <a:ea typeface="굴림" pitchFamily="50" charset="-127"/>
              </a:rPr>
              <a:t>      frame.setDefaultCloseOperation (JFrame.EXIT_ON_CLOSE);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400">
                <a:latin typeface="Courier New" pitchFamily="49" charset="0"/>
                <a:ea typeface="굴림" pitchFamily="50" charset="-127"/>
              </a:rPr>
              <a:t>      // Set up first subpanel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400">
                <a:latin typeface="Courier New" pitchFamily="49" charset="0"/>
                <a:ea typeface="굴림" pitchFamily="50" charset="-127"/>
              </a:rPr>
              <a:t>      JPanel subPanel1 = new JPanel();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400">
                <a:latin typeface="Courier New" pitchFamily="49" charset="0"/>
                <a:ea typeface="굴림" pitchFamily="50" charset="-127"/>
              </a:rPr>
              <a:t>      subPanel1.setPreferredSize (new Dimension(150, 100));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400">
                <a:latin typeface="Courier New" pitchFamily="49" charset="0"/>
                <a:ea typeface="굴림" pitchFamily="50" charset="-127"/>
              </a:rPr>
              <a:t>      subPanel1.setBackground (Color.green);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400">
                <a:latin typeface="Courier New" pitchFamily="49" charset="0"/>
                <a:ea typeface="굴림" pitchFamily="50" charset="-127"/>
              </a:rPr>
              <a:t>      JLabel label1 = new JLabel ("One");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400">
                <a:latin typeface="Courier New" pitchFamily="49" charset="0"/>
                <a:ea typeface="굴림" pitchFamily="50" charset="-127"/>
              </a:rPr>
              <a:t>      subPanel1.add (label1);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400">
                <a:latin typeface="Courier New" pitchFamily="49" charset="0"/>
                <a:ea typeface="굴림" pitchFamily="50" charset="-127"/>
              </a:rPr>
              <a:t>      // Set up second subpanel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400">
                <a:latin typeface="Courier New" pitchFamily="49" charset="0"/>
                <a:ea typeface="굴림" pitchFamily="50" charset="-127"/>
              </a:rPr>
              <a:t>      JPanel subPanel2 = new JPanel();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400">
                <a:latin typeface="Courier New" pitchFamily="49" charset="0"/>
                <a:ea typeface="굴림" pitchFamily="50" charset="-127"/>
              </a:rPr>
              <a:t>      subPanel2.setPreferredSize (new Dimension(150, 100));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400">
                <a:latin typeface="Courier New" pitchFamily="49" charset="0"/>
                <a:ea typeface="굴림" pitchFamily="50" charset="-127"/>
              </a:rPr>
              <a:t>      subPanel2.setBackground (Color.red);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400">
                <a:latin typeface="Courier New" pitchFamily="49" charset="0"/>
                <a:ea typeface="굴림" pitchFamily="50" charset="-127"/>
              </a:rPr>
              <a:t>      JLabel label2 = new JLabel ("Two");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400">
                <a:latin typeface="Courier New" pitchFamily="49" charset="0"/>
                <a:ea typeface="굴림" pitchFamily="50" charset="-127"/>
              </a:rPr>
              <a:t>      subPanel2.add (label2);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400">
                <a:latin typeface="Courier New" pitchFamily="49" charset="0"/>
                <a:ea typeface="굴림" pitchFamily="50" charset="-127"/>
              </a:rPr>
              <a:t>      // Set up primary panel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400">
                <a:latin typeface="Courier New" pitchFamily="49" charset="0"/>
                <a:ea typeface="굴림" pitchFamily="50" charset="-127"/>
              </a:rPr>
              <a:t>      JPanel primary = new JPanel();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400">
                <a:latin typeface="Courier New" pitchFamily="49" charset="0"/>
                <a:ea typeface="굴림" pitchFamily="50" charset="-127"/>
              </a:rPr>
              <a:t>      primary.setBackground (Color.blue);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400">
                <a:latin typeface="Courier New" pitchFamily="49" charset="0"/>
                <a:ea typeface="굴림" pitchFamily="50" charset="-127"/>
              </a:rPr>
              <a:t>      primary.add (subPanel1);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400">
                <a:latin typeface="Courier New" pitchFamily="49" charset="0"/>
                <a:ea typeface="굴림" pitchFamily="50" charset="-127"/>
              </a:rPr>
              <a:t>      primary.add (subPanel2);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400">
                <a:latin typeface="Courier New" pitchFamily="49" charset="0"/>
                <a:ea typeface="굴림" pitchFamily="50" charset="-127"/>
              </a:rPr>
              <a:t>      frame.getContentPane().add(primary);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400">
                <a:latin typeface="Courier New" pitchFamily="49" charset="0"/>
                <a:ea typeface="굴림" pitchFamily="50" charset="-127"/>
              </a:rPr>
              <a:t>      frame.pack();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400">
                <a:latin typeface="Courier New" pitchFamily="49" charset="0"/>
                <a:ea typeface="굴림" pitchFamily="50" charset="-127"/>
              </a:rPr>
              <a:t>      frame.setVisible(true);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400">
                <a:latin typeface="Courier New" pitchFamily="49" charset="0"/>
                <a:ea typeface="굴림" pitchFamily="50" charset="-127"/>
              </a:rPr>
              <a:t>   }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400">
                <a:latin typeface="Courier New" pitchFamily="49" charset="0"/>
                <a:ea typeface="굴림" pitchFamily="50" charset="-127"/>
              </a:rPr>
              <a:t>}</a:t>
            </a:r>
            <a:endParaRPr lang="ko-KR" altLang="en-US" sz="1400">
              <a:latin typeface="Courier New" pitchFamily="49" charset="0"/>
              <a:ea typeface="굴림" pitchFamily="50" charset="-127"/>
            </a:endParaRPr>
          </a:p>
        </p:txBody>
      </p:sp>
      <p:pic>
        <p:nvPicPr>
          <p:cNvPr id="21510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5830888" y="4737100"/>
            <a:ext cx="2935287" cy="1385888"/>
          </a:xfrm>
          <a:noFill/>
        </p:spPr>
      </p:pic>
    </p:spTree>
    <p:custDataLst>
      <p:tags r:id="rId1"/>
    </p:custDataLst>
  </p:cSld>
  <p:clrMapOvr>
    <a:masterClrMapping/>
  </p:clrMapOvr>
  <p:transition spd="med">
    <p:wheel spokes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ECA0B8C-7BA8-4832-88E7-6364F73E46AD}" type="slidenum">
              <a:rPr lang="en-US" altLang="ko-KR"/>
              <a:pPr>
                <a:defRPr/>
              </a:pPr>
              <a:t>11</a:t>
            </a:fld>
            <a:endParaRPr lang="en-US" altLang="ko-KR"/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dirty="0" err="1">
                <a:ea typeface="굴림" pitchFamily="50" charset="-127"/>
              </a:rPr>
              <a:t>paintComponent</a:t>
            </a:r>
            <a:r>
              <a:rPr lang="en-US" altLang="ko-KR" dirty="0">
                <a:ea typeface="굴림" pitchFamily="50" charset="-127"/>
              </a:rPr>
              <a:t> </a:t>
            </a:r>
            <a:r>
              <a:rPr lang="ko-KR" altLang="en-US" dirty="0" err="1">
                <a:ea typeface="굴림" pitchFamily="50" charset="-127"/>
              </a:rPr>
              <a:t>메쏘드</a:t>
            </a:r>
            <a:endParaRPr lang="ko-KR" altLang="en-US" dirty="0">
              <a:ea typeface="굴림" pitchFamily="50" charset="-127"/>
            </a:endParaRPr>
          </a:p>
        </p:txBody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70000"/>
              </a:spcBef>
            </a:pPr>
            <a:r>
              <a:rPr lang="ko-KR" altLang="en-US" dirty="0">
                <a:ea typeface="굴림" pitchFamily="50" charset="-127"/>
              </a:rPr>
              <a:t>모든 </a:t>
            </a:r>
            <a:r>
              <a:rPr lang="en-US" altLang="ko-KR" dirty="0">
                <a:ea typeface="굴림" pitchFamily="50" charset="-127"/>
              </a:rPr>
              <a:t>Swing </a:t>
            </a:r>
            <a:r>
              <a:rPr lang="ko-KR" altLang="en-US" dirty="0">
                <a:ea typeface="굴림" pitchFamily="50" charset="-127"/>
              </a:rPr>
              <a:t>컴포넌트는 </a:t>
            </a:r>
            <a:r>
              <a:rPr lang="en-US" altLang="ko-KR" dirty="0" err="1">
                <a:latin typeface="Courier New" pitchFamily="49" charset="0"/>
                <a:ea typeface="굴림" pitchFamily="50" charset="-127"/>
              </a:rPr>
              <a:t>paintComponent</a:t>
            </a:r>
            <a:r>
              <a:rPr lang="en-US" altLang="ko-KR" dirty="0">
                <a:ea typeface="굴림" pitchFamily="50" charset="-127"/>
              </a:rPr>
              <a:t> </a:t>
            </a:r>
            <a:r>
              <a:rPr lang="ko-KR" altLang="en-US" dirty="0" err="1">
                <a:ea typeface="굴림" pitchFamily="50" charset="-127"/>
              </a:rPr>
              <a:t>메쏘드를</a:t>
            </a:r>
            <a:r>
              <a:rPr lang="ko-KR" altLang="en-US" dirty="0">
                <a:ea typeface="굴림" pitchFamily="50" charset="-127"/>
              </a:rPr>
              <a:t> 갖는다</a:t>
            </a:r>
            <a:r>
              <a:rPr lang="en-US" altLang="ko-KR" dirty="0">
                <a:ea typeface="굴림" pitchFamily="50" charset="-127"/>
              </a:rPr>
              <a:t>.</a:t>
            </a:r>
          </a:p>
          <a:p>
            <a:pPr eaLnBrk="1" hangingPunct="1">
              <a:spcBef>
                <a:spcPct val="70000"/>
              </a:spcBef>
            </a:pPr>
            <a:r>
              <a:rPr lang="en-US" altLang="ko-KR" dirty="0" err="1">
                <a:latin typeface="Courier New" pitchFamily="49" charset="0"/>
                <a:ea typeface="굴림" pitchFamily="50" charset="-127"/>
              </a:rPr>
              <a:t>paintComponent</a:t>
            </a:r>
            <a:r>
              <a:rPr lang="en-US" altLang="ko-KR" dirty="0">
                <a:ea typeface="굴림" pitchFamily="50" charset="-127"/>
              </a:rPr>
              <a:t> </a:t>
            </a:r>
            <a:r>
              <a:rPr lang="ko-KR" altLang="en-US" dirty="0" err="1">
                <a:ea typeface="굴림" pitchFamily="50" charset="-127"/>
              </a:rPr>
              <a:t>메쏘드</a:t>
            </a:r>
            <a:endParaRPr lang="ko-KR" altLang="en-US" dirty="0">
              <a:ea typeface="굴림" pitchFamily="50" charset="-127"/>
            </a:endParaRPr>
          </a:p>
          <a:p>
            <a:pPr lvl="1" eaLnBrk="1" hangingPunct="1">
              <a:spcBef>
                <a:spcPct val="70000"/>
              </a:spcBef>
            </a:pPr>
            <a:r>
              <a:rPr lang="ko-KR" altLang="en-US" dirty="0">
                <a:ea typeface="굴림" pitchFamily="50" charset="-127"/>
              </a:rPr>
              <a:t>패널을 위한 그래픽 문맥</a:t>
            </a:r>
            <a:r>
              <a:rPr lang="en-US" altLang="ko-KR" dirty="0">
                <a:ea typeface="굴림" pitchFamily="50" charset="-127"/>
              </a:rPr>
              <a:t>(graphics context)</a:t>
            </a:r>
            <a:r>
              <a:rPr lang="ko-KR" altLang="en-US" dirty="0">
                <a:ea typeface="굴림" pitchFamily="50" charset="-127"/>
              </a:rPr>
              <a:t>을 나타내는 </a:t>
            </a:r>
            <a:r>
              <a:rPr lang="ko-KR" altLang="en-US" dirty="0">
                <a:solidFill>
                  <a:srgbClr val="0000FF"/>
                </a:solidFill>
                <a:ea typeface="굴림" pitchFamily="50" charset="-127"/>
              </a:rPr>
              <a:t>그래픽 객체</a:t>
            </a:r>
            <a:r>
              <a:rPr lang="ko-KR" altLang="en-US" dirty="0">
                <a:ea typeface="굴림" pitchFamily="50" charset="-127"/>
              </a:rPr>
              <a:t>를 받아들인다</a:t>
            </a:r>
            <a:r>
              <a:rPr lang="en-US" altLang="ko-KR" dirty="0">
                <a:ea typeface="굴림" pitchFamily="50" charset="-127"/>
              </a:rPr>
              <a:t>.</a:t>
            </a:r>
          </a:p>
          <a:p>
            <a:pPr lvl="1" eaLnBrk="1" hangingPunct="1">
              <a:spcBef>
                <a:spcPct val="70000"/>
              </a:spcBef>
            </a:pPr>
            <a:r>
              <a:rPr lang="ko-KR" altLang="en-US" dirty="0">
                <a:ea typeface="굴림" pitchFamily="50" charset="-127"/>
              </a:rPr>
              <a:t>예제에서는 적당한 </a:t>
            </a:r>
            <a:r>
              <a:rPr lang="en-US" altLang="ko-KR" dirty="0">
                <a:latin typeface="Courier New" pitchFamily="49" charset="0"/>
                <a:ea typeface="굴림" pitchFamily="50" charset="-127"/>
              </a:rPr>
              <a:t>Graphics</a:t>
            </a:r>
            <a:r>
              <a:rPr lang="en-US" altLang="ko-KR" dirty="0">
                <a:ea typeface="굴림" pitchFamily="50" charset="-127"/>
              </a:rPr>
              <a:t> </a:t>
            </a:r>
            <a:r>
              <a:rPr lang="ko-KR" altLang="en-US" dirty="0" err="1">
                <a:ea typeface="굴림" pitchFamily="50" charset="-127"/>
              </a:rPr>
              <a:t>메쏘드를</a:t>
            </a:r>
            <a:r>
              <a:rPr lang="ko-KR" altLang="en-US" dirty="0">
                <a:ea typeface="굴림" pitchFamily="50" charset="-127"/>
              </a:rPr>
              <a:t> 불러 얼굴을 그렸다</a:t>
            </a:r>
            <a:r>
              <a:rPr lang="en-US" altLang="ko-KR" dirty="0">
                <a:ea typeface="굴림" pitchFamily="50" charset="-127"/>
              </a:rPr>
              <a:t>. </a:t>
            </a:r>
          </a:p>
          <a:p>
            <a:pPr eaLnBrk="1" hangingPunct="1">
              <a:spcBef>
                <a:spcPct val="70000"/>
              </a:spcBef>
            </a:pPr>
            <a:r>
              <a:rPr lang="ko-KR" altLang="en-US" dirty="0">
                <a:ea typeface="굴림" pitchFamily="50" charset="-127"/>
              </a:rPr>
              <a:t>패널에 그리는 것과 다른 </a:t>
            </a:r>
            <a:r>
              <a:rPr lang="en-US" altLang="ko-KR" dirty="0">
                <a:ea typeface="굴림" pitchFamily="50" charset="-127"/>
              </a:rPr>
              <a:t>GUI </a:t>
            </a:r>
            <a:r>
              <a:rPr lang="ko-KR" altLang="en-US" dirty="0">
                <a:ea typeface="굴림" pitchFamily="50" charset="-127"/>
              </a:rPr>
              <a:t>컴포넌트들을 패널에 추가하는 것의 차이점에 유의하라</a:t>
            </a:r>
            <a:endParaRPr lang="en-US" altLang="ko-KR" dirty="0">
              <a:ea typeface="굴림" pitchFamily="50" charset="-127"/>
            </a:endParaRPr>
          </a:p>
        </p:txBody>
      </p:sp>
    </p:spTree>
    <p:custDataLst>
      <p:tags r:id="rId1"/>
    </p:custDataLst>
  </p:cSld>
  <p:clrMapOvr>
    <a:masterClrMapping/>
  </p:clrMapOvr>
  <p:transition spd="med">
    <p:wheel spokes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E6B546B-6318-4AA2-A914-3151815D6FFC}" type="slidenum">
              <a:rPr lang="en-US" altLang="ko-KR"/>
              <a:pPr>
                <a:defRPr/>
              </a:pPr>
              <a:t>12</a:t>
            </a:fld>
            <a:endParaRPr lang="en-US" altLang="ko-KR"/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ea typeface="굴림" pitchFamily="50" charset="-127"/>
              </a:rPr>
              <a:t>SmilingFace </a:t>
            </a:r>
            <a:r>
              <a:rPr lang="ko-KR" altLang="en-US">
                <a:ea typeface="굴림" pitchFamily="50" charset="-127"/>
              </a:rPr>
              <a:t>예제</a:t>
            </a:r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70000"/>
              </a:spcBef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SmilingFace</a:t>
            </a:r>
            <a:r>
              <a:rPr lang="en-US" altLang="ko-KR">
                <a:ea typeface="굴림" pitchFamily="50" charset="-127"/>
              </a:rPr>
              <a:t> </a:t>
            </a:r>
            <a:r>
              <a:rPr lang="ko-KR" altLang="en-US">
                <a:ea typeface="굴림" pitchFamily="50" charset="-127"/>
              </a:rPr>
              <a:t>클래스의 </a:t>
            </a:r>
            <a:r>
              <a:rPr lang="en-US" altLang="ko-KR">
                <a:ea typeface="굴림" pitchFamily="50" charset="-127"/>
              </a:rPr>
              <a:t>main </a:t>
            </a:r>
            <a:r>
              <a:rPr lang="ko-KR" altLang="en-US">
                <a:ea typeface="굴림" pitchFamily="50" charset="-127"/>
              </a:rPr>
              <a:t>메쏘드</a:t>
            </a:r>
          </a:p>
          <a:p>
            <a:pPr lvl="1" eaLnBrk="1" hangingPunct="1">
              <a:spcBef>
                <a:spcPct val="70000"/>
              </a:spcBef>
            </a:pPr>
            <a:r>
              <a:rPr lang="ko-KR" altLang="en-US">
                <a:ea typeface="굴림" pitchFamily="50" charset="-127"/>
              </a:rPr>
              <a:t>프로그램을 위한 프레임을 준비하여 </a:t>
            </a:r>
          </a:p>
          <a:p>
            <a:pPr lvl="1" eaLnBrk="1" hangingPunct="1">
              <a:spcBef>
                <a:spcPct val="70000"/>
              </a:spcBef>
            </a:pPr>
            <a:r>
              <a:rPr lang="en-US" altLang="ko-KR">
                <a:ea typeface="굴림" pitchFamily="50" charset="-127"/>
              </a:rPr>
              <a:t>SmilingFacePanel </a:t>
            </a:r>
            <a:r>
              <a:rPr lang="ko-KR" altLang="en-US">
                <a:ea typeface="굴림" pitchFamily="50" charset="-127"/>
              </a:rPr>
              <a:t>클래스를 실체화 하고 </a:t>
            </a:r>
          </a:p>
          <a:p>
            <a:pPr lvl="1" eaLnBrk="1" hangingPunct="1">
              <a:spcBef>
                <a:spcPct val="70000"/>
              </a:spcBef>
            </a:pPr>
            <a:r>
              <a:rPr lang="ko-KR" altLang="en-US">
                <a:ea typeface="굴림" pitchFamily="50" charset="-127"/>
              </a:rPr>
              <a:t>디스플레이 한다</a:t>
            </a:r>
            <a:r>
              <a:rPr lang="en-US" altLang="ko-KR">
                <a:ea typeface="굴림" pitchFamily="50" charset="-127"/>
              </a:rPr>
              <a:t>.</a:t>
            </a:r>
            <a:r>
              <a:rPr lang="ko-KR" altLang="en-US">
                <a:ea typeface="굴림" pitchFamily="50" charset="-127"/>
              </a:rPr>
              <a:t> </a:t>
            </a:r>
          </a:p>
          <a:p>
            <a:pPr eaLnBrk="1" hangingPunct="1">
              <a:spcBef>
                <a:spcPct val="70000"/>
              </a:spcBef>
            </a:pPr>
            <a:r>
              <a:rPr lang="en-US" altLang="ko-KR" b="0">
                <a:ea typeface="굴림" pitchFamily="50" charset="-127"/>
              </a:rPr>
              <a:t>SmilingFacePanel </a:t>
            </a:r>
            <a:r>
              <a:rPr lang="ko-KR" altLang="en-US" b="0">
                <a:ea typeface="굴림" pitchFamily="50" charset="-127"/>
              </a:rPr>
              <a:t>클래스</a:t>
            </a:r>
          </a:p>
          <a:p>
            <a:pPr lvl="1" eaLnBrk="1" hangingPunct="1">
              <a:spcBef>
                <a:spcPct val="70000"/>
              </a:spcBef>
            </a:pPr>
            <a:r>
              <a:rPr lang="en-US" altLang="ko-KR" b="0">
                <a:ea typeface="굴림" pitchFamily="50" charset="-127"/>
              </a:rPr>
              <a:t>JPanel </a:t>
            </a:r>
            <a:r>
              <a:rPr lang="ko-KR" altLang="en-US" b="0">
                <a:ea typeface="굴림" pitchFamily="50" charset="-127"/>
              </a:rPr>
              <a:t>클래스의 특징을 상속</a:t>
            </a:r>
            <a:r>
              <a:rPr lang="en-US" altLang="ko-KR" b="0">
                <a:ea typeface="굴림" pitchFamily="50" charset="-127"/>
              </a:rPr>
              <a:t>(</a:t>
            </a:r>
            <a:r>
              <a:rPr lang="en-US" altLang="ko-KR">
                <a:ea typeface="굴림" pitchFamily="50" charset="-127"/>
              </a:rPr>
              <a:t>inherit)</a:t>
            </a:r>
            <a:r>
              <a:rPr lang="ko-KR" altLang="en-US" b="0">
                <a:ea typeface="굴림" pitchFamily="50" charset="-127"/>
              </a:rPr>
              <a:t>받아 확장</a:t>
            </a:r>
            <a:r>
              <a:rPr lang="en-US" altLang="ko-KR" b="0">
                <a:ea typeface="굴림" pitchFamily="50" charset="-127"/>
              </a:rPr>
              <a:t>(extends)</a:t>
            </a:r>
            <a:r>
              <a:rPr lang="ko-KR" altLang="en-US" b="0">
                <a:ea typeface="굴림" pitchFamily="50" charset="-127"/>
              </a:rPr>
              <a:t>하여 만든다</a:t>
            </a:r>
            <a:r>
              <a:rPr lang="en-US" altLang="ko-KR" b="0">
                <a:ea typeface="굴림" pitchFamily="50" charset="-127"/>
              </a:rPr>
              <a:t>.</a:t>
            </a:r>
          </a:p>
          <a:p>
            <a:pPr eaLnBrk="1" hangingPunct="1">
              <a:spcBef>
                <a:spcPct val="70000"/>
              </a:spcBef>
            </a:pPr>
            <a:r>
              <a:rPr lang="ko-KR" altLang="en-US">
                <a:ea typeface="굴림" pitchFamily="50" charset="-127"/>
              </a:rPr>
              <a:t>패널</a:t>
            </a:r>
            <a:r>
              <a:rPr lang="en-US" altLang="ko-KR">
                <a:ea typeface="굴림" pitchFamily="50" charset="-127"/>
              </a:rPr>
              <a:t>(panel)</a:t>
            </a:r>
            <a:r>
              <a:rPr lang="ko-KR" altLang="en-US">
                <a:ea typeface="굴림" pitchFamily="50" charset="-127"/>
              </a:rPr>
              <a:t>의 </a:t>
            </a:r>
            <a:r>
              <a:rPr lang="en-US" altLang="ko-KR">
                <a:solidFill>
                  <a:srgbClr val="FF6600"/>
                </a:solidFill>
                <a:latin typeface="Courier New" pitchFamily="49" charset="0"/>
                <a:ea typeface="굴림" pitchFamily="50" charset="-127"/>
              </a:rPr>
              <a:t>paintComponent</a:t>
            </a:r>
            <a:r>
              <a:rPr lang="en-US" altLang="ko-KR">
                <a:solidFill>
                  <a:srgbClr val="FF6600"/>
                </a:solidFill>
                <a:ea typeface="굴림" pitchFamily="50" charset="-127"/>
              </a:rPr>
              <a:t> </a:t>
            </a:r>
            <a:r>
              <a:rPr lang="ko-KR" altLang="en-US">
                <a:solidFill>
                  <a:srgbClr val="FF6600"/>
                </a:solidFill>
                <a:ea typeface="굴림" pitchFamily="50" charset="-127"/>
              </a:rPr>
              <a:t>메쏘드</a:t>
            </a:r>
          </a:p>
          <a:p>
            <a:pPr lvl="1" eaLnBrk="1" hangingPunct="1">
              <a:spcBef>
                <a:spcPct val="70000"/>
              </a:spcBef>
            </a:pPr>
            <a:r>
              <a:rPr lang="ko-KR" altLang="en-US">
                <a:ea typeface="굴림" pitchFamily="50" charset="-127"/>
              </a:rPr>
              <a:t>패널이 </a:t>
            </a:r>
            <a:r>
              <a:rPr lang="en-US" altLang="ko-KR">
                <a:ea typeface="굴림" pitchFamily="50" charset="-127"/>
              </a:rPr>
              <a:t>visible</a:t>
            </a:r>
            <a:r>
              <a:rPr lang="ko-KR" altLang="en-US">
                <a:ea typeface="굴림" pitchFamily="50" charset="-127"/>
              </a:rPr>
              <a:t>해지면 </a:t>
            </a:r>
            <a:r>
              <a:rPr lang="ko-KR" altLang="en-US">
                <a:solidFill>
                  <a:srgbClr val="0000FF"/>
                </a:solidFill>
                <a:ea typeface="굴림" pitchFamily="50" charset="-127"/>
              </a:rPr>
              <a:t>자동 실행되어</a:t>
            </a:r>
            <a:r>
              <a:rPr lang="ko-KR" altLang="en-US">
                <a:ea typeface="굴림" pitchFamily="50" charset="-127"/>
              </a:rPr>
              <a:t> </a:t>
            </a:r>
            <a:r>
              <a:rPr lang="en-US" altLang="ko-KR">
                <a:ea typeface="굴림" pitchFamily="50" charset="-127"/>
              </a:rPr>
              <a:t>(</a:t>
            </a:r>
            <a:r>
              <a:rPr lang="ko-KR" altLang="en-US">
                <a:ea typeface="굴림" pitchFamily="50" charset="-127"/>
              </a:rPr>
              <a:t>얼굴을 </a:t>
            </a:r>
            <a:r>
              <a:rPr lang="en-US" altLang="ko-KR">
                <a:ea typeface="굴림" pitchFamily="50" charset="-127"/>
              </a:rPr>
              <a:t>)</a:t>
            </a:r>
            <a:r>
              <a:rPr lang="ko-KR" altLang="en-US">
                <a:ea typeface="굴림" pitchFamily="50" charset="-127"/>
              </a:rPr>
              <a:t>그린다</a:t>
            </a:r>
            <a:r>
              <a:rPr lang="en-US" altLang="ko-KR">
                <a:ea typeface="굴림" pitchFamily="50" charset="-127"/>
              </a:rPr>
              <a:t>.</a:t>
            </a:r>
          </a:p>
          <a:p>
            <a:pPr lvl="1" eaLnBrk="1" hangingPunct="1">
              <a:spcBef>
                <a:spcPct val="70000"/>
              </a:spcBef>
            </a:pPr>
            <a:endParaRPr lang="en-US" altLang="ko-KR">
              <a:ea typeface="굴림" pitchFamily="50" charset="-127"/>
            </a:endParaRPr>
          </a:p>
          <a:p>
            <a:pPr eaLnBrk="1" hangingPunct="1"/>
            <a:endParaRPr lang="en-US" altLang="ko-KR">
              <a:ea typeface="굴림" pitchFamily="50" charset="-127"/>
            </a:endParaRPr>
          </a:p>
        </p:txBody>
      </p:sp>
    </p:spTree>
    <p:custDataLst>
      <p:tags r:id="rId1"/>
    </p:custDataLst>
  </p:cSld>
  <p:clrMapOvr>
    <a:masterClrMapping/>
  </p:clrMapOvr>
  <p:transition spd="med">
    <p:wheel spokes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D783696-C7D6-400D-B0C9-4078DA772F1E}" type="slidenum">
              <a:rPr lang="en-US" altLang="ko-KR"/>
              <a:pPr>
                <a:defRPr/>
              </a:pPr>
              <a:t>13</a:t>
            </a:fld>
            <a:endParaRPr lang="en-US" altLang="ko-KR"/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ea typeface="굴림" pitchFamily="50" charset="-127"/>
              </a:rPr>
              <a:t>SmilingFace.java</a:t>
            </a:r>
          </a:p>
        </p:txBody>
      </p:sp>
      <p:sp>
        <p:nvSpPr>
          <p:cNvPr id="2458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>
                <a:ea typeface="굴림" pitchFamily="50" charset="-127"/>
              </a:rPr>
              <a:t>//********************************************************************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>
                <a:ea typeface="굴림" pitchFamily="50" charset="-127"/>
              </a:rPr>
              <a:t>//  </a:t>
            </a:r>
            <a:r>
              <a:rPr lang="ko-KR" altLang="en-US" sz="1800" b="0">
                <a:ea typeface="굴림" pitchFamily="50" charset="-127"/>
              </a:rPr>
              <a:t>별도의 패널 클래스를 사용하는 것을 보여준다</a:t>
            </a:r>
            <a:r>
              <a:rPr lang="en-US" altLang="ko-KR" sz="1800" b="0">
                <a:ea typeface="굴림" pitchFamily="50" charset="-127"/>
              </a:rPr>
              <a:t>.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>
                <a:ea typeface="굴림" pitchFamily="50" charset="-127"/>
              </a:rPr>
              <a:t>//********************************************************************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>
                <a:ea typeface="굴림" pitchFamily="50" charset="-127"/>
              </a:rPr>
              <a:t>import javax.swing.JFrame;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>
                <a:ea typeface="굴림" pitchFamily="50" charset="-127"/>
              </a:rPr>
              <a:t>public class SmilingFace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>
                <a:ea typeface="굴림" pitchFamily="50" charset="-127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>
                <a:ea typeface="굴림" pitchFamily="50" charset="-127"/>
              </a:rPr>
              <a:t>   //  </a:t>
            </a:r>
            <a:r>
              <a:rPr lang="ko-KR" altLang="en-US" sz="1800" b="0">
                <a:ea typeface="굴림" pitchFamily="50" charset="-127"/>
              </a:rPr>
              <a:t>프로그램의 주 프레임을 생성한다</a:t>
            </a:r>
            <a:r>
              <a:rPr lang="en-US" altLang="ko-KR" sz="1800" b="0">
                <a:ea typeface="굴림" pitchFamily="50" charset="-127"/>
              </a:rPr>
              <a:t>.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>
                <a:ea typeface="굴림" pitchFamily="50" charset="-127"/>
              </a:rPr>
              <a:t>   public static void main (String[] args)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>
                <a:ea typeface="굴림" pitchFamily="50" charset="-127"/>
              </a:rPr>
              <a:t>   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>
                <a:ea typeface="굴림" pitchFamily="50" charset="-127"/>
              </a:rPr>
              <a:t>      JFrame frame = new JFrame ("Smiling Face");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>
                <a:ea typeface="굴림" pitchFamily="50" charset="-127"/>
              </a:rPr>
              <a:t>      frame.setDefaultCloseOperation (JFrame.EXIT_ON_CLOSE);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>
                <a:ea typeface="굴림" pitchFamily="50" charset="-127"/>
              </a:rPr>
              <a:t>      SmilingFacePanel panel = new SmilingFacePanel();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>
                <a:ea typeface="굴림" pitchFamily="50" charset="-127"/>
              </a:rPr>
              <a:t>      frame.getContentPane().add(panel);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ko-KR" sz="1800" b="0">
              <a:ea typeface="굴림" pitchFamily="50" charset="-127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>
                <a:ea typeface="굴림" pitchFamily="50" charset="-127"/>
              </a:rPr>
              <a:t>      frame.pack();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>
                <a:ea typeface="굴림" pitchFamily="50" charset="-127"/>
              </a:rPr>
              <a:t>      frame.setVisible(true);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>
                <a:ea typeface="굴림" pitchFamily="50" charset="-127"/>
              </a:rPr>
              <a:t>   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>
                <a:ea typeface="굴림" pitchFamily="50" charset="-127"/>
              </a:rPr>
              <a:t>}</a:t>
            </a:r>
            <a:endParaRPr lang="ko-KR" altLang="en-US" sz="1800" b="0">
              <a:ea typeface="굴림" pitchFamily="50" charset="-127"/>
            </a:endParaRPr>
          </a:p>
        </p:txBody>
      </p:sp>
    </p:spTree>
    <p:custDataLst>
      <p:tags r:id="rId1"/>
    </p:custDataLst>
  </p:cSld>
  <p:clrMapOvr>
    <a:masterClrMapping/>
  </p:clrMapOvr>
  <p:transition spd="med">
    <p:wheel spokes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CC4090-D788-46A3-88C8-6DDC21EC2721}" type="slidenum">
              <a:rPr lang="en-US" altLang="ko-KR"/>
              <a:pPr>
                <a:defRPr/>
              </a:pPr>
              <a:t>14</a:t>
            </a:fld>
            <a:endParaRPr lang="en-US" altLang="ko-KR"/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ea typeface="굴림" pitchFamily="50" charset="-127"/>
              </a:rPr>
              <a:t>SmilingFacePanel.java</a:t>
            </a:r>
          </a:p>
        </p:txBody>
      </p:sp>
      <p:sp>
        <p:nvSpPr>
          <p:cNvPr id="256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219200"/>
            <a:ext cx="8153400" cy="4953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 dirty="0">
                <a:ea typeface="굴림" pitchFamily="50" charset="-127"/>
              </a:rPr>
              <a:t>//********************************************************************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 dirty="0">
                <a:ea typeface="굴림" pitchFamily="50" charset="-127"/>
              </a:rPr>
              <a:t>//  </a:t>
            </a:r>
            <a:r>
              <a:rPr lang="ko-KR" altLang="en-US" sz="1800" b="0" dirty="0">
                <a:ea typeface="굴림" pitchFamily="50" charset="-127"/>
              </a:rPr>
              <a:t>별도의 패널 클래스를 사용하는 것을 보여준다</a:t>
            </a:r>
            <a:r>
              <a:rPr lang="en-US" altLang="ko-KR" sz="1800" b="0" dirty="0">
                <a:ea typeface="굴림" pitchFamily="50" charset="-127"/>
              </a:rPr>
              <a:t>.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 dirty="0">
                <a:ea typeface="굴림" pitchFamily="50" charset="-127"/>
              </a:rPr>
              <a:t>//********************************************************************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 dirty="0">
                <a:ea typeface="굴림" pitchFamily="50" charset="-127"/>
              </a:rPr>
              <a:t>import </a:t>
            </a:r>
            <a:r>
              <a:rPr lang="en-US" altLang="ko-KR" sz="1800" b="0" dirty="0" err="1">
                <a:ea typeface="굴림" pitchFamily="50" charset="-127"/>
              </a:rPr>
              <a:t>javax.swing.JPanel</a:t>
            </a:r>
            <a:r>
              <a:rPr lang="en-US" altLang="ko-KR" sz="1800" b="0" dirty="0">
                <a:ea typeface="굴림" pitchFamily="50" charset="-127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 dirty="0">
                <a:ea typeface="굴림" pitchFamily="50" charset="-127"/>
              </a:rPr>
              <a:t>import java.awt.*;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ko-KR" sz="1800" b="0" dirty="0">
              <a:ea typeface="굴림" pitchFamily="50" charset="-127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 dirty="0">
                <a:ea typeface="굴림" pitchFamily="50" charset="-127"/>
              </a:rPr>
              <a:t>public class </a:t>
            </a:r>
            <a:r>
              <a:rPr lang="en-US" altLang="ko-KR" sz="1800" b="0" dirty="0" err="1">
                <a:ea typeface="굴림" pitchFamily="50" charset="-127"/>
              </a:rPr>
              <a:t>SmilingFacePanel</a:t>
            </a:r>
            <a:r>
              <a:rPr lang="en-US" altLang="ko-KR" sz="1800" b="0" dirty="0">
                <a:ea typeface="굴림" pitchFamily="50" charset="-127"/>
              </a:rPr>
              <a:t> extends </a:t>
            </a:r>
            <a:r>
              <a:rPr lang="en-US" altLang="ko-KR" sz="1800" b="0" dirty="0" err="1">
                <a:ea typeface="굴림" pitchFamily="50" charset="-127"/>
              </a:rPr>
              <a:t>JPanel</a:t>
            </a:r>
            <a:endParaRPr lang="en-US" altLang="ko-KR" sz="1800" b="0" dirty="0">
              <a:ea typeface="굴림" pitchFamily="50" charset="-127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 dirty="0">
                <a:ea typeface="굴림" pitchFamily="50" charset="-127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 dirty="0">
                <a:ea typeface="굴림" pitchFamily="50" charset="-127"/>
              </a:rPr>
              <a:t>   private final </a:t>
            </a:r>
            <a:r>
              <a:rPr lang="en-US" altLang="ko-KR" sz="1800" b="0" dirty="0" err="1">
                <a:ea typeface="굴림" pitchFamily="50" charset="-127"/>
              </a:rPr>
              <a:t>int</a:t>
            </a:r>
            <a:r>
              <a:rPr lang="en-US" altLang="ko-KR" sz="1800" b="0" dirty="0">
                <a:ea typeface="굴림" pitchFamily="50" charset="-127"/>
              </a:rPr>
              <a:t> BASEX = 120, BASEY = 60; // (</a:t>
            </a:r>
            <a:r>
              <a:rPr lang="ko-KR" altLang="en-US" sz="1800" b="0" dirty="0">
                <a:ea typeface="굴림" pitchFamily="50" charset="-127"/>
              </a:rPr>
              <a:t>그림의</a:t>
            </a:r>
            <a:r>
              <a:rPr lang="en-US" altLang="ko-KR" sz="1800" b="0" dirty="0">
                <a:ea typeface="굴림" pitchFamily="50" charset="-127"/>
              </a:rPr>
              <a:t>) </a:t>
            </a:r>
            <a:r>
              <a:rPr lang="ko-KR" altLang="en-US" sz="1800" b="0" dirty="0">
                <a:ea typeface="굴림" pitchFamily="50" charset="-127"/>
              </a:rPr>
              <a:t>머리를 위한 기준 점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ko-KR" altLang="en-US" sz="1800" b="0" dirty="0">
              <a:ea typeface="굴림" pitchFamily="50" charset="-127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ko-KR" altLang="en-US" sz="1800" b="0" dirty="0">
                <a:ea typeface="굴림" pitchFamily="50" charset="-127"/>
              </a:rPr>
              <a:t>   </a:t>
            </a:r>
            <a:r>
              <a:rPr lang="en-US" altLang="ko-KR" sz="1800" b="0" dirty="0">
                <a:ea typeface="굴림" pitchFamily="50" charset="-127"/>
              </a:rPr>
              <a:t>//  </a:t>
            </a:r>
            <a:r>
              <a:rPr lang="ko-KR" altLang="en-US" sz="1800" b="0" dirty="0" err="1">
                <a:ea typeface="굴림" pitchFamily="50" charset="-127"/>
              </a:rPr>
              <a:t>구성자</a:t>
            </a:r>
            <a:r>
              <a:rPr lang="en-US" altLang="ko-KR" sz="1800" b="0" dirty="0">
                <a:ea typeface="굴림" pitchFamily="50" charset="-127"/>
              </a:rPr>
              <a:t>: </a:t>
            </a:r>
            <a:r>
              <a:rPr lang="ko-KR" altLang="en-US" sz="1800" b="0" dirty="0">
                <a:ea typeface="굴림" pitchFamily="50" charset="-127"/>
              </a:rPr>
              <a:t>이 패널의 주 특성을 설정한다</a:t>
            </a:r>
            <a:r>
              <a:rPr lang="en-US" altLang="ko-KR" sz="1800" b="0" dirty="0">
                <a:ea typeface="굴림" pitchFamily="50" charset="-127"/>
              </a:rPr>
              <a:t>.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 dirty="0">
                <a:ea typeface="굴림" pitchFamily="50" charset="-127"/>
              </a:rPr>
              <a:t>   public </a:t>
            </a:r>
            <a:r>
              <a:rPr lang="en-US" altLang="ko-KR" sz="1800" b="0" dirty="0" err="1">
                <a:ea typeface="굴림" pitchFamily="50" charset="-127"/>
              </a:rPr>
              <a:t>SmilingFacePanel</a:t>
            </a:r>
            <a:r>
              <a:rPr lang="en-US" altLang="ko-KR" sz="1800" b="0" dirty="0">
                <a:ea typeface="굴림" pitchFamily="50" charset="-127"/>
              </a:rPr>
              <a:t> ()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 dirty="0">
                <a:ea typeface="굴림" pitchFamily="50" charset="-127"/>
              </a:rPr>
              <a:t>   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 dirty="0">
                <a:ea typeface="굴림" pitchFamily="50" charset="-127"/>
              </a:rPr>
              <a:t>      </a:t>
            </a:r>
            <a:r>
              <a:rPr lang="en-US" altLang="ko-KR" sz="1800" b="0" dirty="0" err="1">
                <a:ea typeface="굴림" pitchFamily="50" charset="-127"/>
              </a:rPr>
              <a:t>setBackground</a:t>
            </a:r>
            <a:r>
              <a:rPr lang="en-US" altLang="ko-KR" sz="1800" b="0" dirty="0">
                <a:ea typeface="굴림" pitchFamily="50" charset="-127"/>
              </a:rPr>
              <a:t> (</a:t>
            </a:r>
            <a:r>
              <a:rPr lang="en-US" altLang="ko-KR" sz="1800" b="0" dirty="0" err="1">
                <a:ea typeface="굴림" pitchFamily="50" charset="-127"/>
              </a:rPr>
              <a:t>Color.blue</a:t>
            </a:r>
            <a:r>
              <a:rPr lang="en-US" altLang="ko-KR" sz="1800" b="0" dirty="0">
                <a:ea typeface="굴림" pitchFamily="50" charset="-127"/>
              </a:rPr>
              <a:t>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 dirty="0">
                <a:ea typeface="굴림" pitchFamily="50" charset="-127"/>
              </a:rPr>
              <a:t>      </a:t>
            </a:r>
            <a:r>
              <a:rPr lang="en-US" altLang="ko-KR" sz="1800" b="0" dirty="0" err="1">
                <a:ea typeface="굴림" pitchFamily="50" charset="-127"/>
              </a:rPr>
              <a:t>setPreferredSize</a:t>
            </a:r>
            <a:r>
              <a:rPr lang="en-US" altLang="ko-KR" sz="1800" b="0" dirty="0">
                <a:ea typeface="굴림" pitchFamily="50" charset="-127"/>
              </a:rPr>
              <a:t> (new Dimension(320, 200));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 dirty="0">
                <a:ea typeface="굴림" pitchFamily="50" charset="-127"/>
              </a:rPr>
              <a:t>      </a:t>
            </a:r>
            <a:r>
              <a:rPr lang="en-US" altLang="ko-KR" sz="1800" b="0" dirty="0" err="1">
                <a:ea typeface="굴림" pitchFamily="50" charset="-127"/>
              </a:rPr>
              <a:t>setFont</a:t>
            </a:r>
            <a:r>
              <a:rPr lang="en-US" altLang="ko-KR" sz="1800" b="0" dirty="0">
                <a:ea typeface="굴림" pitchFamily="50" charset="-127"/>
              </a:rPr>
              <a:t> (new Font("Arial", </a:t>
            </a:r>
            <a:r>
              <a:rPr lang="en-US" altLang="ko-KR" sz="1800" b="0" dirty="0" err="1">
                <a:ea typeface="굴림" pitchFamily="50" charset="-127"/>
              </a:rPr>
              <a:t>Font.BOLD</a:t>
            </a:r>
            <a:r>
              <a:rPr lang="en-US" altLang="ko-KR" sz="1800" b="0" dirty="0">
                <a:ea typeface="굴림" pitchFamily="50" charset="-127"/>
              </a:rPr>
              <a:t>, 16));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 dirty="0">
                <a:ea typeface="굴림" pitchFamily="50" charset="-127"/>
              </a:rPr>
              <a:t>   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br>
              <a:rPr lang="en-US" altLang="ko-KR" sz="1800" b="0" dirty="0">
                <a:ea typeface="굴림" pitchFamily="50" charset="-127"/>
              </a:rPr>
            </a:br>
            <a:endParaRPr lang="ko-KR" altLang="en-US" sz="1800" b="0" dirty="0">
              <a:ea typeface="굴림" pitchFamily="50" charset="-127"/>
            </a:endParaRPr>
          </a:p>
        </p:txBody>
      </p:sp>
    </p:spTree>
    <p:custDataLst>
      <p:tags r:id="rId1"/>
    </p:custDataLst>
  </p:cSld>
  <p:clrMapOvr>
    <a:masterClrMapping/>
  </p:clrMapOvr>
  <p:transition spd="med">
    <p:wheel spokes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C38D3EF-3C2F-417A-AF71-EC27BEF049CD}" type="slidenum">
              <a:rPr lang="en-US" altLang="ko-KR"/>
              <a:pPr>
                <a:defRPr/>
              </a:pPr>
              <a:t>15</a:t>
            </a:fld>
            <a:endParaRPr lang="en-US" altLang="ko-KR"/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ea typeface="굴림" pitchFamily="50" charset="-127"/>
              </a:rPr>
              <a:t>SmilingFacePanel.java</a:t>
            </a:r>
            <a:endParaRPr lang="ko-KR" altLang="en-US">
              <a:ea typeface="굴림" pitchFamily="50" charset="-127"/>
            </a:endParaRPr>
          </a:p>
        </p:txBody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066800"/>
            <a:ext cx="7924800" cy="4953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>
                <a:ea typeface="굴림" pitchFamily="50" charset="-127"/>
              </a:rPr>
              <a:t>   // </a:t>
            </a:r>
            <a:r>
              <a:rPr lang="ko-KR" altLang="en-US" sz="1800" b="0">
                <a:ea typeface="굴림" pitchFamily="50" charset="-127"/>
              </a:rPr>
              <a:t>얼굴을 그린다</a:t>
            </a:r>
            <a:r>
              <a:rPr lang="en-US" altLang="ko-KR" sz="1800" b="0">
                <a:ea typeface="굴림" pitchFamily="50" charset="-127"/>
              </a:rPr>
              <a:t>.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>
                <a:ea typeface="굴림" pitchFamily="50" charset="-127"/>
              </a:rPr>
              <a:t>   </a:t>
            </a:r>
            <a:r>
              <a:rPr lang="en-US" altLang="ko-KR" sz="1800" b="0">
                <a:solidFill>
                  <a:schemeClr val="hlink"/>
                </a:solidFill>
                <a:ea typeface="굴림" pitchFamily="50" charset="-127"/>
              </a:rPr>
              <a:t>public void paintComponent (Graphics page)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>
                <a:ea typeface="굴림" pitchFamily="50" charset="-127"/>
              </a:rPr>
              <a:t>   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>
                <a:ea typeface="굴림" pitchFamily="50" charset="-127"/>
              </a:rPr>
              <a:t>      super.paintComponent (page);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ko-KR" sz="1800" b="0">
              <a:ea typeface="굴림" pitchFamily="50" charset="-127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>
                <a:ea typeface="굴림" pitchFamily="50" charset="-127"/>
              </a:rPr>
              <a:t>      page.setColor (Color.yellow);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>
                <a:ea typeface="굴림" pitchFamily="50" charset="-127"/>
              </a:rPr>
              <a:t>      page.fillOval (BASEX, BASEY, 80, 80);  // </a:t>
            </a:r>
            <a:r>
              <a:rPr lang="ko-KR" altLang="en-US" sz="1800" b="0">
                <a:ea typeface="굴림" pitchFamily="50" charset="-127"/>
              </a:rPr>
              <a:t>머리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ko-KR" altLang="en-US" sz="1800" b="0">
                <a:ea typeface="굴림" pitchFamily="50" charset="-127"/>
              </a:rPr>
              <a:t>      </a:t>
            </a:r>
            <a:r>
              <a:rPr lang="en-US" altLang="ko-KR" sz="1800" b="0">
                <a:ea typeface="굴림" pitchFamily="50" charset="-127"/>
              </a:rPr>
              <a:t>page.fillOval (BASEX-5, BASEY+20, 90, 40);  // </a:t>
            </a:r>
            <a:r>
              <a:rPr lang="ko-KR" altLang="en-US" sz="1800" b="0">
                <a:ea typeface="굴림" pitchFamily="50" charset="-127"/>
              </a:rPr>
              <a:t>귀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ko-KR" altLang="en-US" sz="1800" b="0">
              <a:ea typeface="굴림" pitchFamily="50" charset="-127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ko-KR" altLang="en-US" sz="1800" b="0">
                <a:ea typeface="굴림" pitchFamily="50" charset="-127"/>
              </a:rPr>
              <a:t>      </a:t>
            </a:r>
            <a:r>
              <a:rPr lang="en-US" altLang="ko-KR" sz="1800" b="0">
                <a:ea typeface="굴림" pitchFamily="50" charset="-127"/>
              </a:rPr>
              <a:t>page.setColor (Color.black);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>
                <a:ea typeface="굴림" pitchFamily="50" charset="-127"/>
              </a:rPr>
              <a:t>      page.drawOval (BASEX+20, BASEY+30, 15, 7);  // </a:t>
            </a:r>
            <a:r>
              <a:rPr lang="ko-KR" altLang="en-US" sz="1800" b="0">
                <a:ea typeface="굴림" pitchFamily="50" charset="-127"/>
              </a:rPr>
              <a:t>눈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ko-KR" altLang="en-US" sz="1800" b="0">
                <a:ea typeface="굴림" pitchFamily="50" charset="-127"/>
              </a:rPr>
              <a:t>      </a:t>
            </a:r>
            <a:r>
              <a:rPr lang="en-US" altLang="ko-KR" sz="1800" b="0">
                <a:ea typeface="굴림" pitchFamily="50" charset="-127"/>
              </a:rPr>
              <a:t>page.drawOval (BASEX+45, BASEY+30, 15, 7);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ko-KR" sz="1800" b="0">
              <a:ea typeface="굴림" pitchFamily="50" charset="-127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>
                <a:ea typeface="굴림" pitchFamily="50" charset="-127"/>
              </a:rPr>
              <a:t>      page.fillOval (BASEX+25, BASEY+31, 5, 5);  // </a:t>
            </a:r>
            <a:r>
              <a:rPr lang="ko-KR" altLang="en-US" sz="1800" b="0">
                <a:ea typeface="굴림" pitchFamily="50" charset="-127"/>
              </a:rPr>
              <a:t>눈동자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ko-KR" altLang="en-US" sz="1800" b="0">
                <a:ea typeface="굴림" pitchFamily="50" charset="-127"/>
              </a:rPr>
              <a:t>      </a:t>
            </a:r>
            <a:r>
              <a:rPr lang="en-US" altLang="ko-KR" sz="1800" b="0">
                <a:ea typeface="굴림" pitchFamily="50" charset="-127"/>
              </a:rPr>
              <a:t>page.fillOval (BASEX+50, BASEY+31, 5, 5);</a:t>
            </a:r>
            <a:endParaRPr lang="ko-KR" altLang="en-US" sz="1800" b="0">
              <a:ea typeface="굴림" pitchFamily="50" charset="-127"/>
            </a:endParaRPr>
          </a:p>
        </p:txBody>
      </p:sp>
    </p:spTree>
    <p:custDataLst>
      <p:tags r:id="rId1"/>
    </p:custDataLst>
  </p:cSld>
  <p:clrMapOvr>
    <a:masterClrMapping/>
  </p:clrMapOvr>
  <p:transition spd="med">
    <p:wheel spokes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43541C-ACE4-4F57-8AB5-12148B6CF9D2}" type="slidenum">
              <a:rPr lang="en-US" altLang="ko-KR"/>
              <a:pPr>
                <a:defRPr/>
              </a:pPr>
              <a:t>16</a:t>
            </a:fld>
            <a:endParaRPr lang="en-US" altLang="ko-KR"/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ea typeface="굴림" pitchFamily="50" charset="-127"/>
              </a:rPr>
              <a:t>SmilingFacePanel.java</a:t>
            </a:r>
            <a:endParaRPr lang="ko-KR" altLang="en-US">
              <a:ea typeface="굴림" pitchFamily="50" charset="-127"/>
            </a:endParaRPr>
          </a:p>
        </p:txBody>
      </p:sp>
      <p:sp>
        <p:nvSpPr>
          <p:cNvPr id="2765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ko-KR" sz="1800" b="0">
                <a:ea typeface="굴림" pitchFamily="50" charset="-127"/>
              </a:rPr>
              <a:t>	 page.drawArc (BASEX+20, BASEY+25, 15, 7, 0, 180);  // </a:t>
            </a:r>
            <a:r>
              <a:rPr lang="ko-KR" altLang="en-US" sz="1800" b="0">
                <a:ea typeface="굴림" pitchFamily="50" charset="-127"/>
              </a:rPr>
              <a:t>눈썹</a:t>
            </a:r>
          </a:p>
          <a:p>
            <a:pPr eaLnBrk="1" hangingPunct="1">
              <a:buFont typeface="Wingdings" pitchFamily="2" charset="2"/>
              <a:buNone/>
            </a:pPr>
            <a:r>
              <a:rPr lang="ko-KR" altLang="en-US" sz="1800" b="0">
                <a:ea typeface="굴림" pitchFamily="50" charset="-127"/>
              </a:rPr>
              <a:t>      </a:t>
            </a:r>
            <a:r>
              <a:rPr lang="en-US" altLang="ko-KR" sz="1800" b="0">
                <a:ea typeface="굴림" pitchFamily="50" charset="-127"/>
              </a:rPr>
              <a:t>page.drawArc (BASEX+45, BASEY+25, 15, 7, 0, 180);</a:t>
            </a:r>
          </a:p>
          <a:p>
            <a:pPr eaLnBrk="1" hangingPunct="1">
              <a:buFont typeface="Wingdings" pitchFamily="2" charset="2"/>
              <a:buNone/>
            </a:pPr>
            <a:endParaRPr lang="en-US" altLang="ko-KR" sz="1800" b="0">
              <a:ea typeface="굴림" pitchFamily="50" charset="-127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ko-KR" sz="1800" b="0">
                <a:ea typeface="굴림" pitchFamily="50" charset="-127"/>
              </a:rPr>
              <a:t>      page.drawArc (BASEX+35, BASEY+40, 15, 10, 180, 180);  // </a:t>
            </a:r>
            <a:r>
              <a:rPr lang="ko-KR" altLang="en-US" sz="1800" b="0">
                <a:ea typeface="굴림" pitchFamily="50" charset="-127"/>
              </a:rPr>
              <a:t>코</a:t>
            </a:r>
          </a:p>
          <a:p>
            <a:pPr eaLnBrk="1" hangingPunct="1">
              <a:buFont typeface="Wingdings" pitchFamily="2" charset="2"/>
              <a:buNone/>
            </a:pPr>
            <a:r>
              <a:rPr lang="ko-KR" altLang="en-US" sz="1800" b="0">
                <a:ea typeface="굴림" pitchFamily="50" charset="-127"/>
              </a:rPr>
              <a:t>      </a:t>
            </a:r>
            <a:r>
              <a:rPr lang="en-US" altLang="ko-KR" sz="1800" b="0">
                <a:ea typeface="굴림" pitchFamily="50" charset="-127"/>
              </a:rPr>
              <a:t>page.drawArc (BASEX+20, BASEY+50, 40, 15, 180, 180);  // </a:t>
            </a:r>
            <a:r>
              <a:rPr lang="ko-KR" altLang="en-US" sz="1800" b="0">
                <a:ea typeface="굴림" pitchFamily="50" charset="-127"/>
              </a:rPr>
              <a:t>입</a:t>
            </a:r>
          </a:p>
          <a:p>
            <a:pPr eaLnBrk="1" hangingPunct="1">
              <a:buFont typeface="Wingdings" pitchFamily="2" charset="2"/>
              <a:buNone/>
            </a:pPr>
            <a:endParaRPr lang="ko-KR" altLang="en-US" sz="1800" b="0">
              <a:ea typeface="굴림" pitchFamily="50" charset="-127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ko-KR" altLang="en-US" sz="1800" b="0">
                <a:ea typeface="굴림" pitchFamily="50" charset="-127"/>
              </a:rPr>
              <a:t>      </a:t>
            </a:r>
            <a:r>
              <a:rPr lang="en-US" altLang="ko-KR" sz="1800" b="0">
                <a:ea typeface="굴림" pitchFamily="50" charset="-127"/>
              </a:rPr>
              <a:t>page.setColor (Color.white);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sz="1800" b="0">
                <a:ea typeface="굴림" pitchFamily="50" charset="-127"/>
              </a:rPr>
              <a:t>      page.drawString ("Always remember that you are unique!",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sz="1800" b="0">
                <a:ea typeface="굴림" pitchFamily="50" charset="-127"/>
              </a:rPr>
              <a:t>                           	       BASEX-105, BASEY-15);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sz="1800" b="0">
                <a:ea typeface="굴림" pitchFamily="50" charset="-127"/>
              </a:rPr>
              <a:t>      page.drawString ("Just like everyone else.", BASEX-45, BASEY+105);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sz="1800" b="0">
                <a:ea typeface="굴림" pitchFamily="50" charset="-127"/>
              </a:rPr>
              <a:t>   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sz="1800" b="0">
                <a:ea typeface="굴림" pitchFamily="50" charset="-127"/>
              </a:rPr>
              <a:t>}</a:t>
            </a:r>
            <a:endParaRPr lang="ko-KR" altLang="en-US" sz="1800" b="0">
              <a:ea typeface="굴림" pitchFamily="50" charset="-127"/>
            </a:endParaRPr>
          </a:p>
          <a:p>
            <a:pPr eaLnBrk="1" hangingPunct="1">
              <a:buFont typeface="Wingdings" pitchFamily="2" charset="2"/>
              <a:buNone/>
            </a:pPr>
            <a:endParaRPr lang="ko-KR" altLang="en-US" sz="1800">
              <a:ea typeface="굴림" pitchFamily="50" charset="-127"/>
            </a:endParaRPr>
          </a:p>
        </p:txBody>
      </p:sp>
    </p:spTree>
    <p:custDataLst>
      <p:tags r:id="rId1"/>
    </p:custDataLst>
  </p:cSld>
  <p:clrMapOvr>
    <a:masterClrMapping/>
  </p:clrMapOvr>
  <p:transition spd="med">
    <p:wheel spokes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D18CB2F-88AE-4513-B1C0-04CE796A2C67}" type="slidenum">
              <a:rPr lang="en-US" altLang="ko-KR"/>
              <a:pPr>
                <a:defRPr/>
              </a:pPr>
              <a:t>17</a:t>
            </a:fld>
            <a:endParaRPr lang="en-US" altLang="ko-KR"/>
          </a:p>
        </p:txBody>
      </p:sp>
      <p:sp>
        <p:nvSpPr>
          <p:cNvPr id="28676" name="Rectangle 2"/>
          <p:cNvSpPr>
            <a:spLocks noChangeArrowheads="1"/>
          </p:cNvSpPr>
          <p:nvPr/>
        </p:nvSpPr>
        <p:spPr bwMode="auto">
          <a:xfrm>
            <a:off x="1990725" y="2209800"/>
            <a:ext cx="5400675" cy="1800225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2867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Swing Components</a:t>
            </a:r>
            <a:endParaRPr lang="ko-KR" altLang="en-US"/>
          </a:p>
        </p:txBody>
      </p:sp>
      <p:sp>
        <p:nvSpPr>
          <p:cNvPr id="2867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838200" y="1066800"/>
            <a:ext cx="8305800" cy="5330825"/>
          </a:xfrm>
        </p:spPr>
        <p:txBody>
          <a:bodyPr/>
          <a:lstStyle/>
          <a:p>
            <a:pPr eaLnBrk="1" hangingPunct="1"/>
            <a:r>
              <a:rPr lang="en-US" altLang="ko-KR" sz="2800">
                <a:latin typeface="Impact" pitchFamily="34" charset="0"/>
                <a:ea typeface="굴림" pitchFamily="50" charset="-127"/>
              </a:rPr>
              <a:t> </a:t>
            </a:r>
            <a:r>
              <a:rPr lang="en-US" altLang="ko-KR" sz="2800">
                <a:latin typeface="Courier New" pitchFamily="49" charset="0"/>
                <a:ea typeface="굴림" pitchFamily="50" charset="-127"/>
              </a:rPr>
              <a:t>JLabel</a:t>
            </a:r>
            <a:r>
              <a:rPr lang="en-US" altLang="ko-KR" sz="2800">
                <a:latin typeface="Impact" pitchFamily="34" charset="0"/>
                <a:ea typeface="굴림" pitchFamily="50" charset="-127"/>
              </a:rPr>
              <a:t> </a:t>
            </a:r>
          </a:p>
          <a:p>
            <a:pPr lvl="1" eaLnBrk="1" hangingPunct="1"/>
            <a:r>
              <a:rPr lang="en-US" altLang="ko-KR" sz="1800">
                <a:ea typeface="굴림" pitchFamily="50" charset="-127"/>
              </a:rPr>
              <a:t>JLabel</a:t>
            </a:r>
            <a:r>
              <a:rPr lang="ko-KR" altLang="en-US" sz="1800">
                <a:ea typeface="굴림" pitchFamily="50" charset="-127"/>
              </a:rPr>
              <a:t>은 텍스트와 이미지</a:t>
            </a:r>
            <a:r>
              <a:rPr lang="en-US" altLang="ko-KR" sz="1800">
                <a:ea typeface="굴림" pitchFamily="50" charset="-127"/>
              </a:rPr>
              <a:t>(</a:t>
            </a:r>
            <a:r>
              <a:rPr lang="ko-KR" altLang="en-US" sz="1800">
                <a:ea typeface="굴림" pitchFamily="50" charset="-127"/>
              </a:rPr>
              <a:t>아이콘</a:t>
            </a:r>
            <a:r>
              <a:rPr lang="en-US" altLang="ko-KR" sz="1800">
                <a:ea typeface="굴림" pitchFamily="50" charset="-127"/>
              </a:rPr>
              <a:t>)</a:t>
            </a:r>
            <a:r>
              <a:rPr lang="ko-KR" altLang="en-US" sz="1800">
                <a:ea typeface="굴림" pitchFamily="50" charset="-127"/>
              </a:rPr>
              <a:t>를 출력할 수 있는 스윙 컴포넌트</a:t>
            </a:r>
          </a:p>
          <a:p>
            <a:pPr lvl="1" eaLnBrk="1" hangingPunct="1"/>
            <a:r>
              <a:rPr lang="ko-KR" altLang="en-US" sz="1800" b="0">
                <a:ea typeface="굴림" pitchFamily="50" charset="-127"/>
              </a:rPr>
              <a:t>생성자</a:t>
            </a:r>
          </a:p>
          <a:p>
            <a:pPr lvl="2" algn="just" eaLnBrk="1" hangingPunct="1">
              <a:buFontTx/>
              <a:buNone/>
            </a:pPr>
            <a:r>
              <a:rPr lang="ko-KR" altLang="en-US" sz="1600">
                <a:ea typeface="굴림" pitchFamily="50" charset="-127"/>
              </a:rPr>
              <a:t>	 </a:t>
            </a:r>
            <a:r>
              <a:rPr lang="en-US" altLang="ko-KR" sz="1600">
                <a:ea typeface="굴림" pitchFamily="50" charset="-127"/>
              </a:rPr>
              <a:t>JLabel(String text, Icon icon, int horizontalAlignment)</a:t>
            </a:r>
          </a:p>
          <a:p>
            <a:pPr lvl="2" algn="just" eaLnBrk="1" hangingPunct="1">
              <a:buFontTx/>
              <a:buNone/>
            </a:pPr>
            <a:r>
              <a:rPr lang="en-US" altLang="ko-KR" sz="1600">
                <a:ea typeface="굴림" pitchFamily="50" charset="-127"/>
              </a:rPr>
              <a:t>	 JLabel(String text, int horizontalAlignment) </a:t>
            </a:r>
          </a:p>
          <a:p>
            <a:pPr lvl="2" algn="just" eaLnBrk="1" hangingPunct="1">
              <a:buFontTx/>
              <a:buNone/>
            </a:pPr>
            <a:r>
              <a:rPr lang="en-US" altLang="ko-KR" sz="1600">
                <a:ea typeface="굴림" pitchFamily="50" charset="-127"/>
              </a:rPr>
              <a:t>	 JLabel(String text)</a:t>
            </a:r>
          </a:p>
          <a:p>
            <a:pPr lvl="2" algn="just" eaLnBrk="1" hangingPunct="1">
              <a:buFontTx/>
              <a:buNone/>
            </a:pPr>
            <a:r>
              <a:rPr lang="en-US" altLang="ko-KR" sz="1600">
                <a:ea typeface="굴림" pitchFamily="50" charset="-127"/>
              </a:rPr>
              <a:t>	 JLabel(Icon image, int horizontalAlignment)</a:t>
            </a:r>
          </a:p>
          <a:p>
            <a:pPr lvl="2" algn="just" eaLnBrk="1" hangingPunct="1">
              <a:buFontTx/>
              <a:buNone/>
            </a:pPr>
            <a:r>
              <a:rPr lang="en-US" altLang="ko-KR" sz="1600">
                <a:ea typeface="굴림" pitchFamily="50" charset="-127"/>
              </a:rPr>
              <a:t>	 JLabel(Icon image)</a:t>
            </a:r>
          </a:p>
          <a:p>
            <a:pPr lvl="2" algn="just" eaLnBrk="1" hangingPunct="1">
              <a:buFontTx/>
              <a:buNone/>
            </a:pPr>
            <a:r>
              <a:rPr lang="en-US" altLang="ko-KR" sz="1600">
                <a:ea typeface="굴림" pitchFamily="50" charset="-127"/>
              </a:rPr>
              <a:t>	 JLabel()</a:t>
            </a:r>
          </a:p>
          <a:p>
            <a:pPr lvl="2" algn="just" eaLnBrk="1" hangingPunct="1">
              <a:lnSpc>
                <a:spcPct val="120000"/>
              </a:lnSpc>
            </a:pPr>
            <a:r>
              <a:rPr lang="en-US" altLang="ko-KR" sz="1600">
                <a:ea typeface="굴림" pitchFamily="50" charset="-127"/>
              </a:rPr>
              <a:t>horizontalAlignment</a:t>
            </a:r>
            <a:r>
              <a:rPr lang="ko-KR" altLang="en-US" sz="1600">
                <a:ea typeface="굴림" pitchFamily="50" charset="-127"/>
              </a:rPr>
              <a:t>은 라벨의 위치를 지정하는 부분으로  </a:t>
            </a:r>
            <a:r>
              <a:rPr lang="en-US" altLang="ko-KR" sz="1600">
                <a:ea typeface="굴림" pitchFamily="50" charset="-127"/>
              </a:rPr>
              <a:t>LEFT, CENTER, RIGHT, LEADING, TRAILING </a:t>
            </a:r>
            <a:r>
              <a:rPr lang="ko-KR" altLang="en-US" sz="1600">
                <a:ea typeface="굴림" pitchFamily="50" charset="-127"/>
              </a:rPr>
              <a:t>값 중에서 하나를 선택할 수 있다</a:t>
            </a:r>
            <a:r>
              <a:rPr lang="en-US" altLang="ko-KR" sz="1600">
                <a:ea typeface="굴림" pitchFamily="50" charset="-127"/>
              </a:rPr>
              <a:t>.</a:t>
            </a:r>
          </a:p>
          <a:p>
            <a:pPr lvl="2" algn="just" eaLnBrk="1" hangingPunct="1"/>
            <a:r>
              <a:rPr lang="ko-KR" altLang="en-US" sz="1600">
                <a:ea typeface="굴림" pitchFamily="50" charset="-127"/>
              </a:rPr>
              <a:t>디폴트로는 </a:t>
            </a:r>
            <a:r>
              <a:rPr lang="en-US" altLang="ko-KR" sz="1600">
                <a:ea typeface="굴림" pitchFamily="50" charset="-127"/>
              </a:rPr>
              <a:t>CENTER </a:t>
            </a:r>
            <a:r>
              <a:rPr lang="ko-KR" altLang="en-US" sz="1600">
                <a:ea typeface="굴림" pitchFamily="50" charset="-127"/>
              </a:rPr>
              <a:t>값을 갖는다</a:t>
            </a:r>
            <a:r>
              <a:rPr lang="en-US" altLang="ko-KR" sz="1600">
                <a:ea typeface="굴림" pitchFamily="50" charset="-127"/>
              </a:rPr>
              <a:t>.</a:t>
            </a:r>
          </a:p>
          <a:p>
            <a:pPr lvl="1" algn="just" eaLnBrk="1" hangingPunct="1"/>
            <a:r>
              <a:rPr lang="ko-KR" altLang="en-US" sz="1800">
                <a:ea typeface="굴림" pitchFamily="50" charset="-127"/>
              </a:rPr>
              <a:t>레벨의 텍스트 내용을 알아보거나 값을 설정하는 메소드</a:t>
            </a:r>
          </a:p>
          <a:p>
            <a:pPr lvl="3" algn="just" eaLnBrk="1" hangingPunct="1">
              <a:buFontTx/>
              <a:buNone/>
            </a:pPr>
            <a:r>
              <a:rPr lang="en-US" altLang="ko-KR" sz="1600">
                <a:ea typeface="굴림" pitchFamily="50" charset="-127"/>
              </a:rPr>
              <a:t>String  getText() </a:t>
            </a:r>
          </a:p>
          <a:p>
            <a:pPr lvl="3" algn="just" eaLnBrk="1" hangingPunct="1">
              <a:buFontTx/>
              <a:buNone/>
            </a:pPr>
            <a:r>
              <a:rPr lang="en-US" altLang="ko-KR" sz="1600">
                <a:ea typeface="굴림" pitchFamily="50" charset="-127"/>
              </a:rPr>
              <a:t>void    setText(java.lang.String text)</a:t>
            </a:r>
          </a:p>
          <a:p>
            <a:pPr lvl="1" eaLnBrk="1" hangingPunct="1"/>
            <a:r>
              <a:rPr lang="ko-KR" altLang="en-US" sz="1800">
                <a:ea typeface="굴림" pitchFamily="50" charset="-127"/>
              </a:rPr>
              <a:t>그외 메소드 </a:t>
            </a:r>
            <a:r>
              <a:rPr lang="en-US" altLang="ko-KR" sz="1800">
                <a:ea typeface="굴림" pitchFamily="50" charset="-127"/>
              </a:rPr>
              <a:t>: </a:t>
            </a:r>
            <a:r>
              <a:rPr lang="ko-KR" altLang="en-US" sz="1800">
                <a:ea typeface="굴림" pitchFamily="50" charset="-127"/>
              </a:rPr>
              <a:t>아이콘 설정</a:t>
            </a:r>
            <a:r>
              <a:rPr lang="en-US" altLang="ko-KR" sz="1800">
                <a:ea typeface="굴림" pitchFamily="50" charset="-127"/>
              </a:rPr>
              <a:t>, </a:t>
            </a:r>
            <a:r>
              <a:rPr lang="ko-KR" altLang="en-US" sz="1800">
                <a:ea typeface="굴림" pitchFamily="50" charset="-127"/>
              </a:rPr>
              <a:t>정렬</a:t>
            </a:r>
            <a:r>
              <a:rPr lang="en-US" altLang="ko-KR" sz="1800">
                <a:ea typeface="굴림" pitchFamily="50" charset="-127"/>
              </a:rPr>
              <a:t>, </a:t>
            </a:r>
            <a:r>
              <a:rPr lang="ko-KR" altLang="en-US" sz="1800">
                <a:ea typeface="굴림" pitchFamily="50" charset="-127"/>
              </a:rPr>
              <a:t>아이콘과 텍스트 위치 설정</a:t>
            </a:r>
            <a:r>
              <a:rPr lang="en-US" altLang="ko-KR" sz="1800">
                <a:ea typeface="굴림" pitchFamily="50" charset="-127"/>
              </a:rPr>
              <a:t>, </a:t>
            </a:r>
            <a:r>
              <a:rPr lang="ko-KR" altLang="en-US" sz="1800">
                <a:ea typeface="굴림" pitchFamily="50" charset="-127"/>
              </a:rPr>
              <a:t>폰트 설정</a:t>
            </a:r>
          </a:p>
        </p:txBody>
      </p:sp>
    </p:spTree>
    <p:custDataLst>
      <p:tags r:id="rId1"/>
    </p:custDataLst>
  </p:cSld>
  <p:clrMapOvr>
    <a:masterClrMapping/>
  </p:clrMapOvr>
  <p:transition spd="med">
    <p:wheel spokes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8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F13977A-3A87-491A-A272-189497DBCDD3}" type="slidenum">
              <a:rPr lang="en-US" altLang="ko-KR"/>
              <a:pPr>
                <a:defRPr/>
              </a:pPr>
              <a:t>18</a:t>
            </a:fld>
            <a:endParaRPr lang="en-US" altLang="ko-KR"/>
          </a:p>
        </p:txBody>
      </p:sp>
      <p:sp>
        <p:nvSpPr>
          <p:cNvPr id="29700" name="Rectangle 2"/>
          <p:cNvSpPr>
            <a:spLocks noChangeArrowheads="1"/>
          </p:cNvSpPr>
          <p:nvPr/>
        </p:nvSpPr>
        <p:spPr bwMode="auto">
          <a:xfrm>
            <a:off x="1331913" y="3644900"/>
            <a:ext cx="6296025" cy="14478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29701" name="Rectangle 3"/>
          <p:cNvSpPr>
            <a:spLocks noChangeArrowheads="1"/>
          </p:cNvSpPr>
          <p:nvPr/>
        </p:nvSpPr>
        <p:spPr bwMode="auto">
          <a:xfrm>
            <a:off x="1371600" y="2420938"/>
            <a:ext cx="4343400" cy="7620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29702" name="Rectangle 4"/>
          <p:cNvSpPr>
            <a:spLocks noChangeArrowheads="1"/>
          </p:cNvSpPr>
          <p:nvPr/>
        </p:nvSpPr>
        <p:spPr bwMode="auto">
          <a:xfrm>
            <a:off x="1371600" y="1535113"/>
            <a:ext cx="4929188" cy="3810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2970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Swing Components</a:t>
            </a:r>
            <a:endParaRPr lang="ko-KR" altLang="en-US"/>
          </a:p>
        </p:txBody>
      </p:sp>
      <p:sp>
        <p:nvSpPr>
          <p:cNvPr id="29704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539750" y="1103313"/>
            <a:ext cx="8534400" cy="5638800"/>
          </a:xfrm>
        </p:spPr>
        <p:txBody>
          <a:bodyPr/>
          <a:lstStyle/>
          <a:p>
            <a:pPr lvl="1" eaLnBrk="1" hangingPunct="1">
              <a:lnSpc>
                <a:spcPct val="110000"/>
              </a:lnSpc>
            </a:pPr>
            <a:r>
              <a:rPr lang="ko-KR" altLang="en-US">
                <a:latin typeface="신명조" charset="-127"/>
                <a:ea typeface="신명조" charset="-127"/>
              </a:rPr>
              <a:t>라벨 텍스트의 폰트 지정을 위한 메소드</a:t>
            </a:r>
          </a:p>
          <a:p>
            <a:pPr lvl="2" eaLnBrk="1" hangingPunct="1">
              <a:lnSpc>
                <a:spcPct val="110000"/>
              </a:lnSpc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void  setFont(java.awt.Font font)</a:t>
            </a:r>
          </a:p>
          <a:p>
            <a:pPr lvl="2" eaLnBrk="1" hangingPunct="1">
              <a:lnSpc>
                <a:spcPct val="30000"/>
              </a:lnSpc>
              <a:buFontTx/>
              <a:buNone/>
            </a:pPr>
            <a:endParaRPr lang="en-US" altLang="ko-KR">
              <a:latin typeface="Courier New" pitchFamily="49" charset="0"/>
              <a:ea typeface="굴림" pitchFamily="50" charset="-127"/>
            </a:endParaRPr>
          </a:p>
          <a:p>
            <a:pPr lvl="1" eaLnBrk="1" hangingPunct="1">
              <a:lnSpc>
                <a:spcPct val="110000"/>
              </a:lnSpc>
            </a:pPr>
            <a:r>
              <a:rPr lang="ko-KR" altLang="en-US">
                <a:latin typeface="고딕"/>
                <a:ea typeface="굴림" pitchFamily="50" charset="-127"/>
              </a:rPr>
              <a:t>라벨의 아이콘을 위한 메소드 </a:t>
            </a:r>
          </a:p>
          <a:p>
            <a:pPr lvl="2" eaLnBrk="1" hangingPunct="1">
              <a:lnSpc>
                <a:spcPct val="110000"/>
              </a:lnSpc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Icon getIcon() </a:t>
            </a:r>
          </a:p>
          <a:p>
            <a:pPr lvl="2" eaLnBrk="1" hangingPunct="1">
              <a:lnSpc>
                <a:spcPct val="110000"/>
              </a:lnSpc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void setIcon(Icon icon)</a:t>
            </a:r>
          </a:p>
          <a:p>
            <a:pPr lvl="2" eaLnBrk="1" hangingPunct="1">
              <a:lnSpc>
                <a:spcPct val="30000"/>
              </a:lnSpc>
              <a:buFontTx/>
              <a:buNone/>
            </a:pPr>
            <a:endParaRPr lang="en-US" altLang="ko-KR">
              <a:latin typeface="Courier New" pitchFamily="49" charset="0"/>
              <a:ea typeface="굴림" pitchFamily="50" charset="-127"/>
            </a:endParaRPr>
          </a:p>
          <a:p>
            <a:pPr lvl="1" eaLnBrk="1" hangingPunct="1">
              <a:lnSpc>
                <a:spcPct val="110000"/>
              </a:lnSpc>
            </a:pPr>
            <a:r>
              <a:rPr lang="ko-KR" altLang="en-US">
                <a:latin typeface="고딕"/>
                <a:ea typeface="굴림" pitchFamily="50" charset="-127"/>
              </a:rPr>
              <a:t>수직 및 수평 방향의 위치를 위한 메소드</a:t>
            </a:r>
          </a:p>
          <a:p>
            <a:pPr lvl="2" eaLnBrk="1" hangingPunct="1">
              <a:lnSpc>
                <a:spcPct val="110000"/>
              </a:lnSpc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int getHorizontalAlignment()</a:t>
            </a:r>
          </a:p>
          <a:p>
            <a:pPr lvl="2" eaLnBrk="1" hangingPunct="1">
              <a:lnSpc>
                <a:spcPct val="110000"/>
              </a:lnSpc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void setHorizontalAlignment(int alignment)</a:t>
            </a:r>
          </a:p>
          <a:p>
            <a:pPr lvl="2" eaLnBrk="1" hangingPunct="1">
              <a:lnSpc>
                <a:spcPct val="110000"/>
              </a:lnSpc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int getVerticalAlignment() </a:t>
            </a:r>
          </a:p>
          <a:p>
            <a:pPr lvl="2" eaLnBrk="1" hangingPunct="1">
              <a:lnSpc>
                <a:spcPct val="110000"/>
              </a:lnSpc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void setVerticalAlignment(int alignment)</a:t>
            </a:r>
          </a:p>
          <a:p>
            <a:pPr lvl="2" eaLnBrk="1" hangingPunct="1">
              <a:lnSpc>
                <a:spcPct val="20000"/>
              </a:lnSpc>
              <a:buFontTx/>
              <a:buNone/>
            </a:pPr>
            <a:endParaRPr lang="en-US" altLang="ko-KR">
              <a:latin typeface="Courier New" pitchFamily="49" charset="0"/>
              <a:ea typeface="굴림" pitchFamily="50" charset="-127"/>
            </a:endParaRPr>
          </a:p>
          <a:p>
            <a:pPr lvl="2" eaLnBrk="1" hangingPunct="1">
              <a:lnSpc>
                <a:spcPct val="110000"/>
              </a:lnSpc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setHorizontalAlignment()</a:t>
            </a:r>
            <a:r>
              <a:rPr lang="en-US" altLang="ko-KR">
                <a:ea typeface="굴림" pitchFamily="50" charset="-127"/>
              </a:rPr>
              <a:t> </a:t>
            </a:r>
            <a:r>
              <a:rPr lang="ko-KR" altLang="en-US">
                <a:ea typeface="굴림" pitchFamily="50" charset="-127"/>
              </a:rPr>
              <a:t>메소드에서는 </a:t>
            </a:r>
            <a:r>
              <a:rPr lang="en-US" altLang="ko-KR">
                <a:ea typeface="굴림" pitchFamily="50" charset="-127"/>
              </a:rPr>
              <a:t>LEFT, CENTER, RIGHT </a:t>
            </a:r>
            <a:r>
              <a:rPr lang="ko-KR" altLang="en-US">
                <a:ea typeface="굴림" pitchFamily="50" charset="-127"/>
              </a:rPr>
              <a:t>값 중에 하나를 사용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setVerticalAlignment()</a:t>
            </a:r>
            <a:r>
              <a:rPr lang="en-US" altLang="ko-KR">
                <a:ea typeface="굴림" pitchFamily="50" charset="-127"/>
              </a:rPr>
              <a:t> </a:t>
            </a:r>
            <a:r>
              <a:rPr lang="ko-KR" altLang="en-US">
                <a:ea typeface="굴림" pitchFamily="50" charset="-127"/>
              </a:rPr>
              <a:t>메소드에서는 </a:t>
            </a:r>
            <a:r>
              <a:rPr lang="en-US" altLang="ko-KR">
                <a:ea typeface="굴림" pitchFamily="50" charset="-127"/>
              </a:rPr>
              <a:t>TOP, CENTER, BOTTOM </a:t>
            </a:r>
            <a:r>
              <a:rPr lang="ko-KR" altLang="en-US">
                <a:ea typeface="굴림" pitchFamily="50" charset="-127"/>
              </a:rPr>
              <a:t>중에 하나를 사용</a:t>
            </a:r>
            <a:endParaRPr lang="ko-KR" altLang="en-US">
              <a:latin typeface="신명조" charset="-127"/>
              <a:ea typeface="신명조" charset="-127"/>
            </a:endParaRPr>
          </a:p>
        </p:txBody>
      </p:sp>
    </p:spTree>
    <p:custDataLst>
      <p:tags r:id="rId1"/>
    </p:custDataLst>
  </p:cSld>
  <p:clrMapOvr>
    <a:masterClrMapping/>
  </p:clrMapOvr>
  <p:transition spd="med">
    <p:wheel spokes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B4E61AF-8073-4757-978A-0E523EA33073}" type="slidenum">
              <a:rPr lang="en-US" altLang="ko-KR"/>
              <a:pPr>
                <a:defRPr/>
              </a:pPr>
              <a:t>19</a:t>
            </a:fld>
            <a:endParaRPr lang="en-US" altLang="ko-KR"/>
          </a:p>
        </p:txBody>
      </p:sp>
      <p:sp>
        <p:nvSpPr>
          <p:cNvPr id="30724" name="Rectangle 2"/>
          <p:cNvSpPr>
            <a:spLocks noChangeArrowheads="1"/>
          </p:cNvSpPr>
          <p:nvPr/>
        </p:nvSpPr>
        <p:spPr bwMode="auto">
          <a:xfrm>
            <a:off x="1258888" y="1700213"/>
            <a:ext cx="7200900" cy="1512887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3072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Swing Components</a:t>
            </a:r>
            <a:endParaRPr lang="ko-KR" altLang="en-US"/>
          </a:p>
        </p:txBody>
      </p:sp>
      <p:sp>
        <p:nvSpPr>
          <p:cNvPr id="3072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68313" y="1266825"/>
            <a:ext cx="8447087" cy="4905375"/>
          </a:xfrm>
        </p:spPr>
        <p:txBody>
          <a:bodyPr/>
          <a:lstStyle/>
          <a:p>
            <a:pPr lvl="1" eaLnBrk="1" hangingPunct="1">
              <a:lnSpc>
                <a:spcPct val="110000"/>
              </a:lnSpc>
            </a:pPr>
            <a:r>
              <a:rPr lang="ko-KR" altLang="en-US">
                <a:ea typeface="굴림" pitchFamily="50" charset="-127"/>
              </a:rPr>
              <a:t>라벨 텍스트의 위치 지정을 위한 메소드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ko-KR" altLang="en-US">
                <a:latin typeface="고딕"/>
                <a:ea typeface="굴림" pitchFamily="50" charset="-127"/>
              </a:rPr>
              <a:t>	 </a:t>
            </a:r>
            <a:r>
              <a:rPr lang="en-US" altLang="ko-KR" sz="1800">
                <a:latin typeface="Courier New" pitchFamily="49" charset="0"/>
                <a:ea typeface="굴림" pitchFamily="50" charset="-127"/>
              </a:rPr>
              <a:t>int   	getHorizontalTextPosition() 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ko-KR" sz="1800">
                <a:latin typeface="Courier New" pitchFamily="49" charset="0"/>
                <a:ea typeface="굴림" pitchFamily="50" charset="-127"/>
              </a:rPr>
              <a:t>	 void  	setHorizontalTextPosition(int textPosition) 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ko-KR" sz="1800">
                <a:latin typeface="Courier New" pitchFamily="49" charset="0"/>
                <a:ea typeface="굴림" pitchFamily="50" charset="-127"/>
              </a:rPr>
              <a:t>	 int   	getVerticalTextPosition() 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ko-KR" sz="1800">
                <a:latin typeface="Courier New" pitchFamily="49" charset="0"/>
                <a:ea typeface="굴림" pitchFamily="50" charset="-127"/>
              </a:rPr>
              <a:t>	 void  	setVerticalTextPosition(int textPosition</a:t>
            </a:r>
            <a:r>
              <a:rPr lang="en-US" altLang="ko-KR" sz="1800">
                <a:latin typeface="고딕"/>
                <a:ea typeface="굴림" pitchFamily="50" charset="-127"/>
              </a:rPr>
              <a:t>)</a:t>
            </a:r>
          </a:p>
          <a:p>
            <a:pPr lvl="2" eaLnBrk="1" hangingPunct="1">
              <a:lnSpc>
                <a:spcPct val="110000"/>
              </a:lnSpc>
            </a:pPr>
            <a:endParaRPr lang="en-US" altLang="ko-KR">
              <a:ea typeface="굴림" pitchFamily="50" charset="-127"/>
            </a:endParaRPr>
          </a:p>
          <a:p>
            <a:pPr lvl="2" eaLnBrk="1" hangingPunct="1">
              <a:lnSpc>
                <a:spcPct val="110000"/>
              </a:lnSpc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setHorizontalTextPosition</a:t>
            </a:r>
            <a:r>
              <a:rPr lang="en-US" altLang="ko-KR">
                <a:ea typeface="굴림" pitchFamily="50" charset="-127"/>
              </a:rPr>
              <a:t>() </a:t>
            </a:r>
            <a:r>
              <a:rPr lang="ko-KR" altLang="en-US">
                <a:ea typeface="굴림" pitchFamily="50" charset="-127"/>
              </a:rPr>
              <a:t>메소드에서는 </a:t>
            </a:r>
            <a:r>
              <a:rPr lang="en-US" altLang="ko-KR">
                <a:ea typeface="굴림" pitchFamily="50" charset="-127"/>
              </a:rPr>
              <a:t>LEFT, CENTER, RIGHT </a:t>
            </a:r>
            <a:r>
              <a:rPr lang="ko-KR" altLang="en-US">
                <a:ea typeface="굴림" pitchFamily="50" charset="-127"/>
              </a:rPr>
              <a:t>값 중에 하나를 사용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setVerticalTextPosition</a:t>
            </a:r>
            <a:r>
              <a:rPr lang="en-US" altLang="ko-KR">
                <a:ea typeface="굴림" pitchFamily="50" charset="-127"/>
              </a:rPr>
              <a:t>() </a:t>
            </a:r>
            <a:r>
              <a:rPr lang="ko-KR" altLang="en-US">
                <a:ea typeface="굴림" pitchFamily="50" charset="-127"/>
              </a:rPr>
              <a:t>메소드에서는 </a:t>
            </a:r>
            <a:r>
              <a:rPr lang="en-US" altLang="ko-KR">
                <a:ea typeface="굴림" pitchFamily="50" charset="-127"/>
              </a:rPr>
              <a:t>TOP, CENTER, BOTTOM </a:t>
            </a:r>
            <a:r>
              <a:rPr lang="ko-KR" altLang="en-US">
                <a:ea typeface="굴림" pitchFamily="50" charset="-127"/>
              </a:rPr>
              <a:t>중에 하나를 사용</a:t>
            </a:r>
            <a:endParaRPr lang="ko-KR" altLang="en-US">
              <a:latin typeface="신명조" charset="-127"/>
              <a:ea typeface="신명조" charset="-127"/>
            </a:endParaRPr>
          </a:p>
          <a:p>
            <a:pPr lvl="2" eaLnBrk="1" hangingPunct="1">
              <a:lnSpc>
                <a:spcPct val="110000"/>
              </a:lnSpc>
            </a:pPr>
            <a:endParaRPr lang="ko-KR" altLang="en-US">
              <a:latin typeface="신명조" charset="-127"/>
              <a:ea typeface="신명조" charset="-127"/>
            </a:endParaRPr>
          </a:p>
        </p:txBody>
      </p:sp>
    </p:spTree>
    <p:custDataLst>
      <p:tags r:id="rId1"/>
    </p:custDataLst>
  </p:cSld>
  <p:clrMapOvr>
    <a:masterClrMapping/>
  </p:clrMapOvr>
  <p:transition spd="med">
    <p:wheel spokes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046119C-731C-43C3-A89D-6AB66841AB1A}" type="slidenum">
              <a:rPr lang="en-US" altLang="ko-KR"/>
              <a:pPr>
                <a:defRPr/>
              </a:pPr>
              <a:t>20</a:t>
            </a:fld>
            <a:endParaRPr lang="en-US" altLang="ko-KR"/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Swing Components</a:t>
            </a:r>
            <a:endParaRPr lang="ko-KR" altLang="en-US"/>
          </a:p>
        </p:txBody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ea typeface="굴림" pitchFamily="50" charset="-127"/>
              </a:rPr>
              <a:t> AbstractButton</a:t>
            </a:r>
          </a:p>
          <a:p>
            <a:pPr lvl="1" eaLnBrk="1" hangingPunct="1"/>
            <a:r>
              <a:rPr lang="en-US" altLang="ko-KR">
                <a:latin typeface="신명조" charset="-127"/>
                <a:ea typeface="신명조" charset="-127"/>
              </a:rPr>
              <a:t>AbstractButton </a:t>
            </a:r>
            <a:r>
              <a:rPr lang="ko-KR" altLang="en-US">
                <a:latin typeface="신명조" charset="-127"/>
                <a:ea typeface="신명조" charset="-127"/>
              </a:rPr>
              <a:t>클래스는 버튼 클래스에서 필요한 기본적인 메소드들을 정의</a:t>
            </a:r>
          </a:p>
          <a:p>
            <a:pPr lvl="1" eaLnBrk="1" hangingPunct="1"/>
            <a:r>
              <a:rPr lang="ko-KR" altLang="en-US">
                <a:latin typeface="신명조" charset="-127"/>
                <a:ea typeface="신명조" charset="-127"/>
              </a:rPr>
              <a:t>하위 클래스 </a:t>
            </a:r>
            <a:r>
              <a:rPr lang="en-US" altLang="ko-KR">
                <a:latin typeface="신명조" charset="-127"/>
                <a:ea typeface="신명조" charset="-127"/>
              </a:rPr>
              <a:t>: JButton, JCheckBox, JRadioButton, JMenuItem, JMenu, JToggleButton</a:t>
            </a:r>
            <a:endParaRPr lang="ko-KR" altLang="en-US">
              <a:latin typeface="신명조" charset="-127"/>
              <a:ea typeface="신명조" charset="-127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815B36D0-D87D-436C-B59C-47C8AB085041}"/>
                  </a:ext>
                </a:extLst>
              </p14:cNvPr>
              <p14:cNvContentPartPr/>
              <p14:nvPr/>
            </p14:nvContentPartPr>
            <p14:xfrm>
              <a:off x="3404160" y="2487960"/>
              <a:ext cx="781560" cy="4824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815B36D0-D87D-436C-B59C-47C8AB08504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88320" y="2424600"/>
                <a:ext cx="81288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BE8D7075-175D-4A43-AE58-BA2806D5CAF1}"/>
                  </a:ext>
                </a:extLst>
              </p14:cNvPr>
              <p14:cNvContentPartPr/>
              <p14:nvPr/>
            </p14:nvContentPartPr>
            <p14:xfrm>
              <a:off x="4496400" y="2504160"/>
              <a:ext cx="1188000" cy="2412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BE8D7075-175D-4A43-AE58-BA2806D5CAF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480560" y="2440800"/>
                <a:ext cx="121932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A5E9181E-EF74-426D-AF01-924E8F814DFF}"/>
                  </a:ext>
                </a:extLst>
              </p14:cNvPr>
              <p14:cNvContentPartPr/>
              <p14:nvPr/>
            </p14:nvContentPartPr>
            <p14:xfrm>
              <a:off x="5907240" y="2512080"/>
              <a:ext cx="1148400" cy="1620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A5E9181E-EF74-426D-AF01-924E8F814DF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891400" y="2448720"/>
                <a:ext cx="117972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36B414F1-F884-4030-B5D6-F7E33E866FC6}"/>
                  </a:ext>
                </a:extLst>
              </p14:cNvPr>
              <p14:cNvContentPartPr/>
              <p14:nvPr/>
            </p14:nvContentPartPr>
            <p14:xfrm>
              <a:off x="2080800" y="2863080"/>
              <a:ext cx="1028520" cy="2412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36B414F1-F884-4030-B5D6-F7E33E866FC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064960" y="2799720"/>
                <a:ext cx="105984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BD1E1BEE-B050-4652-BBE0-279E53A8E4FF}"/>
                  </a:ext>
                </a:extLst>
              </p14:cNvPr>
              <p14:cNvContentPartPr/>
              <p14:nvPr/>
            </p14:nvContentPartPr>
            <p14:xfrm>
              <a:off x="3563640" y="2878920"/>
              <a:ext cx="454680" cy="6408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BD1E1BEE-B050-4652-BBE0-279E53A8E4F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547800" y="2815560"/>
                <a:ext cx="48600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C02FD614-C4D4-40DD-B11A-F6694D21863C}"/>
                  </a:ext>
                </a:extLst>
              </p14:cNvPr>
              <p14:cNvContentPartPr/>
              <p14:nvPr/>
            </p14:nvContentPartPr>
            <p14:xfrm>
              <a:off x="4408560" y="2902680"/>
              <a:ext cx="1164240" cy="4032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C02FD614-C4D4-40DD-B11A-F6694D21863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392720" y="2839320"/>
                <a:ext cx="1195560" cy="16704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</p:cSld>
  <p:clrMapOvr>
    <a:masterClrMapping/>
  </p:clrMapOvr>
  <p:transition spd="med">
    <p:wheel spokes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8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BDAFBB-532E-4F24-9E4C-002AE93B67AF}" type="slidenum">
              <a:rPr lang="en-US" altLang="ko-KR"/>
              <a:pPr>
                <a:defRPr/>
              </a:pPr>
              <a:t>21</a:t>
            </a:fld>
            <a:endParaRPr lang="en-US" altLang="ko-KR"/>
          </a:p>
        </p:txBody>
      </p:sp>
      <p:sp>
        <p:nvSpPr>
          <p:cNvPr id="32772" name="Rectangle 2"/>
          <p:cNvSpPr>
            <a:spLocks noChangeArrowheads="1"/>
          </p:cNvSpPr>
          <p:nvPr/>
        </p:nvSpPr>
        <p:spPr bwMode="auto">
          <a:xfrm>
            <a:off x="2051050" y="4149725"/>
            <a:ext cx="6192838" cy="1150938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32773" name="Rectangle 3"/>
          <p:cNvSpPr>
            <a:spLocks noChangeArrowheads="1"/>
          </p:cNvSpPr>
          <p:nvPr/>
        </p:nvSpPr>
        <p:spPr bwMode="auto">
          <a:xfrm>
            <a:off x="2051050" y="3068638"/>
            <a:ext cx="5834063" cy="6477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32774" name="Rectangle 4"/>
          <p:cNvSpPr>
            <a:spLocks noChangeArrowheads="1"/>
          </p:cNvSpPr>
          <p:nvPr/>
        </p:nvSpPr>
        <p:spPr bwMode="auto">
          <a:xfrm>
            <a:off x="2051050" y="2060575"/>
            <a:ext cx="5834063" cy="6477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3277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Swing Components</a:t>
            </a:r>
            <a:endParaRPr lang="ko-KR" altLang="en-US"/>
          </a:p>
        </p:txBody>
      </p:sp>
      <p:sp>
        <p:nvSpPr>
          <p:cNvPr id="32776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buClr>
                <a:srgbClr val="0000CC"/>
              </a:buClr>
              <a:buSzPct val="150000"/>
              <a:buFont typeface="Wingdings" pitchFamily="2" charset="2"/>
              <a:buNone/>
            </a:pPr>
            <a:r>
              <a:rPr lang="en-US" altLang="ko-KR" sz="2000">
                <a:latin typeface="Courier New" pitchFamily="49" charset="0"/>
                <a:ea typeface="굴림" pitchFamily="50" charset="-127"/>
              </a:rPr>
              <a:t> - AbstractButton </a:t>
            </a:r>
            <a:r>
              <a:rPr lang="ko-KR" altLang="en-US" sz="2000">
                <a:latin typeface="Courier New" pitchFamily="49" charset="0"/>
                <a:ea typeface="굴림" pitchFamily="50" charset="-127"/>
              </a:rPr>
              <a:t>클래스의 중요한 메소드들</a:t>
            </a:r>
          </a:p>
          <a:p>
            <a:pPr lvl="1" algn="just" eaLnBrk="1" hangingPunct="1">
              <a:lnSpc>
                <a:spcPct val="120000"/>
              </a:lnSpc>
            </a:pPr>
            <a:r>
              <a:rPr lang="ko-KR" altLang="en-US" sz="1800">
                <a:latin typeface="Courier New" pitchFamily="49" charset="0"/>
                <a:ea typeface="굴림" pitchFamily="50" charset="-127"/>
              </a:rPr>
              <a:t> 버튼의 아이콘을 설정 또는 아이콘을 알아보는 메소드</a:t>
            </a:r>
            <a:r>
              <a:rPr lang="en-US" altLang="ko-KR" sz="1800">
                <a:latin typeface="Courier New" pitchFamily="49" charset="0"/>
                <a:ea typeface="굴림" pitchFamily="50" charset="-127"/>
              </a:rPr>
              <a:t>. </a:t>
            </a:r>
          </a:p>
          <a:p>
            <a:pPr lvl="3" algn="just" eaLnBrk="1" hangingPunct="1">
              <a:buFontTx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	 </a:t>
            </a:r>
            <a:r>
              <a:rPr lang="en-US" altLang="ko-KR" sz="1600" b="0">
                <a:latin typeface="Courier New" pitchFamily="49" charset="0"/>
                <a:ea typeface="굴림" pitchFamily="50" charset="-127"/>
              </a:rPr>
              <a:t>Icon  getIcon()</a:t>
            </a:r>
            <a:r>
              <a:rPr lang="en-US" altLang="ko-KR" sz="1600">
                <a:latin typeface="Courier New" pitchFamily="49" charset="0"/>
                <a:ea typeface="굴림" pitchFamily="50" charset="-127"/>
              </a:rPr>
              <a:t> </a:t>
            </a:r>
          </a:p>
          <a:p>
            <a:pPr lvl="3" algn="just" eaLnBrk="1" hangingPunct="1">
              <a:buFontTx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	 </a:t>
            </a:r>
            <a:r>
              <a:rPr lang="en-US" altLang="ko-KR" sz="1600" b="0">
                <a:latin typeface="Courier New" pitchFamily="49" charset="0"/>
                <a:ea typeface="굴림" pitchFamily="50" charset="-127"/>
              </a:rPr>
              <a:t>void  setIcon(Icon defaultIcon)</a:t>
            </a:r>
            <a:endParaRPr lang="en-US" altLang="ko-KR" sz="1600">
              <a:latin typeface="Courier New" pitchFamily="49" charset="0"/>
              <a:ea typeface="굴림" pitchFamily="50" charset="-127"/>
            </a:endParaRPr>
          </a:p>
          <a:p>
            <a:pPr lvl="1" algn="just" eaLnBrk="1" hangingPunct="1">
              <a:lnSpc>
                <a:spcPct val="140000"/>
              </a:lnSpc>
            </a:pPr>
            <a:r>
              <a:rPr lang="ko-KR" altLang="en-US" sz="1800">
                <a:latin typeface="Courier New" pitchFamily="49" charset="0"/>
                <a:ea typeface="굴림" pitchFamily="50" charset="-127"/>
              </a:rPr>
              <a:t>버튼의 텍스트를 알아보거나 값을 설정하는 메소드</a:t>
            </a:r>
          </a:p>
          <a:p>
            <a:pPr lvl="3" algn="just" eaLnBrk="1" hangingPunct="1">
              <a:buFontTx/>
              <a:buNone/>
            </a:pPr>
            <a:r>
              <a:rPr lang="ko-KR" altLang="en-US" sz="1600">
                <a:latin typeface="Courier New" pitchFamily="49" charset="0"/>
                <a:ea typeface="굴림" pitchFamily="50" charset="-127"/>
              </a:rPr>
              <a:t>	 </a:t>
            </a:r>
            <a:r>
              <a:rPr lang="en-US" altLang="ko-KR" sz="1600" b="0">
                <a:latin typeface="Courier New" pitchFamily="49" charset="0"/>
                <a:ea typeface="굴림" pitchFamily="50" charset="-127"/>
              </a:rPr>
              <a:t>String getText()</a:t>
            </a:r>
            <a:r>
              <a:rPr lang="en-US" altLang="ko-KR" sz="1600">
                <a:latin typeface="Courier New" pitchFamily="49" charset="0"/>
                <a:ea typeface="굴림" pitchFamily="50" charset="-127"/>
              </a:rPr>
              <a:t> </a:t>
            </a:r>
          </a:p>
          <a:p>
            <a:pPr lvl="3" algn="just" eaLnBrk="1" hangingPunct="1">
              <a:buFontTx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	 </a:t>
            </a:r>
            <a:r>
              <a:rPr lang="en-US" altLang="ko-KR" sz="1600" b="0">
                <a:latin typeface="Courier New" pitchFamily="49" charset="0"/>
                <a:ea typeface="굴림" pitchFamily="50" charset="-127"/>
              </a:rPr>
              <a:t>void   setText(String text)</a:t>
            </a:r>
            <a:r>
              <a:rPr lang="en-US" altLang="ko-KR" sz="1600">
                <a:latin typeface="Courier New" pitchFamily="49" charset="0"/>
                <a:ea typeface="굴림" pitchFamily="50" charset="-127"/>
              </a:rPr>
              <a:t> </a:t>
            </a:r>
          </a:p>
          <a:p>
            <a:pPr lvl="1" algn="just" eaLnBrk="1" hangingPunct="1">
              <a:lnSpc>
                <a:spcPct val="140000"/>
              </a:lnSpc>
            </a:pPr>
            <a:r>
              <a:rPr lang="ko-KR" altLang="en-US" sz="1800">
                <a:latin typeface="Courier New" pitchFamily="49" charset="0"/>
                <a:ea typeface="굴림" pitchFamily="50" charset="-127"/>
              </a:rPr>
              <a:t>버튼의 위치에 관한  메소드를</a:t>
            </a:r>
            <a:r>
              <a:rPr lang="en-US" altLang="ko-KR" sz="1800">
                <a:latin typeface="Courier New" pitchFamily="49" charset="0"/>
                <a:ea typeface="굴림" pitchFamily="50" charset="-127"/>
              </a:rPr>
              <a:t>. </a:t>
            </a:r>
          </a:p>
          <a:p>
            <a:pPr lvl="3" algn="just" eaLnBrk="1" hangingPunct="1">
              <a:buFontTx/>
              <a:buNone/>
            </a:pPr>
            <a:r>
              <a:rPr lang="en-US" altLang="ko-KR" sz="1600" b="0">
                <a:latin typeface="Courier New" pitchFamily="49" charset="0"/>
                <a:ea typeface="굴림" pitchFamily="50" charset="-127"/>
              </a:rPr>
              <a:t>	 int   	getHorizontalAlignment()</a:t>
            </a:r>
          </a:p>
          <a:p>
            <a:pPr lvl="3" algn="just" eaLnBrk="1" hangingPunct="1">
              <a:buFontTx/>
              <a:buNone/>
            </a:pPr>
            <a:r>
              <a:rPr lang="en-US" altLang="ko-KR" sz="1600" b="0">
                <a:latin typeface="Courier New" pitchFamily="49" charset="0"/>
                <a:ea typeface="굴림" pitchFamily="50" charset="-127"/>
              </a:rPr>
              <a:t>	 void  	setHorizontalAlignment(int alignment)</a:t>
            </a:r>
          </a:p>
          <a:p>
            <a:pPr lvl="3" algn="just" eaLnBrk="1" hangingPunct="1">
              <a:buFontTx/>
              <a:buNone/>
            </a:pPr>
            <a:r>
              <a:rPr lang="en-US" altLang="ko-KR" sz="1600" b="0">
                <a:latin typeface="Courier New" pitchFamily="49" charset="0"/>
                <a:ea typeface="굴림" pitchFamily="50" charset="-127"/>
              </a:rPr>
              <a:t>	 int   	getVerticalAlignment()</a:t>
            </a:r>
          </a:p>
          <a:p>
            <a:pPr lvl="3" algn="just" eaLnBrk="1" hangingPunct="1">
              <a:buFontTx/>
              <a:buNone/>
            </a:pPr>
            <a:r>
              <a:rPr lang="en-US" altLang="ko-KR" sz="1600" b="0">
                <a:latin typeface="Courier New" pitchFamily="49" charset="0"/>
                <a:ea typeface="굴림" pitchFamily="50" charset="-127"/>
              </a:rPr>
              <a:t>	 void  	setVerticalAlignment(int alignment)</a:t>
            </a:r>
          </a:p>
          <a:p>
            <a:pPr lvl="2" eaLnBrk="1" hangingPunct="1">
              <a:lnSpc>
                <a:spcPct val="120000"/>
              </a:lnSpc>
              <a:buFontTx/>
              <a:buChar char="-"/>
            </a:pPr>
            <a:r>
              <a:rPr lang="ko-KR" altLang="en-US">
                <a:latin typeface="Courier New" pitchFamily="49" charset="0"/>
                <a:ea typeface="굴림" pitchFamily="50" charset="-127"/>
              </a:rPr>
              <a:t>수평 방면 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alignment 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값으로  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LEFT, CENTER, RIGHT, LEADING, TRAILING 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변수 사용 가능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. </a:t>
            </a:r>
          </a:p>
          <a:p>
            <a:pPr lvl="2" eaLnBrk="1" hangingPunct="1">
              <a:lnSpc>
                <a:spcPct val="120000"/>
              </a:lnSpc>
              <a:buFontTx/>
              <a:buChar char="-"/>
            </a:pPr>
            <a:r>
              <a:rPr lang="ko-KR" altLang="en-US">
                <a:latin typeface="Courier New" pitchFamily="49" charset="0"/>
                <a:ea typeface="굴림" pitchFamily="50" charset="-127"/>
              </a:rPr>
              <a:t>수직 방면은  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TOP, CENTER, BOTTOM 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변수 사용 가능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BEE62DD5-2BBA-4D77-BF31-849BCFCB0DA2}"/>
                  </a:ext>
                </a:extLst>
              </p14:cNvPr>
              <p14:cNvContentPartPr/>
              <p14:nvPr/>
            </p14:nvContentPartPr>
            <p14:xfrm>
              <a:off x="2240280" y="2009520"/>
              <a:ext cx="119880" cy="58248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BEE62DD5-2BBA-4D77-BF31-849BCFCB0DA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24440" y="1946160"/>
                <a:ext cx="151200" cy="70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1853853C-03EF-4C4F-8032-9625BFC3528C}"/>
                  </a:ext>
                </a:extLst>
              </p14:cNvPr>
              <p14:cNvContentPartPr/>
              <p14:nvPr/>
            </p14:nvContentPartPr>
            <p14:xfrm>
              <a:off x="3683160" y="3054240"/>
              <a:ext cx="630000" cy="12816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1853853C-03EF-4C4F-8032-9625BFC3528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67320" y="2990880"/>
                <a:ext cx="66132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E921AFDD-AF42-4AB7-837D-D1B81FA55B15}"/>
                  </a:ext>
                </a:extLst>
              </p14:cNvPr>
              <p14:cNvContentPartPr/>
              <p14:nvPr/>
            </p14:nvContentPartPr>
            <p14:xfrm>
              <a:off x="3507840" y="3492720"/>
              <a:ext cx="996840" cy="3240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E921AFDD-AF42-4AB7-837D-D1B81FA55B1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492000" y="3429360"/>
                <a:ext cx="102816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31EB0465-2CB6-4DAC-84C8-57228F2C1630}"/>
                  </a:ext>
                </a:extLst>
              </p14:cNvPr>
              <p14:cNvContentPartPr/>
              <p14:nvPr/>
            </p14:nvContentPartPr>
            <p14:xfrm>
              <a:off x="3714840" y="4218480"/>
              <a:ext cx="104040" cy="98136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31EB0465-2CB6-4DAC-84C8-57228F2C163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699000" y="4155120"/>
                <a:ext cx="135360" cy="1108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>
    <p:wheel spokes="1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1A845E5-08B0-453E-A179-BB2A89573C5A}" type="slidenum">
              <a:rPr lang="en-US" altLang="ko-KR"/>
              <a:pPr>
                <a:defRPr/>
              </a:pPr>
              <a:t>22</a:t>
            </a:fld>
            <a:endParaRPr lang="en-US" altLang="ko-KR"/>
          </a:p>
        </p:txBody>
      </p:sp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Swing Components</a:t>
            </a:r>
            <a:endParaRPr lang="ko-KR" altLang="en-US"/>
          </a:p>
        </p:txBody>
      </p:sp>
      <p:sp>
        <p:nvSpPr>
          <p:cNvPr id="337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111250"/>
            <a:ext cx="85344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ko-KR" altLang="en-US" sz="1800">
              <a:latin typeface="Courier New" pitchFamily="49" charset="0"/>
              <a:ea typeface="굴림" pitchFamily="50" charset="-127"/>
            </a:endParaRPr>
          </a:p>
          <a:p>
            <a:pPr lvl="1" eaLnBrk="1" hangingPunct="1">
              <a:lnSpc>
                <a:spcPct val="90000"/>
              </a:lnSpc>
            </a:pPr>
            <a:r>
              <a:rPr lang="ko-KR" altLang="en-US" sz="1800">
                <a:latin typeface="Courier New" pitchFamily="49" charset="0"/>
                <a:ea typeface="굴림" pitchFamily="50" charset="-127"/>
              </a:rPr>
              <a:t>버튼 텍스트 위치를 아이콘에 상대적으로 결정하는 메소드들</a:t>
            </a:r>
            <a:r>
              <a:rPr lang="en-US" altLang="ko-KR" sz="1800">
                <a:latin typeface="Courier New" pitchFamily="49" charset="0"/>
                <a:ea typeface="굴림" pitchFamily="50" charset="-127"/>
              </a:rPr>
              <a:t>.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1800" b="0">
                <a:latin typeface="Courier New" pitchFamily="49" charset="0"/>
                <a:ea typeface="굴림" pitchFamily="50" charset="-127"/>
              </a:rPr>
              <a:t>	 int   	getHorizontalTextPosition()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1800" b="0">
                <a:latin typeface="Courier New" pitchFamily="49" charset="0"/>
                <a:ea typeface="굴림" pitchFamily="50" charset="-127"/>
              </a:rPr>
              <a:t>	 void  	setHorizontalTextPosition(int textPosition)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1800" b="0">
                <a:latin typeface="Courier New" pitchFamily="49" charset="0"/>
                <a:ea typeface="굴림" pitchFamily="50" charset="-127"/>
              </a:rPr>
              <a:t>	 int   	getVerticalTextPosition()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1800" b="0">
                <a:latin typeface="Courier New" pitchFamily="49" charset="0"/>
                <a:ea typeface="굴림" pitchFamily="50" charset="-127"/>
              </a:rPr>
              <a:t>	 void  	setVerticalTextPosition(int textPosition)</a:t>
            </a:r>
          </a:p>
          <a:p>
            <a:pPr lvl="4" eaLnBrk="1" hangingPunct="1">
              <a:lnSpc>
                <a:spcPct val="90000"/>
              </a:lnSpc>
              <a:buSzPct val="75000"/>
              <a:buFontTx/>
              <a:buNone/>
            </a:pPr>
            <a:r>
              <a:rPr lang="en-US" altLang="ko-KR">
                <a:solidFill>
                  <a:srgbClr val="0000CC"/>
                </a:solidFill>
                <a:latin typeface="Courier New" pitchFamily="49" charset="0"/>
                <a:ea typeface="굴림" pitchFamily="50" charset="-127"/>
              </a:rPr>
              <a:t>          </a:t>
            </a:r>
            <a:endParaRPr lang="en-US" altLang="ko-KR">
              <a:latin typeface="Courier New" pitchFamily="49" charset="0"/>
              <a:ea typeface="굴림" pitchFamily="50" charset="-127"/>
            </a:endParaRPr>
          </a:p>
          <a:p>
            <a:pPr lvl="1" eaLnBrk="1" hangingPunct="1">
              <a:lnSpc>
                <a:spcPct val="90000"/>
              </a:lnSpc>
            </a:pPr>
            <a:r>
              <a:rPr lang="ko-KR" altLang="en-US" sz="1800">
                <a:latin typeface="Courier New" pitchFamily="49" charset="0"/>
                <a:ea typeface="굴림" pitchFamily="50" charset="-127"/>
              </a:rPr>
              <a:t>버튼의 상태에 따라 아이콘이 변경되도록 설정하는 메소드들</a:t>
            </a:r>
            <a:r>
              <a:rPr lang="en-US" altLang="ko-KR" sz="1800">
                <a:latin typeface="Courier New" pitchFamily="49" charset="0"/>
                <a:ea typeface="굴림" pitchFamily="50" charset="-127"/>
              </a:rPr>
              <a:t>.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1800">
                <a:latin typeface="Courier New" pitchFamily="49" charset="0"/>
                <a:ea typeface="굴림" pitchFamily="50" charset="-127"/>
              </a:rPr>
              <a:t>   </a:t>
            </a:r>
            <a:r>
              <a:rPr lang="en-US" altLang="ko-KR" sz="1800" b="0">
                <a:latin typeface="Courier New" pitchFamily="49" charset="0"/>
                <a:ea typeface="굴림" pitchFamily="50" charset="-127"/>
              </a:rPr>
              <a:t>void setDisabledIcon(Icon disabledIcon) </a:t>
            </a:r>
            <a:endParaRPr lang="en-US" altLang="ko-KR" sz="1800">
              <a:latin typeface="Courier New" pitchFamily="49" charset="0"/>
              <a:ea typeface="굴림" pitchFamily="50" charset="-127"/>
            </a:endParaRP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1800">
                <a:latin typeface="Courier New" pitchFamily="49" charset="0"/>
                <a:ea typeface="굴림" pitchFamily="50" charset="-127"/>
              </a:rPr>
              <a:t>	 </a:t>
            </a:r>
            <a:r>
              <a:rPr lang="en-US" altLang="ko-KR" sz="1800" b="0">
                <a:latin typeface="Courier New" pitchFamily="49" charset="0"/>
                <a:ea typeface="굴림" pitchFamily="50" charset="-127"/>
              </a:rPr>
              <a:t>void setPressedIcon(Icon pressedIcon)</a:t>
            </a:r>
            <a:r>
              <a:rPr lang="en-US" altLang="ko-KR" sz="1800">
                <a:latin typeface="Courier New" pitchFamily="49" charset="0"/>
                <a:ea typeface="굴림" pitchFamily="50" charset="-127"/>
              </a:rPr>
              <a:t> 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1800">
                <a:latin typeface="Courier New" pitchFamily="49" charset="0"/>
                <a:ea typeface="굴림" pitchFamily="50" charset="-127"/>
              </a:rPr>
              <a:t>	 </a:t>
            </a:r>
            <a:r>
              <a:rPr lang="en-US" altLang="ko-KR" sz="1800" b="0">
                <a:latin typeface="Courier New" pitchFamily="49" charset="0"/>
                <a:ea typeface="굴림" pitchFamily="50" charset="-127"/>
              </a:rPr>
              <a:t>void setRolloverIcon(Icon rolloverIcon)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1800">
                <a:latin typeface="Courier New" pitchFamily="49" charset="0"/>
                <a:ea typeface="굴림" pitchFamily="50" charset="-127"/>
              </a:rPr>
              <a:t>	 </a:t>
            </a:r>
            <a:r>
              <a:rPr lang="en-US" altLang="ko-KR" sz="1800" b="0">
                <a:latin typeface="Courier New" pitchFamily="49" charset="0"/>
                <a:ea typeface="굴림" pitchFamily="50" charset="-127"/>
              </a:rPr>
              <a:t>void setDisabledSelectedIcon</a:t>
            </a:r>
          </a:p>
          <a:p>
            <a:pPr lvl="1" eaLnBrk="1" hangingPunct="1">
              <a:lnSpc>
                <a:spcPct val="60000"/>
              </a:lnSpc>
              <a:buFont typeface="Wingdings" pitchFamily="2" charset="2"/>
              <a:buNone/>
            </a:pPr>
            <a:r>
              <a:rPr lang="en-US" altLang="ko-KR" sz="1800" b="0">
                <a:latin typeface="Courier New" pitchFamily="49" charset="0"/>
                <a:ea typeface="굴림" pitchFamily="50" charset="-127"/>
              </a:rPr>
              <a:t>                           (Icon disabledSelectedIcon)</a:t>
            </a:r>
            <a:r>
              <a:rPr lang="en-US" altLang="ko-KR" sz="1800">
                <a:latin typeface="Courier New" pitchFamily="49" charset="0"/>
                <a:ea typeface="굴림" pitchFamily="50" charset="-127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endParaRPr lang="en-US" altLang="ko-KR" sz="1800">
              <a:latin typeface="Courier New" pitchFamily="49" charset="0"/>
              <a:ea typeface="굴림" pitchFamily="50" charset="-127"/>
            </a:endParaRPr>
          </a:p>
          <a:p>
            <a:pPr lvl="1" eaLnBrk="1" hangingPunct="1">
              <a:lnSpc>
                <a:spcPct val="90000"/>
              </a:lnSpc>
            </a:pPr>
            <a:r>
              <a:rPr lang="ko-KR" altLang="en-US" sz="1800">
                <a:latin typeface="Courier New" pitchFamily="49" charset="0"/>
                <a:ea typeface="굴림" pitchFamily="50" charset="-127"/>
              </a:rPr>
              <a:t>키보드를 이용해서 단축키</a:t>
            </a:r>
            <a:r>
              <a:rPr lang="en-US" altLang="ko-KR" sz="1800">
                <a:latin typeface="Courier New" pitchFamily="49" charset="0"/>
                <a:ea typeface="굴림" pitchFamily="50" charset="-127"/>
              </a:rPr>
              <a:t>(mnemonic)</a:t>
            </a:r>
            <a:r>
              <a:rPr lang="ko-KR" altLang="en-US" sz="1800">
                <a:latin typeface="Courier New" pitchFamily="49" charset="0"/>
                <a:ea typeface="굴림" pitchFamily="50" charset="-127"/>
              </a:rPr>
              <a:t>를 설정하는 메소드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ko-KR" altLang="en-US" sz="1800">
                <a:latin typeface="Courier New" pitchFamily="49" charset="0"/>
                <a:ea typeface="굴림" pitchFamily="50" charset="-127"/>
              </a:rPr>
              <a:t>	 </a:t>
            </a:r>
            <a:r>
              <a:rPr lang="en-US" altLang="ko-KR" sz="1800" b="0">
                <a:latin typeface="Courier New" pitchFamily="49" charset="0"/>
                <a:ea typeface="굴림" pitchFamily="50" charset="-127"/>
              </a:rPr>
              <a:t>void  setMnemonic(char mnemonic)</a:t>
            </a:r>
            <a:endParaRPr lang="en-US" altLang="ko-KR" sz="1800">
              <a:latin typeface="Courier New" pitchFamily="49" charset="0"/>
              <a:ea typeface="굴림" pitchFamily="50" charset="-127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AA15A931-3578-4AA9-8838-30AEE6CB08FC}"/>
                  </a:ext>
                </a:extLst>
              </p14:cNvPr>
              <p14:cNvContentPartPr/>
              <p14:nvPr/>
            </p14:nvContentPartPr>
            <p14:xfrm>
              <a:off x="1506600" y="3612600"/>
              <a:ext cx="72360" cy="118836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AA15A931-3578-4AA9-8838-30AEE6CB08F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90760" y="3549240"/>
                <a:ext cx="103680" cy="13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EE08C1EF-E085-4703-B74D-C74D9E951E2B}"/>
                  </a:ext>
                </a:extLst>
              </p14:cNvPr>
              <p14:cNvContentPartPr/>
              <p14:nvPr/>
            </p14:nvContentPartPr>
            <p14:xfrm>
              <a:off x="1355400" y="1690560"/>
              <a:ext cx="311040" cy="129240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EE08C1EF-E085-4703-B74D-C74D9E951E2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39560" y="1627200"/>
                <a:ext cx="342360" cy="1419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>
    <p:wheel spokes="1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FF32D80-8803-442F-8F2B-7E655B2D78F0}" type="slidenum">
              <a:rPr lang="en-US" altLang="ko-KR"/>
              <a:pPr>
                <a:defRPr/>
              </a:pPr>
              <a:t>23</a:t>
            </a:fld>
            <a:endParaRPr lang="en-US" altLang="ko-KR"/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Swing Components</a:t>
            </a:r>
            <a:endParaRPr lang="ko-KR" altLang="en-US"/>
          </a:p>
        </p:txBody>
      </p:sp>
      <p:sp>
        <p:nvSpPr>
          <p:cNvPr id="348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111250"/>
            <a:ext cx="8240713" cy="5486400"/>
          </a:xfrm>
        </p:spPr>
        <p:txBody>
          <a:bodyPr/>
          <a:lstStyle/>
          <a:p>
            <a:pPr eaLnBrk="1" hangingPunct="1"/>
            <a:r>
              <a:rPr lang="en-US" altLang="ko-KR" sz="2000">
                <a:latin typeface="Courier New" pitchFamily="49" charset="0"/>
                <a:ea typeface="굴림" pitchFamily="50" charset="-127"/>
              </a:rPr>
              <a:t>JButton</a:t>
            </a:r>
          </a:p>
          <a:p>
            <a:pPr lvl="1" eaLnBrk="1" hangingPunct="1"/>
            <a:r>
              <a:rPr lang="en-US" altLang="ko-KR" sz="1800">
                <a:latin typeface="Courier New" pitchFamily="49" charset="0"/>
                <a:ea typeface="굴림" pitchFamily="50" charset="-127"/>
              </a:rPr>
              <a:t>JButton </a:t>
            </a:r>
            <a:r>
              <a:rPr lang="ko-KR" altLang="en-US" sz="1800">
                <a:latin typeface="Courier New" pitchFamily="49" charset="0"/>
                <a:ea typeface="굴림" pitchFamily="50" charset="-127"/>
              </a:rPr>
              <a:t>컴포넌트는 </a:t>
            </a:r>
            <a:r>
              <a:rPr lang="en-US" altLang="ko-KR" sz="1800">
                <a:latin typeface="Courier New" pitchFamily="49" charset="0"/>
                <a:ea typeface="굴림" pitchFamily="50" charset="-127"/>
              </a:rPr>
              <a:t>AbstractButton </a:t>
            </a:r>
            <a:r>
              <a:rPr lang="ko-KR" altLang="en-US" sz="1800">
                <a:latin typeface="Courier New" pitchFamily="49" charset="0"/>
                <a:ea typeface="굴림" pitchFamily="50" charset="-127"/>
              </a:rPr>
              <a:t>클래스로부터 상속</a:t>
            </a:r>
          </a:p>
          <a:p>
            <a:pPr lvl="1" eaLnBrk="1" hangingPunct="1"/>
            <a:r>
              <a:rPr lang="en-US" altLang="ko-KR" sz="1800">
                <a:latin typeface="Courier New" pitchFamily="49" charset="0"/>
                <a:ea typeface="굴림" pitchFamily="50" charset="-127"/>
              </a:rPr>
              <a:t>AbstractButton </a:t>
            </a:r>
            <a:r>
              <a:rPr lang="ko-KR" altLang="en-US" sz="1800">
                <a:latin typeface="Courier New" pitchFamily="49" charset="0"/>
                <a:ea typeface="굴림" pitchFamily="50" charset="-127"/>
              </a:rPr>
              <a:t>클래스는 버튼 클래스에서 필요한 기본적인 메소드들을 정의</a:t>
            </a:r>
          </a:p>
          <a:p>
            <a:pPr lvl="1" eaLnBrk="1" hangingPunct="1"/>
            <a:r>
              <a:rPr lang="en-US" altLang="ko-KR" sz="1800">
                <a:latin typeface="Courier New" pitchFamily="49" charset="0"/>
                <a:ea typeface="굴림" pitchFamily="50" charset="-127"/>
              </a:rPr>
              <a:t>AbstractButton </a:t>
            </a:r>
            <a:r>
              <a:rPr lang="ko-KR" altLang="en-US" sz="1800">
                <a:latin typeface="Courier New" pitchFamily="49" charset="0"/>
                <a:ea typeface="굴림" pitchFamily="50" charset="-127"/>
              </a:rPr>
              <a:t>클래스로부터 상속받은 클래스는 </a:t>
            </a:r>
            <a:r>
              <a:rPr lang="en-US" altLang="ko-KR" sz="1800">
                <a:latin typeface="Courier New" pitchFamily="49" charset="0"/>
                <a:ea typeface="굴림" pitchFamily="50" charset="-127"/>
              </a:rPr>
              <a:t>JButton </a:t>
            </a:r>
            <a:r>
              <a:rPr lang="ko-KR" altLang="en-US" sz="1800">
                <a:latin typeface="Courier New" pitchFamily="49" charset="0"/>
                <a:ea typeface="굴림" pitchFamily="50" charset="-127"/>
              </a:rPr>
              <a:t>이외에 </a:t>
            </a:r>
            <a:r>
              <a:rPr lang="en-US" altLang="ko-KR" sz="1800">
                <a:latin typeface="Courier New" pitchFamily="49" charset="0"/>
                <a:ea typeface="굴림" pitchFamily="50" charset="-127"/>
              </a:rPr>
              <a:t>JCheckBox, JRadioButton, JMenuItem, JMenu, JToggleButton </a:t>
            </a:r>
            <a:r>
              <a:rPr lang="ko-KR" altLang="en-US" sz="1800">
                <a:latin typeface="Courier New" pitchFamily="49" charset="0"/>
                <a:ea typeface="굴림" pitchFamily="50" charset="-127"/>
              </a:rPr>
              <a:t>등이 있다</a:t>
            </a:r>
            <a:r>
              <a:rPr lang="en-US" altLang="ko-KR" sz="1800">
                <a:latin typeface="Courier New" pitchFamily="49" charset="0"/>
                <a:ea typeface="굴림" pitchFamily="50" charset="-127"/>
              </a:rPr>
              <a:t>.</a:t>
            </a:r>
          </a:p>
          <a:p>
            <a:pPr lvl="1" eaLnBrk="1" hangingPunct="1"/>
            <a:endParaRPr lang="en-US" altLang="ko-KR" sz="1800">
              <a:latin typeface="Courier New" pitchFamily="49" charset="0"/>
              <a:ea typeface="굴림" pitchFamily="50" charset="-127"/>
            </a:endParaRPr>
          </a:p>
          <a:p>
            <a:pPr lvl="1" eaLnBrk="1" hangingPunct="1"/>
            <a:r>
              <a:rPr lang="ko-KR" altLang="en-US" sz="1800">
                <a:latin typeface="Courier New" pitchFamily="49" charset="0"/>
                <a:ea typeface="굴림" pitchFamily="50" charset="-127"/>
              </a:rPr>
              <a:t>생성자</a:t>
            </a:r>
          </a:p>
          <a:p>
            <a:pPr lvl="2" algn="just" eaLnBrk="1" hangingPunct="1">
              <a:buFontTx/>
              <a:buNone/>
            </a:pPr>
            <a:r>
              <a:rPr lang="ko-KR" altLang="en-US">
                <a:latin typeface="Courier New" pitchFamily="49" charset="0"/>
                <a:ea typeface="굴림" pitchFamily="50" charset="-127"/>
              </a:rPr>
              <a:t>	 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JButton() </a:t>
            </a:r>
          </a:p>
          <a:p>
            <a:pPr lvl="2" algn="just" eaLnBrk="1" hangingPunct="1"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	 JButton(Icon icon) </a:t>
            </a:r>
          </a:p>
          <a:p>
            <a:pPr lvl="2" algn="just" eaLnBrk="1" hangingPunct="1"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	 JButton(String text) </a:t>
            </a:r>
          </a:p>
          <a:p>
            <a:pPr lvl="2" algn="just" eaLnBrk="1" hangingPunct="1"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	 JButton(String text, Icon icon)</a:t>
            </a:r>
          </a:p>
          <a:p>
            <a:pPr lvl="1" algn="just" eaLnBrk="1" hangingPunct="1"/>
            <a:endParaRPr lang="en-US" altLang="ko-KR" sz="1800">
              <a:latin typeface="Courier New" pitchFamily="49" charset="0"/>
              <a:ea typeface="굴림" pitchFamily="50" charset="-127"/>
            </a:endParaRPr>
          </a:p>
          <a:p>
            <a:pPr lvl="1" algn="just" eaLnBrk="1" hangingPunct="1"/>
            <a:r>
              <a:rPr lang="en-US" altLang="ko-KR" sz="1800">
                <a:latin typeface="Courier New" pitchFamily="49" charset="0"/>
                <a:ea typeface="굴림" pitchFamily="50" charset="-127"/>
              </a:rPr>
              <a:t>JButton</a:t>
            </a:r>
            <a:r>
              <a:rPr lang="ko-KR" altLang="en-US" sz="1800">
                <a:latin typeface="Courier New" pitchFamily="49" charset="0"/>
                <a:ea typeface="굴림" pitchFamily="50" charset="-127"/>
              </a:rPr>
              <a:t>의 대부분 메소드들은 </a:t>
            </a:r>
            <a:r>
              <a:rPr lang="en-US" altLang="ko-KR" sz="1800">
                <a:latin typeface="Courier New" pitchFamily="49" charset="0"/>
                <a:ea typeface="굴림" pitchFamily="50" charset="-127"/>
              </a:rPr>
              <a:t>AbstractButton </a:t>
            </a:r>
            <a:r>
              <a:rPr lang="ko-KR" altLang="en-US" sz="1800">
                <a:latin typeface="Courier New" pitchFamily="49" charset="0"/>
                <a:ea typeface="굴림" pitchFamily="50" charset="-127"/>
              </a:rPr>
              <a:t>클래스에 정의된 것들이다</a:t>
            </a:r>
            <a:r>
              <a:rPr lang="en-US" altLang="ko-KR" sz="1800">
                <a:latin typeface="Courier New" pitchFamily="49" charset="0"/>
                <a:ea typeface="굴림" pitchFamily="50" charset="-127"/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F802876C-E4F7-4DE1-A4F9-FE1C60CE34AB}"/>
                  </a:ext>
                </a:extLst>
              </p14:cNvPr>
              <p14:cNvContentPartPr/>
              <p14:nvPr/>
            </p14:nvContentPartPr>
            <p14:xfrm>
              <a:off x="1123920" y="1292040"/>
              <a:ext cx="1491120" cy="828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F802876C-E4F7-4DE1-A4F9-FE1C60CE34A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8080" y="1228680"/>
                <a:ext cx="152244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2DACCE57-AA4E-4D7D-B776-CDACB084039A}"/>
                  </a:ext>
                </a:extLst>
              </p14:cNvPr>
              <p14:cNvContentPartPr/>
              <p14:nvPr/>
            </p14:nvContentPartPr>
            <p14:xfrm>
              <a:off x="2088720" y="4146840"/>
              <a:ext cx="1387440" cy="3204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2DACCE57-AA4E-4D7D-B776-CDACB084039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72880" y="4083480"/>
                <a:ext cx="141876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86589F8D-98BF-4D0C-AF2D-9B5E725EDBC5}"/>
                  </a:ext>
                </a:extLst>
              </p14:cNvPr>
              <p14:cNvContentPartPr/>
              <p14:nvPr/>
            </p14:nvContentPartPr>
            <p14:xfrm>
              <a:off x="2072880" y="4792680"/>
              <a:ext cx="3141360" cy="828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86589F8D-98BF-4D0C-AF2D-9B5E725EDBC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57040" y="4729320"/>
                <a:ext cx="317268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3B76A7F8-81BB-41B7-861A-A048C9EEEC98}"/>
                  </a:ext>
                </a:extLst>
              </p14:cNvPr>
              <p14:cNvContentPartPr/>
              <p14:nvPr/>
            </p14:nvContentPartPr>
            <p14:xfrm>
              <a:off x="1522800" y="4689000"/>
              <a:ext cx="390960" cy="33516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3B76A7F8-81BB-41B7-861A-A048C9EEEC9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506960" y="4625640"/>
                <a:ext cx="422280" cy="46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B441DF48-FB02-4699-A331-9D54B2E5E8A9}"/>
                  </a:ext>
                </a:extLst>
              </p14:cNvPr>
              <p14:cNvContentPartPr/>
              <p14:nvPr/>
            </p14:nvContentPartPr>
            <p14:xfrm>
              <a:off x="2048760" y="4410000"/>
              <a:ext cx="3316680" cy="4824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B441DF48-FB02-4699-A331-9D54B2E5E8A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032920" y="4346640"/>
                <a:ext cx="3348000" cy="174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>
    <p:wheel spokes="1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BEBB55B-2C2C-4C6F-B0CE-449230258259}" type="slidenum">
              <a:rPr lang="en-US" altLang="ko-KR"/>
              <a:pPr>
                <a:defRPr/>
              </a:pPr>
              <a:t>24</a:t>
            </a:fld>
            <a:endParaRPr lang="en-US" altLang="ko-KR"/>
          </a:p>
        </p:txBody>
      </p:sp>
      <p:sp>
        <p:nvSpPr>
          <p:cNvPr id="39940" name="Rectangle 2"/>
          <p:cNvSpPr>
            <a:spLocks noChangeArrowheads="1"/>
          </p:cNvSpPr>
          <p:nvPr/>
        </p:nvSpPr>
        <p:spPr bwMode="auto">
          <a:xfrm>
            <a:off x="1447800" y="3276600"/>
            <a:ext cx="7372350" cy="19812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ko-KR" altLang="en-US">
              <a:latin typeface="Courier New" pitchFamily="49" charset="0"/>
              <a:ea typeface="굴림" pitchFamily="50" charset="-127"/>
            </a:endParaRPr>
          </a:p>
        </p:txBody>
      </p:sp>
      <p:sp>
        <p:nvSpPr>
          <p:cNvPr id="399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266825"/>
            <a:ext cx="8077200" cy="5210175"/>
          </a:xfrm>
        </p:spPr>
        <p:txBody>
          <a:bodyPr/>
          <a:lstStyle/>
          <a:p>
            <a:pPr eaLnBrk="1" hangingPunct="1"/>
            <a:r>
              <a:rPr lang="en-US" altLang="ko-KR" sz="2000" dirty="0">
                <a:latin typeface="Courier New" pitchFamily="49" charset="0"/>
                <a:ea typeface="굴림" pitchFamily="50" charset="-127"/>
              </a:rPr>
              <a:t> </a:t>
            </a:r>
            <a:r>
              <a:rPr lang="en-US" altLang="ko-KR" sz="2000" dirty="0" err="1">
                <a:latin typeface="Courier New" pitchFamily="49" charset="0"/>
                <a:ea typeface="굴림" pitchFamily="50" charset="-127"/>
              </a:rPr>
              <a:t>JCheckBox</a:t>
            </a:r>
            <a:r>
              <a:rPr lang="en-US" altLang="ko-KR" sz="2000" dirty="0">
                <a:latin typeface="Courier New" pitchFamily="49" charset="0"/>
                <a:ea typeface="굴림" pitchFamily="50" charset="-127"/>
              </a:rPr>
              <a:t>	</a:t>
            </a:r>
          </a:p>
          <a:p>
            <a:pPr lvl="1" eaLnBrk="1" hangingPunct="1"/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AWT</a:t>
            </a:r>
            <a:r>
              <a:rPr lang="ko-KR" altLang="en-US" sz="1800" dirty="0">
                <a:latin typeface="Courier New" pitchFamily="49" charset="0"/>
                <a:ea typeface="굴림" pitchFamily="50" charset="-127"/>
              </a:rPr>
              <a:t>의 체크박스와 유사</a:t>
            </a:r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.</a:t>
            </a:r>
          </a:p>
          <a:p>
            <a:pPr lvl="1" eaLnBrk="1" hangingPunct="1"/>
            <a:r>
              <a:rPr lang="ko-KR" altLang="en-US" sz="1800" dirty="0">
                <a:latin typeface="Courier New" pitchFamily="49" charset="0"/>
                <a:ea typeface="굴림" pitchFamily="50" charset="-127"/>
              </a:rPr>
              <a:t>스윙에서는 라디오버튼을 위해서 </a:t>
            </a:r>
            <a:r>
              <a:rPr lang="en-US" altLang="ko-KR" sz="1800" dirty="0" err="1">
                <a:latin typeface="Courier New" pitchFamily="49" charset="0"/>
                <a:ea typeface="굴림" pitchFamily="50" charset="-127"/>
              </a:rPr>
              <a:t>JRadioButton</a:t>
            </a:r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 </a:t>
            </a:r>
            <a:r>
              <a:rPr lang="ko-KR" altLang="en-US" sz="1800" dirty="0">
                <a:latin typeface="Courier New" pitchFamily="49" charset="0"/>
                <a:ea typeface="굴림" pitchFamily="50" charset="-127"/>
              </a:rPr>
              <a:t>클래스를 따로 정의</a:t>
            </a:r>
          </a:p>
          <a:p>
            <a:pPr lvl="1" eaLnBrk="1" hangingPunct="1"/>
            <a:endParaRPr lang="ko-KR" altLang="en-US" sz="1800" dirty="0">
              <a:latin typeface="Courier New" pitchFamily="49" charset="0"/>
              <a:ea typeface="굴림" pitchFamily="50" charset="-127"/>
            </a:endParaRPr>
          </a:p>
          <a:p>
            <a:pPr lvl="1" eaLnBrk="1" hangingPunct="1"/>
            <a:r>
              <a:rPr lang="ko-KR" altLang="en-US" sz="1800" dirty="0" err="1">
                <a:latin typeface="Courier New" pitchFamily="49" charset="0"/>
                <a:ea typeface="굴림" pitchFamily="50" charset="-127"/>
              </a:rPr>
              <a:t>생성자</a:t>
            </a:r>
            <a:endParaRPr lang="ko-KR" altLang="en-US" sz="1800" dirty="0">
              <a:latin typeface="Courier New" pitchFamily="49" charset="0"/>
              <a:ea typeface="굴림" pitchFamily="50" charset="-127"/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 </a:t>
            </a:r>
            <a:r>
              <a:rPr lang="en-US" altLang="ko-KR" sz="1800" dirty="0" err="1">
                <a:latin typeface="Courier New" pitchFamily="49" charset="0"/>
                <a:ea typeface="굴림" pitchFamily="50" charset="-127"/>
              </a:rPr>
              <a:t>JCheckBox</a:t>
            </a:r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(Icon </a:t>
            </a:r>
            <a:r>
              <a:rPr lang="en-US" altLang="ko-KR" sz="1800" dirty="0" err="1">
                <a:latin typeface="Courier New" pitchFamily="49" charset="0"/>
                <a:ea typeface="굴림" pitchFamily="50" charset="-127"/>
              </a:rPr>
              <a:t>icon</a:t>
            </a:r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 </a:t>
            </a:r>
            <a:r>
              <a:rPr lang="en-US" altLang="ko-KR" sz="1800" dirty="0" err="1">
                <a:latin typeface="Courier New" pitchFamily="49" charset="0"/>
                <a:ea typeface="굴림" pitchFamily="50" charset="-127"/>
              </a:rPr>
              <a:t>JCheckBox</a:t>
            </a:r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(Icon </a:t>
            </a:r>
            <a:r>
              <a:rPr lang="en-US" altLang="ko-KR" sz="1800" dirty="0" err="1">
                <a:latin typeface="Courier New" pitchFamily="49" charset="0"/>
                <a:ea typeface="굴림" pitchFamily="50" charset="-127"/>
              </a:rPr>
              <a:t>icon</a:t>
            </a:r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, </a:t>
            </a:r>
            <a:r>
              <a:rPr lang="en-US" altLang="ko-KR" sz="1800" dirty="0" err="1">
                <a:latin typeface="Courier New" pitchFamily="49" charset="0"/>
                <a:ea typeface="굴림" pitchFamily="50" charset="-127"/>
              </a:rPr>
              <a:t>boolean</a:t>
            </a:r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 selected)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 </a:t>
            </a:r>
            <a:r>
              <a:rPr lang="en-US" altLang="ko-KR" sz="1800" dirty="0" err="1">
                <a:latin typeface="Courier New" pitchFamily="49" charset="0"/>
                <a:ea typeface="굴림" pitchFamily="50" charset="-127"/>
              </a:rPr>
              <a:t>JCheckBox</a:t>
            </a:r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(String text)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 </a:t>
            </a:r>
            <a:r>
              <a:rPr lang="en-US" altLang="ko-KR" sz="1800" dirty="0" err="1">
                <a:latin typeface="Courier New" pitchFamily="49" charset="0"/>
                <a:ea typeface="굴림" pitchFamily="50" charset="-127"/>
              </a:rPr>
              <a:t>JCheckBox</a:t>
            </a:r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(String text, </a:t>
            </a:r>
            <a:r>
              <a:rPr lang="en-US" altLang="ko-KR" sz="1800" dirty="0" err="1">
                <a:latin typeface="Courier New" pitchFamily="49" charset="0"/>
                <a:ea typeface="굴림" pitchFamily="50" charset="-127"/>
              </a:rPr>
              <a:t>boolean</a:t>
            </a:r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 selected)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 </a:t>
            </a:r>
            <a:r>
              <a:rPr lang="en-US" altLang="ko-KR" sz="1800" dirty="0" err="1">
                <a:latin typeface="Courier New" pitchFamily="49" charset="0"/>
                <a:ea typeface="굴림" pitchFamily="50" charset="-127"/>
              </a:rPr>
              <a:t>JCheckBox</a:t>
            </a:r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(String text, Icon </a:t>
            </a:r>
            <a:r>
              <a:rPr lang="en-US" altLang="ko-KR" sz="1800" dirty="0" err="1">
                <a:latin typeface="Courier New" pitchFamily="49" charset="0"/>
                <a:ea typeface="굴림" pitchFamily="50" charset="-127"/>
              </a:rPr>
              <a:t>icon</a:t>
            </a:r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 </a:t>
            </a:r>
            <a:r>
              <a:rPr lang="en-US" altLang="ko-KR" sz="1800" dirty="0" err="1">
                <a:latin typeface="Courier New" pitchFamily="49" charset="0"/>
                <a:ea typeface="굴림" pitchFamily="50" charset="-127"/>
              </a:rPr>
              <a:t>JCheckBox</a:t>
            </a:r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(String text, Icon </a:t>
            </a:r>
            <a:r>
              <a:rPr lang="en-US" altLang="ko-KR" sz="1800" dirty="0" err="1">
                <a:latin typeface="Courier New" pitchFamily="49" charset="0"/>
                <a:ea typeface="굴림" pitchFamily="50" charset="-127"/>
              </a:rPr>
              <a:t>icon</a:t>
            </a:r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, </a:t>
            </a:r>
            <a:r>
              <a:rPr lang="en-US" altLang="ko-KR" sz="1800" dirty="0" err="1">
                <a:latin typeface="Courier New" pitchFamily="49" charset="0"/>
                <a:ea typeface="굴림" pitchFamily="50" charset="-127"/>
              </a:rPr>
              <a:t>boolean</a:t>
            </a:r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 selected)</a:t>
            </a:r>
          </a:p>
          <a:p>
            <a:pPr lvl="2" algn="just" eaLnBrk="1" hangingPunct="1"/>
            <a:endParaRPr lang="en-US" altLang="ko-KR" sz="1600" dirty="0">
              <a:latin typeface="Courier New" pitchFamily="49" charset="0"/>
              <a:ea typeface="굴림" pitchFamily="50" charset="-127"/>
            </a:endParaRPr>
          </a:p>
          <a:p>
            <a:pPr lvl="1" algn="just" eaLnBrk="1" hangingPunct="1"/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selected </a:t>
            </a:r>
            <a:r>
              <a:rPr lang="ko-KR" altLang="en-US" sz="1800" dirty="0">
                <a:latin typeface="Courier New" pitchFamily="49" charset="0"/>
                <a:ea typeface="굴림" pitchFamily="50" charset="-127"/>
              </a:rPr>
              <a:t>부분은 체크박스가 초기에 선택되어질 것인가 여부를 기술하는 </a:t>
            </a:r>
            <a:r>
              <a:rPr lang="en-US" altLang="ko-KR" sz="1800" dirty="0" err="1">
                <a:latin typeface="Courier New" pitchFamily="49" charset="0"/>
                <a:ea typeface="굴림" pitchFamily="50" charset="-127"/>
              </a:rPr>
              <a:t>boolean</a:t>
            </a:r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 </a:t>
            </a:r>
            <a:r>
              <a:rPr lang="ko-KR" altLang="en-US" sz="1800" dirty="0">
                <a:latin typeface="Courier New" pitchFamily="49" charset="0"/>
                <a:ea typeface="굴림" pitchFamily="50" charset="-127"/>
              </a:rPr>
              <a:t>값이다</a:t>
            </a:r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.</a:t>
            </a:r>
          </a:p>
        </p:txBody>
      </p:sp>
      <p:sp>
        <p:nvSpPr>
          <p:cNvPr id="39942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077200" cy="685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/>
              <a:t>   Swing Components</a:t>
            </a:r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A5A2376A-5F41-471A-9E89-D813268EEE8F}"/>
                  </a:ext>
                </a:extLst>
              </p14:cNvPr>
              <p14:cNvContentPartPr/>
              <p14:nvPr/>
            </p14:nvContentPartPr>
            <p14:xfrm>
              <a:off x="1371240" y="1531080"/>
              <a:ext cx="1522800" cy="9612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A5A2376A-5F41-471A-9E89-D813268EEE8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55400" y="1467720"/>
                <a:ext cx="155412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67C13BD6-E376-4E0D-B1E0-17F4DD2B82A0}"/>
                  </a:ext>
                </a:extLst>
              </p14:cNvPr>
              <p14:cNvContentPartPr/>
              <p14:nvPr/>
            </p14:nvContentPartPr>
            <p14:xfrm>
              <a:off x="4839120" y="885240"/>
              <a:ext cx="510480" cy="47880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67C13BD6-E376-4E0D-B1E0-17F4DD2B82A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23280" y="821880"/>
                <a:ext cx="541800" cy="60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6A378D06-C62C-4600-B33D-E7F3322B2605}"/>
                  </a:ext>
                </a:extLst>
              </p14:cNvPr>
              <p14:cNvContentPartPr/>
              <p14:nvPr/>
            </p14:nvContentPartPr>
            <p14:xfrm>
              <a:off x="5628240" y="1124640"/>
              <a:ext cx="1443240" cy="36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6A378D06-C62C-4600-B33D-E7F3322B260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12400" y="1061280"/>
                <a:ext cx="147456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B8281740-AAAA-4790-8C5C-193325904C5D}"/>
                  </a:ext>
                </a:extLst>
              </p14:cNvPr>
              <p14:cNvContentPartPr/>
              <p14:nvPr/>
            </p14:nvContentPartPr>
            <p14:xfrm>
              <a:off x="4910760" y="614160"/>
              <a:ext cx="654120" cy="53460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B8281740-AAAA-4790-8C5C-193325904C5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894920" y="550800"/>
                <a:ext cx="685440" cy="66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5FBD75CE-B899-4546-A25C-3A8F7EA61771}"/>
                  </a:ext>
                </a:extLst>
              </p14:cNvPr>
              <p14:cNvContentPartPr/>
              <p14:nvPr/>
            </p14:nvContentPartPr>
            <p14:xfrm>
              <a:off x="1554480" y="4035240"/>
              <a:ext cx="3101400" cy="6408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5FBD75CE-B899-4546-A25C-3A8F7EA6177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538640" y="3971880"/>
                <a:ext cx="313272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2C287683-FDE6-4A80-9D1F-1B4967AEB9A8}"/>
                  </a:ext>
                </a:extLst>
              </p14:cNvPr>
              <p14:cNvContentPartPr/>
              <p14:nvPr/>
            </p14:nvContentPartPr>
            <p14:xfrm>
              <a:off x="6162480" y="4992120"/>
              <a:ext cx="1993320" cy="3204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2C287683-FDE6-4A80-9D1F-1B4967AEB9A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146640" y="4928760"/>
                <a:ext cx="202464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F9CE070F-7628-46F3-89F4-2CBB5BFEC170}"/>
                  </a:ext>
                </a:extLst>
              </p14:cNvPr>
              <p14:cNvContentPartPr/>
              <p14:nvPr/>
            </p14:nvContentPartPr>
            <p14:xfrm>
              <a:off x="4990680" y="518400"/>
              <a:ext cx="478440" cy="66240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F9CE070F-7628-46F3-89F4-2CBB5BFEC17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974840" y="455040"/>
                <a:ext cx="509760" cy="78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C2E0AC54-4332-49ED-98D1-E1D22748A694}"/>
                  </a:ext>
                </a:extLst>
              </p14:cNvPr>
              <p14:cNvContentPartPr/>
              <p14:nvPr/>
            </p14:nvContentPartPr>
            <p14:xfrm>
              <a:off x="6210360" y="4968000"/>
              <a:ext cx="1825920" cy="8820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C2E0AC54-4332-49ED-98D1-E1D22748A69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194520" y="4904640"/>
                <a:ext cx="185724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11971E42-D7D2-43EC-9926-34199F4429D3}"/>
                  </a:ext>
                </a:extLst>
              </p14:cNvPr>
              <p14:cNvContentPartPr/>
              <p14:nvPr/>
            </p14:nvContentPartPr>
            <p14:xfrm>
              <a:off x="3770640" y="5526360"/>
              <a:ext cx="2846520" cy="191880"/>
            </p14:xfrm>
          </p:contentPart>
        </mc:Choice>
        <mc:Fallback xmlns=""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11971E42-D7D2-43EC-9926-34199F4429D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754800" y="5463000"/>
                <a:ext cx="2877840" cy="318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>
    <p:wheel spokes="1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20C1968-7743-4092-A697-D195D8402305}" type="slidenum">
              <a:rPr lang="en-US" altLang="ko-KR"/>
              <a:pPr>
                <a:defRPr/>
              </a:pPr>
              <a:t>25</a:t>
            </a:fld>
            <a:endParaRPr lang="en-US" altLang="ko-KR"/>
          </a:p>
        </p:txBody>
      </p:sp>
      <p:sp>
        <p:nvSpPr>
          <p:cNvPr id="40964" name="Rectangle 2"/>
          <p:cNvSpPr>
            <a:spLocks noChangeArrowheads="1"/>
          </p:cNvSpPr>
          <p:nvPr/>
        </p:nvSpPr>
        <p:spPr bwMode="auto">
          <a:xfrm>
            <a:off x="1905000" y="2895600"/>
            <a:ext cx="6477000" cy="22860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40965" name="Rectangle 3"/>
          <p:cNvSpPr>
            <a:spLocks noGrp="1" noChangeArrowheads="1"/>
          </p:cNvSpPr>
          <p:nvPr>
            <p:ph type="title"/>
          </p:nvPr>
        </p:nvSpPr>
        <p:spPr>
          <a:xfrm>
            <a:off x="611188" y="152400"/>
            <a:ext cx="7923212" cy="685800"/>
          </a:xfrm>
        </p:spPr>
        <p:txBody>
          <a:bodyPr/>
          <a:lstStyle/>
          <a:p>
            <a:pPr eaLnBrk="1" hangingPunct="1"/>
            <a:r>
              <a:rPr lang="en-US" altLang="ko-KR"/>
              <a:t>  Swing Components</a:t>
            </a:r>
            <a:endParaRPr lang="ko-KR" altLang="en-US"/>
          </a:p>
        </p:txBody>
      </p:sp>
      <p:sp>
        <p:nvSpPr>
          <p:cNvPr id="40966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JRadioButton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CheckboxGroup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과 유사하게 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ButtonGroup 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클래스의 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add 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메쏘드를 통해서 라디오버튼들을 하나의 그룹으로 설정할 수 있도록 하였다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.</a:t>
            </a:r>
          </a:p>
          <a:p>
            <a:pPr lvl="1" eaLnBrk="1" hangingPunct="1"/>
            <a:r>
              <a:rPr lang="ko-KR" altLang="en-US">
                <a:latin typeface="Courier New" pitchFamily="49" charset="0"/>
                <a:ea typeface="굴림" pitchFamily="50" charset="-127"/>
              </a:rPr>
              <a:t>생성자</a:t>
            </a:r>
          </a:p>
          <a:p>
            <a:pPr lvl="2" algn="just" eaLnBrk="1" hangingPunct="1">
              <a:lnSpc>
                <a:spcPct val="120000"/>
              </a:lnSpc>
              <a:buFontTx/>
              <a:buNone/>
            </a:pPr>
            <a:r>
              <a:rPr lang="ko-KR" altLang="en-US">
                <a:latin typeface="Courier New" pitchFamily="49" charset="0"/>
                <a:ea typeface="굴림" pitchFamily="50" charset="-127"/>
              </a:rPr>
              <a:t>	 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JRadioButton(Icon icon) </a:t>
            </a:r>
          </a:p>
          <a:p>
            <a:pPr lvl="2" algn="just" eaLnBrk="1" hangingPunct="1">
              <a:lnSpc>
                <a:spcPct val="90000"/>
              </a:lnSpc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	 JRadioButton(Icon icon, boolean selected)</a:t>
            </a:r>
          </a:p>
          <a:p>
            <a:pPr lvl="2" algn="just" eaLnBrk="1" hangingPunct="1">
              <a:lnSpc>
                <a:spcPct val="90000"/>
              </a:lnSpc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	 JRadioButton(String text)</a:t>
            </a:r>
          </a:p>
          <a:p>
            <a:pPr lvl="2" algn="just" eaLnBrk="1" hangingPunct="1">
              <a:lnSpc>
                <a:spcPct val="90000"/>
              </a:lnSpc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	 JRadioButton(String text, boolean selected) </a:t>
            </a:r>
          </a:p>
          <a:p>
            <a:pPr lvl="2" algn="just" eaLnBrk="1" hangingPunct="1">
              <a:lnSpc>
                <a:spcPct val="90000"/>
              </a:lnSpc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	 JRadioButton(String text, Icon icon) </a:t>
            </a:r>
          </a:p>
          <a:p>
            <a:pPr lvl="2" algn="just" eaLnBrk="1" hangingPunct="1">
              <a:lnSpc>
                <a:spcPct val="90000"/>
              </a:lnSpc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	 JRadioButton(String text, Icon icon,</a:t>
            </a:r>
          </a:p>
          <a:p>
            <a:pPr lvl="2" algn="just" eaLnBrk="1" hangingPunct="1">
              <a:lnSpc>
                <a:spcPct val="90000"/>
              </a:lnSpc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                boolean selected)</a:t>
            </a:r>
          </a:p>
          <a:p>
            <a:pPr lvl="1" algn="just" eaLnBrk="1" hangingPunct="1">
              <a:lnSpc>
                <a:spcPct val="90000"/>
              </a:lnSpc>
            </a:pPr>
            <a:endParaRPr lang="ko-KR" altLang="en-US">
              <a:latin typeface="Courier New" pitchFamily="49" charset="0"/>
              <a:ea typeface="굴림" pitchFamily="50" charset="-127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ko-KR" altLang="en-US">
                <a:latin typeface="Courier New" pitchFamily="49" charset="0"/>
                <a:ea typeface="굴림" pitchFamily="50" charset="-127"/>
              </a:rPr>
              <a:t>라디오 버튼도 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AbstractButton 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클래스로부터 상속받았기 때문에 	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AbstractButton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의 메소드를 사용한다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509586DF-78BC-4622-A3D5-C1C8C50FFF4D}"/>
                  </a:ext>
                </a:extLst>
              </p14:cNvPr>
              <p14:cNvContentPartPr/>
              <p14:nvPr/>
            </p14:nvContentPartPr>
            <p14:xfrm>
              <a:off x="1402920" y="1459440"/>
              <a:ext cx="2655360" cy="36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509586DF-78BC-4622-A3D5-C1C8C50FFF4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87080" y="1396080"/>
                <a:ext cx="26866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1337EE3F-CD24-4BBA-B72A-5BEE7FF886CA}"/>
                  </a:ext>
                </a:extLst>
              </p14:cNvPr>
              <p14:cNvContentPartPr/>
              <p14:nvPr/>
            </p14:nvContentPartPr>
            <p14:xfrm>
              <a:off x="6218280" y="909000"/>
              <a:ext cx="247320" cy="30348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1337EE3F-CD24-4BBA-B72A-5BEE7FF886C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02440" y="845640"/>
                <a:ext cx="278640" cy="43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444E822F-FD5B-4C9E-87D4-BD42075C78AD}"/>
                  </a:ext>
                </a:extLst>
              </p14:cNvPr>
              <p14:cNvContentPartPr/>
              <p14:nvPr/>
            </p14:nvContentPartPr>
            <p14:xfrm>
              <a:off x="6832080" y="1092600"/>
              <a:ext cx="1634760" cy="36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444E822F-FD5B-4C9E-87D4-BD42075C78A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816240" y="1029240"/>
                <a:ext cx="16660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998EAE16-1238-44B3-A9A6-7155252D490C}"/>
                  </a:ext>
                </a:extLst>
              </p14:cNvPr>
              <p14:cNvContentPartPr/>
              <p14:nvPr/>
            </p14:nvContentPartPr>
            <p14:xfrm>
              <a:off x="6872040" y="1387800"/>
              <a:ext cx="1419120" cy="8784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998EAE16-1238-44B3-A9A6-7155252D490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856200" y="1324440"/>
                <a:ext cx="145044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A362E0AD-E681-46AD-A797-BDC7868B5641}"/>
                  </a:ext>
                </a:extLst>
              </p14:cNvPr>
              <p14:cNvContentPartPr/>
              <p14:nvPr/>
            </p14:nvContentPartPr>
            <p14:xfrm>
              <a:off x="6210360" y="1260000"/>
              <a:ext cx="351000" cy="25560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A362E0AD-E681-46AD-A797-BDC7868B564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194520" y="1196640"/>
                <a:ext cx="382320" cy="38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3E146C67-B81C-4493-8C09-CA905B1D6C2D}"/>
                  </a:ext>
                </a:extLst>
              </p14:cNvPr>
              <p14:cNvContentPartPr/>
              <p14:nvPr/>
            </p14:nvContentPartPr>
            <p14:xfrm>
              <a:off x="5970960" y="956880"/>
              <a:ext cx="239760" cy="46296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3E146C67-B81C-4493-8C09-CA905B1D6C2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955120" y="893520"/>
                <a:ext cx="271080" cy="58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FE48B396-020A-4885-83E2-172CBF17B409}"/>
                  </a:ext>
                </a:extLst>
              </p14:cNvPr>
              <p14:cNvContentPartPr/>
              <p14:nvPr/>
            </p14:nvContentPartPr>
            <p14:xfrm>
              <a:off x="5269680" y="1778400"/>
              <a:ext cx="2200680" cy="9612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FE48B396-020A-4885-83E2-172CBF17B40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253840" y="1715040"/>
                <a:ext cx="223200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74BF4105-04E9-4C59-8AD1-4E9ABFC9DB79}"/>
                  </a:ext>
                </a:extLst>
              </p14:cNvPr>
              <p14:cNvContentPartPr/>
              <p14:nvPr/>
            </p14:nvContentPartPr>
            <p14:xfrm>
              <a:off x="1849680" y="1770480"/>
              <a:ext cx="1833840" cy="9612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74BF4105-04E9-4C59-8AD1-4E9ABFC9DB7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833840" y="1707120"/>
                <a:ext cx="186516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703B894C-9CB0-4419-BA39-377A8EA98721}"/>
                  </a:ext>
                </a:extLst>
              </p14:cNvPr>
              <p14:cNvContentPartPr/>
              <p14:nvPr/>
            </p14:nvContentPartPr>
            <p14:xfrm>
              <a:off x="5620320" y="3413160"/>
              <a:ext cx="2144880" cy="199800"/>
            </p14:xfrm>
          </p:contentPart>
        </mc:Choice>
        <mc:Fallback xmlns=""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703B894C-9CB0-4419-BA39-377A8EA9872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604480" y="3349800"/>
                <a:ext cx="2176200" cy="326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>
    <p:wheel spokes="1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6E9B86E-0352-4C0B-8CF5-B9C7B24B060E}" type="slidenum">
              <a:rPr lang="en-US" altLang="ko-KR"/>
              <a:pPr>
                <a:defRPr/>
              </a:pPr>
              <a:t>26</a:t>
            </a:fld>
            <a:endParaRPr lang="en-US" altLang="ko-KR"/>
          </a:p>
        </p:txBody>
      </p:sp>
      <p:sp>
        <p:nvSpPr>
          <p:cNvPr id="41988" name="Rectangle 2"/>
          <p:cNvSpPr>
            <a:spLocks noChangeArrowheads="1"/>
          </p:cNvSpPr>
          <p:nvPr/>
        </p:nvSpPr>
        <p:spPr bwMode="auto">
          <a:xfrm>
            <a:off x="1692275" y="3716338"/>
            <a:ext cx="6840538" cy="267652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41989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534400" cy="685800"/>
          </a:xfrm>
        </p:spPr>
        <p:txBody>
          <a:bodyPr/>
          <a:lstStyle/>
          <a:p>
            <a:pPr eaLnBrk="1" hangingPunct="1"/>
            <a:r>
              <a:rPr lang="en-US" altLang="ko-KR"/>
              <a:t>       Swing Components</a:t>
            </a:r>
            <a:endParaRPr lang="ko-KR" altLang="en-US"/>
          </a:p>
        </p:txBody>
      </p:sp>
      <p:sp>
        <p:nvSpPr>
          <p:cNvPr id="4199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990600" y="1247775"/>
            <a:ext cx="7924800" cy="4924425"/>
          </a:xfrm>
        </p:spPr>
        <p:txBody>
          <a:bodyPr/>
          <a:lstStyle/>
          <a:p>
            <a:pPr eaLnBrk="1" hangingPunct="1"/>
            <a:r>
              <a:rPr lang="en-US" altLang="ko-KR">
                <a:latin typeface="Courier New" pitchFamily="49" charset="0"/>
                <a:ea typeface="굴림" pitchFamily="50" charset="-127"/>
              </a:rPr>
              <a:t>JToggleButton</a:t>
            </a:r>
          </a:p>
          <a:p>
            <a:pPr lvl="1" eaLnBrk="1" hangingPunct="1"/>
            <a:r>
              <a:rPr lang="en-US" altLang="ko-KR">
                <a:latin typeface="Courier New" pitchFamily="49" charset="0"/>
                <a:ea typeface="굴림" pitchFamily="50" charset="-127"/>
              </a:rPr>
              <a:t>JToggleButton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은 자바 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AWT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에서는 지원되지 않는 클래스로서 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JCheckBox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와 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JRadioButton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의 부모 클래스이다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.</a:t>
            </a:r>
          </a:p>
          <a:p>
            <a:pPr lvl="1" eaLnBrk="1" hangingPunct="1"/>
            <a:r>
              <a:rPr lang="en-US" altLang="ko-KR">
                <a:latin typeface="Courier New" pitchFamily="49" charset="0"/>
                <a:ea typeface="굴림" pitchFamily="50" charset="-127"/>
              </a:rPr>
              <a:t>JToggleButton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은 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On/Off 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상태를 가지면서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, 				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처음에 버튼을 누르면 눌려진 상태를 유지한다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.</a:t>
            </a:r>
          </a:p>
          <a:p>
            <a:pPr lvl="1" eaLnBrk="1" hangingPunct="1"/>
            <a:r>
              <a:rPr lang="ko-KR" altLang="en-US">
                <a:latin typeface="Courier New" pitchFamily="49" charset="0"/>
                <a:ea typeface="굴림" pitchFamily="50" charset="-127"/>
              </a:rPr>
              <a:t>생성자</a:t>
            </a:r>
          </a:p>
          <a:p>
            <a:pPr lvl="2" algn="just" eaLnBrk="1" hangingPunct="1">
              <a:buFontTx/>
              <a:buNone/>
            </a:pPr>
            <a:r>
              <a:rPr lang="ko-KR" altLang="en-US">
                <a:latin typeface="Courier New" pitchFamily="49" charset="0"/>
                <a:ea typeface="굴림" pitchFamily="50" charset="-127"/>
              </a:rPr>
              <a:t>	 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JToggleButton() </a:t>
            </a:r>
          </a:p>
          <a:p>
            <a:pPr lvl="2" algn="just" eaLnBrk="1" hangingPunct="1"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	 JToggleButton(Icon icon) </a:t>
            </a:r>
          </a:p>
          <a:p>
            <a:pPr lvl="2" algn="just" eaLnBrk="1" hangingPunct="1"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	 JToggleButton(Icon icon, boolean selected) </a:t>
            </a:r>
          </a:p>
          <a:p>
            <a:pPr lvl="2" algn="just" eaLnBrk="1" hangingPunct="1"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	 JToggleButton(String text) </a:t>
            </a:r>
          </a:p>
          <a:p>
            <a:pPr lvl="2" algn="just" eaLnBrk="1" hangingPunct="1"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	 JToggleButton(String text, boolean selected) </a:t>
            </a:r>
          </a:p>
          <a:p>
            <a:pPr lvl="2" algn="just" eaLnBrk="1" hangingPunct="1"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	 JToggleButton(String text, Icon icon) </a:t>
            </a:r>
          </a:p>
          <a:p>
            <a:pPr lvl="2" algn="just" eaLnBrk="1" hangingPunct="1"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	 JToggleButton(String text, Icon icon, </a:t>
            </a:r>
          </a:p>
          <a:p>
            <a:pPr lvl="2" algn="just" eaLnBrk="1" hangingPunct="1"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                boolean selected)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A0C25127-D530-4605-9EE6-D06B85A9B977}"/>
                  </a:ext>
                </a:extLst>
              </p14:cNvPr>
              <p14:cNvContentPartPr/>
              <p14:nvPr/>
            </p14:nvContentPartPr>
            <p14:xfrm>
              <a:off x="3196800" y="2352600"/>
              <a:ext cx="1227960" cy="4032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A0C25127-D530-4605-9EE6-D06B85A9B97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80960" y="2289240"/>
                <a:ext cx="125928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F7464203-EE23-4348-A292-25DE767057AA}"/>
                  </a:ext>
                </a:extLst>
              </p14:cNvPr>
              <p14:cNvContentPartPr/>
              <p14:nvPr/>
            </p14:nvContentPartPr>
            <p14:xfrm>
              <a:off x="4902840" y="2288880"/>
              <a:ext cx="1347480" cy="828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F7464203-EE23-4348-A292-25DE767057A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87000" y="2225520"/>
                <a:ext cx="137880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0A897CAF-0647-4213-ADF5-552DC94602D0}"/>
                  </a:ext>
                </a:extLst>
              </p14:cNvPr>
              <p14:cNvContentPartPr/>
              <p14:nvPr/>
            </p14:nvContentPartPr>
            <p14:xfrm>
              <a:off x="1275480" y="1363680"/>
              <a:ext cx="2782800" cy="5616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0A897CAF-0647-4213-ADF5-552DC94602D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59640" y="1300320"/>
                <a:ext cx="281412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641303AC-20C5-4BD8-8C97-D89E60F7925F}"/>
                  </a:ext>
                </a:extLst>
              </p14:cNvPr>
              <p14:cNvContentPartPr/>
              <p14:nvPr/>
            </p14:nvContentPartPr>
            <p14:xfrm>
              <a:off x="3045240" y="1794240"/>
              <a:ext cx="1507320" cy="86184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641303AC-20C5-4BD8-8C97-D89E60F7925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29400" y="1730880"/>
                <a:ext cx="1538640" cy="9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5ECE4097-5E9B-4264-8F05-060E24193A81}"/>
                  </a:ext>
                </a:extLst>
              </p14:cNvPr>
              <p14:cNvContentPartPr/>
              <p14:nvPr/>
            </p14:nvContentPartPr>
            <p14:xfrm>
              <a:off x="5221800" y="1571040"/>
              <a:ext cx="1658520" cy="126828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5ECE4097-5E9B-4264-8F05-060E24193A8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205960" y="1507680"/>
                <a:ext cx="1689840" cy="1395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>
    <p:wheel spokes="1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EF3709D-71C6-49CA-B0EA-82D85D777D11}" type="slidenum">
              <a:rPr lang="en-US" altLang="ko-KR"/>
              <a:pPr>
                <a:defRPr/>
              </a:pPr>
              <a:t>27</a:t>
            </a:fld>
            <a:endParaRPr lang="en-US" altLang="ko-KR"/>
          </a:p>
        </p:txBody>
      </p:sp>
      <p:sp>
        <p:nvSpPr>
          <p:cNvPr id="43012" name="Rectangle 2"/>
          <p:cNvSpPr>
            <a:spLocks noChangeArrowheads="1"/>
          </p:cNvSpPr>
          <p:nvPr/>
        </p:nvSpPr>
        <p:spPr bwMode="auto">
          <a:xfrm>
            <a:off x="1841500" y="4648200"/>
            <a:ext cx="4635500" cy="13843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43013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534400" cy="685800"/>
          </a:xfrm>
        </p:spPr>
        <p:txBody>
          <a:bodyPr/>
          <a:lstStyle/>
          <a:p>
            <a:pPr eaLnBrk="1" hangingPunct="1"/>
            <a:r>
              <a:rPr lang="en-US" altLang="ko-KR"/>
              <a:t>       Swing Components</a:t>
            </a:r>
            <a:endParaRPr lang="ko-KR" altLang="en-US"/>
          </a:p>
        </p:txBody>
      </p:sp>
      <p:sp>
        <p:nvSpPr>
          <p:cNvPr id="43014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dirty="0">
                <a:latin typeface="Courier New" pitchFamily="49" charset="0"/>
                <a:ea typeface="굴림" pitchFamily="50" charset="-127"/>
              </a:rPr>
              <a:t> </a:t>
            </a:r>
            <a:r>
              <a:rPr lang="en-US" altLang="ko-KR" dirty="0" err="1">
                <a:latin typeface="Courier New" pitchFamily="49" charset="0"/>
                <a:ea typeface="굴림" pitchFamily="50" charset="-127"/>
              </a:rPr>
              <a:t>JList</a:t>
            </a:r>
            <a:r>
              <a:rPr lang="en-US" altLang="ko-KR" dirty="0">
                <a:latin typeface="Courier New" pitchFamily="49" charset="0"/>
                <a:ea typeface="굴림" pitchFamily="50" charset="-127"/>
              </a:rPr>
              <a:t> </a:t>
            </a:r>
          </a:p>
          <a:p>
            <a:pPr lvl="1" eaLnBrk="1" hangingPunct="1"/>
            <a:r>
              <a:rPr lang="en-US" altLang="ko-KR" sz="1800" dirty="0" err="1">
                <a:latin typeface="Courier New" pitchFamily="49" charset="0"/>
                <a:ea typeface="굴림" pitchFamily="50" charset="-127"/>
              </a:rPr>
              <a:t>JList</a:t>
            </a:r>
            <a:r>
              <a:rPr lang="ko-KR" altLang="en-US" sz="1800" dirty="0">
                <a:latin typeface="Courier New" pitchFamily="49" charset="0"/>
                <a:ea typeface="굴림" pitchFamily="50" charset="-127"/>
              </a:rPr>
              <a:t>는 </a:t>
            </a:r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AWT</a:t>
            </a:r>
            <a:r>
              <a:rPr lang="ko-KR" altLang="en-US" sz="1800" dirty="0">
                <a:latin typeface="Courier New" pitchFamily="49" charset="0"/>
                <a:ea typeface="굴림" pitchFamily="50" charset="-127"/>
              </a:rPr>
              <a:t>의 </a:t>
            </a:r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List </a:t>
            </a:r>
            <a:r>
              <a:rPr lang="ko-KR" altLang="en-US" sz="1800" dirty="0">
                <a:latin typeface="Courier New" pitchFamily="49" charset="0"/>
                <a:ea typeface="굴림" pitchFamily="50" charset="-127"/>
              </a:rPr>
              <a:t>클래스와 유사</a:t>
            </a:r>
          </a:p>
          <a:p>
            <a:pPr lvl="1" eaLnBrk="1" hangingPunct="1"/>
            <a:r>
              <a:rPr lang="en-US" altLang="ko-KR" sz="1800" dirty="0" err="1">
                <a:latin typeface="Courier New" pitchFamily="49" charset="0"/>
                <a:ea typeface="굴림" pitchFamily="50" charset="-127"/>
              </a:rPr>
              <a:t>JList</a:t>
            </a:r>
            <a:r>
              <a:rPr lang="ko-KR" altLang="en-US" sz="1800" dirty="0">
                <a:latin typeface="Courier New" pitchFamily="49" charset="0"/>
                <a:ea typeface="굴림" pitchFamily="50" charset="-127"/>
              </a:rPr>
              <a:t>는 자동적으로 스크롤바를 만들어주지 않는다</a:t>
            </a:r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.</a:t>
            </a:r>
          </a:p>
          <a:p>
            <a:pPr lvl="1" eaLnBrk="1" hangingPunct="1"/>
            <a:r>
              <a:rPr lang="ko-KR" altLang="en-US" sz="1800" dirty="0">
                <a:latin typeface="Courier New" pitchFamily="49" charset="0"/>
                <a:ea typeface="굴림" pitchFamily="50" charset="-127"/>
              </a:rPr>
              <a:t>리스트에 스크롤 기능을 추가하기 위해서는 </a:t>
            </a:r>
            <a:r>
              <a:rPr lang="en-US" altLang="ko-KR" sz="1800" dirty="0" err="1">
                <a:latin typeface="Courier New" pitchFamily="49" charset="0"/>
                <a:ea typeface="굴림" pitchFamily="50" charset="-127"/>
              </a:rPr>
              <a:t>JScrollPane</a:t>
            </a:r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 </a:t>
            </a:r>
            <a:r>
              <a:rPr lang="ko-KR" altLang="en-US" sz="1800" dirty="0">
                <a:latin typeface="Courier New" pitchFamily="49" charset="0"/>
                <a:ea typeface="굴림" pitchFamily="50" charset="-127"/>
              </a:rPr>
              <a:t>클래스를 이용해야 한다</a:t>
            </a:r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.</a:t>
            </a:r>
          </a:p>
          <a:p>
            <a:pPr lvl="2" algn="just" eaLnBrk="1" hangingPunct="1">
              <a:spcBef>
                <a:spcPts val="1125"/>
              </a:spcBef>
            </a:pPr>
            <a:r>
              <a:rPr lang="ko-KR" altLang="en-US" dirty="0">
                <a:latin typeface="Courier New" pitchFamily="49" charset="0"/>
                <a:ea typeface="굴림" pitchFamily="50" charset="-127"/>
              </a:rPr>
              <a:t>예 </a:t>
            </a:r>
            <a:r>
              <a:rPr lang="en-US" altLang="ko-KR" dirty="0">
                <a:latin typeface="Courier New" pitchFamily="49" charset="0"/>
                <a:ea typeface="굴림" pitchFamily="50" charset="-127"/>
              </a:rPr>
              <a:t>:</a:t>
            </a:r>
          </a:p>
          <a:p>
            <a:pPr lvl="2" algn="just" eaLnBrk="1" hangingPunct="1">
              <a:buFontTx/>
              <a:buNone/>
            </a:pPr>
            <a:r>
              <a:rPr lang="en-US" altLang="ko-KR" dirty="0">
                <a:latin typeface="Courier New" pitchFamily="49" charset="0"/>
                <a:ea typeface="굴림" pitchFamily="50" charset="-127"/>
              </a:rPr>
              <a:t>	</a:t>
            </a:r>
            <a:r>
              <a:rPr lang="en-US" altLang="ko-KR" dirty="0" err="1">
                <a:latin typeface="Courier New" pitchFamily="49" charset="0"/>
                <a:ea typeface="굴림" pitchFamily="50" charset="-127"/>
              </a:rPr>
              <a:t>JList</a:t>
            </a:r>
            <a:r>
              <a:rPr lang="en-US" altLang="ko-KR" dirty="0">
                <a:latin typeface="Courier New" pitchFamily="49" charset="0"/>
                <a:ea typeface="굴림" pitchFamily="50" charset="-127"/>
              </a:rPr>
              <a:t> list = new </a:t>
            </a:r>
            <a:r>
              <a:rPr lang="en-US" altLang="ko-KR" dirty="0" err="1">
                <a:latin typeface="Courier New" pitchFamily="49" charset="0"/>
                <a:ea typeface="굴림" pitchFamily="50" charset="-127"/>
              </a:rPr>
              <a:t>JList</a:t>
            </a:r>
            <a:r>
              <a:rPr lang="en-US" altLang="ko-KR" dirty="0">
                <a:latin typeface="Courier New" pitchFamily="49" charset="0"/>
                <a:ea typeface="굴림" pitchFamily="50" charset="-127"/>
              </a:rPr>
              <a:t>(</a:t>
            </a:r>
            <a:r>
              <a:rPr lang="en-US" altLang="ko-KR" dirty="0" err="1">
                <a:latin typeface="Courier New" pitchFamily="49" charset="0"/>
                <a:ea typeface="굴림" pitchFamily="50" charset="-127"/>
              </a:rPr>
              <a:t>stringArray</a:t>
            </a:r>
            <a:r>
              <a:rPr lang="en-US" altLang="ko-KR" dirty="0">
                <a:latin typeface="Courier New" pitchFamily="49" charset="0"/>
                <a:ea typeface="굴림" pitchFamily="50" charset="-127"/>
              </a:rPr>
              <a:t>);</a:t>
            </a:r>
          </a:p>
          <a:p>
            <a:pPr lvl="2" algn="just" eaLnBrk="1" hangingPunct="1">
              <a:buFontTx/>
              <a:buNone/>
            </a:pPr>
            <a:r>
              <a:rPr lang="en-US" altLang="ko-KR" dirty="0">
                <a:latin typeface="Courier New" pitchFamily="49" charset="0"/>
                <a:ea typeface="굴림" pitchFamily="50" charset="-127"/>
              </a:rPr>
              <a:t>	</a:t>
            </a:r>
            <a:r>
              <a:rPr lang="en-US" altLang="ko-KR" dirty="0" err="1">
                <a:latin typeface="Courier New" pitchFamily="49" charset="0"/>
                <a:ea typeface="굴림" pitchFamily="50" charset="-127"/>
              </a:rPr>
              <a:t>ScrollPane</a:t>
            </a:r>
            <a:r>
              <a:rPr lang="en-US" altLang="ko-KR" dirty="0">
                <a:latin typeface="Courier New" pitchFamily="49" charset="0"/>
                <a:ea typeface="굴림" pitchFamily="50" charset="-127"/>
              </a:rPr>
              <a:t> pane = new </a:t>
            </a:r>
            <a:r>
              <a:rPr lang="en-US" altLang="ko-KR" dirty="0" err="1">
                <a:latin typeface="Courier New" pitchFamily="49" charset="0"/>
                <a:ea typeface="굴림" pitchFamily="50" charset="-127"/>
              </a:rPr>
              <a:t>ScrollPane</a:t>
            </a:r>
            <a:r>
              <a:rPr lang="en-US" altLang="ko-KR" dirty="0">
                <a:latin typeface="Courier New" pitchFamily="49" charset="0"/>
                <a:ea typeface="굴림" pitchFamily="50" charset="-127"/>
              </a:rPr>
              <a:t>();</a:t>
            </a:r>
          </a:p>
          <a:p>
            <a:pPr lvl="2" algn="just" eaLnBrk="1" hangingPunct="1">
              <a:buFontTx/>
              <a:buNone/>
            </a:pPr>
            <a:r>
              <a:rPr lang="en-US" altLang="ko-KR" dirty="0">
                <a:latin typeface="Courier New" pitchFamily="49" charset="0"/>
                <a:ea typeface="굴림" pitchFamily="50" charset="-127"/>
              </a:rPr>
              <a:t>	</a:t>
            </a:r>
            <a:r>
              <a:rPr lang="en-US" altLang="ko-KR" dirty="0" err="1">
                <a:latin typeface="Courier New" pitchFamily="49" charset="0"/>
                <a:ea typeface="굴림" pitchFamily="50" charset="-127"/>
              </a:rPr>
              <a:t>pane.add</a:t>
            </a:r>
            <a:r>
              <a:rPr lang="en-US" altLang="ko-KR" dirty="0">
                <a:latin typeface="Courier New" pitchFamily="49" charset="0"/>
                <a:ea typeface="굴림" pitchFamily="50" charset="-127"/>
              </a:rPr>
              <a:t> (list);</a:t>
            </a:r>
          </a:p>
          <a:p>
            <a:pPr lvl="1" algn="just" eaLnBrk="1" hangingPunct="1"/>
            <a:r>
              <a:rPr lang="ko-KR" altLang="en-US" sz="1800" dirty="0">
                <a:latin typeface="Courier New" pitchFamily="49" charset="0"/>
                <a:ea typeface="굴림" pitchFamily="50" charset="-127"/>
              </a:rPr>
              <a:t>생성자</a:t>
            </a:r>
          </a:p>
          <a:p>
            <a:pPr lvl="2" algn="just" eaLnBrk="1" hangingPunct="1">
              <a:buFontTx/>
              <a:buNone/>
            </a:pPr>
            <a:r>
              <a:rPr lang="ko-KR" altLang="en-US" dirty="0">
                <a:latin typeface="Courier New" pitchFamily="49" charset="0"/>
                <a:ea typeface="굴림" pitchFamily="50" charset="-127"/>
              </a:rPr>
              <a:t>	 </a:t>
            </a:r>
            <a:r>
              <a:rPr lang="en-US" altLang="ko-KR" dirty="0" err="1">
                <a:latin typeface="Courier New" pitchFamily="49" charset="0"/>
                <a:ea typeface="굴림" pitchFamily="50" charset="-127"/>
              </a:rPr>
              <a:t>JList</a:t>
            </a:r>
            <a:r>
              <a:rPr lang="en-US" altLang="ko-KR" dirty="0">
                <a:latin typeface="Courier New" pitchFamily="49" charset="0"/>
                <a:ea typeface="굴림" pitchFamily="50" charset="-127"/>
              </a:rPr>
              <a:t>(</a:t>
            </a:r>
            <a:r>
              <a:rPr lang="en-US" altLang="ko-KR" dirty="0" err="1">
                <a:latin typeface="Courier New" pitchFamily="49" charset="0"/>
                <a:ea typeface="굴림" pitchFamily="50" charset="-127"/>
              </a:rPr>
              <a:t>ListModel</a:t>
            </a:r>
            <a:r>
              <a:rPr lang="en-US" altLang="ko-KR" dirty="0">
                <a:latin typeface="Courier New" pitchFamily="49" charset="0"/>
                <a:ea typeface="굴림" pitchFamily="50" charset="-127"/>
              </a:rPr>
              <a:t> </a:t>
            </a:r>
            <a:r>
              <a:rPr lang="en-US" altLang="ko-KR" dirty="0" err="1">
                <a:latin typeface="Courier New" pitchFamily="49" charset="0"/>
                <a:ea typeface="굴림" pitchFamily="50" charset="-127"/>
              </a:rPr>
              <a:t>dataModel</a:t>
            </a:r>
            <a:r>
              <a:rPr lang="en-US" altLang="ko-KR" dirty="0">
                <a:latin typeface="Courier New" pitchFamily="49" charset="0"/>
                <a:ea typeface="굴림" pitchFamily="50" charset="-127"/>
              </a:rPr>
              <a:t>) </a:t>
            </a:r>
          </a:p>
          <a:p>
            <a:pPr lvl="2" algn="just" eaLnBrk="1" hangingPunct="1">
              <a:buFontTx/>
              <a:buNone/>
            </a:pPr>
            <a:r>
              <a:rPr lang="en-US" altLang="ko-KR" dirty="0">
                <a:latin typeface="Courier New" pitchFamily="49" charset="0"/>
                <a:ea typeface="굴림" pitchFamily="50" charset="-127"/>
              </a:rPr>
              <a:t>	 </a:t>
            </a:r>
            <a:r>
              <a:rPr lang="en-US" altLang="ko-KR" dirty="0" err="1">
                <a:latin typeface="Courier New" pitchFamily="49" charset="0"/>
                <a:ea typeface="굴림" pitchFamily="50" charset="-127"/>
              </a:rPr>
              <a:t>JList</a:t>
            </a:r>
            <a:r>
              <a:rPr lang="en-US" altLang="ko-KR" dirty="0">
                <a:latin typeface="Courier New" pitchFamily="49" charset="0"/>
                <a:ea typeface="굴림" pitchFamily="50" charset="-127"/>
              </a:rPr>
              <a:t>(Object[] </a:t>
            </a:r>
            <a:r>
              <a:rPr lang="en-US" altLang="ko-KR" dirty="0" err="1">
                <a:latin typeface="Courier New" pitchFamily="49" charset="0"/>
                <a:ea typeface="굴림" pitchFamily="50" charset="-127"/>
              </a:rPr>
              <a:t>listData</a:t>
            </a:r>
            <a:r>
              <a:rPr lang="en-US" altLang="ko-KR" dirty="0">
                <a:latin typeface="Courier New" pitchFamily="49" charset="0"/>
                <a:ea typeface="굴림" pitchFamily="50" charset="-127"/>
              </a:rPr>
              <a:t>)</a:t>
            </a:r>
          </a:p>
          <a:p>
            <a:pPr lvl="2" algn="just" eaLnBrk="1" hangingPunct="1">
              <a:buFontTx/>
              <a:buNone/>
            </a:pPr>
            <a:r>
              <a:rPr lang="en-US" altLang="ko-KR" dirty="0">
                <a:latin typeface="Courier New" pitchFamily="49" charset="0"/>
                <a:ea typeface="굴림" pitchFamily="50" charset="-127"/>
              </a:rPr>
              <a:t>	 </a:t>
            </a:r>
            <a:r>
              <a:rPr lang="en-US" altLang="ko-KR" dirty="0" err="1">
                <a:latin typeface="Courier New" pitchFamily="49" charset="0"/>
                <a:ea typeface="굴림" pitchFamily="50" charset="-127"/>
              </a:rPr>
              <a:t>JList</a:t>
            </a:r>
            <a:r>
              <a:rPr lang="en-US" altLang="ko-KR" dirty="0">
                <a:latin typeface="Courier New" pitchFamily="49" charset="0"/>
                <a:ea typeface="굴림" pitchFamily="50" charset="-127"/>
              </a:rPr>
              <a:t>(Vector </a:t>
            </a:r>
            <a:r>
              <a:rPr lang="en-US" altLang="ko-KR" dirty="0" err="1">
                <a:latin typeface="Courier New" pitchFamily="49" charset="0"/>
                <a:ea typeface="굴림" pitchFamily="50" charset="-127"/>
              </a:rPr>
              <a:t>listData</a:t>
            </a:r>
            <a:r>
              <a:rPr lang="en-US" altLang="ko-KR" dirty="0">
                <a:latin typeface="Courier New" pitchFamily="49" charset="0"/>
                <a:ea typeface="굴림" pitchFamily="50" charset="-127"/>
              </a:rPr>
              <a:t>)</a:t>
            </a:r>
          </a:p>
          <a:p>
            <a:pPr lvl="2" algn="just" eaLnBrk="1" hangingPunct="1">
              <a:buFontTx/>
              <a:buNone/>
            </a:pPr>
            <a:r>
              <a:rPr lang="en-US" altLang="ko-KR" dirty="0">
                <a:latin typeface="Courier New" pitchFamily="49" charset="0"/>
                <a:ea typeface="굴림" pitchFamily="50" charset="-127"/>
              </a:rPr>
              <a:t>	 </a:t>
            </a:r>
            <a:r>
              <a:rPr lang="en-US" altLang="ko-KR" dirty="0" err="1">
                <a:latin typeface="Courier New" pitchFamily="49" charset="0"/>
                <a:ea typeface="굴림" pitchFamily="50" charset="-127"/>
              </a:rPr>
              <a:t>JList</a:t>
            </a:r>
            <a:r>
              <a:rPr lang="en-US" altLang="ko-KR" dirty="0">
                <a:latin typeface="Courier New" pitchFamily="49" charset="0"/>
                <a:ea typeface="굴림" pitchFamily="50" charset="-127"/>
              </a:rPr>
              <a:t>()</a:t>
            </a:r>
          </a:p>
        </p:txBody>
      </p:sp>
      <p:pic>
        <p:nvPicPr>
          <p:cNvPr id="19" name="Picture 5">
            <a:extLst>
              <a:ext uri="{FF2B5EF4-FFF2-40B4-BE49-F238E27FC236}">
                <a16:creationId xmlns:a16="http://schemas.microsoft.com/office/drawing/2014/main" id="{8AB69C43-193D-40F5-BA7A-6043E7FEF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7275513" y="3941763"/>
            <a:ext cx="1817687" cy="1931987"/>
          </a:xfrm>
          <a:prstGeom prst="rect">
            <a:avLst/>
          </a:prstGeom>
          <a:noFill/>
        </p:spPr>
      </p:pic>
    </p:spTree>
    <p:custDataLst>
      <p:tags r:id="rId1"/>
    </p:custDataLst>
  </p:cSld>
  <p:clrMapOvr>
    <a:masterClrMapping/>
  </p:clrMapOvr>
  <p:transition spd="med">
    <p:wheel spokes="1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24720ED-989D-4FF3-B189-0F3A897FBDBA}" type="slidenum">
              <a:rPr lang="en-US" altLang="ko-KR"/>
              <a:pPr>
                <a:defRPr/>
              </a:pPr>
              <a:t>28</a:t>
            </a:fld>
            <a:endParaRPr lang="en-US" altLang="ko-KR"/>
          </a:p>
        </p:txBody>
      </p:sp>
      <p:sp>
        <p:nvSpPr>
          <p:cNvPr id="44036" name="Rectangle 2"/>
          <p:cNvSpPr>
            <a:spLocks noChangeArrowheads="1"/>
          </p:cNvSpPr>
          <p:nvPr/>
        </p:nvSpPr>
        <p:spPr bwMode="auto">
          <a:xfrm>
            <a:off x="1524000" y="3500438"/>
            <a:ext cx="6248400" cy="18732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4403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sz="2000">
                <a:latin typeface="Courier New" pitchFamily="49" charset="0"/>
                <a:ea typeface="굴림" pitchFamily="50" charset="-127"/>
              </a:rPr>
              <a:t> JComboBox </a:t>
            </a:r>
            <a:r>
              <a:rPr lang="ko-KR" altLang="en-US" sz="2000">
                <a:latin typeface="Courier New" pitchFamily="49" charset="0"/>
                <a:ea typeface="굴림" pitchFamily="50" charset="-127"/>
              </a:rPr>
              <a:t>와 </a:t>
            </a:r>
            <a:r>
              <a:rPr lang="en-US" altLang="ko-KR" sz="2000">
                <a:latin typeface="Courier New" pitchFamily="49" charset="0"/>
                <a:ea typeface="굴림" pitchFamily="50" charset="-127"/>
              </a:rPr>
              <a:t>DefaultComboBoxModel</a:t>
            </a:r>
          </a:p>
          <a:p>
            <a:pPr eaLnBrk="1" hangingPunct="1"/>
            <a:endParaRPr lang="en-US" altLang="ko-KR" sz="2000">
              <a:latin typeface="Courier New" pitchFamily="49" charset="0"/>
              <a:ea typeface="굴림" pitchFamily="50" charset="-127"/>
            </a:endParaRPr>
          </a:p>
          <a:p>
            <a:pPr lvl="1" eaLnBrk="1" hangingPunct="1"/>
            <a:r>
              <a:rPr lang="ko-KR" altLang="en-US">
                <a:latin typeface="Courier New" pitchFamily="49" charset="0"/>
                <a:ea typeface="굴림" pitchFamily="50" charset="-127"/>
              </a:rPr>
              <a:t>콤보박스는 자바 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AWT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의 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Choice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와 유사하다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.</a:t>
            </a:r>
          </a:p>
          <a:p>
            <a:pPr lvl="1" eaLnBrk="1" hangingPunct="1"/>
            <a:endParaRPr lang="en-US" altLang="ko-KR">
              <a:latin typeface="Courier New" pitchFamily="49" charset="0"/>
              <a:ea typeface="굴림" pitchFamily="50" charset="-127"/>
            </a:endParaRPr>
          </a:p>
          <a:p>
            <a:pPr lvl="1" eaLnBrk="1" hangingPunct="1"/>
            <a:endParaRPr lang="en-US" altLang="ko-KR">
              <a:latin typeface="Courier New" pitchFamily="49" charset="0"/>
              <a:ea typeface="굴림" pitchFamily="50" charset="-127"/>
            </a:endParaRPr>
          </a:p>
          <a:p>
            <a:pPr lvl="1" eaLnBrk="1" hangingPunct="1"/>
            <a:r>
              <a:rPr lang="ko-KR" altLang="en-US">
                <a:latin typeface="Courier New" pitchFamily="49" charset="0"/>
                <a:ea typeface="굴림" pitchFamily="50" charset="-127"/>
              </a:rPr>
              <a:t>생성자</a:t>
            </a:r>
          </a:p>
          <a:p>
            <a:pPr lvl="2" algn="just" eaLnBrk="1" hangingPunct="1">
              <a:lnSpc>
                <a:spcPct val="130000"/>
              </a:lnSpc>
              <a:buFontTx/>
              <a:buNone/>
            </a:pPr>
            <a:r>
              <a:rPr lang="ko-KR" altLang="en-US" sz="2000">
                <a:latin typeface="Courier New" pitchFamily="49" charset="0"/>
                <a:ea typeface="굴림" pitchFamily="50" charset="-127"/>
              </a:rPr>
              <a:t>	 </a:t>
            </a:r>
            <a:r>
              <a:rPr lang="en-US" altLang="ko-KR" sz="2000">
                <a:latin typeface="Courier New" pitchFamily="49" charset="0"/>
                <a:ea typeface="굴림" pitchFamily="50" charset="-127"/>
              </a:rPr>
              <a:t>JComboBox(ComboBoxModel aModel) </a:t>
            </a:r>
          </a:p>
          <a:p>
            <a:pPr lvl="2" algn="just" eaLnBrk="1" hangingPunct="1">
              <a:lnSpc>
                <a:spcPct val="130000"/>
              </a:lnSpc>
              <a:buFontTx/>
              <a:buNone/>
            </a:pPr>
            <a:r>
              <a:rPr lang="en-US" altLang="ko-KR" sz="2000">
                <a:latin typeface="Courier New" pitchFamily="49" charset="0"/>
                <a:ea typeface="굴림" pitchFamily="50" charset="-127"/>
              </a:rPr>
              <a:t>	 JComboBox(Object[] items)</a:t>
            </a:r>
          </a:p>
          <a:p>
            <a:pPr lvl="2" algn="just" eaLnBrk="1" hangingPunct="1">
              <a:lnSpc>
                <a:spcPct val="130000"/>
              </a:lnSpc>
              <a:buFontTx/>
              <a:buNone/>
            </a:pPr>
            <a:r>
              <a:rPr lang="en-US" altLang="ko-KR" sz="2000">
                <a:latin typeface="Courier New" pitchFamily="49" charset="0"/>
                <a:ea typeface="굴림" pitchFamily="50" charset="-127"/>
              </a:rPr>
              <a:t>	 JComboBox(Vector items)</a:t>
            </a:r>
          </a:p>
          <a:p>
            <a:pPr lvl="2" algn="just" eaLnBrk="1" hangingPunct="1">
              <a:lnSpc>
                <a:spcPct val="130000"/>
              </a:lnSpc>
              <a:buFontTx/>
              <a:buNone/>
            </a:pPr>
            <a:r>
              <a:rPr lang="en-US" altLang="ko-KR" sz="2000">
                <a:latin typeface="Courier New" pitchFamily="49" charset="0"/>
                <a:ea typeface="굴림" pitchFamily="50" charset="-127"/>
              </a:rPr>
              <a:t>	 JComboBox()</a:t>
            </a:r>
          </a:p>
          <a:p>
            <a:pPr lvl="2" algn="just" eaLnBrk="1" hangingPunct="1">
              <a:buFontTx/>
              <a:buNone/>
            </a:pPr>
            <a:endParaRPr lang="ko-KR" altLang="en-US" sz="2000">
              <a:latin typeface="Courier New" pitchFamily="49" charset="0"/>
              <a:ea typeface="굴림" pitchFamily="50" charset="-127"/>
            </a:endParaRPr>
          </a:p>
        </p:txBody>
      </p:sp>
      <p:sp>
        <p:nvSpPr>
          <p:cNvPr id="44038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534400" cy="685800"/>
          </a:xfrm>
        </p:spPr>
        <p:txBody>
          <a:bodyPr/>
          <a:lstStyle/>
          <a:p>
            <a:pPr eaLnBrk="1" hangingPunct="1"/>
            <a:r>
              <a:rPr lang="en-US" altLang="ko-KR"/>
              <a:t>       Swing Components</a:t>
            </a:r>
            <a:endParaRPr lang="ko-KR" altLang="en-US"/>
          </a:p>
        </p:txBody>
      </p:sp>
    </p:spTree>
    <p:custDataLst>
      <p:tags r:id="rId1"/>
    </p:custDataLst>
  </p:cSld>
  <p:clrMapOvr>
    <a:masterClrMapping/>
  </p:clrMapOvr>
  <p:transition spd="med">
    <p:wheel spokes="1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7D6F9FA-D3A9-4964-B19F-F1BC34830298}" type="slidenum">
              <a:rPr lang="en-US" altLang="ko-KR"/>
              <a:pPr>
                <a:defRPr/>
              </a:pPr>
              <a:t>29</a:t>
            </a:fld>
            <a:endParaRPr lang="en-US" altLang="ko-KR"/>
          </a:p>
        </p:txBody>
      </p:sp>
      <p:sp>
        <p:nvSpPr>
          <p:cNvPr id="45060" name="Rectangle 2"/>
          <p:cNvSpPr>
            <a:spLocks noChangeArrowheads="1"/>
          </p:cNvSpPr>
          <p:nvPr/>
        </p:nvSpPr>
        <p:spPr bwMode="auto">
          <a:xfrm>
            <a:off x="987425" y="1143000"/>
            <a:ext cx="7620000" cy="51816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4506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Swing Components</a:t>
            </a:r>
            <a:endParaRPr lang="ko-KR" altLang="en-US"/>
          </a:p>
        </p:txBody>
      </p:sp>
      <p:sp>
        <p:nvSpPr>
          <p:cNvPr id="45062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1128713" y="708025"/>
            <a:ext cx="7634287" cy="4905375"/>
          </a:xfrm>
        </p:spPr>
        <p:txBody>
          <a:bodyPr/>
          <a:lstStyle/>
          <a:p>
            <a:pPr algn="just" eaLnBrk="1" hangingPunct="1">
              <a:lnSpc>
                <a:spcPct val="70000"/>
              </a:lnSpc>
              <a:buFont typeface="Wingdings" pitchFamily="2" charset="2"/>
              <a:buNone/>
            </a:pPr>
            <a:endParaRPr lang="en-US" altLang="ko-KR" sz="1600">
              <a:latin typeface="Courier New" pitchFamily="49" charset="0"/>
              <a:ea typeface="굴림" pitchFamily="50" charset="-127"/>
            </a:endParaRPr>
          </a:p>
          <a:p>
            <a:pPr algn="just" eaLnBrk="1" hangingPunct="1">
              <a:lnSpc>
                <a:spcPct val="70000"/>
              </a:lnSpc>
              <a:buFont typeface="Wingdings" pitchFamily="2" charset="2"/>
              <a:buNone/>
            </a:pPr>
            <a:endParaRPr lang="en-US" altLang="ko-KR" sz="1600">
              <a:latin typeface="Courier New" pitchFamily="49" charset="0"/>
              <a:ea typeface="굴림" pitchFamily="50" charset="-127"/>
            </a:endParaRPr>
          </a:p>
          <a:p>
            <a:pPr algn="just"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import java.awt.*;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import javax.swing.*;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public class JListComboBox extends JFrame {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JCheckBox joy, key, mouse;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JRadioButton  single, married, divorced;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JToggleButton  onoff;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	 JList  fruits;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JComboBox  colors;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endParaRPr lang="en-US" altLang="ko-KR" sz="1600">
              <a:latin typeface="Courier New" pitchFamily="49" charset="0"/>
              <a:ea typeface="굴림" pitchFamily="50" charset="-127"/>
            </a:endParaRP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public JListComboBox() {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super(“</a:t>
            </a:r>
            <a:r>
              <a:rPr lang="ko-KR" altLang="en-US" sz="1600">
                <a:latin typeface="Courier New" pitchFamily="49" charset="0"/>
                <a:ea typeface="굴림" pitchFamily="50" charset="-127"/>
              </a:rPr>
              <a:t>스윙 컴포넌트들</a:t>
            </a:r>
            <a:r>
              <a:rPr lang="en-US" altLang="ko-KR" sz="1600">
                <a:latin typeface="Courier New" pitchFamily="49" charset="0"/>
                <a:ea typeface="굴림" pitchFamily="50" charset="-127"/>
              </a:rPr>
              <a:t>");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getContentPane().setLayout(new GridLayout(3,3));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endParaRPr lang="en-US" altLang="ko-KR" sz="1600">
              <a:latin typeface="Courier New" pitchFamily="49" charset="0"/>
              <a:ea typeface="굴림" pitchFamily="50" charset="-127"/>
            </a:endParaRP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joy = new JCheckBox("Joy Stick", true);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key = new JCheckBox("Keybord", false);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mouse = new JCheckBox("Mouse", false);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ButtonGroup bg = new ButtonGroup();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single = new JRadioButton("Single", true);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married = new JRadioButton("Married", false);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divorced = new JRadioButton("Divorced", false);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bg.add(single);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bg.add(married);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bg.add(divorced);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endParaRPr lang="en-US" altLang="ko-KR" sz="1600">
              <a:latin typeface="Courier New" pitchFamily="49" charset="0"/>
              <a:ea typeface="굴림" pitchFamily="50" charset="-127"/>
            </a:endParaRP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</a:t>
            </a:r>
          </a:p>
        </p:txBody>
      </p:sp>
    </p:spTree>
    <p:custDataLst>
      <p:tags r:id="rId1"/>
    </p:custDataLst>
  </p:cSld>
  <p:clrMapOvr>
    <a:masterClrMapping/>
  </p:clrMapOvr>
  <p:transition spd="med">
    <p:wheel spokes="1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바닥글 개체 틀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A7C4053-C880-406A-8A98-F99350A85432}" type="slidenum">
              <a:rPr lang="en-US" altLang="ko-KR"/>
              <a:pPr>
                <a:defRPr/>
              </a:pPr>
              <a:t>30</a:t>
            </a:fld>
            <a:endParaRPr lang="en-US" altLang="ko-KR"/>
          </a:p>
        </p:txBody>
      </p:sp>
      <p:sp>
        <p:nvSpPr>
          <p:cNvPr id="46084" name="Rectangle 2"/>
          <p:cNvSpPr>
            <a:spLocks noChangeArrowheads="1"/>
          </p:cNvSpPr>
          <p:nvPr/>
        </p:nvSpPr>
        <p:spPr bwMode="auto">
          <a:xfrm>
            <a:off x="989013" y="1009650"/>
            <a:ext cx="7620000" cy="539115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4608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Swing Components</a:t>
            </a:r>
            <a:endParaRPr lang="ko-KR" altLang="en-US"/>
          </a:p>
        </p:txBody>
      </p:sp>
      <p:sp>
        <p:nvSpPr>
          <p:cNvPr id="46086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009650"/>
            <a:ext cx="7850188" cy="4905375"/>
          </a:xfrm>
        </p:spPr>
        <p:txBody>
          <a:bodyPr/>
          <a:lstStyle/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onoff = new JToggleButton("On/Off");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endParaRPr lang="en-US" altLang="ko-KR" sz="1600">
              <a:latin typeface="Courier New" pitchFamily="49" charset="0"/>
              <a:ea typeface="굴림" pitchFamily="50" charset="-127"/>
            </a:endParaRP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getContentPane().add(joy);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getContentPane().add(key);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getContentPane().add(mouse);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getContentPane().add(single);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getContentPane().add(married);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getContentPane().add(divorced);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getContentPane().add(onoff);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String items[] = {"apple", "orange", "banana","pear"};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fruits = new JList(items);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fruits.setVisibleRowCount(3);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JScrollPane sp = new JScrollPane(fruits);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colors = new JComboBox();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colors.addItem("white");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colors.addItem("blue");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colors.addItem("green");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getContentPane().add(sp);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getContentPane().add(colors);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setDefaultCloseOperation(EXIT_ON_CLOSE);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setSize(200, 200);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setVisible(true);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}  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}</a:t>
            </a:r>
          </a:p>
        </p:txBody>
      </p:sp>
      <p:pic>
        <p:nvPicPr>
          <p:cNvPr id="46087" name="Picture 5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7275513" y="3941763"/>
            <a:ext cx="1817687" cy="1931987"/>
          </a:xfrm>
          <a:noFill/>
        </p:spPr>
      </p:pic>
    </p:spTree>
    <p:custDataLst>
      <p:tags r:id="rId1"/>
    </p:custDataLst>
  </p:cSld>
  <p:clrMapOvr>
    <a:masterClrMapping/>
  </p:clrMapOvr>
  <p:transition spd="med">
    <p:wheel spokes="1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356F124-A070-4B85-AA50-CAA812B7F7C9}" type="slidenum">
              <a:rPr lang="en-US" altLang="ko-KR"/>
              <a:pPr>
                <a:defRPr/>
              </a:pPr>
              <a:t>31</a:t>
            </a:fld>
            <a:endParaRPr lang="en-US" altLang="ko-KR"/>
          </a:p>
        </p:txBody>
      </p:sp>
      <p:sp>
        <p:nvSpPr>
          <p:cNvPr id="471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dirty="0"/>
              <a:t>Swing Components</a:t>
            </a:r>
            <a:endParaRPr lang="ko-KR" altLang="en-US" dirty="0"/>
          </a:p>
        </p:txBody>
      </p:sp>
      <p:sp>
        <p:nvSpPr>
          <p:cNvPr id="471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331913"/>
            <a:ext cx="8077200" cy="49053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ko-KR" altLang="en-US" sz="2000" dirty="0">
                <a:latin typeface="Courier New" pitchFamily="49" charset="0"/>
                <a:ea typeface="굴림" pitchFamily="50" charset="-127"/>
              </a:rPr>
              <a:t>텍스트 컴포넌트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sz="1800" dirty="0">
                <a:latin typeface="Courier New" pitchFamily="49" charset="0"/>
                <a:ea typeface="굴림" pitchFamily="50" charset="-127"/>
              </a:rPr>
              <a:t>텍스트 관련 컴포넌트들은 </a:t>
            </a:r>
            <a:r>
              <a:rPr lang="en-US" altLang="ko-KR" sz="1800" dirty="0" err="1">
                <a:latin typeface="Courier New" pitchFamily="49" charset="0"/>
                <a:ea typeface="굴림" pitchFamily="50" charset="-127"/>
              </a:rPr>
              <a:t>JTextComponent</a:t>
            </a:r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 </a:t>
            </a:r>
            <a:r>
              <a:rPr lang="ko-KR" altLang="en-US" sz="1800" dirty="0">
                <a:latin typeface="Courier New" pitchFamily="49" charset="0"/>
                <a:ea typeface="굴림" pitchFamily="50" charset="-127"/>
              </a:rPr>
              <a:t>클래스로부터 상속받음</a:t>
            </a:r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sz="1800" dirty="0">
                <a:latin typeface="Courier New" pitchFamily="49" charset="0"/>
                <a:ea typeface="굴림" pitchFamily="50" charset="-127"/>
              </a:rPr>
              <a:t>용도에 따라 텍스트 컨트롤</a:t>
            </a:r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, </a:t>
            </a:r>
            <a:r>
              <a:rPr lang="ko-KR" altLang="en-US" sz="1800" dirty="0">
                <a:latin typeface="Courier New" pitchFamily="49" charset="0"/>
                <a:ea typeface="굴림" pitchFamily="50" charset="-127"/>
              </a:rPr>
              <a:t>단순 텍스트</a:t>
            </a:r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, </a:t>
            </a:r>
            <a:r>
              <a:rPr lang="ko-KR" altLang="en-US" sz="1800" dirty="0">
                <a:latin typeface="Courier New" pitchFamily="49" charset="0"/>
                <a:ea typeface="굴림" pitchFamily="50" charset="-127"/>
              </a:rPr>
              <a:t>스타일을 가지는 텍스트 영역의 세 가지 종류로 구분</a:t>
            </a:r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.</a:t>
            </a:r>
          </a:p>
          <a:p>
            <a:pPr lvl="2" eaLnBrk="1" hangingPunct="1">
              <a:lnSpc>
                <a:spcPct val="90000"/>
              </a:lnSpc>
            </a:pPr>
            <a:r>
              <a:rPr lang="ko-KR" altLang="en-US" dirty="0">
                <a:latin typeface="Courier New" pitchFamily="49" charset="0"/>
                <a:ea typeface="굴림" pitchFamily="50" charset="-127"/>
              </a:rPr>
              <a:t>텍스트 컨트롤은 한 줄을 입력할 수 있는 </a:t>
            </a:r>
            <a:r>
              <a:rPr lang="en-US" altLang="ko-KR" dirty="0" err="1">
                <a:latin typeface="Courier New" pitchFamily="49" charset="0"/>
                <a:ea typeface="굴림" pitchFamily="50" charset="-127"/>
              </a:rPr>
              <a:t>JTextField</a:t>
            </a:r>
            <a:r>
              <a:rPr lang="en-US" altLang="ko-KR" dirty="0">
                <a:latin typeface="Courier New" pitchFamily="49" charset="0"/>
                <a:ea typeface="굴림" pitchFamily="50" charset="-127"/>
              </a:rPr>
              <a:t>, </a:t>
            </a:r>
            <a:r>
              <a:rPr lang="en-US" altLang="ko-KR" dirty="0" err="1">
                <a:latin typeface="Courier New" pitchFamily="49" charset="0"/>
                <a:ea typeface="굴림" pitchFamily="50" charset="-127"/>
              </a:rPr>
              <a:t>JPasswordField</a:t>
            </a:r>
            <a:r>
              <a:rPr lang="en-US" altLang="ko-KR" dirty="0">
                <a:latin typeface="Courier New" pitchFamily="49" charset="0"/>
                <a:ea typeface="굴림" pitchFamily="50" charset="-127"/>
              </a:rPr>
              <a:t> </a:t>
            </a:r>
            <a:r>
              <a:rPr lang="ko-KR" altLang="en-US" dirty="0">
                <a:latin typeface="Courier New" pitchFamily="49" charset="0"/>
                <a:ea typeface="굴림" pitchFamily="50" charset="-127"/>
              </a:rPr>
              <a:t>클래스들</a:t>
            </a:r>
            <a:r>
              <a:rPr lang="en-US" altLang="ko-KR" dirty="0">
                <a:latin typeface="Courier New" pitchFamily="49" charset="0"/>
                <a:ea typeface="굴림" pitchFamily="50" charset="-127"/>
              </a:rPr>
              <a:t>.</a:t>
            </a:r>
          </a:p>
          <a:p>
            <a:pPr lvl="2" eaLnBrk="1" hangingPunct="1">
              <a:lnSpc>
                <a:spcPct val="90000"/>
              </a:lnSpc>
            </a:pPr>
            <a:r>
              <a:rPr lang="ko-KR" altLang="en-US" dirty="0">
                <a:latin typeface="Courier New" pitchFamily="49" charset="0"/>
                <a:ea typeface="굴림" pitchFamily="50" charset="-127"/>
              </a:rPr>
              <a:t>단순 텍스트 영역은 여러 줄을 입력하지만</a:t>
            </a:r>
            <a:r>
              <a:rPr lang="en-US" altLang="ko-KR" dirty="0">
                <a:latin typeface="Courier New" pitchFamily="49" charset="0"/>
                <a:ea typeface="굴림" pitchFamily="50" charset="-127"/>
              </a:rPr>
              <a:t>, </a:t>
            </a:r>
            <a:r>
              <a:rPr lang="ko-KR" altLang="en-US" dirty="0">
                <a:latin typeface="Courier New" pitchFamily="49" charset="0"/>
                <a:ea typeface="굴림" pitchFamily="50" charset="-127"/>
              </a:rPr>
              <a:t>한 가지 폰트로 동일한 스타일의 문자열만 사용</a:t>
            </a:r>
            <a:r>
              <a:rPr lang="en-US" altLang="ko-KR" dirty="0">
                <a:latin typeface="Courier New" pitchFamily="49" charset="0"/>
                <a:ea typeface="굴림" pitchFamily="50" charset="-127"/>
              </a:rPr>
              <a:t>. </a:t>
            </a:r>
            <a:r>
              <a:rPr lang="en-US" altLang="ko-KR" dirty="0" err="1">
                <a:latin typeface="Courier New" pitchFamily="49" charset="0"/>
                <a:ea typeface="굴림" pitchFamily="50" charset="-127"/>
              </a:rPr>
              <a:t>JTextArea</a:t>
            </a:r>
            <a:r>
              <a:rPr lang="en-US" altLang="ko-KR" dirty="0">
                <a:latin typeface="Courier New" pitchFamily="49" charset="0"/>
                <a:ea typeface="굴림" pitchFamily="50" charset="-127"/>
              </a:rPr>
              <a:t> </a:t>
            </a:r>
            <a:r>
              <a:rPr lang="ko-KR" altLang="en-US" dirty="0">
                <a:latin typeface="Courier New" pitchFamily="49" charset="0"/>
                <a:ea typeface="굴림" pitchFamily="50" charset="-127"/>
              </a:rPr>
              <a:t>클래스</a:t>
            </a:r>
          </a:p>
          <a:p>
            <a:pPr lvl="2" eaLnBrk="1" hangingPunct="1">
              <a:lnSpc>
                <a:spcPct val="90000"/>
              </a:lnSpc>
            </a:pPr>
            <a:r>
              <a:rPr lang="ko-KR" altLang="en-US" dirty="0">
                <a:latin typeface="Courier New" pitchFamily="49" charset="0"/>
                <a:ea typeface="굴림" pitchFamily="50" charset="-127"/>
              </a:rPr>
              <a:t>스타일을 가지는 텍스트 영역은 여러 폰트를 사용해서 문자열들을 화면에 보여줄 수 있는 </a:t>
            </a:r>
            <a:r>
              <a:rPr lang="en-US" altLang="ko-KR" dirty="0" err="1">
                <a:latin typeface="Courier New" pitchFamily="49" charset="0"/>
                <a:ea typeface="굴림" pitchFamily="50" charset="-127"/>
              </a:rPr>
              <a:t>JEditorPane</a:t>
            </a:r>
            <a:r>
              <a:rPr lang="en-US" altLang="ko-KR" dirty="0">
                <a:latin typeface="Courier New" pitchFamily="49" charset="0"/>
                <a:ea typeface="굴림" pitchFamily="50" charset="-127"/>
              </a:rPr>
              <a:t>, </a:t>
            </a:r>
            <a:r>
              <a:rPr lang="en-US" altLang="ko-KR" dirty="0" err="1">
                <a:latin typeface="Courier New" pitchFamily="49" charset="0"/>
                <a:ea typeface="굴림" pitchFamily="50" charset="-127"/>
              </a:rPr>
              <a:t>JTextPane</a:t>
            </a:r>
            <a:r>
              <a:rPr lang="en-US" altLang="ko-KR" dirty="0">
                <a:latin typeface="Courier New" pitchFamily="49" charset="0"/>
                <a:ea typeface="굴림" pitchFamily="50" charset="-127"/>
              </a:rPr>
              <a:t> </a:t>
            </a:r>
            <a:r>
              <a:rPr lang="ko-KR" altLang="en-US" dirty="0">
                <a:latin typeface="Courier New" pitchFamily="49" charset="0"/>
                <a:ea typeface="굴림" pitchFamily="50" charset="-127"/>
              </a:rPr>
              <a:t>클래스들</a:t>
            </a:r>
            <a:r>
              <a:rPr lang="en-US" altLang="ko-KR" dirty="0">
                <a:latin typeface="Courier New" pitchFamily="49" charset="0"/>
                <a:ea typeface="굴림" pitchFamily="50" charset="-127"/>
              </a:rPr>
              <a:t>.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ko-KR" sz="1800" dirty="0" err="1">
                <a:latin typeface="Courier New" pitchFamily="49" charset="0"/>
                <a:ea typeface="굴림" pitchFamily="50" charset="-127"/>
              </a:rPr>
              <a:t>JTextComponent</a:t>
            </a:r>
            <a:r>
              <a:rPr lang="ko-KR" altLang="en-US" sz="1800" dirty="0">
                <a:latin typeface="Courier New" pitchFamily="49" charset="0"/>
                <a:ea typeface="굴림" pitchFamily="50" charset="-127"/>
              </a:rPr>
              <a:t>는 텍스트를 처리할 수 있는 기본적인 기능들 제공</a:t>
            </a:r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.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ko-KR" altLang="en-US" sz="1800" dirty="0">
                <a:latin typeface="Courier New" pitchFamily="49" charset="0"/>
                <a:ea typeface="굴림" pitchFamily="50" charset="-127"/>
              </a:rPr>
              <a:t>텍스트는 </a:t>
            </a:r>
            <a:r>
              <a:rPr lang="ko-KR" altLang="en-US" sz="1800" dirty="0" err="1">
                <a:latin typeface="Courier New" pitchFamily="49" charset="0"/>
                <a:ea typeface="굴림" pitchFamily="50" charset="-127"/>
              </a:rPr>
              <a:t>캐릿</a:t>
            </a:r>
            <a:r>
              <a:rPr lang="ko-KR" altLang="en-US" sz="1800" dirty="0">
                <a:latin typeface="Courier New" pitchFamily="49" charset="0"/>
                <a:ea typeface="굴림" pitchFamily="50" charset="-127"/>
              </a:rPr>
              <a:t> 모양을 변경할 수 있고</a:t>
            </a:r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, </a:t>
            </a:r>
            <a:r>
              <a:rPr lang="ko-KR" altLang="en-US" sz="1800" dirty="0">
                <a:latin typeface="Courier New" pitchFamily="49" charset="0"/>
                <a:ea typeface="굴림" pitchFamily="50" charset="-127"/>
              </a:rPr>
              <a:t>텍스트를 처리하기에 </a:t>
            </a:r>
          </a:p>
          <a:p>
            <a:pPr lvl="1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ko-KR" altLang="en-US" sz="1800" dirty="0">
                <a:latin typeface="Courier New" pitchFamily="49" charset="0"/>
                <a:ea typeface="굴림" pitchFamily="50" charset="-127"/>
              </a:rPr>
              <a:t>   필요한 기능들을 제공한다</a:t>
            </a:r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. </a:t>
            </a:r>
          </a:p>
        </p:txBody>
      </p:sp>
    </p:spTree>
    <p:custDataLst>
      <p:tags r:id="rId1"/>
    </p:custDataLst>
  </p:cSld>
  <p:clrMapOvr>
    <a:masterClrMapping/>
  </p:clrMapOvr>
  <p:transition spd="med">
    <p:wheel spokes="1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22BE45-7100-4298-B9CE-DF9212A673EC}" type="slidenum">
              <a:rPr lang="en-US" altLang="ko-KR"/>
              <a:pPr>
                <a:defRPr/>
              </a:pPr>
              <a:t>32</a:t>
            </a:fld>
            <a:endParaRPr lang="en-US" altLang="ko-KR"/>
          </a:p>
        </p:txBody>
      </p:sp>
      <p:sp>
        <p:nvSpPr>
          <p:cNvPr id="481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Swing Components</a:t>
            </a:r>
            <a:endParaRPr lang="ko-KR" altLang="en-US"/>
          </a:p>
        </p:txBody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ko-KR" altLang="en-US" sz="1800">
                <a:ea typeface="굴림" pitchFamily="50" charset="-127"/>
              </a:rPr>
              <a:t>스윙 텍스트 컴포넌트 상속 관계</a:t>
            </a:r>
          </a:p>
          <a:p>
            <a:pPr eaLnBrk="1" hangingPunct="1"/>
            <a:endParaRPr lang="ko-KR" altLang="en-US" sz="2000">
              <a:ea typeface="굴림" pitchFamily="50" charset="-127"/>
            </a:endParaRPr>
          </a:p>
        </p:txBody>
      </p:sp>
      <p:pic>
        <p:nvPicPr>
          <p:cNvPr id="4813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0" y="1981200"/>
            <a:ext cx="6143625" cy="30305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</p:spTree>
    <p:custDataLst>
      <p:tags r:id="rId1"/>
    </p:custDataLst>
  </p:cSld>
  <p:clrMapOvr>
    <a:masterClrMapping/>
  </p:clrMapOvr>
  <p:transition spd="med">
    <p:wheel spokes="1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7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3BC985B-E103-4632-9717-3C925DBC3581}" type="slidenum">
              <a:rPr lang="en-US" altLang="ko-KR"/>
              <a:pPr>
                <a:defRPr/>
              </a:pPr>
              <a:t>33</a:t>
            </a:fld>
            <a:endParaRPr lang="en-US" altLang="ko-KR"/>
          </a:p>
        </p:txBody>
      </p:sp>
      <p:sp>
        <p:nvSpPr>
          <p:cNvPr id="491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Swing Components</a:t>
            </a:r>
            <a:endParaRPr lang="ko-KR" altLang="en-US"/>
          </a:p>
        </p:txBody>
      </p:sp>
      <p:sp>
        <p:nvSpPr>
          <p:cNvPr id="49157" name="Rectangle 3"/>
          <p:cNvSpPr>
            <a:spLocks noChangeArrowheads="1"/>
          </p:cNvSpPr>
          <p:nvPr/>
        </p:nvSpPr>
        <p:spPr bwMode="auto">
          <a:xfrm>
            <a:off x="1600200" y="4114800"/>
            <a:ext cx="7239000" cy="22860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49158" name="Rectangle 4"/>
          <p:cNvSpPr>
            <a:spLocks noChangeArrowheads="1"/>
          </p:cNvSpPr>
          <p:nvPr/>
        </p:nvSpPr>
        <p:spPr bwMode="auto">
          <a:xfrm>
            <a:off x="1600200" y="1668463"/>
            <a:ext cx="7239000" cy="1836737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4915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990600" y="1287463"/>
            <a:ext cx="7924800" cy="4678362"/>
          </a:xfrm>
        </p:spPr>
        <p:txBody>
          <a:bodyPr/>
          <a:lstStyle/>
          <a:p>
            <a:pPr lvl="1" eaLnBrk="1" hangingPunct="1"/>
            <a:r>
              <a:rPr lang="en-US" altLang="ko-KR" sz="1800">
                <a:latin typeface="Courier New" pitchFamily="49" charset="0"/>
                <a:ea typeface="굴림" pitchFamily="50" charset="-127"/>
              </a:rPr>
              <a:t>JTextComponent</a:t>
            </a:r>
            <a:r>
              <a:rPr lang="ko-KR" altLang="en-US" sz="1800">
                <a:latin typeface="Courier New" pitchFamily="49" charset="0"/>
                <a:ea typeface="굴림" pitchFamily="50" charset="-127"/>
              </a:rPr>
              <a:t>는 복사</a:t>
            </a:r>
            <a:r>
              <a:rPr lang="en-US" altLang="ko-KR" sz="1800">
                <a:latin typeface="Courier New" pitchFamily="49" charset="0"/>
                <a:ea typeface="굴림" pitchFamily="50" charset="-127"/>
              </a:rPr>
              <a:t>, </a:t>
            </a:r>
            <a:r>
              <a:rPr lang="ko-KR" altLang="en-US" sz="1800">
                <a:latin typeface="Courier New" pitchFamily="49" charset="0"/>
                <a:ea typeface="굴림" pitchFamily="50" charset="-127"/>
              </a:rPr>
              <a:t>잘라내기</a:t>
            </a:r>
            <a:r>
              <a:rPr lang="en-US" altLang="ko-KR" sz="1800">
                <a:latin typeface="Courier New" pitchFamily="49" charset="0"/>
                <a:ea typeface="굴림" pitchFamily="50" charset="-127"/>
              </a:rPr>
              <a:t>, </a:t>
            </a:r>
            <a:r>
              <a:rPr lang="ko-KR" altLang="en-US" sz="1800">
                <a:latin typeface="Courier New" pitchFamily="49" charset="0"/>
                <a:ea typeface="굴림" pitchFamily="50" charset="-127"/>
              </a:rPr>
              <a:t>붙이기를 위한 메소드들</a:t>
            </a:r>
            <a:r>
              <a:rPr lang="en-US" altLang="ko-KR" sz="1800">
                <a:latin typeface="Courier New" pitchFamily="49" charset="0"/>
                <a:ea typeface="굴림" pitchFamily="50" charset="-127"/>
              </a:rPr>
              <a:t>.  </a:t>
            </a:r>
          </a:p>
          <a:p>
            <a:pPr lvl="2" eaLnBrk="1" hangingPunct="1"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  void copy() - 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현재 선택된 영역을 시스템 클립보드로 복사</a:t>
            </a:r>
            <a:endParaRPr lang="en-US" altLang="ko-KR">
              <a:latin typeface="Courier New" pitchFamily="49" charset="0"/>
              <a:ea typeface="굴림" pitchFamily="50" charset="-127"/>
            </a:endParaRPr>
          </a:p>
          <a:p>
            <a:pPr lvl="2" eaLnBrk="1" hangingPunct="1"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  void cut() - 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현재 선택된 영역을 잘라내고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, 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시스템 클립보드로 옮긴다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.</a:t>
            </a:r>
          </a:p>
          <a:p>
            <a:pPr lvl="2" eaLnBrk="1" hangingPunct="1"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  void paste() - 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시스템 클립보드에 있는 데이터를 텍스트 영역에 붙인다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.</a:t>
            </a:r>
          </a:p>
          <a:p>
            <a:pPr eaLnBrk="1" hangingPunct="1"/>
            <a:endParaRPr lang="en-US" altLang="ko-KR" sz="1800">
              <a:latin typeface="Courier New" pitchFamily="49" charset="0"/>
              <a:ea typeface="굴림" pitchFamily="50" charset="-127"/>
            </a:endParaRPr>
          </a:p>
          <a:p>
            <a:pPr lvl="1" eaLnBrk="1" hangingPunct="1"/>
            <a:r>
              <a:rPr lang="en-US" altLang="ko-KR" sz="1800">
                <a:latin typeface="Courier New" pitchFamily="49" charset="0"/>
                <a:ea typeface="굴림" pitchFamily="50" charset="-127"/>
              </a:rPr>
              <a:t> </a:t>
            </a:r>
            <a:r>
              <a:rPr lang="ko-KR" altLang="en-US" sz="1800">
                <a:latin typeface="Courier New" pitchFamily="49" charset="0"/>
                <a:ea typeface="굴림" pitchFamily="50" charset="-127"/>
              </a:rPr>
              <a:t>캐릿 형태를 알아보거나</a:t>
            </a:r>
            <a:r>
              <a:rPr lang="en-US" altLang="ko-KR" sz="1800">
                <a:latin typeface="Courier New" pitchFamily="49" charset="0"/>
                <a:ea typeface="굴림" pitchFamily="50" charset="-127"/>
              </a:rPr>
              <a:t>, </a:t>
            </a:r>
            <a:r>
              <a:rPr lang="ko-KR" altLang="en-US" sz="1800">
                <a:latin typeface="Courier New" pitchFamily="49" charset="0"/>
                <a:ea typeface="굴림" pitchFamily="50" charset="-127"/>
              </a:rPr>
              <a:t>변경하기 위한 메소드들</a:t>
            </a:r>
            <a:r>
              <a:rPr lang="en-US" altLang="ko-KR" sz="1800">
                <a:latin typeface="Courier New" pitchFamily="49" charset="0"/>
                <a:ea typeface="굴림" pitchFamily="50" charset="-127"/>
              </a:rPr>
              <a:t>. </a:t>
            </a:r>
          </a:p>
          <a:p>
            <a:pPr lvl="2" eaLnBrk="1" hangingPunct="1"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  Caret getCaret() - 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현재 설정된 캐릿을 리턴한다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. </a:t>
            </a:r>
          </a:p>
          <a:p>
            <a:pPr lvl="2" eaLnBrk="1" hangingPunct="1"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  Color getCaretColor() - 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캐릿의 색을 리턴한다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.</a:t>
            </a:r>
          </a:p>
          <a:p>
            <a:pPr lvl="2" eaLnBrk="1" hangingPunct="1"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  int getCaretPosition() - 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캐릿의 위치를 리턴한다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. </a:t>
            </a:r>
          </a:p>
          <a:p>
            <a:pPr lvl="2" eaLnBrk="1" hangingPunct="1"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  void setCaret(Caret c) - 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캐릿을 지정한다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.	</a:t>
            </a:r>
          </a:p>
          <a:p>
            <a:pPr lvl="2" eaLnBrk="1" hangingPunct="1"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  void setCaretColor(Color c) - 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캐릿의 색을 지정한다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.</a:t>
            </a:r>
          </a:p>
          <a:p>
            <a:pPr lvl="2" eaLnBrk="1" hangingPunct="1"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  void setCaretPosition(int position) - 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캐릿의 위치를 지정한다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.</a:t>
            </a:r>
          </a:p>
        </p:txBody>
      </p:sp>
    </p:spTree>
    <p:custDataLst>
      <p:tags r:id="rId1"/>
    </p:custDataLst>
  </p:cSld>
  <p:clrMapOvr>
    <a:masterClrMapping/>
  </p:clrMapOvr>
  <p:transition spd="med">
    <p:wheel spokes="1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7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42BA463-1BDA-4E68-9FA5-2C61B125D748}" type="slidenum">
              <a:rPr lang="en-US" altLang="ko-KR"/>
              <a:pPr>
                <a:defRPr/>
              </a:pPr>
              <a:t>34</a:t>
            </a:fld>
            <a:endParaRPr lang="en-US" altLang="ko-KR"/>
          </a:p>
        </p:txBody>
      </p:sp>
      <p:sp>
        <p:nvSpPr>
          <p:cNvPr id="501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Swing Components</a:t>
            </a:r>
            <a:endParaRPr lang="ko-KR" altLang="en-US"/>
          </a:p>
        </p:txBody>
      </p:sp>
      <p:sp>
        <p:nvSpPr>
          <p:cNvPr id="50181" name="Rectangle 3"/>
          <p:cNvSpPr>
            <a:spLocks noChangeArrowheads="1"/>
          </p:cNvSpPr>
          <p:nvPr/>
        </p:nvSpPr>
        <p:spPr bwMode="auto">
          <a:xfrm>
            <a:off x="1066800" y="1484313"/>
            <a:ext cx="7826375" cy="2881312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50182" name="Rectangle 4"/>
          <p:cNvSpPr>
            <a:spLocks noChangeArrowheads="1"/>
          </p:cNvSpPr>
          <p:nvPr/>
        </p:nvSpPr>
        <p:spPr bwMode="auto">
          <a:xfrm>
            <a:off x="1066800" y="4724400"/>
            <a:ext cx="7826375" cy="16764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5018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763000" cy="5486400"/>
          </a:xfrm>
        </p:spPr>
        <p:txBody>
          <a:bodyPr/>
          <a:lstStyle/>
          <a:p>
            <a:pPr lvl="1" eaLnBrk="1" hangingPunct="1"/>
            <a:r>
              <a:rPr lang="ko-KR" altLang="en-US" sz="1800">
                <a:latin typeface="Courier New" pitchFamily="49" charset="0"/>
                <a:ea typeface="굴림" pitchFamily="50" charset="-127"/>
              </a:rPr>
              <a:t>텍스트에서 선택된 부분을 알아보기 위한 메소드들</a:t>
            </a:r>
            <a:r>
              <a:rPr lang="en-US" altLang="ko-KR" sz="1800">
                <a:latin typeface="Courier New" pitchFamily="49" charset="0"/>
                <a:ea typeface="굴림" pitchFamily="50" charset="-127"/>
              </a:rPr>
              <a:t>.</a:t>
            </a:r>
          </a:p>
          <a:p>
            <a:pPr lvl="2" eaLnBrk="1" hangingPunct="1"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  String getSelectedText() - 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선택된 부분의 문자열을 리턴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 </a:t>
            </a:r>
          </a:p>
          <a:p>
            <a:pPr lvl="2" eaLnBrk="1" hangingPunct="1"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  Color getSelectedTextColor() - 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선택된 부분의 글자색을 리턴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 </a:t>
            </a:r>
          </a:p>
          <a:p>
            <a:pPr lvl="2" eaLnBrk="1" hangingPunct="1"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  int getSelectionStart() - 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선택된 부분의 처음 위치를 리턴</a:t>
            </a:r>
            <a:endParaRPr lang="en-US" altLang="ko-KR">
              <a:latin typeface="Courier New" pitchFamily="49" charset="0"/>
              <a:ea typeface="굴림" pitchFamily="50" charset="-127"/>
            </a:endParaRPr>
          </a:p>
          <a:p>
            <a:pPr lvl="2" eaLnBrk="1" hangingPunct="1"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  int getSelectionEnd() - 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선택된 부분의 끝 위치를 리턴</a:t>
            </a:r>
            <a:endParaRPr lang="en-US" altLang="ko-KR">
              <a:latin typeface="Courier New" pitchFamily="49" charset="0"/>
              <a:ea typeface="굴림" pitchFamily="50" charset="-127"/>
            </a:endParaRPr>
          </a:p>
          <a:p>
            <a:pPr lvl="2" eaLnBrk="1" hangingPunct="1"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  void select(int selectionStart, int selectionEnd) </a:t>
            </a:r>
          </a:p>
          <a:p>
            <a:pPr lvl="2" eaLnBrk="1" hangingPunct="1"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		- 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지정된 영역을 선택</a:t>
            </a:r>
            <a:endParaRPr lang="en-US" altLang="ko-KR">
              <a:latin typeface="Courier New" pitchFamily="49" charset="0"/>
              <a:ea typeface="굴림" pitchFamily="50" charset="-127"/>
            </a:endParaRPr>
          </a:p>
          <a:p>
            <a:pPr lvl="2" eaLnBrk="1" hangingPunct="1"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  void selectAll() - 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텍스트의 모든 데이터를 선택한다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.</a:t>
            </a:r>
          </a:p>
          <a:p>
            <a:pPr lvl="2" eaLnBrk="1" hangingPunct="1"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  void replaceSelection(String content) - 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선택된 부분을 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content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로 변경</a:t>
            </a:r>
            <a:endParaRPr lang="en-US" altLang="ko-KR" sz="1400">
              <a:latin typeface="Courier New" pitchFamily="49" charset="0"/>
              <a:ea typeface="굴림" pitchFamily="50" charset="-127"/>
            </a:endParaRPr>
          </a:p>
          <a:p>
            <a:pPr lvl="1" eaLnBrk="1" hangingPunct="1"/>
            <a:r>
              <a:rPr lang="ko-KR" altLang="en-US" sz="1800">
                <a:latin typeface="Courier New" pitchFamily="49" charset="0"/>
                <a:ea typeface="굴림" pitchFamily="50" charset="-127"/>
              </a:rPr>
              <a:t>텍스트 데이터를 얻거나 값을 설정하기 위한 메소드들</a:t>
            </a:r>
            <a:r>
              <a:rPr lang="en-US" altLang="ko-KR" sz="1800">
                <a:latin typeface="Courier New" pitchFamily="49" charset="0"/>
                <a:ea typeface="굴림" pitchFamily="50" charset="-127"/>
              </a:rPr>
              <a:t>.</a:t>
            </a:r>
          </a:p>
          <a:p>
            <a:pPr lvl="2" eaLnBrk="1" hangingPunct="1"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  String getText() - 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텍스트 컴포넌트의 텍스트 데이터를 리턴</a:t>
            </a:r>
            <a:endParaRPr lang="en-US" altLang="ko-KR">
              <a:latin typeface="Courier New" pitchFamily="49" charset="0"/>
              <a:ea typeface="굴림" pitchFamily="50" charset="-127"/>
            </a:endParaRPr>
          </a:p>
          <a:p>
            <a:pPr lvl="2" eaLnBrk="1" hangingPunct="1"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  String getText(int offs, int len) </a:t>
            </a:r>
          </a:p>
          <a:p>
            <a:pPr lvl="2" eaLnBrk="1" hangingPunct="1"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   - off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만큼 떨어진 곳에서 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len 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길이의 텍스트 데이터를 리턴한다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.</a:t>
            </a:r>
          </a:p>
          <a:p>
            <a:pPr lvl="2" eaLnBrk="1" hangingPunct="1"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  void setText(String t) - 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문자열 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t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를 텍스트 데이터로 설정</a:t>
            </a:r>
            <a:endParaRPr lang="en-US" altLang="ko-KR">
              <a:latin typeface="Courier New" pitchFamily="49" charset="0"/>
              <a:ea typeface="굴림" pitchFamily="50" charset="-127"/>
            </a:endParaRPr>
          </a:p>
          <a:p>
            <a:pPr lvl="2" eaLnBrk="1" hangingPunct="1">
              <a:buFontTx/>
              <a:buNone/>
            </a:pPr>
            <a:r>
              <a:rPr lang="en-US" altLang="ko-KR">
                <a:latin typeface="Courier New" pitchFamily="49" charset="0"/>
                <a:ea typeface="굴림" pitchFamily="50" charset="-127"/>
              </a:rPr>
              <a:t>  void setEditable(boolean b) - 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편집 가능 여부 설정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.</a:t>
            </a:r>
          </a:p>
          <a:p>
            <a:pPr eaLnBrk="1" hangingPunct="1"/>
            <a:endParaRPr lang="ko-KR" altLang="en-US" sz="1800">
              <a:latin typeface="Courier New" pitchFamily="49" charset="0"/>
              <a:ea typeface="굴림" pitchFamily="50" charset="-127"/>
            </a:endParaRPr>
          </a:p>
        </p:txBody>
      </p:sp>
    </p:spTree>
    <p:custDataLst>
      <p:tags r:id="rId1"/>
    </p:custDataLst>
  </p:cSld>
  <p:clrMapOvr>
    <a:masterClrMapping/>
  </p:clrMapOvr>
  <p:transition spd="med">
    <p:wheel spokes="1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E220AFD-C014-44B0-9F27-75057BE0B2BB}" type="slidenum">
              <a:rPr lang="en-US" altLang="ko-KR"/>
              <a:pPr>
                <a:defRPr/>
              </a:pPr>
              <a:t>35</a:t>
            </a:fld>
            <a:endParaRPr lang="en-US" altLang="ko-KR"/>
          </a:p>
        </p:txBody>
      </p:sp>
      <p:sp>
        <p:nvSpPr>
          <p:cNvPr id="51204" name="Rectangle 2"/>
          <p:cNvSpPr>
            <a:spLocks noChangeArrowheads="1"/>
          </p:cNvSpPr>
          <p:nvPr/>
        </p:nvSpPr>
        <p:spPr bwMode="auto">
          <a:xfrm>
            <a:off x="1676400" y="2895600"/>
            <a:ext cx="7010400" cy="237331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51205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458200" cy="685800"/>
          </a:xfrm>
        </p:spPr>
        <p:txBody>
          <a:bodyPr/>
          <a:lstStyle/>
          <a:p>
            <a:pPr eaLnBrk="1" hangingPunct="1"/>
            <a:r>
              <a:rPr lang="en-US" altLang="ko-KR"/>
              <a:t>       Swing Components</a:t>
            </a:r>
            <a:endParaRPr lang="ko-KR" altLang="en-US"/>
          </a:p>
        </p:txBody>
      </p:sp>
      <p:sp>
        <p:nvSpPr>
          <p:cNvPr id="51206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sz="2000">
                <a:latin typeface="Courier New" pitchFamily="49" charset="0"/>
                <a:ea typeface="굴림" pitchFamily="50" charset="-127"/>
              </a:rPr>
              <a:t> JTextField</a:t>
            </a:r>
          </a:p>
          <a:p>
            <a:pPr lvl="1" eaLnBrk="1" hangingPunct="1"/>
            <a:r>
              <a:rPr lang="en-US" altLang="ko-KR">
                <a:latin typeface="Courier New" pitchFamily="49" charset="0"/>
                <a:ea typeface="굴림" pitchFamily="50" charset="-127"/>
              </a:rPr>
              <a:t>JTextField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는  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TextField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처럼 한 줄의 문자열을 입력할 수 있는 클래스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.</a:t>
            </a:r>
          </a:p>
          <a:p>
            <a:pPr lvl="1" eaLnBrk="1" hangingPunct="1"/>
            <a:r>
              <a:rPr lang="ko-KR" altLang="en-US">
                <a:latin typeface="Courier New" pitchFamily="49" charset="0"/>
                <a:ea typeface="굴림" pitchFamily="50" charset="-127"/>
              </a:rPr>
              <a:t>생성자</a:t>
            </a:r>
          </a:p>
          <a:p>
            <a:pPr lvl="1" eaLnBrk="1" hangingPunct="1"/>
            <a:endParaRPr lang="ko-KR" altLang="en-US">
              <a:latin typeface="Courier New" pitchFamily="49" charset="0"/>
              <a:ea typeface="굴림" pitchFamily="50" charset="-127"/>
            </a:endParaRPr>
          </a:p>
          <a:p>
            <a:pPr lvl="2" algn="just" eaLnBrk="1" hangingPunct="1">
              <a:buFontTx/>
              <a:buNone/>
            </a:pPr>
            <a:r>
              <a:rPr lang="ko-KR" altLang="en-US" sz="2000">
                <a:latin typeface="Courier New" pitchFamily="49" charset="0"/>
                <a:ea typeface="굴림" pitchFamily="50" charset="-127"/>
              </a:rPr>
              <a:t>	 </a:t>
            </a:r>
            <a:r>
              <a:rPr lang="en-US" altLang="ko-KR" sz="2000">
                <a:latin typeface="Courier New" pitchFamily="49" charset="0"/>
                <a:ea typeface="굴림" pitchFamily="50" charset="-127"/>
              </a:rPr>
              <a:t>JTextField() </a:t>
            </a:r>
          </a:p>
          <a:p>
            <a:pPr lvl="2" algn="just" eaLnBrk="1" hangingPunct="1">
              <a:buFontTx/>
              <a:buNone/>
            </a:pPr>
            <a:r>
              <a:rPr lang="en-US" altLang="ko-KR" sz="2000">
                <a:latin typeface="Courier New" pitchFamily="49" charset="0"/>
                <a:ea typeface="굴림" pitchFamily="50" charset="-127"/>
              </a:rPr>
              <a:t>	 JTextField(String text) </a:t>
            </a:r>
          </a:p>
          <a:p>
            <a:pPr lvl="2" algn="just" eaLnBrk="1" hangingPunct="1">
              <a:buFontTx/>
              <a:buNone/>
            </a:pPr>
            <a:r>
              <a:rPr lang="en-US" altLang="ko-KR" sz="2000">
                <a:latin typeface="Courier New" pitchFamily="49" charset="0"/>
                <a:ea typeface="굴림" pitchFamily="50" charset="-127"/>
              </a:rPr>
              <a:t>	 JTextField(int columns)</a:t>
            </a:r>
          </a:p>
          <a:p>
            <a:pPr lvl="2" algn="just" eaLnBrk="1" hangingPunct="1">
              <a:buFontTx/>
              <a:buNone/>
            </a:pPr>
            <a:r>
              <a:rPr lang="en-US" altLang="ko-KR" sz="2000">
                <a:latin typeface="Courier New" pitchFamily="49" charset="0"/>
                <a:ea typeface="굴림" pitchFamily="50" charset="-127"/>
              </a:rPr>
              <a:t>	 JTextField(String text, int columns) </a:t>
            </a:r>
          </a:p>
          <a:p>
            <a:pPr lvl="2" algn="just" eaLnBrk="1" hangingPunct="1">
              <a:spcAft>
                <a:spcPts val="275"/>
              </a:spcAft>
              <a:buFontTx/>
              <a:buNone/>
            </a:pPr>
            <a:r>
              <a:rPr lang="en-US" altLang="ko-KR" sz="2000">
                <a:latin typeface="Courier New" pitchFamily="49" charset="0"/>
                <a:ea typeface="굴림" pitchFamily="50" charset="-127"/>
              </a:rPr>
              <a:t>	 JTextField(Document doc, String text, </a:t>
            </a:r>
          </a:p>
          <a:p>
            <a:pPr lvl="2" algn="just" eaLnBrk="1" hangingPunct="1">
              <a:spcAft>
                <a:spcPts val="275"/>
              </a:spcAft>
              <a:buFontTx/>
              <a:buNone/>
            </a:pPr>
            <a:r>
              <a:rPr lang="en-US" altLang="ko-KR" sz="2000">
                <a:latin typeface="Courier New" pitchFamily="49" charset="0"/>
                <a:ea typeface="굴림" pitchFamily="50" charset="-127"/>
              </a:rPr>
              <a:t>              int columns)</a:t>
            </a:r>
          </a:p>
        </p:txBody>
      </p:sp>
    </p:spTree>
    <p:custDataLst>
      <p:tags r:id="rId1"/>
    </p:custDataLst>
  </p:cSld>
  <p:clrMapOvr>
    <a:masterClrMapping/>
  </p:clrMapOvr>
  <p:transition spd="med">
    <p:wheel spokes="1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7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9D3A543-EB69-4AE2-B8E3-3B7249BA0474}" type="slidenum">
              <a:rPr lang="en-US" altLang="ko-KR"/>
              <a:pPr>
                <a:defRPr/>
              </a:pPr>
              <a:t>36</a:t>
            </a:fld>
            <a:endParaRPr lang="en-US" altLang="ko-KR" dirty="0"/>
          </a:p>
        </p:txBody>
      </p:sp>
      <p:sp>
        <p:nvSpPr>
          <p:cNvPr id="52228" name="Rectangle 2"/>
          <p:cNvSpPr>
            <a:spLocks noChangeArrowheads="1"/>
          </p:cNvSpPr>
          <p:nvPr/>
        </p:nvSpPr>
        <p:spPr bwMode="auto">
          <a:xfrm>
            <a:off x="1447800" y="2887663"/>
            <a:ext cx="7445375" cy="19812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altLang="ko-KR" sz="2000" b="1">
                <a:latin typeface="Courier New" pitchFamily="49" charset="0"/>
                <a:ea typeface="굴림" pitchFamily="50" charset="-127"/>
              </a:rPr>
              <a:t>`	</a:t>
            </a:r>
          </a:p>
        </p:txBody>
      </p:sp>
      <p:sp>
        <p:nvSpPr>
          <p:cNvPr id="52229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458200" cy="685800"/>
          </a:xfrm>
        </p:spPr>
        <p:txBody>
          <a:bodyPr/>
          <a:lstStyle/>
          <a:p>
            <a:pPr eaLnBrk="1" hangingPunct="1"/>
            <a:r>
              <a:rPr lang="en-US" altLang="ko-KR"/>
              <a:t>       Swing Components</a:t>
            </a:r>
            <a:endParaRPr lang="ko-KR" altLang="en-US"/>
          </a:p>
        </p:txBody>
      </p:sp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1476375" y="5589588"/>
            <a:ext cx="7416800" cy="792162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5223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 </a:t>
            </a:r>
            <a:r>
              <a:rPr lang="en-US" altLang="ko-KR" sz="1800" dirty="0" err="1">
                <a:latin typeface="Courier New" pitchFamily="49" charset="0"/>
                <a:ea typeface="굴림" pitchFamily="50" charset="-127"/>
              </a:rPr>
              <a:t>JPasswordField</a:t>
            </a:r>
            <a:endParaRPr lang="en-US" altLang="ko-KR" sz="1800" dirty="0">
              <a:latin typeface="Courier New" pitchFamily="49" charset="0"/>
              <a:ea typeface="굴림" pitchFamily="50" charset="-127"/>
            </a:endParaRPr>
          </a:p>
          <a:p>
            <a:pPr lvl="1" eaLnBrk="1" hangingPunct="1"/>
            <a:r>
              <a:rPr lang="en-US" altLang="ko-KR" sz="1800" dirty="0" err="1">
                <a:latin typeface="Courier New" pitchFamily="49" charset="0"/>
                <a:ea typeface="굴림" pitchFamily="50" charset="-127"/>
              </a:rPr>
              <a:t>JPasswordField</a:t>
            </a:r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 </a:t>
            </a:r>
            <a:r>
              <a:rPr lang="ko-KR" altLang="en-US" sz="1800" dirty="0">
                <a:latin typeface="Courier New" pitchFamily="49" charset="0"/>
                <a:ea typeface="굴림" pitchFamily="50" charset="-127"/>
              </a:rPr>
              <a:t>클래스는 텍스트 내용을 화면에 </a:t>
            </a:r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'*'</a:t>
            </a:r>
            <a:r>
              <a:rPr lang="ko-KR" altLang="en-US" sz="1800" dirty="0">
                <a:latin typeface="Courier New" pitchFamily="49" charset="0"/>
                <a:ea typeface="굴림" pitchFamily="50" charset="-127"/>
              </a:rPr>
              <a:t>로 표시하는 </a:t>
            </a:r>
            <a:r>
              <a:rPr lang="en-US" altLang="ko-KR" sz="1800" dirty="0" err="1">
                <a:latin typeface="Courier New" pitchFamily="49" charset="0"/>
                <a:ea typeface="굴림" pitchFamily="50" charset="-127"/>
              </a:rPr>
              <a:t>JTextField</a:t>
            </a:r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 </a:t>
            </a:r>
            <a:r>
              <a:rPr lang="ko-KR" altLang="en-US" sz="1800" dirty="0">
                <a:latin typeface="Courier New" pitchFamily="49" charset="0"/>
                <a:ea typeface="굴림" pitchFamily="50" charset="-127"/>
              </a:rPr>
              <a:t>클래스의 일종이다</a:t>
            </a:r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.</a:t>
            </a:r>
          </a:p>
          <a:p>
            <a:pPr lvl="1" eaLnBrk="1" hangingPunct="1"/>
            <a:endParaRPr lang="en-US" altLang="ko-KR" sz="1800" dirty="0">
              <a:latin typeface="Courier New" pitchFamily="49" charset="0"/>
              <a:ea typeface="굴림" pitchFamily="50" charset="-127"/>
            </a:endParaRPr>
          </a:p>
          <a:p>
            <a:pPr lvl="1" eaLnBrk="1" hangingPunct="1"/>
            <a:r>
              <a:rPr lang="ko-KR" altLang="en-US" sz="1800" dirty="0" err="1">
                <a:latin typeface="Courier New" pitchFamily="49" charset="0"/>
                <a:ea typeface="굴림" pitchFamily="50" charset="-127"/>
              </a:rPr>
              <a:t>생성자</a:t>
            </a:r>
            <a:endParaRPr lang="ko-KR" altLang="en-US" sz="1800" dirty="0">
              <a:latin typeface="Courier New" pitchFamily="49" charset="0"/>
              <a:ea typeface="굴림" pitchFamily="50" charset="-127"/>
            </a:endParaRPr>
          </a:p>
          <a:p>
            <a:pPr lvl="2" eaLnBrk="1" hangingPunct="1">
              <a:buFontTx/>
              <a:buNone/>
            </a:pPr>
            <a:r>
              <a:rPr lang="ko-KR" altLang="en-US" dirty="0">
                <a:latin typeface="Courier New" pitchFamily="49" charset="0"/>
                <a:ea typeface="굴림" pitchFamily="50" charset="-127"/>
              </a:rPr>
              <a:t>	 </a:t>
            </a:r>
            <a:r>
              <a:rPr lang="en-US" altLang="ko-KR" dirty="0" err="1">
                <a:latin typeface="Courier New" pitchFamily="49" charset="0"/>
                <a:ea typeface="굴림" pitchFamily="50" charset="-127"/>
              </a:rPr>
              <a:t>JPasswordField</a:t>
            </a:r>
            <a:r>
              <a:rPr lang="en-US" altLang="ko-KR" dirty="0">
                <a:latin typeface="Courier New" pitchFamily="49" charset="0"/>
                <a:ea typeface="굴림" pitchFamily="50" charset="-127"/>
              </a:rPr>
              <a:t>() </a:t>
            </a:r>
          </a:p>
          <a:p>
            <a:pPr lvl="2" eaLnBrk="1" hangingPunct="1">
              <a:buFontTx/>
              <a:buNone/>
            </a:pPr>
            <a:r>
              <a:rPr lang="en-US" altLang="ko-KR" dirty="0">
                <a:latin typeface="Courier New" pitchFamily="49" charset="0"/>
                <a:ea typeface="굴림" pitchFamily="50" charset="-127"/>
              </a:rPr>
              <a:t>	 </a:t>
            </a:r>
            <a:r>
              <a:rPr lang="en-US" altLang="ko-KR" dirty="0" err="1">
                <a:latin typeface="Courier New" pitchFamily="49" charset="0"/>
                <a:ea typeface="굴림" pitchFamily="50" charset="-127"/>
              </a:rPr>
              <a:t>JPasswordField</a:t>
            </a:r>
            <a:r>
              <a:rPr lang="en-US" altLang="ko-KR" dirty="0">
                <a:latin typeface="Courier New" pitchFamily="49" charset="0"/>
                <a:ea typeface="굴림" pitchFamily="50" charset="-127"/>
              </a:rPr>
              <a:t>(String text) </a:t>
            </a:r>
          </a:p>
          <a:p>
            <a:pPr lvl="2" eaLnBrk="1" hangingPunct="1">
              <a:buFontTx/>
              <a:buNone/>
            </a:pPr>
            <a:r>
              <a:rPr lang="en-US" altLang="ko-KR" dirty="0">
                <a:latin typeface="Courier New" pitchFamily="49" charset="0"/>
                <a:ea typeface="굴림" pitchFamily="50" charset="-127"/>
              </a:rPr>
              <a:t>	 </a:t>
            </a:r>
            <a:r>
              <a:rPr lang="en-US" altLang="ko-KR" dirty="0" err="1">
                <a:latin typeface="Courier New" pitchFamily="49" charset="0"/>
                <a:ea typeface="굴림" pitchFamily="50" charset="-127"/>
              </a:rPr>
              <a:t>JPasswordField</a:t>
            </a:r>
            <a:r>
              <a:rPr lang="en-US" altLang="ko-KR" dirty="0">
                <a:latin typeface="Courier New" pitchFamily="49" charset="0"/>
                <a:ea typeface="굴림" pitchFamily="50" charset="-127"/>
              </a:rPr>
              <a:t>(</a:t>
            </a:r>
            <a:r>
              <a:rPr lang="en-US" altLang="ko-KR" dirty="0" err="1">
                <a:latin typeface="Courier New" pitchFamily="49" charset="0"/>
                <a:ea typeface="굴림" pitchFamily="50" charset="-127"/>
              </a:rPr>
              <a:t>int</a:t>
            </a:r>
            <a:r>
              <a:rPr lang="en-US" altLang="ko-KR" dirty="0">
                <a:latin typeface="Courier New" pitchFamily="49" charset="0"/>
                <a:ea typeface="굴림" pitchFamily="50" charset="-127"/>
              </a:rPr>
              <a:t> columns) </a:t>
            </a:r>
          </a:p>
          <a:p>
            <a:pPr lvl="2" eaLnBrk="1" hangingPunct="1">
              <a:buFontTx/>
              <a:buNone/>
            </a:pPr>
            <a:r>
              <a:rPr lang="en-US" altLang="ko-KR" dirty="0">
                <a:latin typeface="Courier New" pitchFamily="49" charset="0"/>
                <a:ea typeface="굴림" pitchFamily="50" charset="-127"/>
              </a:rPr>
              <a:t>	 </a:t>
            </a:r>
            <a:r>
              <a:rPr lang="en-US" altLang="ko-KR" dirty="0" err="1">
                <a:latin typeface="Courier New" pitchFamily="49" charset="0"/>
                <a:ea typeface="굴림" pitchFamily="50" charset="-127"/>
              </a:rPr>
              <a:t>JPasswordField</a:t>
            </a:r>
            <a:r>
              <a:rPr lang="en-US" altLang="ko-KR" dirty="0">
                <a:latin typeface="Courier New" pitchFamily="49" charset="0"/>
                <a:ea typeface="굴림" pitchFamily="50" charset="-127"/>
              </a:rPr>
              <a:t>(String text, </a:t>
            </a:r>
            <a:r>
              <a:rPr lang="en-US" altLang="ko-KR" dirty="0" err="1">
                <a:latin typeface="Courier New" pitchFamily="49" charset="0"/>
                <a:ea typeface="굴림" pitchFamily="50" charset="-127"/>
              </a:rPr>
              <a:t>int</a:t>
            </a:r>
            <a:r>
              <a:rPr lang="en-US" altLang="ko-KR" dirty="0">
                <a:latin typeface="Courier New" pitchFamily="49" charset="0"/>
                <a:ea typeface="굴림" pitchFamily="50" charset="-127"/>
              </a:rPr>
              <a:t> columns)</a:t>
            </a:r>
          </a:p>
          <a:p>
            <a:pPr lvl="2" eaLnBrk="1" hangingPunct="1">
              <a:spcAft>
                <a:spcPts val="275"/>
              </a:spcAft>
              <a:buFontTx/>
              <a:buNone/>
            </a:pPr>
            <a:r>
              <a:rPr lang="en-US" altLang="ko-KR" dirty="0">
                <a:latin typeface="Courier New" pitchFamily="49" charset="0"/>
                <a:ea typeface="굴림" pitchFamily="50" charset="-127"/>
              </a:rPr>
              <a:t>	 </a:t>
            </a:r>
            <a:r>
              <a:rPr lang="en-US" altLang="ko-KR" dirty="0" err="1">
                <a:latin typeface="Courier New" pitchFamily="49" charset="0"/>
                <a:ea typeface="굴림" pitchFamily="50" charset="-127"/>
              </a:rPr>
              <a:t>JPasswordField</a:t>
            </a:r>
            <a:r>
              <a:rPr lang="en-US" altLang="ko-KR" dirty="0">
                <a:latin typeface="Courier New" pitchFamily="49" charset="0"/>
                <a:ea typeface="굴림" pitchFamily="50" charset="-127"/>
              </a:rPr>
              <a:t>(Document doc, String txt, </a:t>
            </a:r>
            <a:r>
              <a:rPr lang="en-US" altLang="ko-KR" dirty="0" err="1">
                <a:latin typeface="Courier New" pitchFamily="49" charset="0"/>
                <a:ea typeface="굴림" pitchFamily="50" charset="-127"/>
              </a:rPr>
              <a:t>int</a:t>
            </a:r>
            <a:r>
              <a:rPr lang="en-US" altLang="ko-KR" dirty="0">
                <a:latin typeface="Courier New" pitchFamily="49" charset="0"/>
                <a:ea typeface="굴림" pitchFamily="50" charset="-127"/>
              </a:rPr>
              <a:t>  </a:t>
            </a:r>
          </a:p>
          <a:p>
            <a:pPr lvl="2" eaLnBrk="1" hangingPunct="1">
              <a:spcAft>
                <a:spcPts val="275"/>
              </a:spcAft>
              <a:buFontTx/>
              <a:buNone/>
            </a:pPr>
            <a:r>
              <a:rPr lang="en-US" altLang="ko-KR" dirty="0">
                <a:latin typeface="Courier New" pitchFamily="49" charset="0"/>
                <a:ea typeface="굴림" pitchFamily="50" charset="-127"/>
              </a:rPr>
              <a:t>                  columns)</a:t>
            </a:r>
          </a:p>
          <a:p>
            <a:pPr lvl="2" eaLnBrk="1" hangingPunct="1">
              <a:spcAft>
                <a:spcPts val="275"/>
              </a:spcAft>
              <a:buFontTx/>
              <a:buNone/>
            </a:pPr>
            <a:endParaRPr lang="en-US" altLang="ko-KR" dirty="0">
              <a:latin typeface="Courier New" pitchFamily="49" charset="0"/>
              <a:ea typeface="굴림" pitchFamily="50" charset="-127"/>
            </a:endParaRPr>
          </a:p>
          <a:p>
            <a:pPr lvl="1" eaLnBrk="1" hangingPunct="1"/>
            <a:r>
              <a:rPr lang="ko-KR" altLang="en-US" sz="1800" dirty="0">
                <a:latin typeface="Courier New" pitchFamily="49" charset="0"/>
                <a:ea typeface="굴림" pitchFamily="50" charset="-127"/>
              </a:rPr>
              <a:t>화면에 나타나는 문자를 지정하거나 알아볼 수 있는 </a:t>
            </a:r>
            <a:r>
              <a:rPr lang="ko-KR" altLang="en-US" sz="1800" dirty="0" err="1">
                <a:latin typeface="Courier New" pitchFamily="49" charset="0"/>
                <a:ea typeface="굴림" pitchFamily="50" charset="-127"/>
              </a:rPr>
              <a:t>메소드들</a:t>
            </a:r>
            <a:r>
              <a:rPr lang="en-US" altLang="ko-KR" sz="1800" dirty="0">
                <a:latin typeface="Courier New" pitchFamily="49" charset="0"/>
                <a:ea typeface="굴림" pitchFamily="50" charset="-127"/>
              </a:rPr>
              <a:t>.</a:t>
            </a:r>
          </a:p>
          <a:p>
            <a:pPr lvl="2" eaLnBrk="1" hangingPunct="1">
              <a:buFontTx/>
              <a:buNone/>
            </a:pPr>
            <a:r>
              <a:rPr lang="en-US" altLang="ko-KR" dirty="0">
                <a:latin typeface="Courier New" pitchFamily="49" charset="0"/>
                <a:ea typeface="굴림" pitchFamily="50" charset="-127"/>
              </a:rPr>
              <a:t>void </a:t>
            </a:r>
            <a:r>
              <a:rPr lang="en-US" altLang="ko-KR" dirty="0" err="1">
                <a:latin typeface="Courier New" pitchFamily="49" charset="0"/>
                <a:ea typeface="굴림" pitchFamily="50" charset="-127"/>
              </a:rPr>
              <a:t>setEchoChar</a:t>
            </a:r>
            <a:r>
              <a:rPr lang="en-US" altLang="ko-KR" dirty="0">
                <a:latin typeface="Courier New" pitchFamily="49" charset="0"/>
                <a:ea typeface="굴림" pitchFamily="50" charset="-127"/>
              </a:rPr>
              <a:t>(char c) - </a:t>
            </a:r>
            <a:r>
              <a:rPr lang="ko-KR" altLang="en-US" dirty="0">
                <a:latin typeface="Courier New" pitchFamily="49" charset="0"/>
                <a:ea typeface="굴림" pitchFamily="50" charset="-127"/>
              </a:rPr>
              <a:t>화면에 보여줄 문자를 지정</a:t>
            </a:r>
            <a:r>
              <a:rPr lang="en-US" altLang="ko-KR" dirty="0">
                <a:latin typeface="Courier New" pitchFamily="49" charset="0"/>
                <a:ea typeface="굴림" pitchFamily="50" charset="-127"/>
              </a:rPr>
              <a:t>.</a:t>
            </a:r>
          </a:p>
          <a:p>
            <a:pPr lvl="2" eaLnBrk="1" hangingPunct="1">
              <a:buFontTx/>
              <a:buNone/>
            </a:pPr>
            <a:r>
              <a:rPr lang="en-US" altLang="ko-KR" dirty="0">
                <a:latin typeface="Courier New" pitchFamily="49" charset="0"/>
                <a:ea typeface="굴림" pitchFamily="50" charset="-127"/>
              </a:rPr>
              <a:t>char </a:t>
            </a:r>
            <a:r>
              <a:rPr lang="en-US" altLang="ko-KR" dirty="0" err="1">
                <a:latin typeface="Courier New" pitchFamily="49" charset="0"/>
                <a:ea typeface="굴림" pitchFamily="50" charset="-127"/>
              </a:rPr>
              <a:t>getEchoChar</a:t>
            </a:r>
            <a:r>
              <a:rPr lang="en-US" altLang="ko-KR" dirty="0">
                <a:latin typeface="Courier New" pitchFamily="49" charset="0"/>
                <a:ea typeface="굴림" pitchFamily="50" charset="-127"/>
              </a:rPr>
              <a:t>() - </a:t>
            </a:r>
            <a:r>
              <a:rPr lang="ko-KR" altLang="en-US" dirty="0">
                <a:latin typeface="Courier New" pitchFamily="49" charset="0"/>
                <a:ea typeface="굴림" pitchFamily="50" charset="-127"/>
              </a:rPr>
              <a:t>현재 화면에 보여지는 문자 리턴</a:t>
            </a:r>
            <a:endParaRPr lang="en-US" altLang="ko-KR" dirty="0">
              <a:latin typeface="Courier New" pitchFamily="49" charset="0"/>
              <a:ea typeface="굴림" pitchFamily="50" charset="-127"/>
            </a:endParaRPr>
          </a:p>
        </p:txBody>
      </p:sp>
    </p:spTree>
    <p:custDataLst>
      <p:tags r:id="rId1"/>
    </p:custDataLst>
  </p:cSld>
  <p:clrMapOvr>
    <a:masterClrMapping/>
  </p:clrMapOvr>
  <p:transition spd="med">
    <p:wheel spokes="1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325136C-6143-4794-942B-B2C22C6AB1DF}" type="slidenum">
              <a:rPr lang="en-US" altLang="ko-KR"/>
              <a:pPr>
                <a:defRPr/>
              </a:pPr>
              <a:t>37</a:t>
            </a:fld>
            <a:endParaRPr lang="en-US" altLang="ko-KR"/>
          </a:p>
        </p:txBody>
      </p:sp>
      <p:sp>
        <p:nvSpPr>
          <p:cNvPr id="53252" name="Rectangle 2"/>
          <p:cNvSpPr>
            <a:spLocks noChangeArrowheads="1"/>
          </p:cNvSpPr>
          <p:nvPr/>
        </p:nvSpPr>
        <p:spPr bwMode="auto">
          <a:xfrm>
            <a:off x="1371600" y="3573463"/>
            <a:ext cx="7593013" cy="2951162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53253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458200" cy="685800"/>
          </a:xfrm>
        </p:spPr>
        <p:txBody>
          <a:bodyPr/>
          <a:lstStyle/>
          <a:p>
            <a:pPr eaLnBrk="1" hangingPunct="1"/>
            <a:r>
              <a:rPr lang="en-US" altLang="ko-KR"/>
              <a:t>       Swing Components</a:t>
            </a:r>
            <a:endParaRPr lang="ko-KR" altLang="en-US"/>
          </a:p>
        </p:txBody>
      </p:sp>
      <p:sp>
        <p:nvSpPr>
          <p:cNvPr id="5325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09600" y="1266825"/>
            <a:ext cx="8305800" cy="5330825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ko-KR" sz="2000" dirty="0">
                <a:latin typeface="Courier New" pitchFamily="49" charset="0"/>
                <a:ea typeface="굴림" pitchFamily="50" charset="-127"/>
              </a:rPr>
              <a:t> </a:t>
            </a:r>
            <a:r>
              <a:rPr lang="en-US" altLang="ko-KR" sz="2000" dirty="0" err="1">
                <a:latin typeface="Courier New" pitchFamily="49" charset="0"/>
                <a:ea typeface="굴림" pitchFamily="50" charset="-127"/>
              </a:rPr>
              <a:t>JTextArea</a:t>
            </a:r>
            <a:endParaRPr lang="en-US" altLang="ko-KR" sz="2000" dirty="0">
              <a:latin typeface="Courier New" pitchFamily="49" charset="0"/>
              <a:ea typeface="굴림" pitchFamily="50" charset="-127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ko-KR" dirty="0" err="1">
                <a:latin typeface="Courier New" pitchFamily="49" charset="0"/>
                <a:ea typeface="굴림" pitchFamily="50" charset="-127"/>
              </a:rPr>
              <a:t>JTextArea</a:t>
            </a:r>
            <a:r>
              <a:rPr lang="ko-KR" altLang="en-US" dirty="0">
                <a:latin typeface="Courier New" pitchFamily="49" charset="0"/>
                <a:ea typeface="굴림" pitchFamily="50" charset="-127"/>
              </a:rPr>
              <a:t>와 </a:t>
            </a:r>
            <a:r>
              <a:rPr lang="en-US" altLang="ko-KR" dirty="0" err="1">
                <a:latin typeface="Courier New" pitchFamily="49" charset="0"/>
                <a:ea typeface="굴림" pitchFamily="50" charset="-127"/>
              </a:rPr>
              <a:t>JTextField</a:t>
            </a:r>
            <a:r>
              <a:rPr lang="ko-KR" altLang="en-US" dirty="0">
                <a:latin typeface="Courier New" pitchFamily="49" charset="0"/>
                <a:ea typeface="굴림" pitchFamily="50" charset="-127"/>
              </a:rPr>
              <a:t>는 </a:t>
            </a:r>
            <a:r>
              <a:rPr lang="en-US" altLang="ko-KR" dirty="0" err="1">
                <a:latin typeface="Courier New" pitchFamily="49" charset="0"/>
                <a:ea typeface="굴림" pitchFamily="50" charset="-127"/>
              </a:rPr>
              <a:t>JTextComponent</a:t>
            </a:r>
            <a:r>
              <a:rPr lang="en-US" altLang="ko-KR" dirty="0">
                <a:latin typeface="Courier New" pitchFamily="49" charset="0"/>
                <a:ea typeface="굴림" pitchFamily="50" charset="-127"/>
              </a:rPr>
              <a:t> </a:t>
            </a:r>
            <a:r>
              <a:rPr lang="ko-KR" altLang="en-US" dirty="0">
                <a:latin typeface="Courier New" pitchFamily="49" charset="0"/>
                <a:ea typeface="굴림" pitchFamily="50" charset="-127"/>
              </a:rPr>
              <a:t>클래스로부터 상속받는데</a:t>
            </a:r>
            <a:r>
              <a:rPr lang="en-US" altLang="ko-KR" dirty="0">
                <a:latin typeface="Courier New" pitchFamily="49" charset="0"/>
                <a:ea typeface="굴림" pitchFamily="50" charset="-127"/>
              </a:rPr>
              <a:t>, </a:t>
            </a:r>
            <a:r>
              <a:rPr lang="en-US" altLang="ko-KR" dirty="0" err="1">
                <a:latin typeface="Courier New" pitchFamily="49" charset="0"/>
                <a:ea typeface="굴림" pitchFamily="50" charset="-127"/>
              </a:rPr>
              <a:t>JTextComponent</a:t>
            </a:r>
            <a:r>
              <a:rPr lang="en-US" altLang="ko-KR" dirty="0">
                <a:latin typeface="Courier New" pitchFamily="49" charset="0"/>
                <a:ea typeface="굴림" pitchFamily="50" charset="-127"/>
              </a:rPr>
              <a:t> </a:t>
            </a:r>
            <a:r>
              <a:rPr lang="ko-KR" altLang="en-US" dirty="0">
                <a:latin typeface="Courier New" pitchFamily="49" charset="0"/>
                <a:ea typeface="굴림" pitchFamily="50" charset="-127"/>
              </a:rPr>
              <a:t>클래스는 편집기에서 사용되는 기본적인 기능들을 제공하고 있다</a:t>
            </a:r>
            <a:r>
              <a:rPr lang="en-US" altLang="ko-KR" dirty="0">
                <a:latin typeface="Courier New" pitchFamily="49" charset="0"/>
                <a:ea typeface="굴림" pitchFamily="50" charset="-127"/>
              </a:rPr>
              <a:t>.</a:t>
            </a:r>
          </a:p>
          <a:p>
            <a:pPr lvl="1" eaLnBrk="1" hangingPunct="1">
              <a:lnSpc>
                <a:spcPct val="110000"/>
              </a:lnSpc>
            </a:pPr>
            <a:endParaRPr lang="en-US" altLang="ko-KR" dirty="0">
              <a:latin typeface="Courier New" pitchFamily="49" charset="0"/>
              <a:ea typeface="굴림" pitchFamily="50" charset="-127"/>
            </a:endParaRPr>
          </a:p>
          <a:p>
            <a:pPr lvl="1" eaLnBrk="1" hangingPunct="1">
              <a:lnSpc>
                <a:spcPct val="110000"/>
              </a:lnSpc>
            </a:pPr>
            <a:r>
              <a:rPr lang="ko-KR" altLang="en-US" dirty="0" err="1">
                <a:latin typeface="Courier New" pitchFamily="49" charset="0"/>
                <a:ea typeface="굴림" pitchFamily="50" charset="-127"/>
              </a:rPr>
              <a:t>생성자</a:t>
            </a:r>
            <a:endParaRPr lang="ko-KR" altLang="en-US" dirty="0">
              <a:latin typeface="Courier New" pitchFamily="49" charset="0"/>
              <a:ea typeface="굴림" pitchFamily="50" charset="-127"/>
            </a:endParaRPr>
          </a:p>
          <a:p>
            <a:pPr lvl="2" eaLnBrk="1" hangingPunct="1">
              <a:lnSpc>
                <a:spcPct val="110000"/>
              </a:lnSpc>
              <a:buFontTx/>
              <a:buNone/>
            </a:pPr>
            <a:r>
              <a:rPr lang="ko-KR" altLang="en-US" sz="2000" dirty="0">
                <a:latin typeface="Courier New" pitchFamily="49" charset="0"/>
                <a:ea typeface="굴림" pitchFamily="50" charset="-127"/>
              </a:rPr>
              <a:t>	 </a:t>
            </a:r>
            <a:r>
              <a:rPr lang="en-US" altLang="ko-KR" sz="2000" dirty="0" err="1">
                <a:latin typeface="Courier New" pitchFamily="49" charset="0"/>
                <a:ea typeface="굴림" pitchFamily="50" charset="-127"/>
              </a:rPr>
              <a:t>JTextArea</a:t>
            </a:r>
            <a:r>
              <a:rPr lang="en-US" altLang="ko-KR" sz="2000" dirty="0">
                <a:latin typeface="Courier New" pitchFamily="49" charset="0"/>
                <a:ea typeface="굴림" pitchFamily="50" charset="-127"/>
              </a:rPr>
              <a:t>() </a:t>
            </a:r>
          </a:p>
          <a:p>
            <a:pPr lvl="2" eaLnBrk="1" hangingPunct="1">
              <a:lnSpc>
                <a:spcPct val="110000"/>
              </a:lnSpc>
              <a:buFontTx/>
              <a:buNone/>
            </a:pPr>
            <a:r>
              <a:rPr lang="en-US" altLang="ko-KR" sz="2000" dirty="0">
                <a:latin typeface="Courier New" pitchFamily="49" charset="0"/>
                <a:ea typeface="굴림" pitchFamily="50" charset="-127"/>
              </a:rPr>
              <a:t>	 </a:t>
            </a:r>
            <a:r>
              <a:rPr lang="en-US" altLang="ko-KR" sz="2000" dirty="0" err="1">
                <a:latin typeface="Courier New" pitchFamily="49" charset="0"/>
                <a:ea typeface="굴림" pitchFamily="50" charset="-127"/>
              </a:rPr>
              <a:t>JTextArea</a:t>
            </a:r>
            <a:r>
              <a:rPr lang="en-US" altLang="ko-KR" sz="2000" dirty="0">
                <a:latin typeface="Courier New" pitchFamily="49" charset="0"/>
                <a:ea typeface="굴림" pitchFamily="50" charset="-127"/>
              </a:rPr>
              <a:t>(</a:t>
            </a:r>
            <a:r>
              <a:rPr lang="en-US" altLang="ko-KR" sz="2000" dirty="0" err="1">
                <a:latin typeface="Courier New" pitchFamily="49" charset="0"/>
                <a:ea typeface="굴림" pitchFamily="50" charset="-127"/>
              </a:rPr>
              <a:t>java.lang.String</a:t>
            </a:r>
            <a:r>
              <a:rPr lang="en-US" altLang="ko-KR" sz="2000" dirty="0">
                <a:latin typeface="Courier New" pitchFamily="49" charset="0"/>
                <a:ea typeface="굴림" pitchFamily="50" charset="-127"/>
              </a:rPr>
              <a:t> text) </a:t>
            </a:r>
          </a:p>
          <a:p>
            <a:pPr lvl="2" eaLnBrk="1" hangingPunct="1">
              <a:lnSpc>
                <a:spcPct val="110000"/>
              </a:lnSpc>
              <a:buFontTx/>
              <a:buNone/>
            </a:pPr>
            <a:r>
              <a:rPr lang="en-US" altLang="ko-KR" sz="2000" dirty="0">
                <a:latin typeface="Courier New" pitchFamily="49" charset="0"/>
                <a:ea typeface="굴림" pitchFamily="50" charset="-127"/>
              </a:rPr>
              <a:t>	 </a:t>
            </a:r>
            <a:r>
              <a:rPr lang="en-US" altLang="ko-KR" sz="2000" dirty="0" err="1">
                <a:latin typeface="Courier New" pitchFamily="49" charset="0"/>
                <a:ea typeface="굴림" pitchFamily="50" charset="-127"/>
              </a:rPr>
              <a:t>JTextArea</a:t>
            </a:r>
            <a:r>
              <a:rPr lang="en-US" altLang="ko-KR" sz="2000" dirty="0">
                <a:latin typeface="Courier New" pitchFamily="49" charset="0"/>
                <a:ea typeface="굴림" pitchFamily="50" charset="-127"/>
              </a:rPr>
              <a:t>(</a:t>
            </a:r>
            <a:r>
              <a:rPr lang="en-US" altLang="ko-KR" sz="2000" dirty="0" err="1">
                <a:latin typeface="Courier New" pitchFamily="49" charset="0"/>
                <a:ea typeface="굴림" pitchFamily="50" charset="-127"/>
              </a:rPr>
              <a:t>int</a:t>
            </a:r>
            <a:r>
              <a:rPr lang="en-US" altLang="ko-KR" sz="2000" dirty="0">
                <a:latin typeface="Courier New" pitchFamily="49" charset="0"/>
                <a:ea typeface="굴림" pitchFamily="50" charset="-127"/>
              </a:rPr>
              <a:t> rows, </a:t>
            </a:r>
            <a:r>
              <a:rPr lang="en-US" altLang="ko-KR" sz="2000" dirty="0" err="1">
                <a:latin typeface="Courier New" pitchFamily="49" charset="0"/>
                <a:ea typeface="굴림" pitchFamily="50" charset="-127"/>
              </a:rPr>
              <a:t>int</a:t>
            </a:r>
            <a:r>
              <a:rPr lang="en-US" altLang="ko-KR" sz="2000" dirty="0">
                <a:latin typeface="Courier New" pitchFamily="49" charset="0"/>
                <a:ea typeface="굴림" pitchFamily="50" charset="-127"/>
              </a:rPr>
              <a:t> columns) </a:t>
            </a:r>
          </a:p>
          <a:p>
            <a:pPr lvl="2" eaLnBrk="1" hangingPunct="1">
              <a:lnSpc>
                <a:spcPct val="110000"/>
              </a:lnSpc>
              <a:buFontTx/>
              <a:buNone/>
            </a:pPr>
            <a:r>
              <a:rPr lang="en-US" altLang="ko-KR" sz="2000" dirty="0">
                <a:latin typeface="Courier New" pitchFamily="49" charset="0"/>
                <a:ea typeface="굴림" pitchFamily="50" charset="-127"/>
              </a:rPr>
              <a:t>	 </a:t>
            </a:r>
            <a:r>
              <a:rPr lang="en-US" altLang="ko-KR" sz="2000" dirty="0" err="1">
                <a:latin typeface="Courier New" pitchFamily="49" charset="0"/>
                <a:ea typeface="굴림" pitchFamily="50" charset="-127"/>
              </a:rPr>
              <a:t>JTextArea</a:t>
            </a:r>
            <a:r>
              <a:rPr lang="en-US" altLang="ko-KR" sz="2000" dirty="0">
                <a:latin typeface="Courier New" pitchFamily="49" charset="0"/>
                <a:ea typeface="굴림" pitchFamily="50" charset="-127"/>
              </a:rPr>
              <a:t>(String text, </a:t>
            </a:r>
            <a:r>
              <a:rPr lang="en-US" altLang="ko-KR" sz="2000" dirty="0" err="1">
                <a:latin typeface="Courier New" pitchFamily="49" charset="0"/>
                <a:ea typeface="굴림" pitchFamily="50" charset="-127"/>
              </a:rPr>
              <a:t>int</a:t>
            </a:r>
            <a:r>
              <a:rPr lang="en-US" altLang="ko-KR" sz="2000" dirty="0">
                <a:latin typeface="Courier New" pitchFamily="49" charset="0"/>
                <a:ea typeface="굴림" pitchFamily="50" charset="-127"/>
              </a:rPr>
              <a:t> rows, </a:t>
            </a:r>
            <a:r>
              <a:rPr lang="en-US" altLang="ko-KR" sz="2000" dirty="0" err="1">
                <a:latin typeface="Courier New" pitchFamily="49" charset="0"/>
                <a:ea typeface="굴림" pitchFamily="50" charset="-127"/>
              </a:rPr>
              <a:t>int</a:t>
            </a:r>
            <a:r>
              <a:rPr lang="en-US" altLang="ko-KR" sz="2000" dirty="0">
                <a:latin typeface="Courier New" pitchFamily="49" charset="0"/>
                <a:ea typeface="굴림" pitchFamily="50" charset="-127"/>
              </a:rPr>
              <a:t> columns) </a:t>
            </a:r>
          </a:p>
          <a:p>
            <a:pPr lvl="2" eaLnBrk="1" hangingPunct="1">
              <a:lnSpc>
                <a:spcPct val="110000"/>
              </a:lnSpc>
              <a:buFontTx/>
              <a:buNone/>
            </a:pPr>
            <a:r>
              <a:rPr lang="en-US" altLang="ko-KR" sz="2000" dirty="0">
                <a:latin typeface="Courier New" pitchFamily="49" charset="0"/>
                <a:ea typeface="굴림" pitchFamily="50" charset="-127"/>
              </a:rPr>
              <a:t>	 </a:t>
            </a:r>
            <a:r>
              <a:rPr lang="en-US" altLang="ko-KR" sz="2000" dirty="0" err="1">
                <a:latin typeface="Courier New" pitchFamily="49" charset="0"/>
                <a:ea typeface="굴림" pitchFamily="50" charset="-127"/>
              </a:rPr>
              <a:t>JTextArea</a:t>
            </a:r>
            <a:r>
              <a:rPr lang="en-US" altLang="ko-KR" sz="2000" dirty="0">
                <a:latin typeface="Courier New" pitchFamily="49" charset="0"/>
                <a:ea typeface="굴림" pitchFamily="50" charset="-127"/>
              </a:rPr>
              <a:t>(Document doc) </a:t>
            </a:r>
          </a:p>
          <a:p>
            <a:pPr lvl="2" eaLnBrk="1" hangingPunct="1">
              <a:lnSpc>
                <a:spcPct val="110000"/>
              </a:lnSpc>
              <a:spcAft>
                <a:spcPts val="275"/>
              </a:spcAft>
              <a:buFontTx/>
              <a:buNone/>
            </a:pPr>
            <a:r>
              <a:rPr lang="en-US" altLang="ko-KR" sz="2000" dirty="0">
                <a:latin typeface="Courier New" pitchFamily="49" charset="0"/>
                <a:ea typeface="굴림" pitchFamily="50" charset="-127"/>
              </a:rPr>
              <a:t>	 </a:t>
            </a:r>
            <a:r>
              <a:rPr lang="en-US" altLang="ko-KR" sz="2000" dirty="0" err="1">
                <a:latin typeface="Courier New" pitchFamily="49" charset="0"/>
                <a:ea typeface="굴림" pitchFamily="50" charset="-127"/>
              </a:rPr>
              <a:t>JTextArea</a:t>
            </a:r>
            <a:r>
              <a:rPr lang="en-US" altLang="ko-KR" sz="2000" dirty="0">
                <a:latin typeface="Courier New" pitchFamily="49" charset="0"/>
                <a:ea typeface="굴림" pitchFamily="50" charset="-127"/>
              </a:rPr>
              <a:t>(Document doc, String text, </a:t>
            </a:r>
            <a:r>
              <a:rPr lang="en-US" altLang="ko-KR" sz="2000" dirty="0" err="1">
                <a:latin typeface="Courier New" pitchFamily="49" charset="0"/>
                <a:ea typeface="굴림" pitchFamily="50" charset="-127"/>
              </a:rPr>
              <a:t>int</a:t>
            </a:r>
            <a:r>
              <a:rPr lang="en-US" altLang="ko-KR" sz="2000" dirty="0">
                <a:latin typeface="Courier New" pitchFamily="49" charset="0"/>
                <a:ea typeface="굴림" pitchFamily="50" charset="-127"/>
              </a:rPr>
              <a:t> rows, </a:t>
            </a:r>
            <a:r>
              <a:rPr lang="en-US" altLang="ko-KR" sz="2000" dirty="0" err="1">
                <a:latin typeface="Courier New" pitchFamily="49" charset="0"/>
                <a:ea typeface="굴림" pitchFamily="50" charset="-127"/>
              </a:rPr>
              <a:t>int</a:t>
            </a:r>
            <a:r>
              <a:rPr lang="en-US" altLang="ko-KR" sz="2000" dirty="0">
                <a:latin typeface="Courier New" pitchFamily="49" charset="0"/>
                <a:ea typeface="굴림" pitchFamily="50" charset="-127"/>
              </a:rPr>
              <a:t> columns)</a:t>
            </a:r>
          </a:p>
        </p:txBody>
      </p:sp>
    </p:spTree>
    <p:custDataLst>
      <p:tags r:id="rId1"/>
    </p:custDataLst>
  </p:cSld>
  <p:clrMapOvr>
    <a:masterClrMapping/>
  </p:clrMapOvr>
  <p:transition spd="med">
    <p:wheel spokes="1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BE7B532-8ED9-450F-A3D9-6917AA666916}" type="slidenum">
              <a:rPr lang="en-US" altLang="ko-KR"/>
              <a:pPr>
                <a:defRPr/>
              </a:pPr>
              <a:t>38</a:t>
            </a:fld>
            <a:endParaRPr lang="en-US" altLang="ko-KR"/>
          </a:p>
        </p:txBody>
      </p:sp>
      <p:sp>
        <p:nvSpPr>
          <p:cNvPr id="542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Swing Components</a:t>
            </a:r>
            <a:endParaRPr lang="ko-KR" altLang="en-US"/>
          </a:p>
        </p:txBody>
      </p:sp>
      <p:sp>
        <p:nvSpPr>
          <p:cNvPr id="54277" name="Rectangle 3"/>
          <p:cNvSpPr>
            <a:spLocks noChangeArrowheads="1"/>
          </p:cNvSpPr>
          <p:nvPr/>
        </p:nvSpPr>
        <p:spPr bwMode="auto">
          <a:xfrm>
            <a:off x="1042988" y="1816100"/>
            <a:ext cx="7777162" cy="3341688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5427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23850" y="1331913"/>
            <a:ext cx="8591550" cy="4905375"/>
          </a:xfrm>
        </p:spPr>
        <p:txBody>
          <a:bodyPr/>
          <a:lstStyle/>
          <a:p>
            <a:pPr lvl="1" algn="just" eaLnBrk="1" hangingPunct="1"/>
            <a:r>
              <a:rPr lang="en-US" altLang="ko-KR">
                <a:latin typeface="Courier New" pitchFamily="49" charset="0"/>
                <a:ea typeface="굴림" pitchFamily="50" charset="-127"/>
              </a:rPr>
              <a:t>JTextArea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의 메소드들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.</a:t>
            </a:r>
          </a:p>
          <a:p>
            <a:pPr lvl="1" algn="just" eaLnBrk="1" hangingPunct="1"/>
            <a:endParaRPr lang="en-US" altLang="ko-KR">
              <a:latin typeface="Courier New" pitchFamily="49" charset="0"/>
              <a:ea typeface="굴림" pitchFamily="50" charset="-127"/>
            </a:endParaRPr>
          </a:p>
          <a:p>
            <a:pPr lvl="2" eaLnBrk="1" hangingPunct="1">
              <a:buFontTx/>
              <a:buNone/>
            </a:pPr>
            <a:r>
              <a:rPr lang="en-US" altLang="ko-KR" sz="2000">
                <a:latin typeface="Courier New" pitchFamily="49" charset="0"/>
                <a:ea typeface="굴림" pitchFamily="50" charset="-127"/>
              </a:rPr>
              <a:t>void append(String str) - </a:t>
            </a:r>
            <a:r>
              <a:rPr lang="ko-KR" altLang="en-US" sz="2000">
                <a:latin typeface="Courier New" pitchFamily="49" charset="0"/>
                <a:ea typeface="굴림" pitchFamily="50" charset="-127"/>
              </a:rPr>
              <a:t>문자열을 끝에 추가</a:t>
            </a:r>
            <a:r>
              <a:rPr lang="en-US" altLang="ko-KR" sz="2000">
                <a:latin typeface="Courier New" pitchFamily="49" charset="0"/>
                <a:ea typeface="굴림" pitchFamily="50" charset="-127"/>
              </a:rPr>
              <a:t>.</a:t>
            </a:r>
          </a:p>
          <a:p>
            <a:pPr lvl="2" algn="just" eaLnBrk="1" hangingPunct="1">
              <a:buFontTx/>
              <a:buNone/>
            </a:pPr>
            <a:r>
              <a:rPr lang="en-US" altLang="ko-KR" sz="2000">
                <a:latin typeface="Courier New" pitchFamily="49" charset="0"/>
                <a:ea typeface="굴림" pitchFamily="50" charset="-127"/>
              </a:rPr>
              <a:t>int getLineCount() - </a:t>
            </a:r>
            <a:r>
              <a:rPr lang="ko-KR" altLang="en-US" sz="2000">
                <a:latin typeface="Courier New" pitchFamily="49" charset="0"/>
                <a:ea typeface="굴림" pitchFamily="50" charset="-127"/>
              </a:rPr>
              <a:t>줄 수를 리턴</a:t>
            </a:r>
            <a:r>
              <a:rPr lang="en-US" altLang="ko-KR" sz="2000">
                <a:latin typeface="Courier New" pitchFamily="49" charset="0"/>
                <a:ea typeface="굴림" pitchFamily="50" charset="-127"/>
              </a:rPr>
              <a:t>.</a:t>
            </a:r>
          </a:p>
          <a:p>
            <a:pPr lvl="2" eaLnBrk="1" hangingPunct="1">
              <a:buFontTx/>
              <a:buNone/>
            </a:pPr>
            <a:r>
              <a:rPr lang="en-US" altLang="ko-KR" sz="2000">
                <a:latin typeface="Courier New" pitchFamily="49" charset="0"/>
                <a:ea typeface="굴림" pitchFamily="50" charset="-127"/>
              </a:rPr>
              <a:t>void insert(String str, int pos)</a:t>
            </a:r>
          </a:p>
          <a:p>
            <a:pPr lvl="2" eaLnBrk="1" hangingPunct="1">
              <a:buFontTx/>
              <a:buNone/>
            </a:pPr>
            <a:r>
              <a:rPr lang="en-US" altLang="ko-KR" sz="2000">
                <a:latin typeface="Courier New" pitchFamily="49" charset="0"/>
                <a:ea typeface="굴림" pitchFamily="50" charset="-127"/>
              </a:rPr>
              <a:t>  - </a:t>
            </a:r>
            <a:r>
              <a:rPr lang="ko-KR" altLang="en-US" sz="2000">
                <a:latin typeface="Courier New" pitchFamily="49" charset="0"/>
                <a:ea typeface="굴림" pitchFamily="50" charset="-127"/>
              </a:rPr>
              <a:t>문자열을 </a:t>
            </a:r>
            <a:r>
              <a:rPr lang="en-US" altLang="ko-KR" sz="2000">
                <a:latin typeface="Courier New" pitchFamily="49" charset="0"/>
                <a:ea typeface="굴림" pitchFamily="50" charset="-127"/>
              </a:rPr>
              <a:t>pos </a:t>
            </a:r>
            <a:r>
              <a:rPr lang="ko-KR" altLang="en-US" sz="2000">
                <a:latin typeface="Courier New" pitchFamily="49" charset="0"/>
                <a:ea typeface="굴림" pitchFamily="50" charset="-127"/>
              </a:rPr>
              <a:t>위치에 삽입</a:t>
            </a:r>
            <a:r>
              <a:rPr lang="en-US" altLang="ko-KR" sz="2000">
                <a:latin typeface="Courier New" pitchFamily="49" charset="0"/>
                <a:ea typeface="굴림" pitchFamily="50" charset="-127"/>
              </a:rPr>
              <a:t>. </a:t>
            </a:r>
          </a:p>
          <a:p>
            <a:pPr lvl="2" eaLnBrk="1" hangingPunct="1">
              <a:buFontTx/>
              <a:buNone/>
            </a:pPr>
            <a:r>
              <a:rPr lang="en-US" altLang="ko-KR" sz="2000">
                <a:latin typeface="Courier New" pitchFamily="49" charset="0"/>
                <a:ea typeface="굴림" pitchFamily="50" charset="-127"/>
              </a:rPr>
              <a:t>void replaceRange(String str, int start, int end)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     - start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와 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end 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사이의 문자열을  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str </a:t>
            </a:r>
            <a:r>
              <a:rPr lang="ko-KR" altLang="en-US">
                <a:latin typeface="Courier New" pitchFamily="49" charset="0"/>
                <a:ea typeface="굴림" pitchFamily="50" charset="-127"/>
              </a:rPr>
              <a:t>문자열로 변경</a:t>
            </a:r>
            <a:r>
              <a:rPr lang="en-US" altLang="ko-KR">
                <a:latin typeface="Courier New" pitchFamily="49" charset="0"/>
                <a:ea typeface="굴림" pitchFamily="50" charset="-127"/>
              </a:rPr>
              <a:t>.  </a:t>
            </a:r>
          </a:p>
          <a:p>
            <a:pPr lvl="2" eaLnBrk="1" hangingPunct="1">
              <a:buFontTx/>
              <a:buNone/>
            </a:pPr>
            <a:r>
              <a:rPr lang="en-US" altLang="ko-KR" sz="2000">
                <a:latin typeface="Courier New" pitchFamily="49" charset="0"/>
                <a:ea typeface="굴림" pitchFamily="50" charset="-127"/>
              </a:rPr>
              <a:t>void setTabSize(int size) - </a:t>
            </a:r>
            <a:r>
              <a:rPr lang="ko-KR" altLang="en-US" sz="2000">
                <a:latin typeface="Courier New" pitchFamily="49" charset="0"/>
                <a:ea typeface="굴림" pitchFamily="50" charset="-127"/>
              </a:rPr>
              <a:t>탭문자의 크기를 지정</a:t>
            </a:r>
            <a:r>
              <a:rPr lang="en-US" altLang="ko-KR" sz="2000">
                <a:latin typeface="Courier New" pitchFamily="49" charset="0"/>
                <a:ea typeface="굴림" pitchFamily="50" charset="-127"/>
              </a:rPr>
              <a:t>. </a:t>
            </a:r>
          </a:p>
          <a:p>
            <a:pPr eaLnBrk="1" hangingPunct="1"/>
            <a:endParaRPr lang="ko-KR" altLang="en-US" sz="2000">
              <a:latin typeface="Courier New" pitchFamily="49" charset="0"/>
              <a:ea typeface="굴림" pitchFamily="50" charset="-127"/>
            </a:endParaRPr>
          </a:p>
        </p:txBody>
      </p:sp>
    </p:spTree>
    <p:custDataLst>
      <p:tags r:id="rId1"/>
    </p:custDataLst>
  </p:cSld>
  <p:clrMapOvr>
    <a:masterClrMapping/>
  </p:clrMapOvr>
  <p:transition spd="med">
    <p:wheel spokes="1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DE4522C-2E6B-4746-91AE-3F2C95D7DD14}" type="slidenum">
              <a:rPr lang="en-US" altLang="ko-KR"/>
              <a:pPr>
                <a:defRPr/>
              </a:pPr>
              <a:t>39</a:t>
            </a:fld>
            <a:endParaRPr lang="en-US" altLang="ko-KR"/>
          </a:p>
        </p:txBody>
      </p:sp>
      <p:sp>
        <p:nvSpPr>
          <p:cNvPr id="55300" name="Rectangle 2"/>
          <p:cNvSpPr>
            <a:spLocks noChangeArrowheads="1"/>
          </p:cNvSpPr>
          <p:nvPr/>
        </p:nvSpPr>
        <p:spPr bwMode="auto">
          <a:xfrm>
            <a:off x="904875" y="1295400"/>
            <a:ext cx="8064500" cy="51816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5530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Swing Components</a:t>
            </a:r>
            <a:endParaRPr lang="ko-KR" altLang="en-US"/>
          </a:p>
        </p:txBody>
      </p:sp>
      <p:sp>
        <p:nvSpPr>
          <p:cNvPr id="5530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831850" y="1009650"/>
            <a:ext cx="8388350" cy="4983163"/>
          </a:xfrm>
        </p:spPr>
        <p:txBody>
          <a:bodyPr/>
          <a:lstStyle/>
          <a:p>
            <a:pPr algn="just"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ko-KR" altLang="en-US" sz="1600">
                <a:latin typeface="Courier New" pitchFamily="49" charset="0"/>
                <a:ea typeface="굴림" pitchFamily="50" charset="-127"/>
              </a:rPr>
              <a:t>예제</a:t>
            </a:r>
            <a:r>
              <a:rPr lang="en-US" altLang="ko-KR" sz="1600">
                <a:latin typeface="Courier New" pitchFamily="49" charset="0"/>
                <a:ea typeface="굴림" pitchFamily="50" charset="-127"/>
              </a:rPr>
              <a:t>: SwingText.java</a:t>
            </a:r>
          </a:p>
          <a:p>
            <a:pPr algn="just" eaLnBrk="1" hangingPunct="1">
              <a:lnSpc>
                <a:spcPct val="70000"/>
              </a:lnSpc>
              <a:buFont typeface="Wingdings" pitchFamily="2" charset="2"/>
              <a:buNone/>
            </a:pPr>
            <a:endParaRPr lang="en-US" altLang="ko-KR" sz="1600">
              <a:latin typeface="Courier New" pitchFamily="49" charset="0"/>
              <a:ea typeface="굴림" pitchFamily="50" charset="-127"/>
            </a:endParaRPr>
          </a:p>
          <a:p>
            <a:pPr algn="just"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import java.awt.*;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import javax.swing.*;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endParaRPr lang="en-US" altLang="ko-KR" sz="1600">
              <a:latin typeface="Courier New" pitchFamily="49" charset="0"/>
              <a:ea typeface="굴림" pitchFamily="50" charset="-127"/>
            </a:endParaRP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public class SwingText extends JFrame {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JTextField          field;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JPasswordField  passwd;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JTextArea         area;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endParaRPr lang="en-US" altLang="ko-KR" sz="1600">
              <a:latin typeface="Courier New" pitchFamily="49" charset="0"/>
              <a:ea typeface="굴림" pitchFamily="50" charset="-127"/>
            </a:endParaRP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public SwingText() {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 super("</a:t>
            </a:r>
            <a:r>
              <a:rPr lang="ko-KR" altLang="en-US" sz="1600">
                <a:latin typeface="Courier New" pitchFamily="49" charset="0"/>
                <a:ea typeface="굴림" pitchFamily="50" charset="-127"/>
              </a:rPr>
              <a:t>스윙 텍스트</a:t>
            </a:r>
            <a:r>
              <a:rPr lang="en-US" altLang="ko-KR" sz="1600">
                <a:latin typeface="Courier New" pitchFamily="49" charset="0"/>
                <a:ea typeface="굴림" pitchFamily="50" charset="-127"/>
              </a:rPr>
              <a:t>");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 getContentPane().setLayout(new BorderLayout(10, 10));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endParaRPr lang="en-US" altLang="ko-KR" sz="1600">
              <a:latin typeface="Courier New" pitchFamily="49" charset="0"/>
              <a:ea typeface="굴림" pitchFamily="50" charset="-127"/>
            </a:endParaRP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 area = new JTextArea();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 area.setCaretColor(Color.RED);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 JScrollPane sp = new JScrollPane(area);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 field = new JTextField(10);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 passwd = new JPasswordField(10);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 JPanel bottom = new JPanel(new GridLayout(2, 2, 10, 2));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 bottom.add(new JLabel("Login"));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 bottom.add(field);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 bottom.add(new JLabel("Password"));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 bottom.add(passwd);</a:t>
            </a:r>
          </a:p>
        </p:txBody>
      </p:sp>
    </p:spTree>
    <p:custDataLst>
      <p:tags r:id="rId1"/>
    </p:custDataLst>
  </p:cSld>
  <p:clrMapOvr>
    <a:masterClrMapping/>
  </p:clrMapOvr>
  <p:transition spd="med">
    <p:wheel spokes="1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바닥글 개체 틀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한국항공대학교 정보통신전공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BE17D75-536D-4F09-B479-FBF54696765D}" type="slidenum">
              <a:rPr lang="en-US" altLang="ko-KR"/>
              <a:pPr>
                <a:defRPr/>
              </a:pPr>
              <a:t>40</a:t>
            </a:fld>
            <a:endParaRPr lang="en-US" altLang="ko-KR"/>
          </a:p>
        </p:txBody>
      </p:sp>
      <p:sp>
        <p:nvSpPr>
          <p:cNvPr id="56324" name="Rectangle 2"/>
          <p:cNvSpPr>
            <a:spLocks noChangeArrowheads="1"/>
          </p:cNvSpPr>
          <p:nvPr/>
        </p:nvSpPr>
        <p:spPr bwMode="auto">
          <a:xfrm>
            <a:off x="1143000" y="1106488"/>
            <a:ext cx="7620000" cy="2855912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5632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Swing Components</a:t>
            </a:r>
            <a:endParaRPr lang="ko-KR" altLang="en-US"/>
          </a:p>
        </p:txBody>
      </p:sp>
      <p:sp>
        <p:nvSpPr>
          <p:cNvPr id="56326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1449388" y="838200"/>
            <a:ext cx="7148512" cy="4914900"/>
          </a:xfrm>
        </p:spPr>
        <p:txBody>
          <a:bodyPr/>
          <a:lstStyle/>
          <a:p>
            <a:pPr algn="just"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ko-KR" altLang="en-US" sz="1600">
                <a:latin typeface="Courier New" pitchFamily="49" charset="0"/>
                <a:ea typeface="굴림" pitchFamily="50" charset="-127"/>
              </a:rPr>
              <a:t> </a:t>
            </a:r>
          </a:p>
          <a:p>
            <a:pPr algn="just" eaLnBrk="1" hangingPunct="1">
              <a:lnSpc>
                <a:spcPct val="70000"/>
              </a:lnSpc>
              <a:buFont typeface="Wingdings" pitchFamily="2" charset="2"/>
              <a:buNone/>
            </a:pPr>
            <a:endParaRPr lang="en-US" altLang="ko-KR" sz="1600">
              <a:latin typeface="Courier New" pitchFamily="49" charset="0"/>
              <a:ea typeface="굴림" pitchFamily="50" charset="-127"/>
            </a:endParaRP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 getContentPane().add("Center", sp);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 getContentPane().add("South", bottom);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 setDefaultCloseOperation(EXIT_ON_CLOSE);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 setSize(300, 200);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 setVisible(true);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}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endParaRPr lang="en-US" altLang="ko-KR" sz="1600">
              <a:latin typeface="Courier New" pitchFamily="49" charset="0"/>
              <a:ea typeface="굴림" pitchFamily="50" charset="-127"/>
            </a:endParaRP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public static void main(String args[]) {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    SwingText st = new SwingText();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    }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ko-KR" sz="1600">
                <a:latin typeface="Courier New" pitchFamily="49" charset="0"/>
                <a:ea typeface="굴림" pitchFamily="50" charset="-127"/>
              </a:rPr>
              <a:t> }</a:t>
            </a:r>
          </a:p>
        </p:txBody>
      </p:sp>
      <p:pic>
        <p:nvPicPr>
          <p:cNvPr id="56327" name="Picture 5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3048000" y="4267200"/>
            <a:ext cx="2857500" cy="1890713"/>
          </a:xfrm>
          <a:noFill/>
        </p:spPr>
      </p:pic>
    </p:spTree>
    <p:custDataLst>
      <p:tags r:id="rId1"/>
    </p:custDataLst>
  </p:cSld>
  <p:clrMapOvr>
    <a:masterClrMapping/>
  </p:clrMapOvr>
  <p:transition spd="med">
    <p:wheel spokes="1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6.8|0.7|1.2|4.4|0.5|40.7|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3.3|0.6|4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|1.2|4.1|8.7|29.9|0.9|0.8|0.5|0.6|1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0.8|3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|3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|11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0.7|1.2|20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10.4|22.6|0.5|0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0.6|0.2|0.3|11.4|0.6|13|0.8|1.9|0.9|31|32.9|18.9|1.7|6.5|1.1|5.7|1.7|31.5|0.7|6.1|2.8|35|9.2|27.9|1.2|6.4|0.6|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3|39.1|22.6|1.5|14.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1.1|0.7|0.2|43.5|0.9|19|1.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0.7|12.7|0.5|0.2|0.6|1.9|0.7|0.2|0.4|0.8|7.7|7.6|23.1|0.9|2.1|26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|0.5|0.2|0.4|0.2|0.6|6.4|5.4|0.2|1.3|14|2|0.2|1|35|0.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0.6|0.2|18.1|16.3|3.5|0.2|0.2|6.5|0.7|11.2|0.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0.6|14.8|0.2|0.5|8.3|40.9|1.2|5.8|9.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29.6|6.3|86.3|46.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8|1.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0.9|0.8|0.2|0.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|3.5|0.7|0.4|27.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2.8|0.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0.8|1.1|0.1|2|0.6|2.1|14.9|7.9|0.7|5.5|10.5|70.7|0.5|9.3|3.1|9.3|5.9|11|14.2|0.5|27.9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0.6|0.3|24.1|0.5|0.2|0.2|0.2|1|31.9|7.6|0.4|35.2|6.2|1|1|33.6|58.6|21|1.2|1|0.9|2.2|0.8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3|1.3|5.8|169.9|0.8|2.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6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5.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21.8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0.7|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0.6|4|18.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0.7|1.6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9.8|0.6|0.8|1.7|0.5|1.7|14.5|0.5|0.4|0.5|1.2|0.6|0.5|0.5|0.6|0.6|149.5|28.1|10.9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0.8|0.7|41|1.1|0.5|0.7|5.9|1.3|1.7|13.6|0.8"/>
</p:tagLst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Arial"/>
        <a:ea typeface="바탕체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Cliff</Template>
  <TotalTime>10945</TotalTime>
  <Words>1935</Words>
  <Application>Microsoft Office PowerPoint</Application>
  <PresentationFormat>화면 슬라이드 쇼(4:3)</PresentationFormat>
  <Paragraphs>639</Paragraphs>
  <Slides>40</Slides>
  <Notes>40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51" baseType="lpstr">
      <vt:lpstr>Arial Unicode MS</vt:lpstr>
      <vt:lpstr>고딕</vt:lpstr>
      <vt:lpstr>굴림</vt:lpstr>
      <vt:lpstr>신명조</vt:lpstr>
      <vt:lpstr>Arial</vt:lpstr>
      <vt:lpstr>Courier New</vt:lpstr>
      <vt:lpstr>Impact</vt:lpstr>
      <vt:lpstr>Times</vt:lpstr>
      <vt:lpstr>Times New Roman</vt:lpstr>
      <vt:lpstr>Wingdings</vt:lpstr>
      <vt:lpstr>Blank</vt:lpstr>
      <vt:lpstr>GUI 프로그래밍</vt:lpstr>
      <vt:lpstr>좌표계(Coordinate Systems)</vt:lpstr>
      <vt:lpstr>Color 클래스</vt:lpstr>
      <vt:lpstr>형상 그리기(drawing shapes)</vt:lpstr>
      <vt:lpstr>Drawing a Line</vt:lpstr>
      <vt:lpstr>Drawing a Rectangle</vt:lpstr>
      <vt:lpstr>Drawing an Oval</vt:lpstr>
      <vt:lpstr>Drawing Shapes</vt:lpstr>
      <vt:lpstr>중첩 패널</vt:lpstr>
      <vt:lpstr>NestedPanels.java</vt:lpstr>
      <vt:lpstr>paintComponent 메쏘드</vt:lpstr>
      <vt:lpstr>SmilingFace 예제</vt:lpstr>
      <vt:lpstr>SmilingFace.java</vt:lpstr>
      <vt:lpstr>SmilingFacePanel.java</vt:lpstr>
      <vt:lpstr>SmilingFacePanel.java</vt:lpstr>
      <vt:lpstr>SmilingFacePanel.java</vt:lpstr>
      <vt:lpstr>Swing Components</vt:lpstr>
      <vt:lpstr>Swing Components</vt:lpstr>
      <vt:lpstr>Swing Components</vt:lpstr>
      <vt:lpstr>Swing Components</vt:lpstr>
      <vt:lpstr>Swing Components</vt:lpstr>
      <vt:lpstr>Swing Components</vt:lpstr>
      <vt:lpstr>Swing Components</vt:lpstr>
      <vt:lpstr>   Swing Components</vt:lpstr>
      <vt:lpstr>  Swing Components</vt:lpstr>
      <vt:lpstr>       Swing Components</vt:lpstr>
      <vt:lpstr>       Swing Components</vt:lpstr>
      <vt:lpstr>       Swing Components</vt:lpstr>
      <vt:lpstr>Swing Components</vt:lpstr>
      <vt:lpstr>Swing Components</vt:lpstr>
      <vt:lpstr>Swing Components</vt:lpstr>
      <vt:lpstr>Swing Components</vt:lpstr>
      <vt:lpstr>Swing Components</vt:lpstr>
      <vt:lpstr>Swing Components</vt:lpstr>
      <vt:lpstr>       Swing Components</vt:lpstr>
      <vt:lpstr>       Swing Components</vt:lpstr>
      <vt:lpstr>       Swing Components</vt:lpstr>
      <vt:lpstr>Swing Components</vt:lpstr>
      <vt:lpstr>Swing Components</vt:lpstr>
      <vt:lpstr>Swing Components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Copyright 2004 Pearson Addison-Wesley</dc:creator>
  <cp:lastModifiedBy>한정희 항공전자정보공학부(교수)</cp:lastModifiedBy>
  <cp:revision>196</cp:revision>
  <dcterms:created xsi:type="dcterms:W3CDTF">2003-05-23T15:49:24Z</dcterms:created>
  <dcterms:modified xsi:type="dcterms:W3CDTF">2020-06-02T05:52:44Z</dcterms:modified>
</cp:coreProperties>
</file>