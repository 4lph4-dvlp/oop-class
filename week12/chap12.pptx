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70"/>
  </p:notesMasterIdLst>
  <p:handoutMasterIdLst>
    <p:handoutMasterId r:id="rId71"/>
  </p:handoutMasterIdLst>
  <p:sldIdLst>
    <p:sldId id="291" r:id="rId2"/>
    <p:sldId id="298" r:id="rId3"/>
    <p:sldId id="381" r:id="rId4"/>
    <p:sldId id="490" r:id="rId5"/>
    <p:sldId id="563" r:id="rId6"/>
    <p:sldId id="564" r:id="rId7"/>
    <p:sldId id="565" r:id="rId8"/>
    <p:sldId id="567" r:id="rId9"/>
    <p:sldId id="566" r:id="rId10"/>
    <p:sldId id="568" r:id="rId11"/>
    <p:sldId id="569" r:id="rId12"/>
    <p:sldId id="570" r:id="rId13"/>
    <p:sldId id="391" r:id="rId14"/>
    <p:sldId id="535" r:id="rId15"/>
    <p:sldId id="536" r:id="rId16"/>
    <p:sldId id="537" r:id="rId17"/>
    <p:sldId id="571" r:id="rId18"/>
    <p:sldId id="572" r:id="rId19"/>
    <p:sldId id="538" r:id="rId20"/>
    <p:sldId id="539" r:id="rId21"/>
    <p:sldId id="573" r:id="rId22"/>
    <p:sldId id="574" r:id="rId23"/>
    <p:sldId id="551" r:id="rId24"/>
    <p:sldId id="540" r:id="rId25"/>
    <p:sldId id="550" r:id="rId26"/>
    <p:sldId id="575" r:id="rId27"/>
    <p:sldId id="576" r:id="rId28"/>
    <p:sldId id="541" r:id="rId29"/>
    <p:sldId id="552" r:id="rId30"/>
    <p:sldId id="577" r:id="rId31"/>
    <p:sldId id="542" r:id="rId32"/>
    <p:sldId id="553" r:id="rId33"/>
    <p:sldId id="578" r:id="rId34"/>
    <p:sldId id="554" r:id="rId35"/>
    <p:sldId id="579" r:id="rId36"/>
    <p:sldId id="580" r:id="rId37"/>
    <p:sldId id="581" r:id="rId38"/>
    <p:sldId id="582" r:id="rId39"/>
    <p:sldId id="544" r:id="rId40"/>
    <p:sldId id="555" r:id="rId41"/>
    <p:sldId id="556" r:id="rId42"/>
    <p:sldId id="557" r:id="rId43"/>
    <p:sldId id="583" r:id="rId44"/>
    <p:sldId id="584" r:id="rId45"/>
    <p:sldId id="545" r:id="rId46"/>
    <p:sldId id="558" r:id="rId47"/>
    <p:sldId id="585" r:id="rId48"/>
    <p:sldId id="586" r:id="rId49"/>
    <p:sldId id="587" r:id="rId50"/>
    <p:sldId id="546" r:id="rId51"/>
    <p:sldId id="559" r:id="rId52"/>
    <p:sldId id="560" r:id="rId53"/>
    <p:sldId id="561" r:id="rId54"/>
    <p:sldId id="562" r:id="rId55"/>
    <p:sldId id="590" r:id="rId56"/>
    <p:sldId id="589" r:id="rId57"/>
    <p:sldId id="591" r:id="rId58"/>
    <p:sldId id="592" r:id="rId59"/>
    <p:sldId id="547" r:id="rId60"/>
    <p:sldId id="588" r:id="rId61"/>
    <p:sldId id="593" r:id="rId62"/>
    <p:sldId id="388" r:id="rId63"/>
    <p:sldId id="389" r:id="rId64"/>
    <p:sldId id="533" r:id="rId65"/>
    <p:sldId id="387" r:id="rId66"/>
    <p:sldId id="374" r:id="rId67"/>
    <p:sldId id="534" r:id="rId68"/>
    <p:sldId id="471" r:id="rId69"/>
  </p:sldIdLst>
  <p:sldSz cx="9144000" cy="6858000" type="screen4x3"/>
  <p:notesSz cx="6858000" cy="914400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HY동녘M" pitchFamily="18" charset="-127"/>
        <a:ea typeface="HY동녘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5">
          <p15:clr>
            <a:srgbClr val="A4A3A4"/>
          </p15:clr>
        </p15:guide>
        <p15:guide id="2" pos="14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FF00FF"/>
    <a:srgbClr val="FF6600"/>
    <a:srgbClr val="6666FF"/>
    <a:srgbClr val="6600CC"/>
    <a:srgbClr val="B9B9FF"/>
    <a:srgbClr val="FF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2" autoAdjust="0"/>
    <p:restoredTop sz="86435" autoAdjust="0"/>
  </p:normalViewPr>
  <p:slideViewPr>
    <p:cSldViewPr>
      <p:cViewPr varScale="1">
        <p:scale>
          <a:sx n="53" d="100"/>
          <a:sy n="53" d="100"/>
        </p:scale>
        <p:origin x="948" y="40"/>
      </p:cViewPr>
      <p:guideLst>
        <p:guide orient="horz" pos="2285"/>
        <p:guide pos="1446"/>
      </p:guideLst>
    </p:cSldViewPr>
  </p:slideViewPr>
  <p:outlineViewPr>
    <p:cViewPr>
      <p:scale>
        <a:sx n="33" d="100"/>
        <a:sy n="33" d="100"/>
      </p:scale>
      <p:origin x="0" y="29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0254"/>
    </p:cViewPr>
  </p:sorterViewPr>
  <p:notesViewPr>
    <p:cSldViewPr>
      <p:cViewPr varScale="1">
        <p:scale>
          <a:sx n="83" d="100"/>
          <a:sy n="83" d="100"/>
        </p:scale>
        <p:origin x="-169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E06206D-ACCC-308F-D017-ACB99AB03A4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굴림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9BE3404-524B-F102-F4DA-9324D3001CE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굴림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3141CFC-FCFF-72B7-C737-7ED9CE073B9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굴림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174F7C3-F0CE-E86A-CD82-E28386BBE14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fld id="{51744175-7DAB-415B-8779-5FADFD49CC3B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5B63F16-2610-AED2-38DC-2DC49FFD8B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굴림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FF4D45A-EFC6-1707-1374-1532E83264B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굴림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ko-KR" altLang="ko-KR"/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1E0D9600-9BCA-1F60-F264-3C93B5A8798E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E4B294B-F409-9DD0-FEAB-127FF27B9B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ko-KR" noProof="0"/>
              <a:t>마스터 문자열 유형 편집</a:t>
            </a:r>
          </a:p>
          <a:p>
            <a:pPr lvl="1"/>
            <a:r>
              <a:rPr lang="ko-KR" altLang="ko-KR" noProof="0"/>
              <a:t>둘째 수준</a:t>
            </a:r>
          </a:p>
          <a:p>
            <a:pPr lvl="2"/>
            <a:r>
              <a:rPr lang="ko-KR" altLang="ko-KR" noProof="0"/>
              <a:t>셋째 수준</a:t>
            </a:r>
          </a:p>
          <a:p>
            <a:pPr lvl="3"/>
            <a:r>
              <a:rPr lang="ko-KR" altLang="ko-KR" noProof="0"/>
              <a:t>넷째 수준</a:t>
            </a:r>
          </a:p>
          <a:p>
            <a:pPr lvl="4"/>
            <a:r>
              <a:rPr lang="ko-KR" altLang="ko-KR" noProof="0"/>
              <a:t>다섯째 수준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495A137D-84E6-3AC3-B446-4D92462655B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굴림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DD646C4F-91EE-224F-AF0F-162423F56C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fld id="{E6090BDB-0078-42F2-A594-BE5B30B2CEB2}" type="slidenum">
              <a:rPr lang="ko-KR" altLang="ko-KR"/>
              <a:pPr/>
              <a:t>‹#›</a:t>
            </a:fld>
            <a:endParaRPr lang="ko-KR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985ECF56-E9AC-7E48-57D4-607949FEDF3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B9E32A45-C2D5-AB0E-7084-224C8D511C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56B91973-5E37-479D-8049-0E0C13ED637B}" type="slidenum">
              <a:rPr lang="ko-KR" altLang="ko-KR">
                <a:latin typeface="Times New Roman" panose="02020603050405020304" pitchFamily="18" charset="0"/>
              </a:rPr>
              <a:pPr algn="r" eaLnBrk="1" hangingPunct="1"/>
              <a:t>1</a:t>
            </a:fld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ADBFD347-76D3-2A73-7B36-D2BFC66993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2EA138F2-924B-C495-3FA8-2C9230958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2A24915A-BF3A-9637-393C-A47ED3DBA8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3011" name="Rectangle 7">
            <a:extLst>
              <a:ext uri="{FF2B5EF4-FFF2-40B4-BE49-F238E27FC236}">
                <a16:creationId xmlns:a16="http://schemas.microsoft.com/office/drawing/2014/main" id="{9620C67C-0263-DDB5-8BF8-69E1D7EF51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62AA9060-FA05-4134-9742-0737CA11B514}" type="slidenum">
              <a:rPr lang="ko-KR" altLang="ko-KR">
                <a:latin typeface="Times New Roman" panose="02020603050405020304" pitchFamily="18" charset="0"/>
              </a:rPr>
              <a:pPr algn="r" eaLnBrk="1" hangingPunct="1"/>
              <a:t>2</a:t>
            </a:fld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E7765B86-0AF3-0165-D1EE-62DC39D7A2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987C47E0-848E-5070-BB24-6524CDC2C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82A08FF3-D4C4-BDD4-951E-E562C9B1DC1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4035" name="Rectangle 7">
            <a:extLst>
              <a:ext uri="{FF2B5EF4-FFF2-40B4-BE49-F238E27FC236}">
                <a16:creationId xmlns:a16="http://schemas.microsoft.com/office/drawing/2014/main" id="{D1FA61BB-97B5-645C-87AA-BBE9201CDD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44CE7FA5-8E8E-4703-9CCD-C1381E77E70F}" type="slidenum">
              <a:rPr lang="ko-KR" altLang="ko-KR">
                <a:latin typeface="Times New Roman" panose="02020603050405020304" pitchFamily="18" charset="0"/>
              </a:rPr>
              <a:pPr algn="r" eaLnBrk="1" hangingPunct="1"/>
              <a:t>3</a:t>
            </a:fld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914C0021-252C-01AF-4A10-25FD444A5A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2E01ADD2-6E26-362C-CE34-95686D70B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7714CF6B-4E5C-E621-ACA6-B8C63B881E6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05BEFA8F-08AD-6F03-B895-CD3C2218061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>
            <a:extLst>
              <a:ext uri="{FF2B5EF4-FFF2-40B4-BE49-F238E27FC236}">
                <a16:creationId xmlns:a16="http://schemas.microsoft.com/office/drawing/2014/main" id="{8600F1A0-343F-C934-9E4D-615F82EFD4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9235" name="Rectangle 3">
            <a:extLst>
              <a:ext uri="{FF2B5EF4-FFF2-40B4-BE49-F238E27FC236}">
                <a16:creationId xmlns:a16="http://schemas.microsoft.com/office/drawing/2014/main" id="{DAD2B7EA-CD14-3087-978A-5D49E5899FE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>
            <a:extLst>
              <a:ext uri="{FF2B5EF4-FFF2-40B4-BE49-F238E27FC236}">
                <a16:creationId xmlns:a16="http://schemas.microsoft.com/office/drawing/2014/main" id="{3E2F9A6D-6C23-7397-E9D4-8572464C4B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93E97ACE-917E-F007-40E7-790BA2DE9FA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3">
            <a:extLst>
              <a:ext uri="{FF2B5EF4-FFF2-40B4-BE49-F238E27FC236}">
                <a16:creationId xmlns:a16="http://schemas.microsoft.com/office/drawing/2014/main" id="{AA9219F2-7819-0F63-32D8-AE549BCBFE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 sz="1200">
                <a:latin typeface="Times New Roman" panose="02020603050405020304" pitchFamily="18" charset="0"/>
              </a:rPr>
              <a:t>© 우균, 창병모</a:t>
            </a:r>
            <a:endParaRPr lang="ko-KR" altLang="ko-KR" sz="1200">
              <a:latin typeface="Times New Roman" panose="02020603050405020304" pitchFamily="18" charset="0"/>
            </a:endParaRPr>
          </a:p>
        </p:txBody>
      </p:sp>
      <p:sp>
        <p:nvSpPr>
          <p:cNvPr id="485379" name="Rectangle 7">
            <a:extLst>
              <a:ext uri="{FF2B5EF4-FFF2-40B4-BE49-F238E27FC236}">
                <a16:creationId xmlns:a16="http://schemas.microsoft.com/office/drawing/2014/main" id="{0F5F4706-0CE3-FD3C-4830-377B9352CB0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59F7A970-8276-4002-9246-BB739ABE9E24}" type="slidenum">
              <a:rPr lang="ko-KR" altLang="ko-KR" sz="1200">
                <a:latin typeface="Times New Roman" panose="02020603050405020304" pitchFamily="18" charset="0"/>
              </a:rPr>
              <a:pPr algn="r" eaLnBrk="1" hangingPunct="1"/>
              <a:t>7</a:t>
            </a:fld>
            <a:endParaRPr lang="ko-KR" altLang="ko-KR" sz="1200">
              <a:latin typeface="Times New Roman" panose="02020603050405020304" pitchFamily="18" charset="0"/>
            </a:endParaRPr>
          </a:p>
        </p:txBody>
      </p:sp>
      <p:sp>
        <p:nvSpPr>
          <p:cNvPr id="485380" name="Rectangle 2">
            <a:extLst>
              <a:ext uri="{FF2B5EF4-FFF2-40B4-BE49-F238E27FC236}">
                <a16:creationId xmlns:a16="http://schemas.microsoft.com/office/drawing/2014/main" id="{8DE87BEF-79C8-508F-460B-B9132CC9101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5381" name="Rectangle 3">
            <a:extLst>
              <a:ext uri="{FF2B5EF4-FFF2-40B4-BE49-F238E27FC236}">
                <a16:creationId xmlns:a16="http://schemas.microsoft.com/office/drawing/2014/main" id="{698E0478-25F2-76CE-BB1E-949648A06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>
            <a:extLst>
              <a:ext uri="{FF2B5EF4-FFF2-40B4-BE49-F238E27FC236}">
                <a16:creationId xmlns:a16="http://schemas.microsoft.com/office/drawing/2014/main" id="{2988E5F8-583C-645B-06DF-4268031F3A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 3">
            <a:extLst>
              <a:ext uri="{FF2B5EF4-FFF2-40B4-BE49-F238E27FC236}">
                <a16:creationId xmlns:a16="http://schemas.microsoft.com/office/drawing/2014/main" id="{501DE0ED-9CD5-446B-E1EA-6F02FBE61E1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>
            <a:extLst>
              <a:ext uri="{FF2B5EF4-FFF2-40B4-BE49-F238E27FC236}">
                <a16:creationId xmlns:a16="http://schemas.microsoft.com/office/drawing/2014/main" id="{1C8A3299-40DC-1C3A-8685-512812D388B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>
            <a:extLst>
              <a:ext uri="{FF2B5EF4-FFF2-40B4-BE49-F238E27FC236}">
                <a16:creationId xmlns:a16="http://schemas.microsoft.com/office/drawing/2014/main" id="{2801D749-2FDE-6D2E-EF3C-E990173C884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3">
            <a:extLst>
              <a:ext uri="{FF2B5EF4-FFF2-40B4-BE49-F238E27FC236}">
                <a16:creationId xmlns:a16="http://schemas.microsoft.com/office/drawing/2014/main" id="{5A1E3458-AB80-BE43-D3BC-8AEC372CAC8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 sz="1200">
                <a:latin typeface="Times New Roman" panose="02020603050405020304" pitchFamily="18" charset="0"/>
              </a:rPr>
              <a:t>© 우균, 창병모</a:t>
            </a:r>
            <a:endParaRPr lang="ko-KR" altLang="ko-KR" sz="1200">
              <a:latin typeface="Times New Roman" panose="02020603050405020304" pitchFamily="18" charset="0"/>
            </a:endParaRPr>
          </a:p>
        </p:txBody>
      </p:sp>
      <p:sp>
        <p:nvSpPr>
          <p:cNvPr id="494595" name="Rectangle 7">
            <a:extLst>
              <a:ext uri="{FF2B5EF4-FFF2-40B4-BE49-F238E27FC236}">
                <a16:creationId xmlns:a16="http://schemas.microsoft.com/office/drawing/2014/main" id="{9F549F5F-3666-107B-FC8E-1BD7DC855D8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2C06EC9-4A90-47BE-A9FA-169F829DA9B5}" type="slidenum">
              <a:rPr lang="ko-KR" altLang="ko-KR" sz="1200">
                <a:latin typeface="Times New Roman" panose="02020603050405020304" pitchFamily="18" charset="0"/>
              </a:rPr>
              <a:pPr algn="r" eaLnBrk="1" hangingPunct="1"/>
              <a:t>10</a:t>
            </a:fld>
            <a:endParaRPr lang="ko-KR" altLang="ko-KR" sz="1200">
              <a:latin typeface="Times New Roman" panose="02020603050405020304" pitchFamily="18" charset="0"/>
            </a:endParaRPr>
          </a:p>
        </p:txBody>
      </p:sp>
      <p:sp>
        <p:nvSpPr>
          <p:cNvPr id="494596" name="Rectangle 2">
            <a:extLst>
              <a:ext uri="{FF2B5EF4-FFF2-40B4-BE49-F238E27FC236}">
                <a16:creationId xmlns:a16="http://schemas.microsoft.com/office/drawing/2014/main" id="{B47020D4-285D-324F-C7AD-0CC17088B44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7" name="Rectangle 3">
            <a:extLst>
              <a:ext uri="{FF2B5EF4-FFF2-40B4-BE49-F238E27FC236}">
                <a16:creationId xmlns:a16="http://schemas.microsoft.com/office/drawing/2014/main" id="{1745B89A-B884-4496-7AE5-044281F8F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>
            <a:extLst>
              <a:ext uri="{FF2B5EF4-FFF2-40B4-BE49-F238E27FC236}">
                <a16:creationId xmlns:a16="http://schemas.microsoft.com/office/drawing/2014/main" id="{FE3ACCEF-8EA3-613E-33B3-8CF11CA9B9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>
            <a:extLst>
              <a:ext uri="{FF2B5EF4-FFF2-40B4-BE49-F238E27FC236}">
                <a16:creationId xmlns:a16="http://schemas.microsoft.com/office/drawing/2014/main" id="{BFC1F9E7-516D-D367-7458-309BD5F3C71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>
            <a:extLst>
              <a:ext uri="{FF2B5EF4-FFF2-40B4-BE49-F238E27FC236}">
                <a16:creationId xmlns:a16="http://schemas.microsoft.com/office/drawing/2014/main" id="{80301D86-CF57-9CF9-2F5E-BC8B3B48973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>
            <a:extLst>
              <a:ext uri="{FF2B5EF4-FFF2-40B4-BE49-F238E27FC236}">
                <a16:creationId xmlns:a16="http://schemas.microsoft.com/office/drawing/2014/main" id="{493E1D31-C4D4-4E9B-8958-016ECA83042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04227AB-F8F4-89D3-840F-94784CAB745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9DD0493-D255-9D9D-F58C-4C042F0652E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>
            <a:extLst>
              <a:ext uri="{FF2B5EF4-FFF2-40B4-BE49-F238E27FC236}">
                <a16:creationId xmlns:a16="http://schemas.microsoft.com/office/drawing/2014/main" id="{CC354142-9355-D7BF-C416-8C445B19C8F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C62CDD79-3858-E751-0990-703ED190265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F897AC8F-F246-07A7-614D-BAF2BD4D968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35C0FC04-094B-2354-C3F5-2558A5B6687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F78F3FC7-F2EB-F5C0-5A52-69E5BB55B9C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7B1FED7A-45CE-117C-52EF-F139C2963CE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>
            <a:extLst>
              <a:ext uri="{FF2B5EF4-FFF2-40B4-BE49-F238E27FC236}">
                <a16:creationId xmlns:a16="http://schemas.microsoft.com/office/drawing/2014/main" id="{9BBD22E7-D751-3F8B-150F-34AA3224C09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>
            <a:extLst>
              <a:ext uri="{FF2B5EF4-FFF2-40B4-BE49-F238E27FC236}">
                <a16:creationId xmlns:a16="http://schemas.microsoft.com/office/drawing/2014/main" id="{697D70A3-B1D4-FB7E-34F7-FA8A6D8150A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>
            <a:extLst>
              <a:ext uri="{FF2B5EF4-FFF2-40B4-BE49-F238E27FC236}">
                <a16:creationId xmlns:a16="http://schemas.microsoft.com/office/drawing/2014/main" id="{2A91F2DF-2BB4-4979-0ACD-72F4A0A4D1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D8DE1B95-D88C-CD94-EA56-6D9B167B89E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29EB6FA9-CAF5-00C1-D8F2-743B32AE99B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9D8AAAC0-8382-5E10-C79F-F273C0B7BFA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>
            <a:extLst>
              <a:ext uri="{FF2B5EF4-FFF2-40B4-BE49-F238E27FC236}">
                <a16:creationId xmlns:a16="http://schemas.microsoft.com/office/drawing/2014/main" id="{1075297A-5BC2-A917-0098-48A507EB3AB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D757EC80-9BD0-5493-CAFE-16E5F1E6A5F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3">
            <a:extLst>
              <a:ext uri="{FF2B5EF4-FFF2-40B4-BE49-F238E27FC236}">
                <a16:creationId xmlns:a16="http://schemas.microsoft.com/office/drawing/2014/main" id="{6FF4F2B6-73FC-8311-C489-218F5498AA4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 sz="1200">
                <a:latin typeface="Times New Roman" panose="02020603050405020304" pitchFamily="18" charset="0"/>
              </a:rPr>
              <a:t>© 우균, 창병모</a:t>
            </a:r>
            <a:endParaRPr lang="ko-KR" altLang="ko-KR" sz="1200">
              <a:latin typeface="Times New Roman" panose="02020603050405020304" pitchFamily="18" charset="0"/>
            </a:endParaRPr>
          </a:p>
        </p:txBody>
      </p:sp>
      <p:sp>
        <p:nvSpPr>
          <p:cNvPr id="509955" name="Rectangle 7">
            <a:extLst>
              <a:ext uri="{FF2B5EF4-FFF2-40B4-BE49-F238E27FC236}">
                <a16:creationId xmlns:a16="http://schemas.microsoft.com/office/drawing/2014/main" id="{AE84583F-6346-F653-92B0-EA8D1117D8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219A36AF-93D8-4EC1-8664-41327B815D2A}" type="slidenum">
              <a:rPr lang="ko-KR" altLang="ko-KR" sz="1200">
                <a:latin typeface="Times New Roman" panose="02020603050405020304" pitchFamily="18" charset="0"/>
              </a:rPr>
              <a:pPr algn="r" eaLnBrk="1" hangingPunct="1"/>
              <a:t>21</a:t>
            </a:fld>
            <a:endParaRPr lang="ko-KR" altLang="ko-KR" sz="1200">
              <a:latin typeface="Times New Roman" panose="02020603050405020304" pitchFamily="18" charset="0"/>
            </a:endParaRPr>
          </a:p>
        </p:txBody>
      </p:sp>
      <p:sp>
        <p:nvSpPr>
          <p:cNvPr id="509956" name="Rectangle 2">
            <a:extLst>
              <a:ext uri="{FF2B5EF4-FFF2-40B4-BE49-F238E27FC236}">
                <a16:creationId xmlns:a16="http://schemas.microsoft.com/office/drawing/2014/main" id="{D6B099C3-399D-176A-851E-5BF88BA0D0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9957" name="Rectangle 3">
            <a:extLst>
              <a:ext uri="{FF2B5EF4-FFF2-40B4-BE49-F238E27FC236}">
                <a16:creationId xmlns:a16="http://schemas.microsoft.com/office/drawing/2014/main" id="{84A482AD-16BA-0770-F54F-DA3290348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>
            <a:extLst>
              <a:ext uri="{FF2B5EF4-FFF2-40B4-BE49-F238E27FC236}">
                <a16:creationId xmlns:a16="http://schemas.microsoft.com/office/drawing/2014/main" id="{991C0339-77E0-8C3F-D210-80CFC89243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2C5B2E77-8226-1D94-6149-62A72860D58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>
            <a:extLst>
              <a:ext uri="{FF2B5EF4-FFF2-40B4-BE49-F238E27FC236}">
                <a16:creationId xmlns:a16="http://schemas.microsoft.com/office/drawing/2014/main" id="{B08C30F0-6E65-1EE7-2C0C-7F653E7359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28630A83-6A16-03B8-6D1F-E8354C09577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11A12677-A9CF-DB04-6D27-B3113FC90E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id="{49499C08-258F-937A-403F-B31B0477DD0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>
            <a:extLst>
              <a:ext uri="{FF2B5EF4-FFF2-40B4-BE49-F238E27FC236}">
                <a16:creationId xmlns:a16="http://schemas.microsoft.com/office/drawing/2014/main" id="{B56D5160-F8E3-82DD-DFE0-15383A77E95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2611" name="Rectangle 3">
            <a:extLst>
              <a:ext uri="{FF2B5EF4-FFF2-40B4-BE49-F238E27FC236}">
                <a16:creationId xmlns:a16="http://schemas.microsoft.com/office/drawing/2014/main" id="{561DB248-A0ED-5BF0-3967-A73830C0A70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>
            <a:extLst>
              <a:ext uri="{FF2B5EF4-FFF2-40B4-BE49-F238E27FC236}">
                <a16:creationId xmlns:a16="http://schemas.microsoft.com/office/drawing/2014/main" id="{2D920510-2601-441C-954F-E705BCE193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>
            <a:extLst>
              <a:ext uri="{FF2B5EF4-FFF2-40B4-BE49-F238E27FC236}">
                <a16:creationId xmlns:a16="http://schemas.microsoft.com/office/drawing/2014/main" id="{B84DC8AA-2FAE-135D-5F2B-470A217DA28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>
            <a:extLst>
              <a:ext uri="{FF2B5EF4-FFF2-40B4-BE49-F238E27FC236}">
                <a16:creationId xmlns:a16="http://schemas.microsoft.com/office/drawing/2014/main" id="{B5802A9D-F92E-8E0E-C179-8C05539578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>
            <a:extLst>
              <a:ext uri="{FF2B5EF4-FFF2-40B4-BE49-F238E27FC236}">
                <a16:creationId xmlns:a16="http://schemas.microsoft.com/office/drawing/2014/main" id="{012D6FF5-D532-ED22-E830-6A0E0485BC4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>
            <a:extLst>
              <a:ext uri="{FF2B5EF4-FFF2-40B4-BE49-F238E27FC236}">
                <a16:creationId xmlns:a16="http://schemas.microsoft.com/office/drawing/2014/main" id="{3749503B-53FB-6042-BEB8-06B504ED53B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 3">
            <a:extLst>
              <a:ext uri="{FF2B5EF4-FFF2-40B4-BE49-F238E27FC236}">
                <a16:creationId xmlns:a16="http://schemas.microsoft.com/office/drawing/2014/main" id="{78B3D7F0-4D05-BCC2-7DEA-15C61FD83E6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>
            <a:extLst>
              <a:ext uri="{FF2B5EF4-FFF2-40B4-BE49-F238E27FC236}">
                <a16:creationId xmlns:a16="http://schemas.microsoft.com/office/drawing/2014/main" id="{06116F79-AC86-4BE1-E67A-8506E02F442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E11331E9-2CFC-BA8B-B9C0-AFB72238D4F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>
            <a:extLst>
              <a:ext uri="{FF2B5EF4-FFF2-40B4-BE49-F238E27FC236}">
                <a16:creationId xmlns:a16="http://schemas.microsoft.com/office/drawing/2014/main" id="{43597E74-A77A-3064-42C5-B1E767DA70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>
            <a:extLst>
              <a:ext uri="{FF2B5EF4-FFF2-40B4-BE49-F238E27FC236}">
                <a16:creationId xmlns:a16="http://schemas.microsoft.com/office/drawing/2014/main" id="{94C2CB8E-D29B-8618-AF22-C0B4C022610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>
            <a:extLst>
              <a:ext uri="{FF2B5EF4-FFF2-40B4-BE49-F238E27FC236}">
                <a16:creationId xmlns:a16="http://schemas.microsoft.com/office/drawing/2014/main" id="{5B4A274B-F8B9-8D2E-6924-4EB8337B956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6227" name="Rectangle 3">
            <a:extLst>
              <a:ext uri="{FF2B5EF4-FFF2-40B4-BE49-F238E27FC236}">
                <a16:creationId xmlns:a16="http://schemas.microsoft.com/office/drawing/2014/main" id="{3F6A4A40-71CC-CEDB-9FEE-60911A799F1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>
            <a:extLst>
              <a:ext uri="{FF2B5EF4-FFF2-40B4-BE49-F238E27FC236}">
                <a16:creationId xmlns:a16="http://schemas.microsoft.com/office/drawing/2014/main" id="{2892D6F0-C553-EE6B-6F53-89B9F70DC05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C1EDB631-6962-0515-C0CB-B477B627F9D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>
            <a:extLst>
              <a:ext uri="{FF2B5EF4-FFF2-40B4-BE49-F238E27FC236}">
                <a16:creationId xmlns:a16="http://schemas.microsoft.com/office/drawing/2014/main" id="{315EAC01-D009-D363-56EA-9EBB363BF87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9FEA1A86-E907-D796-0C43-854AF8AABDB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>
            <a:extLst>
              <a:ext uri="{FF2B5EF4-FFF2-40B4-BE49-F238E27FC236}">
                <a16:creationId xmlns:a16="http://schemas.microsoft.com/office/drawing/2014/main" id="{145F3B4F-92DF-F2D7-38E6-6584CE30A7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3165AB2E-A7B5-DE6B-1AC2-2E949661960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>
            <a:extLst>
              <a:ext uri="{FF2B5EF4-FFF2-40B4-BE49-F238E27FC236}">
                <a16:creationId xmlns:a16="http://schemas.microsoft.com/office/drawing/2014/main" id="{17A70BCF-3D05-A2B3-8BBD-66EE681B79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62929935-9DA4-2529-38B3-5429A313FAD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>
            <a:extLst>
              <a:ext uri="{FF2B5EF4-FFF2-40B4-BE49-F238E27FC236}">
                <a16:creationId xmlns:a16="http://schemas.microsoft.com/office/drawing/2014/main" id="{FAB2AED9-0966-0148-EB2A-24928A05BD1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>
            <a:extLst>
              <a:ext uri="{FF2B5EF4-FFF2-40B4-BE49-F238E27FC236}">
                <a16:creationId xmlns:a16="http://schemas.microsoft.com/office/drawing/2014/main" id="{85E8A920-CACF-F69D-C775-2AF0022E3D8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>
            <a:extLst>
              <a:ext uri="{FF2B5EF4-FFF2-40B4-BE49-F238E27FC236}">
                <a16:creationId xmlns:a16="http://schemas.microsoft.com/office/drawing/2014/main" id="{007BFC53-7201-92F4-F726-9AB907D47C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7090ED77-9138-7976-7209-B9AAEFF142E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>
            <a:extLst>
              <a:ext uri="{FF2B5EF4-FFF2-40B4-BE49-F238E27FC236}">
                <a16:creationId xmlns:a16="http://schemas.microsoft.com/office/drawing/2014/main" id="{A8FB4B6C-C97A-C024-2921-D0EB01DBE9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B8E3DA6A-7534-6119-55A5-5503F3B8C26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>
            <a:extLst>
              <a:ext uri="{FF2B5EF4-FFF2-40B4-BE49-F238E27FC236}">
                <a16:creationId xmlns:a16="http://schemas.microsoft.com/office/drawing/2014/main" id="{4AC8C0A4-DB96-B4C7-8542-D702E2D1D1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id="{3031B274-152D-2C5C-A106-DE6D4499BB4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>
            <a:extLst>
              <a:ext uri="{FF2B5EF4-FFF2-40B4-BE49-F238E27FC236}">
                <a16:creationId xmlns:a16="http://schemas.microsoft.com/office/drawing/2014/main" id="{4A7880BE-8C87-A65A-7430-3E666A8EA0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C76140DF-9E16-7453-8FEE-35F8B978B00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>
            <a:extLst>
              <a:ext uri="{FF2B5EF4-FFF2-40B4-BE49-F238E27FC236}">
                <a16:creationId xmlns:a16="http://schemas.microsoft.com/office/drawing/2014/main" id="{9873E893-CCE6-51E6-AE6D-4A22FDBBAA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EC4BC938-2CE7-94D4-BFB1-2F7518513A1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>
            <a:extLst>
              <a:ext uri="{FF2B5EF4-FFF2-40B4-BE49-F238E27FC236}">
                <a16:creationId xmlns:a16="http://schemas.microsoft.com/office/drawing/2014/main" id="{F865F50D-643D-8D15-8B14-6D1911BAE4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40252F35-AEB6-1D3A-D62C-7011DD8A1AD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>
            <a:extLst>
              <a:ext uri="{FF2B5EF4-FFF2-40B4-BE49-F238E27FC236}">
                <a16:creationId xmlns:a16="http://schemas.microsoft.com/office/drawing/2014/main" id="{590F0CF1-3ABA-EAC6-44D1-B9A60E15EAB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>
            <a:extLst>
              <a:ext uri="{FF2B5EF4-FFF2-40B4-BE49-F238E27FC236}">
                <a16:creationId xmlns:a16="http://schemas.microsoft.com/office/drawing/2014/main" id="{09DA4393-A42D-DC36-E576-1734C89C908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>
            <a:extLst>
              <a:ext uri="{FF2B5EF4-FFF2-40B4-BE49-F238E27FC236}">
                <a16:creationId xmlns:a16="http://schemas.microsoft.com/office/drawing/2014/main" id="{D683E012-FA77-8700-7A15-4D86F749E5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8867" name="Rectangle 3">
            <a:extLst>
              <a:ext uri="{FF2B5EF4-FFF2-40B4-BE49-F238E27FC236}">
                <a16:creationId xmlns:a16="http://schemas.microsoft.com/office/drawing/2014/main" id="{E60C21B0-E3D9-C78D-8678-BE881537A7E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>
            <a:extLst>
              <a:ext uri="{FF2B5EF4-FFF2-40B4-BE49-F238E27FC236}">
                <a16:creationId xmlns:a16="http://schemas.microsoft.com/office/drawing/2014/main" id="{1DD890B5-886A-E1E3-03DD-0F9D8335E4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>
            <a:extLst>
              <a:ext uri="{FF2B5EF4-FFF2-40B4-BE49-F238E27FC236}">
                <a16:creationId xmlns:a16="http://schemas.microsoft.com/office/drawing/2014/main" id="{B5BB7208-175C-0FEC-9D9C-9506B8EB32A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>
            <a:extLst>
              <a:ext uri="{FF2B5EF4-FFF2-40B4-BE49-F238E27FC236}">
                <a16:creationId xmlns:a16="http://schemas.microsoft.com/office/drawing/2014/main" id="{89AA9B43-9645-D2A2-75EF-9351480119D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8656DB48-984F-766B-DDE6-8625F2991FA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>
            <a:extLst>
              <a:ext uri="{FF2B5EF4-FFF2-40B4-BE49-F238E27FC236}">
                <a16:creationId xmlns:a16="http://schemas.microsoft.com/office/drawing/2014/main" id="{4BDE0DFB-251D-500A-6FE7-9A9B7E941B2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87FBF2DD-FD63-E296-C381-943015D732E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>
            <a:extLst>
              <a:ext uri="{FF2B5EF4-FFF2-40B4-BE49-F238E27FC236}">
                <a16:creationId xmlns:a16="http://schemas.microsoft.com/office/drawing/2014/main" id="{AB647C5C-6E18-A0AD-35BE-9CEABEBA422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7059" name="Rectangle 3">
            <a:extLst>
              <a:ext uri="{FF2B5EF4-FFF2-40B4-BE49-F238E27FC236}">
                <a16:creationId xmlns:a16="http://schemas.microsoft.com/office/drawing/2014/main" id="{D205A97B-82C1-15D6-5159-73FACB1828C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8B487506-1F13-F490-0CC5-273A5E9C26D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F3F743D3-36C6-36AB-459B-D163210FA0E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07240005-5F02-AD11-7A48-4017A3FC308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82D4ACB7-976C-5C74-5911-8C06A3F62F5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>
            <a:extLst>
              <a:ext uri="{FF2B5EF4-FFF2-40B4-BE49-F238E27FC236}">
                <a16:creationId xmlns:a16="http://schemas.microsoft.com/office/drawing/2014/main" id="{B5C51675-FAB4-F588-D69F-688946E0F6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11BB175D-AA62-A8CD-E661-5E926B462BD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F82AD67A-6DC4-E7A0-23EE-E18C35EB792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6CF42A35-39E7-7DC6-7BD4-E00939BA5DB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>
            <a:extLst>
              <a:ext uri="{FF2B5EF4-FFF2-40B4-BE49-F238E27FC236}">
                <a16:creationId xmlns:a16="http://schemas.microsoft.com/office/drawing/2014/main" id="{A9D7353C-F735-754E-9FA7-0EEA083610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03781BB6-AC1B-6EF8-27AF-2B6E1D426E7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20673559-570D-6F73-0183-28565FDFEA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58BD832E-CBCC-BCA1-BFBD-102D2A65AE3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>
            <a:extLst>
              <a:ext uri="{FF2B5EF4-FFF2-40B4-BE49-F238E27FC236}">
                <a16:creationId xmlns:a16="http://schemas.microsoft.com/office/drawing/2014/main" id="{A87F6EE7-7B77-3131-C2D2-863BA73CDD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 3">
            <a:extLst>
              <a:ext uri="{FF2B5EF4-FFF2-40B4-BE49-F238E27FC236}">
                <a16:creationId xmlns:a16="http://schemas.microsoft.com/office/drawing/2014/main" id="{DCD913E4-4882-A186-27E7-C18B6AF2F70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>
            <a:extLst>
              <a:ext uri="{FF2B5EF4-FFF2-40B4-BE49-F238E27FC236}">
                <a16:creationId xmlns:a16="http://schemas.microsoft.com/office/drawing/2014/main" id="{21EEDC84-3D26-91C7-6F41-769E2B2DE1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5251" name="Rectangle 3">
            <a:extLst>
              <a:ext uri="{FF2B5EF4-FFF2-40B4-BE49-F238E27FC236}">
                <a16:creationId xmlns:a16="http://schemas.microsoft.com/office/drawing/2014/main" id="{A3CF8D28-1BB2-3C53-C3B7-473651B7C02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>
            <a:extLst>
              <a:ext uri="{FF2B5EF4-FFF2-40B4-BE49-F238E27FC236}">
                <a16:creationId xmlns:a16="http://schemas.microsoft.com/office/drawing/2014/main" id="{808198BF-E139-1232-95BD-00CA16C3B45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>
            <a:extLst>
              <a:ext uri="{FF2B5EF4-FFF2-40B4-BE49-F238E27FC236}">
                <a16:creationId xmlns:a16="http://schemas.microsoft.com/office/drawing/2014/main" id="{D53F2795-C789-8C07-ED3D-2801A23F08B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>
            <a:extLst>
              <a:ext uri="{FF2B5EF4-FFF2-40B4-BE49-F238E27FC236}">
                <a16:creationId xmlns:a16="http://schemas.microsoft.com/office/drawing/2014/main" id="{C9B918E8-BFF9-21EC-5FB3-E77E83A040F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>
            <a:extLst>
              <a:ext uri="{FF2B5EF4-FFF2-40B4-BE49-F238E27FC236}">
                <a16:creationId xmlns:a16="http://schemas.microsoft.com/office/drawing/2014/main" id="{51A4F15E-834E-A7FC-0AB8-1C94CD6A706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>
            <a:extLst>
              <a:ext uri="{FF2B5EF4-FFF2-40B4-BE49-F238E27FC236}">
                <a16:creationId xmlns:a16="http://schemas.microsoft.com/office/drawing/2014/main" id="{5E07E220-7F2A-4CA8-9272-1A06BCA891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>
            <a:extLst>
              <a:ext uri="{FF2B5EF4-FFF2-40B4-BE49-F238E27FC236}">
                <a16:creationId xmlns:a16="http://schemas.microsoft.com/office/drawing/2014/main" id="{33C55E4A-37B8-6720-846D-884DBFAB77C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>
            <a:extLst>
              <a:ext uri="{FF2B5EF4-FFF2-40B4-BE49-F238E27FC236}">
                <a16:creationId xmlns:a16="http://schemas.microsoft.com/office/drawing/2014/main" id="{742328DB-D88B-290B-EC59-66566A96A0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>
            <a:extLst>
              <a:ext uri="{FF2B5EF4-FFF2-40B4-BE49-F238E27FC236}">
                <a16:creationId xmlns:a16="http://schemas.microsoft.com/office/drawing/2014/main" id="{21496014-6408-0F9D-2C28-209BA7942ED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>
            <a:extLst>
              <a:ext uri="{FF2B5EF4-FFF2-40B4-BE49-F238E27FC236}">
                <a16:creationId xmlns:a16="http://schemas.microsoft.com/office/drawing/2014/main" id="{91D32E62-5A67-FE38-2017-E2183D7067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 3">
            <a:extLst>
              <a:ext uri="{FF2B5EF4-FFF2-40B4-BE49-F238E27FC236}">
                <a16:creationId xmlns:a16="http://schemas.microsoft.com/office/drawing/2014/main" id="{4B8B6FE2-DA51-8FA3-5E10-42422894DE1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66518728-8135-FC66-1242-4D492F9D6E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43746CC2-EC0A-85E9-9159-931A4B806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BCB2F1B5-6FC2-4DD4-AAF3-5F1DCE6DBCC7}" type="slidenum">
              <a:rPr lang="ko-KR" altLang="ko-KR">
                <a:latin typeface="Times New Roman" panose="02020603050405020304" pitchFamily="18" charset="0"/>
              </a:rPr>
              <a:pPr algn="r" eaLnBrk="1" hangingPunct="1"/>
              <a:t>62</a:t>
            </a:fld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D60DF2E6-8A65-9FE6-5A2B-AC41CD343ED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B5EA72B1-36FE-4ED0-7D81-A4BBF5C10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3854EE5B-8CAC-E24E-9338-5CB1581A372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645AE4CA-AD04-D9F1-285C-106D35D2E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AC76FFCE-E51F-46D2-8CF3-4EB6043EEB3F}" type="slidenum">
              <a:rPr lang="ko-KR" altLang="ko-KR">
                <a:latin typeface="Times New Roman" panose="02020603050405020304" pitchFamily="18" charset="0"/>
              </a:rPr>
              <a:pPr algn="r" eaLnBrk="1" hangingPunct="1"/>
              <a:t>63</a:t>
            </a:fld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127B4E06-3958-5990-65E2-BA972273AF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704DA7D9-8240-E278-F91E-5DE8CACA4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>
            <a:extLst>
              <a:ext uri="{FF2B5EF4-FFF2-40B4-BE49-F238E27FC236}">
                <a16:creationId xmlns:a16="http://schemas.microsoft.com/office/drawing/2014/main" id="{8D7A2ED3-D332-1F71-7328-9A63CD1ECA4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5" name="Rectangle 3">
            <a:extLst>
              <a:ext uri="{FF2B5EF4-FFF2-40B4-BE49-F238E27FC236}">
                <a16:creationId xmlns:a16="http://schemas.microsoft.com/office/drawing/2014/main" id="{D5B9D5D9-1750-D3A8-6D60-0A42E4E3B3F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F85F36F6-3406-D4D6-4A65-F4A54EF5E3E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52227" name="Rectangle 7">
            <a:extLst>
              <a:ext uri="{FF2B5EF4-FFF2-40B4-BE49-F238E27FC236}">
                <a16:creationId xmlns:a16="http://schemas.microsoft.com/office/drawing/2014/main" id="{5BE880FB-BA5F-AB1B-E115-3C1532CF6F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832308BA-048D-4AC7-A809-DD5645D055F2}" type="slidenum">
              <a:rPr lang="ko-KR" altLang="ko-KR">
                <a:latin typeface="Times New Roman" panose="02020603050405020304" pitchFamily="18" charset="0"/>
              </a:rPr>
              <a:pPr algn="r" eaLnBrk="1" hangingPunct="1"/>
              <a:t>65</a:t>
            </a:fld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1C5F7E22-5C39-8200-B671-DDF2580735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334FB348-688C-83D4-EA93-DF2C7DA63E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D3D497C0-4EB3-E99F-74CB-D0E3E71111D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94550BA1-0D35-2164-A5DA-AEEBE16C9C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FC8CE098-6F48-4F06-9757-B5CACCFD1463}" type="slidenum">
              <a:rPr lang="ko-KR" altLang="ko-KR">
                <a:latin typeface="Times New Roman" panose="02020603050405020304" pitchFamily="18" charset="0"/>
              </a:rPr>
              <a:pPr algn="r" eaLnBrk="1" hangingPunct="1"/>
              <a:t>66</a:t>
            </a:fld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DC58FF39-CDA2-FCD9-BA59-87B231CA2D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50A8E738-371A-A85A-89A9-8AE0792B0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>
            <a:extLst>
              <a:ext uri="{FF2B5EF4-FFF2-40B4-BE49-F238E27FC236}">
                <a16:creationId xmlns:a16="http://schemas.microsoft.com/office/drawing/2014/main" id="{610216CC-BACA-D0F5-16F9-2E90DA2B1F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D914D2CF-80C4-C2BF-8C9B-52D079AEFE8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3">
            <a:extLst>
              <a:ext uri="{FF2B5EF4-FFF2-40B4-BE49-F238E27FC236}">
                <a16:creationId xmlns:a16="http://schemas.microsoft.com/office/drawing/2014/main" id="{84F08F84-F791-BFFD-337A-85CDD7D5684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 sz="1200">
                <a:latin typeface="Times New Roman" panose="02020603050405020304" pitchFamily="18" charset="0"/>
              </a:rPr>
              <a:t>© 우균, 창병모</a:t>
            </a:r>
            <a:endParaRPr lang="ko-KR" altLang="ko-KR" sz="1200">
              <a:latin typeface="Times New Roman" panose="02020603050405020304" pitchFamily="18" charset="0"/>
            </a:endParaRPr>
          </a:p>
        </p:txBody>
      </p:sp>
      <p:sp>
        <p:nvSpPr>
          <p:cNvPr id="242691" name="Rectangle 7">
            <a:extLst>
              <a:ext uri="{FF2B5EF4-FFF2-40B4-BE49-F238E27FC236}">
                <a16:creationId xmlns:a16="http://schemas.microsoft.com/office/drawing/2014/main" id="{20C34DEA-CCB4-3EE4-B932-718C9EF7CDE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2A0EBB9-C355-480F-BD16-E6CEDFB200CF}" type="slidenum">
              <a:rPr lang="ko-KR" altLang="ko-KR" sz="1200">
                <a:latin typeface="Times New Roman" panose="02020603050405020304" pitchFamily="18" charset="0"/>
              </a:rPr>
              <a:pPr algn="r" eaLnBrk="1" hangingPunct="1"/>
              <a:t>68</a:t>
            </a:fld>
            <a:endParaRPr lang="ko-KR" altLang="ko-KR" sz="1200">
              <a:latin typeface="Times New Roman" panose="02020603050405020304" pitchFamily="18" charset="0"/>
            </a:endParaRPr>
          </a:p>
        </p:txBody>
      </p:sp>
      <p:sp>
        <p:nvSpPr>
          <p:cNvPr id="242692" name="Rectangle 2">
            <a:extLst>
              <a:ext uri="{FF2B5EF4-FFF2-40B4-BE49-F238E27FC236}">
                <a16:creationId xmlns:a16="http://schemas.microsoft.com/office/drawing/2014/main" id="{A10A405A-C3A2-076C-D7C2-F72825D0B7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3" name="Rectangle 3">
            <a:extLst>
              <a:ext uri="{FF2B5EF4-FFF2-40B4-BE49-F238E27FC236}">
                <a16:creationId xmlns:a16="http://schemas.microsoft.com/office/drawing/2014/main" id="{92932CC9-88E8-31AA-C967-963A7A908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2DA5D827-7D37-C349-4C9D-9757CF3CB2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 anchor="b"/>
          <a:lstStyle>
            <a:lvl1pPr algn="ctr">
              <a:defRPr/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A1A16A19-EC0C-39B8-CB92-FB4F68767C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ko-KR" altLang="en-US" noProof="0"/>
              <a:t>마스터 부제목 스타일 편집</a:t>
            </a: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863D1120-444B-CFFE-BDE5-FD2131898D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306694EB-5BC9-8F70-2A50-3C7DF6B454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110598" name="Rectangle 6">
            <a:extLst>
              <a:ext uri="{FF2B5EF4-FFF2-40B4-BE49-F238E27FC236}">
                <a16:creationId xmlns:a16="http://schemas.microsoft.com/office/drawing/2014/main" id="{270B71BF-C545-A9D5-520A-43F2049701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E734B53-FBBF-4CAB-9652-053E82812D03}" type="slidenum">
              <a:rPr lang="ko-KR" altLang="en-US"/>
              <a:pPr/>
              <a:t>‹#›</a:t>
            </a:fld>
            <a:endParaRPr lang="en-US" altLang="ko-KR"/>
          </a:p>
        </p:txBody>
      </p:sp>
      <p:grpSp>
        <p:nvGrpSpPr>
          <p:cNvPr id="110599" name="Group 7">
            <a:extLst>
              <a:ext uri="{FF2B5EF4-FFF2-40B4-BE49-F238E27FC236}">
                <a16:creationId xmlns:a16="http://schemas.microsoft.com/office/drawing/2014/main" id="{D96922FC-21B7-DFC5-2FC3-FCB48A06A6A6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110600" name="Rectangle 8">
              <a:extLst>
                <a:ext uri="{FF2B5EF4-FFF2-40B4-BE49-F238E27FC236}">
                  <a16:creationId xmlns:a16="http://schemas.microsoft.com/office/drawing/2014/main" id="{0CD5DBCD-7BED-8965-61B3-C2212450B6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10601" name="Rectangle 9">
              <a:extLst>
                <a:ext uri="{FF2B5EF4-FFF2-40B4-BE49-F238E27FC236}">
                  <a16:creationId xmlns:a16="http://schemas.microsoft.com/office/drawing/2014/main" id="{266DC376-4253-4565-9A6A-16F2BD139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10602" name="Rectangle 10">
              <a:extLst>
                <a:ext uri="{FF2B5EF4-FFF2-40B4-BE49-F238E27FC236}">
                  <a16:creationId xmlns:a16="http://schemas.microsoft.com/office/drawing/2014/main" id="{2A099EEF-4993-DC3E-C81F-410AB397674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76FCD-5053-9978-C141-C444D2CC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BE5EEB-EFBC-57A7-354B-976997A35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487476-D8BD-72DC-740A-14D26A11D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D2190-62B1-F197-85CA-A8BD29C3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0905A4-B2CE-F562-F642-261A7B60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687A6-7949-45F4-8109-620E02939AD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463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821FE-D633-99EA-069C-A8CDDA2D0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6AF4D6-2D56-E25C-9A87-F8F15792C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A13768-B67E-9B64-30A9-61F09966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FF454-7E22-CBB8-7600-7723D5ED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820DF-B34D-6DDF-F1B5-BA8975AF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641053-6890-433E-AC4C-353312802E0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48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042C3-CB45-5C34-CCB2-72F698B4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6F334-5413-1971-6472-76524A585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0FF7B1-3E1D-9046-D698-7A18935CF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F065A8-553A-2424-FB9A-07E5E128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D11872-3D42-90B1-8553-7DA985A3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78B0E0-E0BB-5D45-729C-62F2D97F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6C7911-506F-400E-A673-A768ED6789C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111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59B05-91EE-3B07-B46E-CC8650B4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9B0C34-A9F2-772F-8C4E-0B28DF7F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FB4CD-11A9-9364-07D2-E94543113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184744-1104-001E-AAD3-E04D4A9A4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8F1429-0AFD-A414-80D5-5EDC32E3A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FD97B2-D3E8-8E08-0696-8D547C76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734D2F-5834-3E74-ED9C-860921F3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41E717-835D-D167-BABA-452D5DE5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A4681B-A181-4C5A-A55F-20CFFDAD80D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009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FC22C-3C55-6431-2931-5FA6B109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BA3B74-F51D-2875-F601-185B6552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1D2E02-0ED3-DC75-99E2-C42BA0E8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31B513-8C44-2FEC-E774-7888C27A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CD99D3-CF38-459F-8FD9-3106778EC4C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468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5E36B9-DE17-8D89-C18E-764E588E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50B05F7-6811-25ED-E420-79B5DB5E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4BA2D-708E-A74E-6EBB-10FF714E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B24F06-6A0E-4150-B5FA-4C718954217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708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F62F8-1A8F-F565-3E42-6EC8B1A8B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2158C-7616-9207-5875-169F5D9A6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7BF1DD-2498-AB5F-A6A7-BFDA171EC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D09C20-D5FC-2A5A-B5B3-3C07AC5D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439D44-C562-7A37-848D-CE78F082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781448-08E9-A942-9478-D9278AFD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87C16-AA03-4A00-8672-3BAA3652B6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190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1586A-61D0-4A06-3DE0-F2E11F9AF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DC41BC-B11E-B78E-FDC5-B8BAC2E17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622F9-BA88-3AEE-3A6C-DD817E0A5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992D9A-B4D7-A0E2-74F5-199562B5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49A43A-646F-F671-1CF2-4310A304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DEB5BB-2E1B-25E9-E41E-CB2BBEF0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5D81FB-E823-4815-87AA-99909AB1CCE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365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2A9-3172-9DAA-44FB-EE32338B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20B2D9-72D2-D47E-2E31-B9C6D179E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20F148-3C68-CB82-4366-62A44260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A72B0A-5980-1562-B932-C1DA78B2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A7F56-D50F-2948-CDAA-2D073A59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602BBB-8028-4B4C-B1A2-85B36460EBA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8593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5A5BAA-8E27-F149-D13D-86B54D684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BD209C-C7D5-19F9-F76E-545D86839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C4A5D5-7717-335B-1672-7F852774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12FA4C-8214-34C5-56C4-AD29C750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7D25F-CD54-9FAB-8DA8-3008853D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C752E-D3D1-49B9-A147-274C029EC2B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351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364E2CF8-DB48-8E96-B2D7-8D51BFC74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8509F24D-6716-085B-93F3-FE5A5A3CC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9572" name="Rectangle 4">
            <a:extLst>
              <a:ext uri="{FF2B5EF4-FFF2-40B4-BE49-F238E27FC236}">
                <a16:creationId xmlns:a16="http://schemas.microsoft.com/office/drawing/2014/main" id="{7B7FD9E1-E021-C440-D2AC-92CC563EEC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109573" name="Rectangle 5">
            <a:extLst>
              <a:ext uri="{FF2B5EF4-FFF2-40B4-BE49-F238E27FC236}">
                <a16:creationId xmlns:a16="http://schemas.microsoft.com/office/drawing/2014/main" id="{6B35E155-FFCE-F8CA-3ACF-2129D3F160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latin typeface="+mn-lt"/>
                <a:ea typeface="+mn-ea"/>
                <a:cs typeface="+mn-cs"/>
              </a:defRPr>
            </a:lvl1pPr>
          </a:lstStyle>
          <a:p>
            <a:endParaRPr lang="en-US" altLang="ko-KR"/>
          </a:p>
        </p:txBody>
      </p:sp>
      <p:sp>
        <p:nvSpPr>
          <p:cNvPr id="109574" name="Rectangle 6">
            <a:extLst>
              <a:ext uri="{FF2B5EF4-FFF2-40B4-BE49-F238E27FC236}">
                <a16:creationId xmlns:a16="http://schemas.microsoft.com/office/drawing/2014/main" id="{35C69270-B13E-B130-DD44-0C21EF9AA3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latin typeface="+mn-lt"/>
                <a:ea typeface="+mn-ea"/>
                <a:cs typeface="+mn-cs"/>
              </a:defRPr>
            </a:lvl1pPr>
          </a:lstStyle>
          <a:p>
            <a:fld id="{B8B0D8AC-8FF6-4A7C-905B-F1070AC44EEB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109575" name="Rectangle 7">
            <a:extLst>
              <a:ext uri="{FF2B5EF4-FFF2-40B4-BE49-F238E27FC236}">
                <a16:creationId xmlns:a16="http://schemas.microsoft.com/office/drawing/2014/main" id="{52C40288-7ABE-F8C0-5FE3-D7653E1FA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kumimoji="0"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9576" name="Line 8">
            <a:extLst>
              <a:ext uri="{FF2B5EF4-FFF2-40B4-BE49-F238E27FC236}">
                <a16:creationId xmlns:a16="http://schemas.microsoft.com/office/drawing/2014/main" id="{9DADCF4B-A6AE-0FC5-6A9B-0494DFC4D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9577" name="Rectangle 9">
            <a:extLst>
              <a:ext uri="{FF2B5EF4-FFF2-40B4-BE49-F238E27FC236}">
                <a16:creationId xmlns:a16="http://schemas.microsoft.com/office/drawing/2014/main" id="{84B1E108-A388-A2A7-6560-6D839E2BF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kumimoji="0"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9578" name="Rectangle 10">
            <a:extLst>
              <a:ext uri="{FF2B5EF4-FFF2-40B4-BE49-F238E27FC236}">
                <a16:creationId xmlns:a16="http://schemas.microsoft.com/office/drawing/2014/main" id="{09E688FE-5691-DA96-423B-196A2476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kumimoji="0"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/>
  <p:txStyles>
    <p:titleStyle>
      <a:lvl1pPr algn="l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anose="020B0604030504040204" pitchFamily="34" charset="0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anose="020B0604030504040204" pitchFamily="34" charset="0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anose="020B0604030504040204" pitchFamily="34" charset="0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anose="020B0604030504040204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anose="020B0604030504040204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anose="020B0604030504040204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anose="020B0604030504040204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anose="020B0604030504040204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9">
            <a:extLst>
              <a:ext uri="{FF2B5EF4-FFF2-40B4-BE49-F238E27FC236}">
                <a16:creationId xmlns:a16="http://schemas.microsoft.com/office/drawing/2014/main" id="{65A4A56F-94AB-235A-813C-4716B1EEB2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Part 12 </a:t>
            </a:r>
            <a:r>
              <a:rPr lang="ko-KR" altLang="en-US"/>
              <a:t>스레드</a:t>
            </a:r>
          </a:p>
        </p:txBody>
      </p:sp>
      <p:sp>
        <p:nvSpPr>
          <p:cNvPr id="3077" name="Rectangle 10">
            <a:extLst>
              <a:ext uri="{FF2B5EF4-FFF2-40B4-BE49-F238E27FC236}">
                <a16:creationId xmlns:a16="http://schemas.microsoft.com/office/drawing/2014/main" id="{E0AB6213-8960-F3F6-1DA1-B7DF81029E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ko-KR" sz="3200">
                <a:latin typeface="Tahoma" panose="020B0604030504040204" pitchFamily="34" charset="0"/>
              </a:rPr>
              <a:t>©</a:t>
            </a:r>
            <a:r>
              <a:rPr lang="ko-KR" altLang="en-US" sz="3200"/>
              <a:t> 창병모</a:t>
            </a:r>
            <a:r>
              <a:rPr lang="en-US" altLang="ko-KR" sz="3200"/>
              <a:t>,</a:t>
            </a:r>
            <a:r>
              <a:rPr lang="ko-KR" altLang="en-US" sz="3200"/>
              <a:t>우균</a:t>
            </a:r>
            <a:r>
              <a:rPr lang="en-US" altLang="ko-KR" sz="3200"/>
              <a:t> </a:t>
            </a:r>
            <a:endParaRPr lang="ko-KR" altLang="en-US" sz="32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0266A1-8A9C-908D-39CE-87EB40C5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2492EE4-1012-0010-FE5B-830740F1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78E9-B30D-4FA0-91A3-A34410C2E8D4}" type="slidenum">
              <a:rPr lang="ko-KR" altLang="en-US"/>
              <a:pPr/>
              <a:t>2</a:t>
            </a:fld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DBBCEA-63C7-7DBE-97E9-AE3EF0F7C03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6EC501FB-67B9-4B31-978E-7A8E7D14884B}" type="slidenum">
              <a:rPr kumimoji="0" lang="ko-KR" altLang="en-US" sz="1000">
                <a:latin typeface="HY동녘B" pitchFamily="18" charset="-127"/>
                <a:ea typeface="HY동녘B" pitchFamily="18" charset="-127"/>
              </a:rPr>
              <a:pPr algn="r" eaLnBrk="1" hangingPunct="1"/>
              <a:t>2</a:t>
            </a:fld>
            <a:endParaRPr kumimoji="0" lang="en-US" altLang="ko-KR" sz="1000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837DC2E-BC7D-4B7C-8CA4-62FEB945DB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ko-KR" altLang="en-US">
                <a:solidFill>
                  <a:schemeClr val="tx1"/>
                </a:solidFill>
              </a:rPr>
              <a:t>이 장의 내용</a:t>
            </a: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3A1B8E4-1878-64FB-0655-835D706FE4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altLang="en-US">
                <a:solidFill>
                  <a:srgbClr val="FF6600"/>
                </a:solidFill>
              </a:rPr>
              <a:t>프로그램</a:t>
            </a:r>
            <a:r>
              <a:rPr lang="en-US" altLang="ko-KR">
                <a:solidFill>
                  <a:srgbClr val="FF6600"/>
                </a:solidFill>
              </a:rPr>
              <a:t>, </a:t>
            </a:r>
            <a:r>
              <a:rPr lang="ko-KR" altLang="en-US">
                <a:solidFill>
                  <a:srgbClr val="FF6600"/>
                </a:solidFill>
              </a:rPr>
              <a:t>프로세스</a:t>
            </a:r>
            <a:r>
              <a:rPr lang="en-US" altLang="ko-KR">
                <a:solidFill>
                  <a:srgbClr val="FF6600"/>
                </a:solidFill>
              </a:rPr>
              <a:t>, </a:t>
            </a:r>
            <a:r>
              <a:rPr lang="ko-KR" altLang="en-US">
                <a:solidFill>
                  <a:srgbClr val="FF6600"/>
                </a:solidFill>
              </a:rPr>
              <a:t>스레드</a:t>
            </a:r>
            <a:endParaRPr lang="en-US" altLang="ko-KR">
              <a:solidFill>
                <a:srgbClr val="FF6600"/>
              </a:solidFill>
            </a:endParaRPr>
          </a:p>
          <a:p>
            <a:r>
              <a:rPr lang="ko-KR" altLang="en-US">
                <a:solidFill>
                  <a:srgbClr val="FF6600"/>
                </a:solidFill>
              </a:rPr>
              <a:t>스레드를 사용하는 이유</a:t>
            </a:r>
            <a:endParaRPr lang="en-US" altLang="ko-KR">
              <a:solidFill>
                <a:srgbClr val="FF6600"/>
              </a:solidFill>
            </a:endParaRPr>
          </a:p>
          <a:p>
            <a:r>
              <a:rPr lang="ko-KR" altLang="en-US">
                <a:solidFill>
                  <a:srgbClr val="FF6600"/>
                </a:solidFill>
              </a:rPr>
              <a:t>스레드 사용법과 동기화 기법</a:t>
            </a:r>
            <a:endParaRPr lang="en-US" altLang="ko-KR">
              <a:solidFill>
                <a:srgbClr val="FF6600"/>
              </a:solidFill>
            </a:endParaRPr>
          </a:p>
          <a:p>
            <a:r>
              <a:rPr lang="ko-KR" altLang="en-US">
                <a:solidFill>
                  <a:srgbClr val="FF6600"/>
                </a:solidFill>
              </a:rPr>
              <a:t>스레드 응용 프로그램 작성</a:t>
            </a:r>
            <a:endParaRPr lang="en-US" altLang="ko-KR">
              <a:solidFill>
                <a:srgbClr val="FF6600"/>
              </a:solidFill>
            </a:endParaRPr>
          </a:p>
          <a:p>
            <a:r>
              <a:rPr lang="ko-KR" altLang="en-US">
                <a:solidFill>
                  <a:srgbClr val="FF6600"/>
                </a:solidFill>
              </a:rPr>
              <a:t>교착상태의 원인 파악 및 교착상태 회피</a:t>
            </a:r>
          </a:p>
          <a:p>
            <a:endParaRPr lang="en-US" altLang="ko-KR">
              <a:solidFill>
                <a:srgbClr val="FF66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15">
            <a:extLst>
              <a:ext uri="{FF2B5EF4-FFF2-40B4-BE49-F238E27FC236}">
                <a16:creationId xmlns:a16="http://schemas.microsoft.com/office/drawing/2014/main" id="{C4AB02CC-0F21-9A45-3D4D-DF34D16BD42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12.1 </a:t>
            </a:r>
            <a:r>
              <a:rPr lang="ko-KR" altLang="en-US"/>
              <a:t>프로세스와 스레드</a:t>
            </a:r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FE0EB84F-9EE1-4C66-402A-CB14F302A8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2F005F7-7B3A-AA8B-D20E-FF588B6C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4480338-1EC7-0B9D-2A49-ABDCF0D3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10A1-B244-4EE9-8D1C-7A587A3A55C0}" type="slidenum">
              <a:rPr lang="ko-KR" altLang="en-US"/>
              <a:pPr/>
              <a:t>4</a:t>
            </a:fld>
            <a:endParaRPr lang="en-US" altLang="ko-KR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BCAADA30-26CF-A236-5098-7CBF8282B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0D825484-B997-2606-3683-89E243638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프로그램</a:t>
            </a:r>
            <a:r>
              <a:rPr lang="en-US" altLang="ko-KR"/>
              <a:t>(program)</a:t>
            </a:r>
          </a:p>
          <a:p>
            <a:pPr lvl="1"/>
            <a:r>
              <a:rPr lang="ko-KR" altLang="en-US"/>
              <a:t>컴퓨터가 실행할 명령어를 순서대로 나열해 둔 것</a:t>
            </a:r>
          </a:p>
          <a:p>
            <a:pPr lvl="1"/>
            <a:r>
              <a:rPr lang="ko-KR" altLang="en-US"/>
              <a:t>파일 형태로 저장되어 있음</a:t>
            </a:r>
          </a:p>
          <a:p>
            <a:r>
              <a:rPr lang="ko-KR" altLang="en-US"/>
              <a:t>프로세스</a:t>
            </a:r>
            <a:r>
              <a:rPr lang="en-US" altLang="ko-KR"/>
              <a:t>(process)</a:t>
            </a:r>
          </a:p>
          <a:p>
            <a:pPr lvl="1"/>
            <a:r>
              <a:rPr lang="ko-KR" altLang="en-US"/>
              <a:t>어떤 일의 처리</a:t>
            </a:r>
            <a:r>
              <a:rPr lang="en-US" altLang="ko-KR"/>
              <a:t>, </a:t>
            </a:r>
            <a:r>
              <a:rPr lang="ko-KR" altLang="en-US"/>
              <a:t>처리과정</a:t>
            </a:r>
          </a:p>
          <a:p>
            <a:pPr lvl="1"/>
            <a:r>
              <a:rPr lang="ko-KR" altLang="en-US"/>
              <a:t>컴퓨터 분야에서는 수행중인 프로그램을 의미함</a:t>
            </a:r>
          </a:p>
          <a:p>
            <a:pPr lvl="1"/>
            <a:r>
              <a:rPr lang="ko-KR" altLang="en-US"/>
              <a:t>메모리에 펼쳐져 있음</a:t>
            </a:r>
          </a:p>
          <a:p>
            <a:pPr lvl="1"/>
            <a:endParaRPr lang="ko-KR" altLang="en-US"/>
          </a:p>
          <a:p>
            <a:pPr algn="ctr">
              <a:buFont typeface="Wingdings" panose="05000000000000000000" pitchFamily="2" charset="2"/>
              <a:buNone/>
            </a:pPr>
            <a:r>
              <a:rPr lang="ko-KR" altLang="en-US">
                <a:solidFill>
                  <a:srgbClr val="6600CC"/>
                </a:solidFill>
              </a:rPr>
              <a:t>프로세스 </a:t>
            </a:r>
            <a:r>
              <a:rPr lang="en-US" altLang="ko-KR">
                <a:solidFill>
                  <a:srgbClr val="6600CC"/>
                </a:solidFill>
              </a:rPr>
              <a:t>= </a:t>
            </a:r>
            <a:r>
              <a:rPr lang="ko-KR" altLang="en-US">
                <a:solidFill>
                  <a:srgbClr val="6600CC"/>
                </a:solidFill>
              </a:rPr>
              <a:t>프로그램 </a:t>
            </a:r>
            <a:r>
              <a:rPr lang="en-US" altLang="ko-KR">
                <a:solidFill>
                  <a:srgbClr val="6600CC"/>
                </a:solidFill>
              </a:rPr>
              <a:t>+ </a:t>
            </a:r>
            <a:r>
              <a:rPr lang="ko-KR" altLang="en-US">
                <a:solidFill>
                  <a:srgbClr val="6600CC"/>
                </a:solidFill>
              </a:rPr>
              <a:t>수행상황 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5E76288-6AFF-902F-C4A4-1A64F41A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D484073A-D36F-0FDA-A5DF-055093843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4C25-1480-49B2-AF6D-A828947364F5}" type="slidenum">
              <a:rPr lang="ko-KR" altLang="en-US"/>
              <a:pPr/>
              <a:t>5</a:t>
            </a:fld>
            <a:endParaRPr lang="en-US" altLang="ko-KR"/>
          </a:p>
        </p:txBody>
      </p:sp>
      <p:sp>
        <p:nvSpPr>
          <p:cNvPr id="478210" name="Rectangle 2">
            <a:extLst>
              <a:ext uri="{FF2B5EF4-FFF2-40B4-BE49-F238E27FC236}">
                <a16:creationId xmlns:a16="http://schemas.microsoft.com/office/drawing/2014/main" id="{59CAECDE-551C-FC64-8762-CB328BEB8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프로세스와 스레드</a:t>
            </a:r>
          </a:p>
        </p:txBody>
      </p:sp>
      <p:sp>
        <p:nvSpPr>
          <p:cNvPr id="478211" name="Rectangle 3">
            <a:extLst>
              <a:ext uri="{FF2B5EF4-FFF2-40B4-BE49-F238E27FC236}">
                <a16:creationId xmlns:a16="http://schemas.microsoft.com/office/drawing/2014/main" id="{17716ECD-FF83-8533-C8E0-C785DC4A0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프로세스가 유지해야 할 정보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프로세스 번호</a:t>
            </a:r>
            <a:r>
              <a:rPr lang="en-US" altLang="ko-KR"/>
              <a:t>, </a:t>
            </a:r>
            <a:r>
              <a:rPr lang="ko-KR" altLang="en-US"/>
              <a:t>사용자 이름</a:t>
            </a:r>
            <a:r>
              <a:rPr lang="en-US" altLang="ko-KR"/>
              <a:t>, </a:t>
            </a:r>
            <a:r>
              <a:rPr lang="ko-KR" altLang="en-US"/>
              <a:t>메모리 위치</a:t>
            </a:r>
            <a:r>
              <a:rPr lang="en-US" altLang="ko-KR"/>
              <a:t>, </a:t>
            </a:r>
            <a:r>
              <a:rPr lang="en-US" altLang="ko-KR">
                <a:latin typeface="Arial" panose="020B0604020202020204" pitchFamily="34" charset="0"/>
              </a:rPr>
              <a:t>…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다음에 수행할 명령어</a:t>
            </a:r>
          </a:p>
          <a:p>
            <a:pPr>
              <a:lnSpc>
                <a:spcPct val="90000"/>
              </a:lnSpc>
            </a:pPr>
            <a:r>
              <a:rPr lang="ko-KR" altLang="en-US"/>
              <a:t>스레드</a:t>
            </a:r>
            <a:r>
              <a:rPr lang="en-US" altLang="ko-KR"/>
              <a:t>(thread)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현재까지 실행한</a:t>
            </a:r>
            <a:r>
              <a:rPr lang="en-US" altLang="ko-KR">
                <a:latin typeface="Arial" panose="020B0604020202020204" pitchFamily="34" charset="0"/>
              </a:rPr>
              <a:t>—</a:t>
            </a:r>
            <a:r>
              <a:rPr lang="ko-KR" altLang="en-US"/>
              <a:t>또 앞으로 실행할</a:t>
            </a:r>
            <a:r>
              <a:rPr lang="en-US" altLang="ko-KR">
                <a:latin typeface="Arial" panose="020B0604020202020204" pitchFamily="34" charset="0"/>
              </a:rPr>
              <a:t>—</a:t>
            </a:r>
            <a:r>
              <a:rPr lang="ko-KR" altLang="en-US"/>
              <a:t>제어흐름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프로세스가 유지하고 있는 제어 흐름 정보</a:t>
            </a:r>
          </a:p>
          <a:p>
            <a:pPr>
              <a:lnSpc>
                <a:spcPct val="90000"/>
              </a:lnSpc>
            </a:pPr>
            <a:r>
              <a:rPr lang="ko-KR" altLang="en-US"/>
              <a:t>다중 스레드 아이디어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여러 프로세스가 실행할 명령어들이 같다면 굳이 별도의 프로세스로 유지할 필요가 있을까</a:t>
            </a:r>
            <a:r>
              <a:rPr lang="en-US" altLang="ko-KR"/>
              <a:t>?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수행할 명령어만 별도로 관리하면 되지 않을까</a:t>
            </a:r>
            <a:r>
              <a:rPr lang="en-US" altLang="ko-KR"/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6E31783-FEC1-530D-F5EC-B7A2EF7B9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0919168B-9206-58DC-3A6C-5251421E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9E9F-AF6B-4CB3-915B-F7958F787EE4}" type="slidenum">
              <a:rPr lang="ko-KR" altLang="en-US"/>
              <a:pPr/>
              <a:t>6</a:t>
            </a:fld>
            <a:endParaRPr lang="en-US" altLang="ko-KR"/>
          </a:p>
        </p:txBody>
      </p:sp>
      <p:sp>
        <p:nvSpPr>
          <p:cNvPr id="480258" name="Rectangle 2">
            <a:extLst>
              <a:ext uri="{FF2B5EF4-FFF2-40B4-BE49-F238E27FC236}">
                <a16:creationId xmlns:a16="http://schemas.microsoft.com/office/drawing/2014/main" id="{5DC2520B-46B6-AF1F-ABD5-BE7CE31BC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다중 스레드 프로그래밍</a:t>
            </a:r>
          </a:p>
        </p:txBody>
      </p:sp>
      <p:sp>
        <p:nvSpPr>
          <p:cNvPr id="480259" name="Rectangle 3">
            <a:extLst>
              <a:ext uri="{FF2B5EF4-FFF2-40B4-BE49-F238E27FC236}">
                <a16:creationId xmlns:a16="http://schemas.microsoft.com/office/drawing/2014/main" id="{F08B30F3-C024-80BF-8817-9E168787A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다중 스레드</a:t>
            </a:r>
            <a:r>
              <a:rPr lang="en-US" altLang="ko-KR"/>
              <a:t>(multi-thread) </a:t>
            </a:r>
            <a:r>
              <a:rPr lang="ko-KR" altLang="en-US"/>
              <a:t>프로그래밍</a:t>
            </a:r>
          </a:p>
          <a:p>
            <a:pPr lvl="1"/>
            <a:r>
              <a:rPr lang="ko-KR" altLang="en-US"/>
              <a:t>한 프로세스 내에 여러 스레드를 생성하여 실행하는 프로그래밍 방식</a:t>
            </a:r>
          </a:p>
          <a:p>
            <a:pPr lvl="1"/>
            <a:r>
              <a:rPr lang="ko-KR" altLang="en-US"/>
              <a:t>여러 스레드가 협력하는 방식으로 프로그램이 수행됨</a:t>
            </a:r>
          </a:p>
          <a:p>
            <a:r>
              <a:rPr lang="ko-KR" altLang="en-US"/>
              <a:t>관련 용어</a:t>
            </a:r>
          </a:p>
          <a:p>
            <a:pPr lvl="1"/>
            <a:r>
              <a:rPr lang="ko-KR" altLang="en-US"/>
              <a:t>다중 처리</a:t>
            </a:r>
            <a:r>
              <a:rPr lang="en-US" altLang="ko-KR"/>
              <a:t>(multi-processing): </a:t>
            </a:r>
            <a:r>
              <a:rPr lang="ko-KR" altLang="en-US"/>
              <a:t>프로세서 자체에 여러 처리 단위</a:t>
            </a:r>
            <a:r>
              <a:rPr lang="en-US" altLang="ko-KR"/>
              <a:t>(</a:t>
            </a:r>
            <a:r>
              <a:rPr lang="ko-KR" altLang="en-US"/>
              <a:t>기능</a:t>
            </a:r>
            <a:r>
              <a:rPr lang="en-US" altLang="ko-KR"/>
              <a:t>)</a:t>
            </a:r>
            <a:r>
              <a:rPr lang="ko-KR" altLang="en-US"/>
              <a:t>이 포함되어 있음을 지칭하는 말</a:t>
            </a:r>
          </a:p>
          <a:p>
            <a:pPr lvl="1"/>
            <a:r>
              <a:rPr lang="ko-KR" altLang="en-US"/>
              <a:t>멀티태스킹</a:t>
            </a:r>
            <a:r>
              <a:rPr lang="en-US" altLang="ko-KR"/>
              <a:t>(multi-tasking): </a:t>
            </a:r>
            <a:r>
              <a:rPr lang="ko-KR" altLang="en-US"/>
              <a:t>운영체제에서 여러 프로그램을 동시에 다룰 수 있는 기능을 지칭하는 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4">
            <a:extLst>
              <a:ext uri="{FF2B5EF4-FFF2-40B4-BE49-F238E27FC236}">
                <a16:creationId xmlns:a16="http://schemas.microsoft.com/office/drawing/2014/main" id="{E213E2D6-C9D9-0D1C-DF2F-BAA9F1547C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12.2 </a:t>
            </a:r>
            <a:r>
              <a:rPr lang="ko-KR" altLang="en-US"/>
              <a:t>스레드를 사용하는 이유</a:t>
            </a:r>
          </a:p>
        </p:txBody>
      </p:sp>
      <p:sp>
        <p:nvSpPr>
          <p:cNvPr id="484355" name="Rectangle 3">
            <a:extLst>
              <a:ext uri="{FF2B5EF4-FFF2-40B4-BE49-F238E27FC236}">
                <a16:creationId xmlns:a16="http://schemas.microsoft.com/office/drawing/2014/main" id="{659AC690-EB81-AC09-5859-8C15B9A7EC8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D9B1397-7132-6D3D-CB45-6ADD09F3F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57C53263-DFEF-225A-497D-5512C136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83E4-57E4-4972-AE53-213D673CBDB1}" type="slidenum">
              <a:rPr lang="ko-KR" altLang="en-US"/>
              <a:pPr/>
              <a:t>8</a:t>
            </a:fld>
            <a:endParaRPr lang="en-US" altLang="ko-KR"/>
          </a:p>
        </p:txBody>
      </p:sp>
      <p:sp>
        <p:nvSpPr>
          <p:cNvPr id="490498" name="Rectangle 2">
            <a:extLst>
              <a:ext uri="{FF2B5EF4-FFF2-40B4-BE49-F238E27FC236}">
                <a16:creationId xmlns:a16="http://schemas.microsoft.com/office/drawing/2014/main" id="{A9CCF390-4F9C-8ED0-1CF2-8259215A6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멀티태스킹의 필요성</a:t>
            </a:r>
          </a:p>
        </p:txBody>
      </p:sp>
      <p:sp>
        <p:nvSpPr>
          <p:cNvPr id="490499" name="Rectangle 3">
            <a:extLst>
              <a:ext uri="{FF2B5EF4-FFF2-40B4-BE49-F238E27FC236}">
                <a16:creationId xmlns:a16="http://schemas.microsoft.com/office/drawing/2014/main" id="{8EC84B6A-C8BF-F57E-8B5F-CA91FCA5D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단일 사용자의 요구사항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한 가지 프로그램을 실행한 뒤에야 다른 프로그램을 실행할 수 있다는 것은 너무 제한적임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DOS </a:t>
            </a:r>
            <a:r>
              <a:rPr lang="ko-KR" altLang="en-US"/>
              <a:t>시절에는 프로그램 실행 중에 현재 시간을 보여 주기 위해 특별한 기법이 사용되기도 했었음</a:t>
            </a:r>
          </a:p>
          <a:p>
            <a:pPr>
              <a:lnSpc>
                <a:spcPct val="90000"/>
              </a:lnSpc>
            </a:pPr>
            <a:r>
              <a:rPr lang="ko-KR" altLang="en-US"/>
              <a:t>다중 사용자의 요구사항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한 시스템에 여러 사용자가 접속하여 사용하려면 멀티태스킹이 필수적임</a:t>
            </a:r>
          </a:p>
          <a:p>
            <a:pPr>
              <a:lnSpc>
                <a:spcPct val="90000"/>
              </a:lnSpc>
            </a:pPr>
            <a:r>
              <a:rPr lang="ko-KR" altLang="en-US"/>
              <a:t>그렇다면 스레드는</a:t>
            </a:r>
            <a:r>
              <a:rPr lang="en-US" altLang="ko-KR"/>
              <a:t>?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프로세스 단위로 병행 실행하는 것은 너무 무거움 </a:t>
            </a:r>
            <a:br>
              <a:rPr lang="ko-KR" altLang="en-US"/>
            </a:br>
            <a:r>
              <a:rPr lang="en-US" altLang="ko-KR">
                <a:solidFill>
                  <a:srgbClr val="6600CC"/>
                </a:solidFill>
                <a:sym typeface="Wingdings" panose="05000000000000000000" pitchFamily="2" charset="2"/>
              </a:rPr>
              <a:t> </a:t>
            </a:r>
            <a:r>
              <a:rPr lang="ko-KR" altLang="en-US">
                <a:solidFill>
                  <a:srgbClr val="6600CC"/>
                </a:solidFill>
                <a:sym typeface="Wingdings" panose="05000000000000000000" pitchFamily="2" charset="2"/>
              </a:rPr>
              <a:t>스레드를 이용하면 저비용으로 병행 실행 지원</a:t>
            </a: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0379640-8A0A-0C3D-B3FE-8C0A7023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A61C5749-9A65-DA75-6DB4-CA7EFE6B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E64B-5FB0-404E-8618-22D11329A3D0}" type="slidenum">
              <a:rPr lang="ko-KR" altLang="en-US"/>
              <a:pPr/>
              <a:t>9</a:t>
            </a:fld>
            <a:endParaRPr lang="en-US" altLang="ko-KR"/>
          </a:p>
        </p:txBody>
      </p: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1B1806FA-323F-87D1-0EC7-63BD95F01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다중 스레드의 필요성</a:t>
            </a:r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39CD2A46-5714-11BF-471F-17225639C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응답시간</a:t>
            </a:r>
            <a:r>
              <a:rPr lang="en-US" altLang="ko-KR"/>
              <a:t>(response time) </a:t>
            </a:r>
            <a:r>
              <a:rPr lang="ko-KR" altLang="en-US"/>
              <a:t>단축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시간이 많이 걸리는 어떤 작업을 수행할 때</a:t>
            </a:r>
            <a:r>
              <a:rPr lang="en-US" altLang="ko-KR"/>
              <a:t>, </a:t>
            </a:r>
            <a:r>
              <a:rPr lang="ko-KR" altLang="en-US"/>
              <a:t>이를 새로운 스레드로 시작시킬 수 있음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그러면 사용자에게는 즉시 응답을 줄 수 있음</a:t>
            </a:r>
          </a:p>
          <a:p>
            <a:pPr>
              <a:lnSpc>
                <a:spcPct val="90000"/>
              </a:lnSpc>
            </a:pPr>
            <a:r>
              <a:rPr lang="ko-KR" altLang="en-US"/>
              <a:t>네트워크 프로그래밍 지원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여러 접속이 발생할 때</a:t>
            </a:r>
            <a:r>
              <a:rPr lang="en-US" altLang="ko-KR"/>
              <a:t>, </a:t>
            </a:r>
            <a:r>
              <a:rPr lang="ko-KR" altLang="en-US"/>
              <a:t>각 접속마다 개별 스레드를 할당하여 서비스할 수 있음</a:t>
            </a:r>
          </a:p>
          <a:p>
            <a:pPr>
              <a:lnSpc>
                <a:spcPct val="90000"/>
              </a:lnSpc>
            </a:pPr>
            <a:r>
              <a:rPr lang="ko-KR" altLang="en-US"/>
              <a:t>병행성이 내재된 응용 프로그램 지원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'</a:t>
            </a:r>
            <a:r>
              <a:rPr lang="ko-KR" altLang="en-US"/>
              <a:t>열차표 예매 시스템</a:t>
            </a:r>
            <a:r>
              <a:rPr lang="en-US" altLang="ko-KR"/>
              <a:t>'</a:t>
            </a:r>
            <a:r>
              <a:rPr lang="ko-KR" altLang="en-US"/>
              <a:t>과 같은 분산 프로그램의 경우</a:t>
            </a:r>
            <a:r>
              <a:rPr lang="en-US" altLang="ko-KR"/>
              <a:t>, </a:t>
            </a:r>
            <a:r>
              <a:rPr lang="ko-KR" altLang="en-US"/>
              <a:t>각 분산된 예매 터미널은 병행으로 작업을 처리함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서버는 예약 상황을 최신 상태로 유지해야 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4">
            <a:extLst>
              <a:ext uri="{FF2B5EF4-FFF2-40B4-BE49-F238E27FC236}">
                <a16:creationId xmlns:a16="http://schemas.microsoft.com/office/drawing/2014/main" id="{1BD15DC1-0C77-82B5-EDD2-75973A6F65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12.3 Java</a:t>
            </a:r>
            <a:r>
              <a:rPr lang="ko-KR" altLang="en-US"/>
              <a:t>의 스레드</a:t>
            </a:r>
          </a:p>
        </p:txBody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37BEED4A-DF73-6BC9-E48D-41F3F50CAF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1CF18015-D32B-CD58-EBBA-BFA686C4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4ECAE056-E42F-1E76-4196-68DBB205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4AA30-9D52-48CC-A1E9-33FA942F97C0}" type="slidenum">
              <a:rPr lang="ko-KR" altLang="en-US"/>
              <a:pPr/>
              <a:t>11</a:t>
            </a:fld>
            <a:endParaRPr lang="en-US" altLang="ko-KR"/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932A52BC-93E8-263A-A3BA-B581496D6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스레드 클래스</a:t>
            </a:r>
          </a:p>
        </p:txBody>
      </p:sp>
      <p:sp>
        <p:nvSpPr>
          <p:cNvPr id="495619" name="Rectangle 3">
            <a:extLst>
              <a:ext uri="{FF2B5EF4-FFF2-40B4-BE49-F238E27FC236}">
                <a16:creationId xmlns:a16="http://schemas.microsoft.com/office/drawing/2014/main" id="{4868EF78-E04D-EF49-BB93-54DA909C7C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Java</a:t>
            </a:r>
            <a:r>
              <a:rPr lang="ko-KR" altLang="en-US"/>
              <a:t>의 스레드 지원</a:t>
            </a:r>
          </a:p>
          <a:p>
            <a:pPr lvl="1"/>
            <a:r>
              <a:rPr lang="en-US" altLang="ko-KR"/>
              <a:t>Java</a:t>
            </a:r>
            <a:r>
              <a:rPr lang="ko-KR" altLang="en-US"/>
              <a:t>는 객체지향 언어답게 객체를 통해서 스레드를 지원함</a:t>
            </a:r>
          </a:p>
          <a:p>
            <a:pPr lvl="1"/>
            <a:r>
              <a:rPr lang="ko-KR" altLang="en-US"/>
              <a:t>스레드 객체는 병행작업을 시작시킬 수 있는 객체임</a:t>
            </a:r>
          </a:p>
          <a:p>
            <a:r>
              <a:rPr lang="ko-KR" altLang="en-US"/>
              <a:t>스레드 객체 생성 방법</a:t>
            </a:r>
          </a:p>
          <a:p>
            <a:pPr lvl="1"/>
            <a:r>
              <a:rPr lang="en-US" altLang="ko-KR"/>
              <a:t>Thread </a:t>
            </a:r>
            <a:r>
              <a:rPr lang="ko-KR" altLang="en-US"/>
              <a:t>클래스를 상속하여 스레드 클래스를 만들고 스레드 클래스를 통해 스레드 객체를 생성함</a:t>
            </a:r>
          </a:p>
          <a:p>
            <a:pPr lvl="1"/>
            <a:r>
              <a:rPr lang="en-US" altLang="ko-KR"/>
              <a:t>Runnable </a:t>
            </a:r>
            <a:r>
              <a:rPr lang="ko-KR" altLang="en-US"/>
              <a:t>객체를 만들고 이를 </a:t>
            </a:r>
            <a:r>
              <a:rPr lang="en-US" altLang="ko-KR"/>
              <a:t>Thread </a:t>
            </a:r>
            <a:r>
              <a:rPr lang="ko-KR" altLang="en-US"/>
              <a:t>생성자에 전달하여 스레드 객체를 생성함</a:t>
            </a:r>
          </a:p>
          <a:p>
            <a:pPr lvl="1"/>
            <a:r>
              <a:rPr lang="ko-KR" altLang="en-US"/>
              <a:t>두 방법 모두 클래스 내에 </a:t>
            </a:r>
            <a:r>
              <a:rPr lang="en-US" altLang="ko-KR"/>
              <a:t>run() </a:t>
            </a:r>
            <a:r>
              <a:rPr lang="ko-KR" altLang="en-US"/>
              <a:t>메소드를 정의해야 함</a:t>
            </a:r>
          </a:p>
          <a:p>
            <a:pPr lvl="1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8566814B-DC56-3ED4-BD46-AB68F582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339BC20D-1A9C-D12C-0CA1-D3762FE7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93E5-0DCC-4F73-B007-DD0EA2D8231D}" type="slidenum">
              <a:rPr lang="ko-KR" altLang="en-US"/>
              <a:pPr/>
              <a:t>12</a:t>
            </a:fld>
            <a:endParaRPr lang="en-US" altLang="ko-KR"/>
          </a:p>
        </p:txBody>
      </p:sp>
      <p:sp>
        <p:nvSpPr>
          <p:cNvPr id="498690" name="Rectangle 2">
            <a:extLst>
              <a:ext uri="{FF2B5EF4-FFF2-40B4-BE49-F238E27FC236}">
                <a16:creationId xmlns:a16="http://schemas.microsoft.com/office/drawing/2014/main" id="{98BC97A2-1B1C-E754-B390-B5088D6A1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스레드 관련 메소드</a:t>
            </a:r>
          </a:p>
        </p:txBody>
      </p:sp>
      <p:graphicFrame>
        <p:nvGraphicFramePr>
          <p:cNvPr id="498894" name="Group 206">
            <a:extLst>
              <a:ext uri="{FF2B5EF4-FFF2-40B4-BE49-F238E27FC236}">
                <a16:creationId xmlns:a16="http://schemas.microsoft.com/office/drawing/2014/main" id="{0E250360-C005-5573-7F67-B6B029BAE91E}"/>
              </a:ext>
            </a:extLst>
          </p:cNvPr>
          <p:cNvGraphicFramePr>
            <a:graphicFrameLocks noGrp="1"/>
          </p:cNvGraphicFramePr>
          <p:nvPr>
            <p:ph type="body" idx="1"/>
          </p:nvPr>
        </p:nvGraphicFramePr>
        <p:xfrm>
          <a:off x="457200" y="1600200"/>
          <a:ext cx="8229600" cy="5081588"/>
        </p:xfrm>
        <a:graphic>
          <a:graphicData uri="http://schemas.openxmlformats.org/drawingml/2006/table">
            <a:tbl>
              <a:tblPr/>
              <a:tblGrid>
                <a:gridCol w="2386013">
                  <a:extLst>
                    <a:ext uri="{9D8B030D-6E8A-4147-A177-3AD203B41FA5}">
                      <a16:colId xmlns:a16="http://schemas.microsoft.com/office/drawing/2014/main" val="3046655209"/>
                    </a:ext>
                  </a:extLst>
                </a:gridCol>
                <a:gridCol w="4784725">
                  <a:extLst>
                    <a:ext uri="{9D8B030D-6E8A-4147-A177-3AD203B41FA5}">
                      <a16:colId xmlns:a16="http://schemas.microsoft.com/office/drawing/2014/main" val="1442266064"/>
                    </a:ext>
                  </a:extLst>
                </a:gridCol>
                <a:gridCol w="1058862">
                  <a:extLst>
                    <a:ext uri="{9D8B030D-6E8A-4147-A177-3AD203B41FA5}">
                      <a16:colId xmlns:a16="http://schemas.microsoft.com/office/drawing/2014/main" val="2543529947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메소드 이름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메소드 기능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중단예외발생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000595"/>
                  </a:ext>
                </a:extLst>
              </a:tr>
              <a:tr h="376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Thread.sleep(m)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수행 중인 스레드를 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m</a:t>
                      </a: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밀리초 정지시킴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721052"/>
                  </a:ext>
                </a:extLst>
              </a:tr>
              <a:tr h="376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Thread.interrupted()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현재 스레드가 중단되었는지 검사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968441"/>
                  </a:ext>
                </a:extLst>
              </a:tr>
              <a:tr h="374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t.join()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스레드 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t</a:t>
                      </a: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가 종료되기를 기다림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281150"/>
                  </a:ext>
                </a:extLst>
              </a:tr>
              <a:tr h="434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t.join(m)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최대 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m</a:t>
                      </a: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밀리초만큼 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t</a:t>
                      </a: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가 종료되기를 기다림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231347"/>
                  </a:ext>
                </a:extLst>
              </a:tr>
              <a:tr h="376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wait()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다른 스레드가 깨울 때까지 기다림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087490"/>
                  </a:ext>
                </a:extLst>
              </a:tr>
              <a:tr h="5159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wait(m)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다른 스레드가 깨울 때까지 최대 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m</a:t>
                      </a: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밀리초만큼 기다림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002030"/>
                  </a:ext>
                </a:extLst>
              </a:tr>
              <a:tr h="5159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notify()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현재 객체 내에서 기다리고 있는 스레드 중에서 하나를 골라 깨움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676433"/>
                  </a:ext>
                </a:extLst>
              </a:tr>
              <a:tr h="5159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notifyAll()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현재 객체 내에서 기다리고 있는 모든 스레드를 깨움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rPr>
                        <a:t>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9281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3E026B8-6AF5-1AF2-B7DC-C2158020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0E199F82-7CFC-946F-6B27-1B3CA187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298D1-0DC4-49AE-BD93-42E3AF906298}" type="slidenum">
              <a:rPr lang="ko-KR" altLang="en-US"/>
              <a:pPr/>
              <a:t>13</a:t>
            </a:fld>
            <a:endParaRPr lang="en-US" altLang="ko-KR"/>
          </a:p>
        </p:txBody>
      </p:sp>
      <p:sp>
        <p:nvSpPr>
          <p:cNvPr id="6146" name="제목 1">
            <a:extLst>
              <a:ext uri="{FF2B5EF4-FFF2-40B4-BE49-F238E27FC236}">
                <a16:creationId xmlns:a16="http://schemas.microsoft.com/office/drawing/2014/main" id="{60760B78-33D4-B1C4-68F9-869C0769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 </a:t>
            </a:r>
            <a:r>
              <a:rPr lang="ko-KR" altLang="en-US"/>
              <a:t>스레드 준비</a:t>
            </a:r>
            <a:r>
              <a:rPr lang="en-US" altLang="ko-KR"/>
              <a:t>: Messenger</a:t>
            </a:r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95829E5D-FCD0-D141-F484-A54569DA5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58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6158" name="Picture 14">
            <a:extLst>
              <a:ext uri="{FF2B5EF4-FFF2-40B4-BE49-F238E27FC236}">
                <a16:creationId xmlns:a16="http://schemas.microsoft.com/office/drawing/2014/main" id="{B2E697A0-A76A-82AF-9A8B-BE3024855CAA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320800"/>
            <a:ext cx="5294312" cy="553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6159" name="Rectangle 15">
            <a:extLst>
              <a:ext uri="{FF2B5EF4-FFF2-40B4-BE49-F238E27FC236}">
                <a16:creationId xmlns:a16="http://schemas.microsoft.com/office/drawing/2014/main" id="{0BD93668-7C9D-CEDD-3465-F4CAC8E3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795838"/>
            <a:ext cx="3097212" cy="165735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60" name="AutoShape 16">
            <a:extLst>
              <a:ext uri="{FF2B5EF4-FFF2-40B4-BE49-F238E27FC236}">
                <a16:creationId xmlns:a16="http://schemas.microsoft.com/office/drawing/2014/main" id="{7499FE26-BB6D-7BC3-7F23-DA7E443BD686}"/>
              </a:ext>
            </a:extLst>
          </p:cNvPr>
          <p:cNvSpPr>
            <a:spLocks/>
          </p:cNvSpPr>
          <p:nvPr/>
        </p:nvSpPr>
        <p:spPr bwMode="auto">
          <a:xfrm>
            <a:off x="4932363" y="5084763"/>
            <a:ext cx="2735262" cy="792162"/>
          </a:xfrm>
          <a:prstGeom prst="accentCallout2">
            <a:avLst>
              <a:gd name="adj1" fmla="val 14431"/>
              <a:gd name="adj2" fmla="val -2787"/>
              <a:gd name="adj3" fmla="val 14431"/>
              <a:gd name="adj4" fmla="val -15671"/>
              <a:gd name="adj5" fmla="val -14227"/>
              <a:gd name="adj6" fmla="val -2907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>
                <a:cs typeface="Tahoma" panose="020B0604030504040204" pitchFamily="34" charset="0"/>
              </a:rPr>
              <a:t>run()</a:t>
            </a:r>
            <a:r>
              <a:rPr lang="ko-KR" altLang="en-US">
                <a:cs typeface="Tahoma" panose="020B0604030504040204" pitchFamily="34" charset="0"/>
              </a:rPr>
              <a:t>은 </a:t>
            </a:r>
            <a:r>
              <a:rPr lang="en-US" altLang="ko-KR">
                <a:cs typeface="Tahoma" panose="020B0604030504040204" pitchFamily="34" charset="0"/>
              </a:rPr>
              <a:t>10</a:t>
            </a:r>
            <a:r>
              <a:rPr lang="ko-KR" altLang="en-US">
                <a:cs typeface="Tahoma" panose="020B0604030504040204" pitchFamily="34" charset="0"/>
              </a:rPr>
              <a:t>번 메시지를 출력하는 메소드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427AE56-4C3E-1255-F365-0880FA9A7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47CC905-F428-D1BF-5700-AD8B6627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0DCB9-AC56-4541-A78E-1BD71167E380}" type="slidenum">
              <a:rPr lang="ko-KR" altLang="en-US"/>
              <a:pPr/>
              <a:t>14</a:t>
            </a:fld>
            <a:endParaRPr lang="en-US" altLang="ko-KR"/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5C4D2595-2812-F37F-BE99-8F1082254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12.2 Shout</a:t>
            </a:r>
          </a:p>
        </p:txBody>
      </p:sp>
      <p:pic>
        <p:nvPicPr>
          <p:cNvPr id="420868" name="Picture 4">
            <a:extLst>
              <a:ext uri="{FF2B5EF4-FFF2-40B4-BE49-F238E27FC236}">
                <a16:creationId xmlns:a16="http://schemas.microsoft.com/office/drawing/2014/main" id="{9767A0BC-3833-01F0-C2E0-2A7E548B716B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5837238" cy="292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20869" name="Text Box 5">
            <a:extLst>
              <a:ext uri="{FF2B5EF4-FFF2-40B4-BE49-F238E27FC236}">
                <a16:creationId xmlns:a16="http://schemas.microsoft.com/office/drawing/2014/main" id="{AC3F26A8-988A-57F6-581A-28DBB9562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346700"/>
            <a:ext cx="4895850" cy="1168400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HA HA HA HA HA HA HA HA HA HA ha ha ha ha ha ha ha ha ha ha 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  <p:sp>
        <p:nvSpPr>
          <p:cNvPr id="420870" name="Rectangle 6">
            <a:extLst>
              <a:ext uri="{FF2B5EF4-FFF2-40B4-BE49-F238E27FC236}">
                <a16:creationId xmlns:a16="http://schemas.microsoft.com/office/drawing/2014/main" id="{928F2EF2-E23B-C139-B7D2-1D7D0C638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716338"/>
            <a:ext cx="1079500" cy="43338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0871" name="AutoShape 7">
            <a:extLst>
              <a:ext uri="{FF2B5EF4-FFF2-40B4-BE49-F238E27FC236}">
                <a16:creationId xmlns:a16="http://schemas.microsoft.com/office/drawing/2014/main" id="{99EDF521-9106-B9AD-5396-B77BD17073BD}"/>
              </a:ext>
            </a:extLst>
          </p:cNvPr>
          <p:cNvSpPr>
            <a:spLocks/>
          </p:cNvSpPr>
          <p:nvPr/>
        </p:nvSpPr>
        <p:spPr bwMode="auto">
          <a:xfrm>
            <a:off x="3132138" y="4005263"/>
            <a:ext cx="2735262" cy="792162"/>
          </a:xfrm>
          <a:prstGeom prst="accentCallout2">
            <a:avLst>
              <a:gd name="adj1" fmla="val 14431"/>
              <a:gd name="adj2" fmla="val -2787"/>
              <a:gd name="adj3" fmla="val 14431"/>
              <a:gd name="adj4" fmla="val -15671"/>
              <a:gd name="adj5" fmla="val -14227"/>
              <a:gd name="adj6" fmla="val -2907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두 메신저 객체의 </a:t>
            </a:r>
            <a:r>
              <a:rPr lang="en-US" altLang="ko-KR">
                <a:cs typeface="Tahoma" panose="020B0604030504040204" pitchFamily="34" charset="0"/>
              </a:rPr>
              <a:t>run()</a:t>
            </a:r>
            <a:r>
              <a:rPr lang="ko-KR" altLang="en-US">
                <a:cs typeface="Tahoma" panose="020B0604030504040204" pitchFamily="34" charset="0"/>
              </a:rPr>
              <a:t>을 각각 호출함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C34334F-C296-D1A1-FDA0-A5FFEA99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B2F753E9-E9E8-3EB2-9F33-74E327F1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48F7-246C-4AE6-88C4-BDFD44804510}" type="slidenum">
              <a:rPr lang="ko-KR" altLang="en-US"/>
              <a:pPr/>
              <a:t>15</a:t>
            </a:fld>
            <a:endParaRPr lang="en-US" altLang="ko-KR"/>
          </a:p>
        </p:txBody>
      </p:sp>
      <p:sp>
        <p:nvSpPr>
          <p:cNvPr id="422914" name="Rectangle 2">
            <a:extLst>
              <a:ext uri="{FF2B5EF4-FFF2-40B4-BE49-F238E27FC236}">
                <a16:creationId xmlns:a16="http://schemas.microsoft.com/office/drawing/2014/main" id="{B15CA3A8-FF22-38C4-A00D-9E89F86FD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12.3 Messenger Thread</a:t>
            </a:r>
          </a:p>
        </p:txBody>
      </p:sp>
      <p:pic>
        <p:nvPicPr>
          <p:cNvPr id="422916" name="Picture 4">
            <a:extLst>
              <a:ext uri="{FF2B5EF4-FFF2-40B4-BE49-F238E27FC236}">
                <a16:creationId xmlns:a16="http://schemas.microsoft.com/office/drawing/2014/main" id="{DE071A91-57EF-FDB0-3352-B9C7C4EC1DAE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306513"/>
            <a:ext cx="5319712" cy="55514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22917" name="Rectangle 5">
            <a:extLst>
              <a:ext uri="{FF2B5EF4-FFF2-40B4-BE49-F238E27FC236}">
                <a16:creationId xmlns:a16="http://schemas.microsoft.com/office/drawing/2014/main" id="{2CAB3889-56FC-FB0A-FDBA-1BEFF9E62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1268413"/>
            <a:ext cx="1439863" cy="288925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2918" name="AutoShape 6">
            <a:extLst>
              <a:ext uri="{FF2B5EF4-FFF2-40B4-BE49-F238E27FC236}">
                <a16:creationId xmlns:a16="http://schemas.microsoft.com/office/drawing/2014/main" id="{647935DF-CE61-04C2-3468-47927BDA8241}"/>
              </a:ext>
            </a:extLst>
          </p:cNvPr>
          <p:cNvSpPr>
            <a:spLocks/>
          </p:cNvSpPr>
          <p:nvPr/>
        </p:nvSpPr>
        <p:spPr bwMode="auto">
          <a:xfrm>
            <a:off x="5005388" y="1628775"/>
            <a:ext cx="3311525" cy="936625"/>
          </a:xfrm>
          <a:prstGeom prst="accentCallout2">
            <a:avLst>
              <a:gd name="adj1" fmla="val 12204"/>
              <a:gd name="adj2" fmla="val -2301"/>
              <a:gd name="adj3" fmla="val 12204"/>
              <a:gd name="adj4" fmla="val -12944"/>
              <a:gd name="adj5" fmla="val -12032"/>
              <a:gd name="adj6" fmla="val -2401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다른 것은 모두 프로그램 </a:t>
            </a:r>
            <a:r>
              <a:rPr lang="en-US" altLang="ko-KR">
                <a:cs typeface="Tahoma" panose="020B0604030504040204" pitchFamily="34" charset="0"/>
              </a:rPr>
              <a:t>12.1</a:t>
            </a:r>
            <a:r>
              <a:rPr lang="ko-KR" altLang="en-US">
                <a:cs typeface="Tahoma" panose="020B0604030504040204" pitchFamily="34" charset="0"/>
              </a:rPr>
              <a:t>과 같고 </a:t>
            </a:r>
            <a:r>
              <a:rPr lang="en-US" altLang="ko-KR">
                <a:cs typeface="Tahoma" panose="020B0604030504040204" pitchFamily="34" charset="0"/>
              </a:rPr>
              <a:t>Thread</a:t>
            </a:r>
            <a:r>
              <a:rPr lang="ko-KR" altLang="en-US">
                <a:cs typeface="Tahoma" panose="020B0604030504040204" pitchFamily="34" charset="0"/>
              </a:rPr>
              <a:t>를 확장한 클래스라는 것만 다름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6462226F-F983-4940-DB0E-A9294D53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70D6F401-3BE7-FFBC-7131-D0BF61BE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234F-E8B3-4FE7-A5AA-72C64951F6CA}" type="slidenum">
              <a:rPr lang="ko-KR" altLang="en-US"/>
              <a:pPr/>
              <a:t>16</a:t>
            </a:fld>
            <a:endParaRPr lang="en-US" altLang="ko-KR"/>
          </a:p>
        </p:txBody>
      </p:sp>
      <p:sp>
        <p:nvSpPr>
          <p:cNvPr id="424962" name="Rectangle 2">
            <a:extLst>
              <a:ext uri="{FF2B5EF4-FFF2-40B4-BE49-F238E27FC236}">
                <a16:creationId xmlns:a16="http://schemas.microsoft.com/office/drawing/2014/main" id="{B0C357C8-56DD-7FE9-0466-6D4A431098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12.4 Shout</a:t>
            </a:r>
          </a:p>
        </p:txBody>
      </p:sp>
      <p:pic>
        <p:nvPicPr>
          <p:cNvPr id="424964" name="Picture 4">
            <a:extLst>
              <a:ext uri="{FF2B5EF4-FFF2-40B4-BE49-F238E27FC236}">
                <a16:creationId xmlns:a16="http://schemas.microsoft.com/office/drawing/2014/main" id="{5E402CD0-7434-CF21-CE31-8CAF46EDA55B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16075"/>
            <a:ext cx="5707063" cy="31210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24965" name="Text Box 5">
            <a:extLst>
              <a:ext uri="{FF2B5EF4-FFF2-40B4-BE49-F238E27FC236}">
                <a16:creationId xmlns:a16="http://schemas.microsoft.com/office/drawing/2014/main" id="{0FAA80C8-55E0-5E28-A0AC-9984B41D9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500688"/>
            <a:ext cx="4895850" cy="1168400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 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2</a:t>
            </a: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HA ha HA ha HA ha ha HA HA ha HA ha ha HA HA ha ha HA ha HA 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  <p:sp>
        <p:nvSpPr>
          <p:cNvPr id="424966" name="Text Box 6">
            <a:extLst>
              <a:ext uri="{FF2B5EF4-FFF2-40B4-BE49-F238E27FC236}">
                <a16:creationId xmlns:a16="http://schemas.microsoft.com/office/drawing/2014/main" id="{3A14B699-81C2-AF8A-39B6-6A0985551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4230688"/>
            <a:ext cx="4895850" cy="1168400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 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1</a:t>
            </a: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HA ha ha HA ha HA ha HA ha HA ha HA ha HA ha HA ha HA ha HA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  <p:sp>
        <p:nvSpPr>
          <p:cNvPr id="424967" name="Rectangle 7">
            <a:extLst>
              <a:ext uri="{FF2B5EF4-FFF2-40B4-BE49-F238E27FC236}">
                <a16:creationId xmlns:a16="http://schemas.microsoft.com/office/drawing/2014/main" id="{829856A9-BA20-3B21-3F50-3890CDEAF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875088"/>
            <a:ext cx="1079500" cy="43338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4968" name="AutoShape 8">
            <a:extLst>
              <a:ext uri="{FF2B5EF4-FFF2-40B4-BE49-F238E27FC236}">
                <a16:creationId xmlns:a16="http://schemas.microsoft.com/office/drawing/2014/main" id="{08331555-9DDB-4042-8B4E-17A9EF27DDAD}"/>
              </a:ext>
            </a:extLst>
          </p:cNvPr>
          <p:cNvSpPr>
            <a:spLocks/>
          </p:cNvSpPr>
          <p:nvPr/>
        </p:nvSpPr>
        <p:spPr bwMode="auto">
          <a:xfrm>
            <a:off x="5091113" y="3227388"/>
            <a:ext cx="2735262" cy="792162"/>
          </a:xfrm>
          <a:prstGeom prst="accentCallout2">
            <a:avLst>
              <a:gd name="adj1" fmla="val 14431"/>
              <a:gd name="adj2" fmla="val -2787"/>
              <a:gd name="adj3" fmla="val 14431"/>
              <a:gd name="adj4" fmla="val -50495"/>
              <a:gd name="adj5" fmla="val 104009"/>
              <a:gd name="adj6" fmla="val -100176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두 메신저 스레드를 시작시킴</a:t>
            </a:r>
            <a:r>
              <a:rPr lang="en-US" altLang="ko-KR">
                <a:cs typeface="Tahoma" panose="020B0604030504040204" pitchFamily="34" charset="0"/>
              </a:rPr>
              <a:t>. </a:t>
            </a:r>
            <a:r>
              <a:rPr lang="ko-KR" altLang="en-US">
                <a:cs typeface="Tahoma" panose="020B0604030504040204" pitchFamily="34" charset="0"/>
              </a:rPr>
              <a:t>각 스레드의 </a:t>
            </a:r>
            <a:r>
              <a:rPr lang="en-US" altLang="ko-KR">
                <a:cs typeface="Tahoma" panose="020B0604030504040204" pitchFamily="34" charset="0"/>
              </a:rPr>
              <a:t>run()</a:t>
            </a:r>
            <a:r>
              <a:rPr lang="ko-KR" altLang="en-US">
                <a:cs typeface="Tahoma" panose="020B0604030504040204" pitchFamily="34" charset="0"/>
              </a:rPr>
              <a:t>이 병렬로 수행됨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F2205DA-312D-C8FF-B6D8-C8341C132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67C90B7-5CEF-AB79-D779-E39058A63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0D55-1D3A-4362-B5BF-ACF4BBB11EC1}" type="slidenum">
              <a:rPr lang="ko-KR" altLang="en-US"/>
              <a:pPr/>
              <a:t>17</a:t>
            </a:fld>
            <a:endParaRPr lang="en-US" altLang="ko-KR"/>
          </a:p>
        </p:txBody>
      </p:sp>
      <p:sp>
        <p:nvSpPr>
          <p:cNvPr id="500738" name="Rectangle 2">
            <a:extLst>
              <a:ext uri="{FF2B5EF4-FFF2-40B4-BE49-F238E27FC236}">
                <a16:creationId xmlns:a16="http://schemas.microsoft.com/office/drawing/2014/main" id="{917FAC9F-99E1-15A0-24E9-DBF6384CB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스레드 수행 메커니즘</a:t>
            </a:r>
          </a:p>
        </p:txBody>
      </p:sp>
      <p:sp>
        <p:nvSpPr>
          <p:cNvPr id="500739" name="Rectangle 3">
            <a:extLst>
              <a:ext uri="{FF2B5EF4-FFF2-40B4-BE49-F238E27FC236}">
                <a16:creationId xmlns:a16="http://schemas.microsoft.com/office/drawing/2014/main" id="{FBF63401-2C02-27EE-554A-DC8B71A63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run()</a:t>
            </a:r>
            <a:r>
              <a:rPr lang="ko-KR" altLang="en-US"/>
              <a:t>과 </a:t>
            </a:r>
            <a:r>
              <a:rPr lang="en-US" altLang="ko-KR"/>
              <a:t>start()</a:t>
            </a:r>
            <a:r>
              <a:rPr lang="ko-KR" altLang="en-US"/>
              <a:t>의 차이</a:t>
            </a:r>
          </a:p>
          <a:p>
            <a:pPr lvl="1"/>
            <a:r>
              <a:rPr lang="en-US" altLang="ko-KR"/>
              <a:t>run()</a:t>
            </a:r>
            <a:r>
              <a:rPr lang="ko-KR" altLang="en-US"/>
              <a:t>을 호출하면 그냥 메소드를 호출하는 것과 같음</a:t>
            </a:r>
          </a:p>
          <a:p>
            <a:pPr lvl="1"/>
            <a:r>
              <a:rPr lang="en-US" altLang="ko-KR"/>
              <a:t>start()</a:t>
            </a:r>
            <a:r>
              <a:rPr lang="ko-KR" altLang="en-US"/>
              <a:t>를 호출하면 새로운 수행흐름</a:t>
            </a:r>
            <a:r>
              <a:rPr lang="en-US" altLang="ko-KR"/>
              <a:t>, </a:t>
            </a:r>
            <a:r>
              <a:rPr lang="ko-KR" altLang="en-US"/>
              <a:t>즉 스레드를 만들어 </a:t>
            </a:r>
            <a:r>
              <a:rPr lang="en-US" altLang="ko-KR"/>
              <a:t>run()</a:t>
            </a:r>
            <a:r>
              <a:rPr lang="ko-KR" altLang="en-US"/>
              <a:t>이 시작되도록 함</a:t>
            </a:r>
          </a:p>
        </p:txBody>
      </p:sp>
      <p:sp>
        <p:nvSpPr>
          <p:cNvPr id="500740" name="Line 4">
            <a:extLst>
              <a:ext uri="{FF2B5EF4-FFF2-40B4-BE49-F238E27FC236}">
                <a16:creationId xmlns:a16="http://schemas.microsoft.com/office/drawing/2014/main" id="{A373FFF9-3153-D20C-3A22-1D21DC1F9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3756025"/>
            <a:ext cx="0" cy="298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00741" name="AutoShape 5">
            <a:extLst>
              <a:ext uri="{FF2B5EF4-FFF2-40B4-BE49-F238E27FC236}">
                <a16:creationId xmlns:a16="http://schemas.microsoft.com/office/drawing/2014/main" id="{C328EFDD-7BE4-7FFF-26BC-B2ACB986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4224338"/>
            <a:ext cx="1371600" cy="350837"/>
          </a:xfrm>
          <a:prstGeom prst="roundRect">
            <a:avLst>
              <a:gd name="adj" fmla="val 50000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300">
                <a:latin typeface="Courier New" panose="02070309020205020404" pitchFamily="49" charset="0"/>
                <a:cs typeface="Courier New" panose="02070309020205020404" pitchFamily="49" charset="0"/>
              </a:rPr>
              <a:t>large.</a:t>
            </a:r>
            <a:r>
              <a:rPr lang="en-US" altLang="ko-KR" sz="1300" b="1">
                <a:latin typeface="Courier New" panose="02070309020205020404" pitchFamily="49" charset="0"/>
                <a:cs typeface="Courier New" panose="02070309020205020404" pitchFamily="49" charset="0"/>
              </a:rPr>
              <a:t>run()</a:t>
            </a:r>
          </a:p>
        </p:txBody>
      </p:sp>
      <p:sp>
        <p:nvSpPr>
          <p:cNvPr id="500742" name="Text Box 7">
            <a:extLst>
              <a:ext uri="{FF2B5EF4-FFF2-40B4-BE49-F238E27FC236}">
                <a16:creationId xmlns:a16="http://schemas.microsoft.com/office/drawing/2014/main" id="{57411064-F23A-36E4-0D7B-783965AC0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050" y="3500438"/>
            <a:ext cx="1154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b="1">
                <a:latin typeface="HY강B" pitchFamily="18" charset="-127"/>
                <a:ea typeface="HY강B" pitchFamily="18" charset="-127"/>
                <a:cs typeface="Courier New" panose="02070309020205020404" pitchFamily="49" charset="0"/>
              </a:rPr>
              <a:t>주 스레드</a:t>
            </a:r>
          </a:p>
        </p:txBody>
      </p:sp>
      <p:sp>
        <p:nvSpPr>
          <p:cNvPr id="500743" name="Line 8">
            <a:extLst>
              <a:ext uri="{FF2B5EF4-FFF2-40B4-BE49-F238E27FC236}">
                <a16:creationId xmlns:a16="http://schemas.microsoft.com/office/drawing/2014/main" id="{05818C5C-DB83-6E3B-B98A-8F769FC3E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0738" y="3756025"/>
            <a:ext cx="0" cy="298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00744" name="AutoShape 9">
            <a:extLst>
              <a:ext uri="{FF2B5EF4-FFF2-40B4-BE49-F238E27FC236}">
                <a16:creationId xmlns:a16="http://schemas.microsoft.com/office/drawing/2014/main" id="{B6B6507C-543D-04C7-4A3D-F4773CAA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224338"/>
            <a:ext cx="1584325" cy="350837"/>
          </a:xfrm>
          <a:prstGeom prst="roundRect">
            <a:avLst>
              <a:gd name="adj" fmla="val 50000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300">
                <a:latin typeface="Courier New" panose="02070309020205020404" pitchFamily="49" charset="0"/>
                <a:cs typeface="Courier New" panose="02070309020205020404" pitchFamily="49" charset="0"/>
              </a:rPr>
              <a:t>large.</a:t>
            </a:r>
            <a:r>
              <a:rPr lang="en-US" altLang="ko-KR" sz="1300" b="1">
                <a:latin typeface="Courier New" panose="02070309020205020404" pitchFamily="49" charset="0"/>
                <a:cs typeface="Courier New" panose="02070309020205020404" pitchFamily="49" charset="0"/>
              </a:rPr>
              <a:t>start()</a:t>
            </a:r>
          </a:p>
        </p:txBody>
      </p:sp>
      <p:sp>
        <p:nvSpPr>
          <p:cNvPr id="500745" name="AutoShape 10">
            <a:extLst>
              <a:ext uri="{FF2B5EF4-FFF2-40B4-BE49-F238E27FC236}">
                <a16:creationId xmlns:a16="http://schemas.microsoft.com/office/drawing/2014/main" id="{61F5F420-AAA7-D52D-C1CC-50630E40A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043488"/>
            <a:ext cx="1511300" cy="352425"/>
          </a:xfrm>
          <a:prstGeom prst="roundRect">
            <a:avLst>
              <a:gd name="adj" fmla="val 50000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300">
                <a:latin typeface="Courier New" panose="02070309020205020404" pitchFamily="49" charset="0"/>
                <a:cs typeface="Courier New" panose="02070309020205020404" pitchFamily="49" charset="0"/>
              </a:rPr>
              <a:t>small.</a:t>
            </a:r>
            <a:r>
              <a:rPr lang="en-US" altLang="ko-KR" sz="1300" b="1">
                <a:latin typeface="Courier New" panose="02070309020205020404" pitchFamily="49" charset="0"/>
                <a:cs typeface="Courier New" panose="02070309020205020404" pitchFamily="49" charset="0"/>
              </a:rPr>
              <a:t>start()</a:t>
            </a:r>
          </a:p>
        </p:txBody>
      </p:sp>
      <p:sp>
        <p:nvSpPr>
          <p:cNvPr id="500746" name="Text Box 11">
            <a:extLst>
              <a:ext uri="{FF2B5EF4-FFF2-40B4-BE49-F238E27FC236}">
                <a16:creationId xmlns:a16="http://schemas.microsoft.com/office/drawing/2014/main" id="{47DA800C-6965-8C77-1680-F8F93DF1C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3500438"/>
            <a:ext cx="1154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b="1">
                <a:latin typeface="HY강B" pitchFamily="18" charset="-127"/>
                <a:ea typeface="HY강B" pitchFamily="18" charset="-127"/>
                <a:cs typeface="Courier New" panose="02070309020205020404" pitchFamily="49" charset="0"/>
              </a:rPr>
              <a:t>주 스레드</a:t>
            </a:r>
          </a:p>
        </p:txBody>
      </p:sp>
      <p:sp>
        <p:nvSpPr>
          <p:cNvPr id="500747" name="Freeform 33">
            <a:extLst>
              <a:ext uri="{FF2B5EF4-FFF2-40B4-BE49-F238E27FC236}">
                <a16:creationId xmlns:a16="http://schemas.microsoft.com/office/drawing/2014/main" id="{CA93B553-D9DF-AD1B-ECE4-68A11BB7BC69}"/>
              </a:ext>
            </a:extLst>
          </p:cNvPr>
          <p:cNvSpPr>
            <a:spLocks/>
          </p:cNvSpPr>
          <p:nvPr/>
        </p:nvSpPr>
        <p:spPr bwMode="auto">
          <a:xfrm>
            <a:off x="4148138" y="4633913"/>
            <a:ext cx="1752600" cy="350837"/>
          </a:xfrm>
          <a:custGeom>
            <a:avLst/>
            <a:gdLst>
              <a:gd name="T0" fmla="*/ 0 w 1104"/>
              <a:gd name="T1" fmla="*/ 725804891 h 288"/>
              <a:gd name="T2" fmla="*/ 120967496 w 1104"/>
              <a:gd name="T3" fmla="*/ 604837442 h 288"/>
              <a:gd name="T4" fmla="*/ 483869984 w 1104"/>
              <a:gd name="T5" fmla="*/ 483869993 h 288"/>
              <a:gd name="T6" fmla="*/ 2147483647 w 1104"/>
              <a:gd name="T7" fmla="*/ 241934997 h 288"/>
              <a:gd name="T8" fmla="*/ 2147483647 w 1104"/>
              <a:gd name="T9" fmla="*/ 120967498 h 288"/>
              <a:gd name="T10" fmla="*/ 2147483647 w 1104"/>
              <a:gd name="T11" fmla="*/ 0 h 2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04"/>
              <a:gd name="T19" fmla="*/ 0 h 288"/>
              <a:gd name="T20" fmla="*/ 1104 w 1104"/>
              <a:gd name="T21" fmla="*/ 288 h 2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04" h="288">
                <a:moveTo>
                  <a:pt x="0" y="288"/>
                </a:moveTo>
                <a:cubicBezTo>
                  <a:pt x="8" y="272"/>
                  <a:pt x="16" y="256"/>
                  <a:pt x="48" y="240"/>
                </a:cubicBezTo>
                <a:cubicBezTo>
                  <a:pt x="80" y="224"/>
                  <a:pt x="48" y="216"/>
                  <a:pt x="192" y="192"/>
                </a:cubicBezTo>
                <a:cubicBezTo>
                  <a:pt x="336" y="168"/>
                  <a:pt x="768" y="120"/>
                  <a:pt x="912" y="96"/>
                </a:cubicBezTo>
                <a:cubicBezTo>
                  <a:pt x="1056" y="72"/>
                  <a:pt x="1024" y="64"/>
                  <a:pt x="1056" y="48"/>
                </a:cubicBezTo>
                <a:cubicBezTo>
                  <a:pt x="1088" y="32"/>
                  <a:pt x="1096" y="16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00748" name="Freeform 37">
            <a:extLst>
              <a:ext uri="{FF2B5EF4-FFF2-40B4-BE49-F238E27FC236}">
                <a16:creationId xmlns:a16="http://schemas.microsoft.com/office/drawing/2014/main" id="{631C92FE-8504-6160-1874-7C7A08B4A588}"/>
              </a:ext>
            </a:extLst>
          </p:cNvPr>
          <p:cNvSpPr>
            <a:spLocks/>
          </p:cNvSpPr>
          <p:nvPr/>
        </p:nvSpPr>
        <p:spPr bwMode="auto">
          <a:xfrm flipH="1">
            <a:off x="5900738" y="5453063"/>
            <a:ext cx="1752600" cy="352425"/>
          </a:xfrm>
          <a:custGeom>
            <a:avLst/>
            <a:gdLst>
              <a:gd name="T0" fmla="*/ 0 w 1104"/>
              <a:gd name="T1" fmla="*/ 725804891 h 288"/>
              <a:gd name="T2" fmla="*/ 120967496 w 1104"/>
              <a:gd name="T3" fmla="*/ 604837442 h 288"/>
              <a:gd name="T4" fmla="*/ 483869984 w 1104"/>
              <a:gd name="T5" fmla="*/ 483869993 h 288"/>
              <a:gd name="T6" fmla="*/ 2147483647 w 1104"/>
              <a:gd name="T7" fmla="*/ 241934997 h 288"/>
              <a:gd name="T8" fmla="*/ 2147483647 w 1104"/>
              <a:gd name="T9" fmla="*/ 120967498 h 288"/>
              <a:gd name="T10" fmla="*/ 2147483647 w 1104"/>
              <a:gd name="T11" fmla="*/ 0 h 2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04"/>
              <a:gd name="T19" fmla="*/ 0 h 288"/>
              <a:gd name="T20" fmla="*/ 1104 w 1104"/>
              <a:gd name="T21" fmla="*/ 288 h 2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04" h="288">
                <a:moveTo>
                  <a:pt x="0" y="288"/>
                </a:moveTo>
                <a:cubicBezTo>
                  <a:pt x="8" y="272"/>
                  <a:pt x="16" y="256"/>
                  <a:pt x="48" y="240"/>
                </a:cubicBezTo>
                <a:cubicBezTo>
                  <a:pt x="80" y="224"/>
                  <a:pt x="48" y="216"/>
                  <a:pt x="192" y="192"/>
                </a:cubicBezTo>
                <a:cubicBezTo>
                  <a:pt x="336" y="168"/>
                  <a:pt x="768" y="120"/>
                  <a:pt x="912" y="96"/>
                </a:cubicBezTo>
                <a:cubicBezTo>
                  <a:pt x="1056" y="72"/>
                  <a:pt x="1024" y="64"/>
                  <a:pt x="1056" y="48"/>
                </a:cubicBezTo>
                <a:cubicBezTo>
                  <a:pt x="1088" y="32"/>
                  <a:pt x="1096" y="16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00749" name="AutoShape 38">
            <a:extLst>
              <a:ext uri="{FF2B5EF4-FFF2-40B4-BE49-F238E27FC236}">
                <a16:creationId xmlns:a16="http://schemas.microsoft.com/office/drawing/2014/main" id="{8891B8FB-37EE-7C6D-9545-C3ABB7972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864225"/>
            <a:ext cx="1371600" cy="350838"/>
          </a:xfrm>
          <a:prstGeom prst="roundRect">
            <a:avLst>
              <a:gd name="adj" fmla="val 50000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300">
                <a:latin typeface="Courier New" panose="02070309020205020404" pitchFamily="49" charset="0"/>
                <a:cs typeface="Courier New" panose="02070309020205020404" pitchFamily="49" charset="0"/>
              </a:rPr>
              <a:t>small.</a:t>
            </a:r>
            <a:r>
              <a:rPr lang="en-US" altLang="ko-KR" sz="1300" b="1">
                <a:latin typeface="Courier New" panose="02070309020205020404" pitchFamily="49" charset="0"/>
                <a:cs typeface="Courier New" panose="02070309020205020404" pitchFamily="49" charset="0"/>
              </a:rPr>
              <a:t>run()</a:t>
            </a:r>
          </a:p>
        </p:txBody>
      </p:sp>
      <p:sp>
        <p:nvSpPr>
          <p:cNvPr id="500750" name="Line 42">
            <a:extLst>
              <a:ext uri="{FF2B5EF4-FFF2-40B4-BE49-F238E27FC236}">
                <a16:creationId xmlns:a16="http://schemas.microsoft.com/office/drawing/2014/main" id="{D5A5711A-1FEC-D34D-DBC4-73669AA3E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8138" y="4984750"/>
            <a:ext cx="0" cy="175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00751" name="Line 44">
            <a:extLst>
              <a:ext uri="{FF2B5EF4-FFF2-40B4-BE49-F238E27FC236}">
                <a16:creationId xmlns:a16="http://schemas.microsoft.com/office/drawing/2014/main" id="{375F883E-7E5F-500F-418A-E6CCE205F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3338" y="5805488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00752" name="AutoShape 6">
            <a:extLst>
              <a:ext uri="{FF2B5EF4-FFF2-40B4-BE49-F238E27FC236}">
                <a16:creationId xmlns:a16="http://schemas.microsoft.com/office/drawing/2014/main" id="{21A668FD-15FF-30F5-2D21-2BE2FA975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538" y="5864225"/>
            <a:ext cx="1371600" cy="350838"/>
          </a:xfrm>
          <a:prstGeom prst="roundRect">
            <a:avLst>
              <a:gd name="adj" fmla="val 50000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300">
                <a:latin typeface="Courier New" panose="02070309020205020404" pitchFamily="49" charset="0"/>
                <a:cs typeface="Courier New" panose="02070309020205020404" pitchFamily="49" charset="0"/>
              </a:rPr>
              <a:t>small.</a:t>
            </a:r>
            <a:r>
              <a:rPr lang="en-US" altLang="ko-KR" sz="1300" b="1">
                <a:latin typeface="Courier New" panose="02070309020205020404" pitchFamily="49" charset="0"/>
                <a:cs typeface="Courier New" panose="02070309020205020404" pitchFamily="49" charset="0"/>
              </a:rPr>
              <a:t>run()</a:t>
            </a:r>
          </a:p>
        </p:txBody>
      </p:sp>
      <p:sp>
        <p:nvSpPr>
          <p:cNvPr id="500753" name="AutoShape 27">
            <a:extLst>
              <a:ext uri="{FF2B5EF4-FFF2-40B4-BE49-F238E27FC236}">
                <a16:creationId xmlns:a16="http://schemas.microsoft.com/office/drawing/2014/main" id="{BFE244CE-8D17-3A56-5D03-95722084E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338" y="5043488"/>
            <a:ext cx="1371600" cy="352425"/>
          </a:xfrm>
          <a:prstGeom prst="roundRect">
            <a:avLst>
              <a:gd name="adj" fmla="val 50000"/>
            </a:avLst>
          </a:prstGeom>
          <a:solidFill>
            <a:srgbClr val="EBFFEB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300">
                <a:latin typeface="Courier New" panose="02070309020205020404" pitchFamily="49" charset="0"/>
                <a:cs typeface="Courier New" panose="02070309020205020404" pitchFamily="49" charset="0"/>
              </a:rPr>
              <a:t>large.</a:t>
            </a:r>
            <a:r>
              <a:rPr lang="en-US" altLang="ko-KR" sz="1300" b="1">
                <a:latin typeface="Courier New" panose="02070309020205020404" pitchFamily="49" charset="0"/>
                <a:cs typeface="Courier New" panose="02070309020205020404" pitchFamily="49" charset="0"/>
              </a:rPr>
              <a:t>run()</a:t>
            </a:r>
          </a:p>
        </p:txBody>
      </p:sp>
      <p:sp>
        <p:nvSpPr>
          <p:cNvPr id="500754" name="Text Box 45">
            <a:extLst>
              <a:ext uri="{FF2B5EF4-FFF2-40B4-BE49-F238E27FC236}">
                <a16:creationId xmlns:a16="http://schemas.microsoft.com/office/drawing/2014/main" id="{E9D07F99-BE77-5C4E-7A0F-38A3C41CA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4508500"/>
            <a:ext cx="16017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b="1">
                <a:latin typeface="HY강B" pitchFamily="18" charset="-127"/>
                <a:ea typeface="HY강B" pitchFamily="18" charset="-127"/>
                <a:cs typeface="Courier New" panose="02070309020205020404" pitchFamily="49" charset="0"/>
              </a:rPr>
              <a:t>새로운 스레드</a:t>
            </a:r>
          </a:p>
        </p:txBody>
      </p:sp>
      <p:sp>
        <p:nvSpPr>
          <p:cNvPr id="500755" name="Text Box 47">
            <a:extLst>
              <a:ext uri="{FF2B5EF4-FFF2-40B4-BE49-F238E27FC236}">
                <a16:creationId xmlns:a16="http://schemas.microsoft.com/office/drawing/2014/main" id="{CFC35EA0-2882-9AC1-7917-6C5DE6007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675" y="5373688"/>
            <a:ext cx="1601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b="1">
                <a:latin typeface="HY강B" pitchFamily="18" charset="-127"/>
                <a:ea typeface="HY강B" pitchFamily="18" charset="-127"/>
                <a:cs typeface="Courier New" panose="02070309020205020404" pitchFamily="49" charset="0"/>
              </a:rPr>
              <a:t>새로운 스레드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97D73AE-7D6E-9AE1-ECD3-90EE004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3A91505-95E4-C9A0-32B3-45E7AF43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4FFD-E17C-43C6-9E30-33AD99AB746D}" type="slidenum">
              <a:rPr lang="ko-KR" altLang="en-US"/>
              <a:pPr/>
              <a:t>18</a:t>
            </a:fld>
            <a:endParaRPr lang="en-US" altLang="ko-KR"/>
          </a:p>
        </p:txBody>
      </p:sp>
      <p:sp>
        <p:nvSpPr>
          <p:cNvPr id="504834" name="Rectangle 2">
            <a:extLst>
              <a:ext uri="{FF2B5EF4-FFF2-40B4-BE49-F238E27FC236}">
                <a16:creationId xmlns:a16="http://schemas.microsoft.com/office/drawing/2014/main" id="{55347657-4BB6-9FB6-7A4D-76D2B4176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스레드 큐</a:t>
            </a:r>
          </a:p>
        </p:txBody>
      </p:sp>
      <p:sp>
        <p:nvSpPr>
          <p:cNvPr id="504835" name="Rectangle 3">
            <a:extLst>
              <a:ext uri="{FF2B5EF4-FFF2-40B4-BE49-F238E27FC236}">
                <a16:creationId xmlns:a16="http://schemas.microsoft.com/office/drawing/2014/main" id="{B433EB75-E964-25D7-58C1-5910E9D486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267325" cy="4530725"/>
          </a:xfrm>
        </p:spPr>
        <p:txBody>
          <a:bodyPr/>
          <a:lstStyle/>
          <a:p>
            <a:r>
              <a:rPr lang="ko-KR" altLang="en-US" sz="2400"/>
              <a:t>스레드 큐</a:t>
            </a:r>
            <a:r>
              <a:rPr lang="en-US" altLang="ko-KR" sz="2400"/>
              <a:t>(thread queue)</a:t>
            </a:r>
            <a:r>
              <a:rPr lang="ko-KR" altLang="en-US" sz="2400"/>
              <a:t>란</a:t>
            </a:r>
            <a:r>
              <a:rPr lang="en-US" altLang="ko-KR" sz="2400"/>
              <a:t>?</a:t>
            </a:r>
          </a:p>
          <a:p>
            <a:pPr lvl="1"/>
            <a:r>
              <a:rPr lang="ko-KR" altLang="en-US" sz="2000"/>
              <a:t>실행 가능한 스레드를 보관하는 자료구조</a:t>
            </a:r>
          </a:p>
          <a:p>
            <a:pPr lvl="1"/>
            <a:r>
              <a:rPr lang="en-US" altLang="ko-KR" sz="2000"/>
              <a:t>start()</a:t>
            </a:r>
            <a:r>
              <a:rPr lang="ko-KR" altLang="en-US" sz="2000"/>
              <a:t>로 시작된 새로운 스레드는 스레드 큐로 들어감</a:t>
            </a:r>
          </a:p>
          <a:p>
            <a:pPr lvl="1"/>
            <a:r>
              <a:rPr lang="en-US" altLang="ko-KR" sz="2000"/>
              <a:t>CPU</a:t>
            </a:r>
            <a:r>
              <a:rPr lang="ko-KR" altLang="en-US" sz="2000"/>
              <a:t>는 스레드 큐의 스레드를 무작위로 선택하여 일정 시간 수행하고 다시 스레드 큐에 넣음</a:t>
            </a:r>
          </a:p>
          <a:p>
            <a:endParaRPr lang="ko-KR" altLang="en-US" sz="2400"/>
          </a:p>
        </p:txBody>
      </p:sp>
      <p:graphicFrame>
        <p:nvGraphicFramePr>
          <p:cNvPr id="11297" name="Group 33">
            <a:extLst>
              <a:ext uri="{FF2B5EF4-FFF2-40B4-BE49-F238E27FC236}">
                <a16:creationId xmlns:a16="http://schemas.microsoft.com/office/drawing/2014/main" id="{B464AC76-DED3-660F-CBFE-2C84FF8E21E8}"/>
              </a:ext>
            </a:extLst>
          </p:cNvPr>
          <p:cNvGraphicFramePr>
            <a:graphicFrameLocks noGrp="1"/>
          </p:cNvGraphicFramePr>
          <p:nvPr/>
        </p:nvGraphicFramePr>
        <p:xfrm>
          <a:off x="5916613" y="4630738"/>
          <a:ext cx="2895600" cy="76200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436045874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HY동녘B" pitchFamily="18" charset="-127"/>
                          <a:ea typeface="HY동녘B" pitchFamily="18" charset="-127"/>
                          <a:cs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동녘B" pitchFamily="18" charset="-127"/>
                        <a:ea typeface="HY동녘B" pitchFamily="18" charset="-127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935787"/>
                  </a:ext>
                </a:extLst>
              </a:tr>
            </a:tbl>
          </a:graphicData>
        </a:graphic>
      </p:graphicFrame>
      <p:sp>
        <p:nvSpPr>
          <p:cNvPr id="504840" name="Text Box 34">
            <a:extLst>
              <a:ext uri="{FF2B5EF4-FFF2-40B4-BE49-F238E27FC236}">
                <a16:creationId xmlns:a16="http://schemas.microsoft.com/office/drawing/2014/main" id="{E5427CCA-BB11-CCA0-ADC0-34E458A83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4249738"/>
            <a:ext cx="9540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sz="1400">
                <a:latin typeface="HY견고딕" panose="02030600000101010101" pitchFamily="18" charset="-127"/>
                <a:ea typeface="HY견고딕" panose="02030600000101010101" pitchFamily="18" charset="-127"/>
              </a:rPr>
              <a:t>스레드 큐</a:t>
            </a:r>
          </a:p>
        </p:txBody>
      </p:sp>
      <p:grpSp>
        <p:nvGrpSpPr>
          <p:cNvPr id="504841" name="Group 47">
            <a:extLst>
              <a:ext uri="{FF2B5EF4-FFF2-40B4-BE49-F238E27FC236}">
                <a16:creationId xmlns:a16="http://schemas.microsoft.com/office/drawing/2014/main" id="{AC469A67-1CA2-4745-103F-08F9D4800359}"/>
              </a:ext>
            </a:extLst>
          </p:cNvPr>
          <p:cNvGrpSpPr>
            <a:grpSpLocks/>
          </p:cNvGrpSpPr>
          <p:nvPr/>
        </p:nvGrpSpPr>
        <p:grpSpPr bwMode="auto">
          <a:xfrm>
            <a:off x="5535613" y="5011738"/>
            <a:ext cx="3429000" cy="762000"/>
            <a:chOff x="2064" y="2784"/>
            <a:chExt cx="2160" cy="480"/>
          </a:xfrm>
        </p:grpSpPr>
        <p:sp>
          <p:nvSpPr>
            <p:cNvPr id="504842" name="Line 36">
              <a:extLst>
                <a:ext uri="{FF2B5EF4-FFF2-40B4-BE49-F238E27FC236}">
                  <a16:creationId xmlns:a16="http://schemas.microsoft.com/office/drawing/2014/main" id="{FA7ECF87-CBD6-1F7F-BCD8-E51FCC6EA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784"/>
              <a:ext cx="18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43" name="Line 37">
              <a:extLst>
                <a:ext uri="{FF2B5EF4-FFF2-40B4-BE49-F238E27FC236}">
                  <a16:creationId xmlns:a16="http://schemas.microsoft.com/office/drawing/2014/main" id="{08E4FBD7-4B61-019C-2575-570F8D998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264"/>
              <a:ext cx="182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44" name="Line 43">
              <a:extLst>
                <a:ext uri="{FF2B5EF4-FFF2-40B4-BE49-F238E27FC236}">
                  <a16:creationId xmlns:a16="http://schemas.microsoft.com/office/drawing/2014/main" id="{F06FB8BB-7351-5FFC-826C-7E65D12E0E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2928"/>
              <a:ext cx="1536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45" name="Freeform 45">
              <a:extLst>
                <a:ext uri="{FF2B5EF4-FFF2-40B4-BE49-F238E27FC236}">
                  <a16:creationId xmlns:a16="http://schemas.microsoft.com/office/drawing/2014/main" id="{F5C58C8B-439A-CC62-EA03-16BE3B994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784"/>
              <a:ext cx="144" cy="144"/>
            </a:xfrm>
            <a:custGeom>
              <a:avLst/>
              <a:gdLst>
                <a:gd name="T0" fmla="*/ 0 w 144"/>
                <a:gd name="T1" fmla="*/ 0 h 144"/>
                <a:gd name="T2" fmla="*/ 144 w 144"/>
                <a:gd name="T3" fmla="*/ 48 h 144"/>
                <a:gd name="T4" fmla="*/ 0 w 144"/>
                <a:gd name="T5" fmla="*/ 144 h 144"/>
                <a:gd name="T6" fmla="*/ 0 60000 65536"/>
                <a:gd name="T7" fmla="*/ 0 60000 65536"/>
                <a:gd name="T8" fmla="*/ 0 60000 65536"/>
                <a:gd name="T9" fmla="*/ 0 w 144"/>
                <a:gd name="T10" fmla="*/ 0 h 144"/>
                <a:gd name="T11" fmla="*/ 144 w 14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44">
                  <a:moveTo>
                    <a:pt x="0" y="0"/>
                  </a:moveTo>
                  <a:cubicBezTo>
                    <a:pt x="72" y="12"/>
                    <a:pt x="144" y="24"/>
                    <a:pt x="144" y="48"/>
                  </a:cubicBezTo>
                  <a:cubicBezTo>
                    <a:pt x="144" y="72"/>
                    <a:pt x="72" y="108"/>
                    <a:pt x="0" y="144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46" name="Freeform 46">
              <a:extLst>
                <a:ext uri="{FF2B5EF4-FFF2-40B4-BE49-F238E27FC236}">
                  <a16:creationId xmlns:a16="http://schemas.microsoft.com/office/drawing/2014/main" id="{26E1AF39-B87E-3F5C-11BE-9776DB2DF2E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256" y="3120"/>
              <a:ext cx="144" cy="144"/>
            </a:xfrm>
            <a:custGeom>
              <a:avLst/>
              <a:gdLst>
                <a:gd name="T0" fmla="*/ 0 w 144"/>
                <a:gd name="T1" fmla="*/ 0 h 144"/>
                <a:gd name="T2" fmla="*/ 144 w 144"/>
                <a:gd name="T3" fmla="*/ 48 h 144"/>
                <a:gd name="T4" fmla="*/ 0 w 144"/>
                <a:gd name="T5" fmla="*/ 144 h 144"/>
                <a:gd name="T6" fmla="*/ 0 60000 65536"/>
                <a:gd name="T7" fmla="*/ 0 60000 65536"/>
                <a:gd name="T8" fmla="*/ 0 60000 65536"/>
                <a:gd name="T9" fmla="*/ 0 w 144"/>
                <a:gd name="T10" fmla="*/ 0 h 144"/>
                <a:gd name="T11" fmla="*/ 144 w 14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44">
                  <a:moveTo>
                    <a:pt x="0" y="0"/>
                  </a:moveTo>
                  <a:cubicBezTo>
                    <a:pt x="72" y="12"/>
                    <a:pt x="144" y="24"/>
                    <a:pt x="144" y="48"/>
                  </a:cubicBezTo>
                  <a:cubicBezTo>
                    <a:pt x="144" y="72"/>
                    <a:pt x="72" y="108"/>
                    <a:pt x="0" y="144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504847" name="Group 19">
            <a:extLst>
              <a:ext uri="{FF2B5EF4-FFF2-40B4-BE49-F238E27FC236}">
                <a16:creationId xmlns:a16="http://schemas.microsoft.com/office/drawing/2014/main" id="{680A1BA9-B800-5C4B-038A-49C0A05EE3F2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2420938"/>
            <a:ext cx="2638425" cy="3962400"/>
            <a:chOff x="2274" y="1152"/>
            <a:chExt cx="3541" cy="2496"/>
          </a:xfrm>
        </p:grpSpPr>
        <p:sp>
          <p:nvSpPr>
            <p:cNvPr id="504848" name="Line 5">
              <a:extLst>
                <a:ext uri="{FF2B5EF4-FFF2-40B4-BE49-F238E27FC236}">
                  <a16:creationId xmlns:a16="http://schemas.microsoft.com/office/drawing/2014/main" id="{741CDAC0-E8D6-7584-3886-65A6DCBF6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344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49" name="Rectangle 7">
              <a:extLst>
                <a:ext uri="{FF2B5EF4-FFF2-40B4-BE49-F238E27FC236}">
                  <a16:creationId xmlns:a16="http://schemas.microsoft.com/office/drawing/2014/main" id="{84685196-4E95-DA7F-5B6B-216FA41B8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0"/>
              <a:ext cx="864" cy="288"/>
            </a:xfrm>
            <a:prstGeom prst="rect">
              <a:avLst/>
            </a:prstGeom>
            <a:solidFill>
              <a:srgbClr val="FFFFE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ko-KR" altLang="en-US" sz="1400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작업</a:t>
              </a:r>
              <a:r>
                <a:rPr lang="en-US" altLang="ko-KR" sz="1400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1</a:t>
              </a:r>
              <a:endParaRPr lang="en-US" altLang="ko-KR" sz="1400" b="1">
                <a:latin typeface="HY강B" pitchFamily="18" charset="-127"/>
                <a:ea typeface="HY강B" pitchFamily="18" charset="-127"/>
                <a:cs typeface="Courier New" panose="02070309020205020404" pitchFamily="49" charset="0"/>
              </a:endParaRPr>
            </a:p>
          </p:txBody>
        </p:sp>
        <p:sp>
          <p:nvSpPr>
            <p:cNvPr id="504850" name="Text Box 8">
              <a:extLst>
                <a:ext uri="{FF2B5EF4-FFF2-40B4-BE49-F238E27FC236}">
                  <a16:creationId xmlns:a16="http://schemas.microsoft.com/office/drawing/2014/main" id="{EEB37E29-7083-7C01-A32F-EDD9BD8D2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6" y="1152"/>
              <a:ext cx="1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ko-KR" altLang="en-US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스레드</a:t>
              </a:r>
              <a:r>
                <a:rPr lang="en-US" altLang="ko-KR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504851" name="Freeform 9">
              <a:extLst>
                <a:ext uri="{FF2B5EF4-FFF2-40B4-BE49-F238E27FC236}">
                  <a16:creationId xmlns:a16="http://schemas.microsoft.com/office/drawing/2014/main" id="{A7A6E3DA-F437-9358-B53E-2D1041F6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584"/>
              <a:ext cx="1104" cy="288"/>
            </a:xfrm>
            <a:custGeom>
              <a:avLst/>
              <a:gdLst>
                <a:gd name="T0" fmla="*/ 0 w 1104"/>
                <a:gd name="T1" fmla="*/ 288 h 288"/>
                <a:gd name="T2" fmla="*/ 48 w 1104"/>
                <a:gd name="T3" fmla="*/ 240 h 288"/>
                <a:gd name="T4" fmla="*/ 192 w 1104"/>
                <a:gd name="T5" fmla="*/ 192 h 288"/>
                <a:gd name="T6" fmla="*/ 912 w 1104"/>
                <a:gd name="T7" fmla="*/ 96 h 288"/>
                <a:gd name="T8" fmla="*/ 1056 w 1104"/>
                <a:gd name="T9" fmla="*/ 48 h 288"/>
                <a:gd name="T10" fmla="*/ 1104 w 1104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04"/>
                <a:gd name="T19" fmla="*/ 0 h 288"/>
                <a:gd name="T20" fmla="*/ 1104 w 1104"/>
                <a:gd name="T21" fmla="*/ 288 h 2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04" h="288">
                  <a:moveTo>
                    <a:pt x="0" y="288"/>
                  </a:moveTo>
                  <a:cubicBezTo>
                    <a:pt x="8" y="272"/>
                    <a:pt x="16" y="256"/>
                    <a:pt x="48" y="240"/>
                  </a:cubicBezTo>
                  <a:cubicBezTo>
                    <a:pt x="80" y="224"/>
                    <a:pt x="48" y="216"/>
                    <a:pt x="192" y="192"/>
                  </a:cubicBezTo>
                  <a:cubicBezTo>
                    <a:pt x="336" y="168"/>
                    <a:pt x="768" y="120"/>
                    <a:pt x="912" y="96"/>
                  </a:cubicBezTo>
                  <a:cubicBezTo>
                    <a:pt x="1056" y="72"/>
                    <a:pt x="1024" y="64"/>
                    <a:pt x="1056" y="48"/>
                  </a:cubicBezTo>
                  <a:cubicBezTo>
                    <a:pt x="1088" y="32"/>
                    <a:pt x="1096" y="16"/>
                    <a:pt x="110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52" name="Freeform 10">
              <a:extLst>
                <a:ext uri="{FF2B5EF4-FFF2-40B4-BE49-F238E27FC236}">
                  <a16:creationId xmlns:a16="http://schemas.microsoft.com/office/drawing/2014/main" id="{EB97A8B7-7A92-9658-9791-1E77C56311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84" y="1968"/>
              <a:ext cx="1104" cy="288"/>
            </a:xfrm>
            <a:custGeom>
              <a:avLst/>
              <a:gdLst>
                <a:gd name="T0" fmla="*/ 0 w 1104"/>
                <a:gd name="T1" fmla="*/ 288 h 288"/>
                <a:gd name="T2" fmla="*/ 48 w 1104"/>
                <a:gd name="T3" fmla="*/ 240 h 288"/>
                <a:gd name="T4" fmla="*/ 192 w 1104"/>
                <a:gd name="T5" fmla="*/ 192 h 288"/>
                <a:gd name="T6" fmla="*/ 912 w 1104"/>
                <a:gd name="T7" fmla="*/ 96 h 288"/>
                <a:gd name="T8" fmla="*/ 1056 w 1104"/>
                <a:gd name="T9" fmla="*/ 48 h 288"/>
                <a:gd name="T10" fmla="*/ 1104 w 1104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04"/>
                <a:gd name="T19" fmla="*/ 0 h 288"/>
                <a:gd name="T20" fmla="*/ 1104 w 1104"/>
                <a:gd name="T21" fmla="*/ 288 h 2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04" h="288">
                  <a:moveTo>
                    <a:pt x="0" y="288"/>
                  </a:moveTo>
                  <a:cubicBezTo>
                    <a:pt x="8" y="272"/>
                    <a:pt x="16" y="256"/>
                    <a:pt x="48" y="240"/>
                  </a:cubicBezTo>
                  <a:cubicBezTo>
                    <a:pt x="80" y="224"/>
                    <a:pt x="48" y="216"/>
                    <a:pt x="192" y="192"/>
                  </a:cubicBezTo>
                  <a:cubicBezTo>
                    <a:pt x="336" y="168"/>
                    <a:pt x="768" y="120"/>
                    <a:pt x="912" y="96"/>
                  </a:cubicBezTo>
                  <a:cubicBezTo>
                    <a:pt x="1056" y="72"/>
                    <a:pt x="1024" y="64"/>
                    <a:pt x="1056" y="48"/>
                  </a:cubicBezTo>
                  <a:cubicBezTo>
                    <a:pt x="1088" y="32"/>
                    <a:pt x="1096" y="16"/>
                    <a:pt x="110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53" name="Line 12">
              <a:extLst>
                <a:ext uri="{FF2B5EF4-FFF2-40B4-BE49-F238E27FC236}">
                  <a16:creationId xmlns:a16="http://schemas.microsoft.com/office/drawing/2014/main" id="{5069D62E-2B5D-D5C4-67D7-2F1C60B03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872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54" name="Line 13">
              <a:extLst>
                <a:ext uri="{FF2B5EF4-FFF2-40B4-BE49-F238E27FC236}">
                  <a16:creationId xmlns:a16="http://schemas.microsoft.com/office/drawing/2014/main" id="{9045EAEE-5904-9D2C-5E12-E465C4542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256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4855" name="Rectangle 14">
              <a:extLst>
                <a:ext uri="{FF2B5EF4-FFF2-40B4-BE49-F238E27FC236}">
                  <a16:creationId xmlns:a16="http://schemas.microsoft.com/office/drawing/2014/main" id="{40839455-FC4F-45B1-B433-E1B592185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640"/>
              <a:ext cx="864" cy="288"/>
            </a:xfrm>
            <a:prstGeom prst="rect">
              <a:avLst/>
            </a:prstGeom>
            <a:solidFill>
              <a:srgbClr val="FFEB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ko-KR" altLang="en-US" sz="1400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작업</a:t>
              </a:r>
              <a:r>
                <a:rPr lang="en-US" altLang="ko-KR" sz="1400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3</a:t>
              </a:r>
              <a:endParaRPr lang="en-US" altLang="ko-KR" sz="1400" b="1">
                <a:latin typeface="HY강B" pitchFamily="18" charset="-127"/>
                <a:ea typeface="HY강B" pitchFamily="18" charset="-127"/>
                <a:cs typeface="Courier New" panose="02070309020205020404" pitchFamily="49" charset="0"/>
              </a:endParaRPr>
            </a:p>
          </p:txBody>
        </p:sp>
        <p:sp>
          <p:nvSpPr>
            <p:cNvPr id="504856" name="Rectangle 15">
              <a:extLst>
                <a:ext uri="{FF2B5EF4-FFF2-40B4-BE49-F238E27FC236}">
                  <a16:creationId xmlns:a16="http://schemas.microsoft.com/office/drawing/2014/main" id="{CE03668D-645E-0479-671A-BA2CE9E5E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640"/>
              <a:ext cx="864" cy="288"/>
            </a:xfrm>
            <a:prstGeom prst="rect">
              <a:avLst/>
            </a:prstGeom>
            <a:solidFill>
              <a:srgbClr val="EBFFEB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ko-KR" altLang="en-US" sz="1400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작업</a:t>
              </a:r>
              <a:r>
                <a:rPr lang="en-US" altLang="ko-KR" sz="1400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2</a:t>
              </a:r>
              <a:endParaRPr lang="en-US" altLang="ko-KR" sz="1400" b="1">
                <a:latin typeface="HY강B" pitchFamily="18" charset="-127"/>
                <a:ea typeface="HY강B" pitchFamily="18" charset="-127"/>
                <a:cs typeface="Courier New" panose="02070309020205020404" pitchFamily="49" charset="0"/>
              </a:endParaRPr>
            </a:p>
          </p:txBody>
        </p:sp>
        <p:sp>
          <p:nvSpPr>
            <p:cNvPr id="504857" name="Text Box 16">
              <a:extLst>
                <a:ext uri="{FF2B5EF4-FFF2-40B4-BE49-F238E27FC236}">
                  <a16:creationId xmlns:a16="http://schemas.microsoft.com/office/drawing/2014/main" id="{F4A03E16-66CA-E8C0-8CA0-C97D6D8A3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" y="1569"/>
              <a:ext cx="1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ko-KR" altLang="en-US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스레드</a:t>
              </a:r>
              <a:r>
                <a:rPr lang="en-US" altLang="ko-KR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504858" name="Text Box 17">
              <a:extLst>
                <a:ext uri="{FF2B5EF4-FFF2-40B4-BE49-F238E27FC236}">
                  <a16:creationId xmlns:a16="http://schemas.microsoft.com/office/drawing/2014/main" id="{D3367928-AD1F-4A0B-95B4-D4828D024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4" y="1968"/>
              <a:ext cx="13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algn="ctr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ko-KR" altLang="en-US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스레드</a:t>
              </a:r>
              <a:r>
                <a:rPr lang="en-US" altLang="ko-KR">
                  <a:latin typeface="HY강B" pitchFamily="18" charset="-127"/>
                  <a:ea typeface="HY강B" pitchFamily="18" charset="-127"/>
                  <a:cs typeface="Courier New" panose="02070309020205020404" pitchFamily="49" charset="0"/>
                </a:rPr>
                <a:t>3</a:t>
              </a:r>
            </a:p>
          </p:txBody>
        </p:sp>
      </p:grpSp>
      <p:sp>
        <p:nvSpPr>
          <p:cNvPr id="504859" name="Text Box 48">
            <a:extLst>
              <a:ext uri="{FF2B5EF4-FFF2-40B4-BE49-F238E27FC236}">
                <a16:creationId xmlns:a16="http://schemas.microsoft.com/office/drawing/2014/main" id="{CB74F4A2-C818-2971-DB52-7210E5E82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4859338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ko-KR" altLang="en-US" sz="1400">
                <a:latin typeface="HY견고딕" panose="02030600000101010101" pitchFamily="18" charset="-127"/>
                <a:ea typeface="HY견고딕" panose="02030600000101010101" pitchFamily="18" charset="-127"/>
              </a:rPr>
              <a:t>수행흐름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35DD261-DF13-CEEB-F1D1-2FC74902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491C4A52-9B14-EC7A-AE22-1E266E07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799C-6729-4D39-8A18-2BE01EC6DBE9}" type="slidenum">
              <a:rPr lang="ko-KR" altLang="en-US"/>
              <a:pPr/>
              <a:t>19</a:t>
            </a:fld>
            <a:endParaRPr lang="en-US" altLang="ko-KR"/>
          </a:p>
        </p:txBody>
      </p:sp>
      <p:sp>
        <p:nvSpPr>
          <p:cNvPr id="427010" name="Rectangle 2">
            <a:extLst>
              <a:ext uri="{FF2B5EF4-FFF2-40B4-BE49-F238E27FC236}">
                <a16:creationId xmlns:a16="http://schemas.microsoft.com/office/drawing/2014/main" id="{15AEB017-C052-F91D-6439-5E5BEBB87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Runnable </a:t>
            </a:r>
            <a:r>
              <a:rPr lang="ko-KR" altLang="en-US"/>
              <a:t>구현 </a:t>
            </a:r>
            <a:r>
              <a:rPr lang="en-US" altLang="ko-KR"/>
              <a:t>Messenger</a:t>
            </a:r>
          </a:p>
        </p:txBody>
      </p:sp>
      <p:pic>
        <p:nvPicPr>
          <p:cNvPr id="427012" name="Picture 4">
            <a:extLst>
              <a:ext uri="{FF2B5EF4-FFF2-40B4-BE49-F238E27FC236}">
                <a16:creationId xmlns:a16="http://schemas.microsoft.com/office/drawing/2014/main" id="{02F84335-B3FF-E0B6-01CF-D8B0A353AB5A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309688"/>
            <a:ext cx="5294312" cy="55483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27013" name="Rectangle 5">
            <a:extLst>
              <a:ext uri="{FF2B5EF4-FFF2-40B4-BE49-F238E27FC236}">
                <a16:creationId xmlns:a16="http://schemas.microsoft.com/office/drawing/2014/main" id="{B1B5CD5A-FEE9-4D36-6281-8008797B3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1268413"/>
            <a:ext cx="1871663" cy="288925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7014" name="AutoShape 6">
            <a:extLst>
              <a:ext uri="{FF2B5EF4-FFF2-40B4-BE49-F238E27FC236}">
                <a16:creationId xmlns:a16="http://schemas.microsoft.com/office/drawing/2014/main" id="{B1C5AE22-4B21-73D8-F633-E37283BDEA7D}"/>
              </a:ext>
            </a:extLst>
          </p:cNvPr>
          <p:cNvSpPr>
            <a:spLocks/>
          </p:cNvSpPr>
          <p:nvPr/>
        </p:nvSpPr>
        <p:spPr bwMode="auto">
          <a:xfrm>
            <a:off x="5005388" y="1700213"/>
            <a:ext cx="3311525" cy="936625"/>
          </a:xfrm>
          <a:prstGeom prst="accentCallout2">
            <a:avLst>
              <a:gd name="adj1" fmla="val 12204"/>
              <a:gd name="adj2" fmla="val -2301"/>
              <a:gd name="adj3" fmla="val 12204"/>
              <a:gd name="adj4" fmla="val -13806"/>
              <a:gd name="adj5" fmla="val -15083"/>
              <a:gd name="adj6" fmla="val -25792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>
                <a:cs typeface="Tahoma" panose="020B0604030504040204" pitchFamily="34" charset="0"/>
              </a:rPr>
              <a:t>Thread </a:t>
            </a:r>
            <a:r>
              <a:rPr lang="ko-KR" altLang="en-US">
                <a:cs typeface="Tahoma" panose="020B0604030504040204" pitchFamily="34" charset="0"/>
              </a:rPr>
              <a:t>클래스를 확장하는 대신 </a:t>
            </a:r>
            <a:r>
              <a:rPr lang="en-US" altLang="ko-KR">
                <a:cs typeface="Tahoma" panose="020B0604030504040204" pitchFamily="34" charset="0"/>
              </a:rPr>
              <a:t>Runnable</a:t>
            </a:r>
            <a:r>
              <a:rPr lang="ko-KR" altLang="en-US">
                <a:cs typeface="Tahoma" panose="020B0604030504040204" pitchFamily="34" charset="0"/>
              </a:rPr>
              <a:t> 인터페이스를 구현함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8012034-E163-58A9-1FEC-D35D8E36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A4BFD85-12FB-598E-E093-1E811301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9AF7-3B30-429D-AEDF-4A15636FFECF}" type="slidenum">
              <a:rPr lang="ko-KR" altLang="en-US"/>
              <a:pPr/>
              <a:t>20</a:t>
            </a:fld>
            <a:endParaRPr lang="en-US" altLang="ko-KR"/>
          </a:p>
        </p:txBody>
      </p:sp>
      <p:sp>
        <p:nvSpPr>
          <p:cNvPr id="429058" name="Rectangle 2">
            <a:extLst>
              <a:ext uri="{FF2B5EF4-FFF2-40B4-BE49-F238E27FC236}">
                <a16:creationId xmlns:a16="http://schemas.microsoft.com/office/drawing/2014/main" id="{3E818123-89A6-8FCA-BC72-6277B8E46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Shout</a:t>
            </a:r>
          </a:p>
        </p:txBody>
      </p:sp>
      <p:pic>
        <p:nvPicPr>
          <p:cNvPr id="429060" name="Picture 4">
            <a:extLst>
              <a:ext uri="{FF2B5EF4-FFF2-40B4-BE49-F238E27FC236}">
                <a16:creationId xmlns:a16="http://schemas.microsoft.com/office/drawing/2014/main" id="{D42C5E90-A659-5857-F4DA-4041305FE8C0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84313"/>
            <a:ext cx="6200775" cy="3376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29061" name="Text Box 5">
            <a:extLst>
              <a:ext uri="{FF2B5EF4-FFF2-40B4-BE49-F238E27FC236}">
                <a16:creationId xmlns:a16="http://schemas.microsoft.com/office/drawing/2014/main" id="{001CF11A-D254-3107-246E-AC912BE49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500688"/>
            <a:ext cx="4895850" cy="1168400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 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2</a:t>
            </a: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HA ha HA ha HA ha HA ha HA ha HA ha HA ha HA ha HA ha HA ha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  <p:sp>
        <p:nvSpPr>
          <p:cNvPr id="429062" name="Text Box 6">
            <a:extLst>
              <a:ext uri="{FF2B5EF4-FFF2-40B4-BE49-F238E27FC236}">
                <a16:creationId xmlns:a16="http://schemas.microsoft.com/office/drawing/2014/main" id="{94780A50-A96B-31FB-67E9-B7EF3B0E8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4230688"/>
            <a:ext cx="4895850" cy="1168400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 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1</a:t>
            </a: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HA ha HA HA HA ha HA ha HA ha HA ha HA ha ha HA ha HA ha ha 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  <p:sp>
        <p:nvSpPr>
          <p:cNvPr id="429063" name="Rectangle 7">
            <a:extLst>
              <a:ext uri="{FF2B5EF4-FFF2-40B4-BE49-F238E27FC236}">
                <a16:creationId xmlns:a16="http://schemas.microsoft.com/office/drawing/2014/main" id="{99D73C18-6F7E-2D51-4733-0727BBD71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573463"/>
            <a:ext cx="3024187" cy="50323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9064" name="AutoShape 8">
            <a:extLst>
              <a:ext uri="{FF2B5EF4-FFF2-40B4-BE49-F238E27FC236}">
                <a16:creationId xmlns:a16="http://schemas.microsoft.com/office/drawing/2014/main" id="{FE52003C-CC76-F982-21FC-742DC37AFB85}"/>
              </a:ext>
            </a:extLst>
          </p:cNvPr>
          <p:cNvSpPr>
            <a:spLocks/>
          </p:cNvSpPr>
          <p:nvPr/>
        </p:nvSpPr>
        <p:spPr bwMode="auto">
          <a:xfrm>
            <a:off x="5292725" y="2636838"/>
            <a:ext cx="3311525" cy="793750"/>
          </a:xfrm>
          <a:prstGeom prst="accentCallout2">
            <a:avLst>
              <a:gd name="adj1" fmla="val 14398"/>
              <a:gd name="adj2" fmla="val -2301"/>
              <a:gd name="adj3" fmla="val 14398"/>
              <a:gd name="adj4" fmla="val -14815"/>
              <a:gd name="adj5" fmla="val 117000"/>
              <a:gd name="adj6" fmla="val -27806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>
                <a:cs typeface="Tahoma" panose="020B0604030504040204" pitchFamily="34" charset="0"/>
              </a:rPr>
              <a:t>Runnable </a:t>
            </a:r>
            <a:r>
              <a:rPr lang="ko-KR" altLang="en-US">
                <a:cs typeface="Tahoma" panose="020B0604030504040204" pitchFamily="34" charset="0"/>
              </a:rPr>
              <a:t>객체를 인수로 하여 </a:t>
            </a:r>
            <a:r>
              <a:rPr lang="en-US" altLang="ko-KR">
                <a:cs typeface="Tahoma" panose="020B0604030504040204" pitchFamily="34" charset="0"/>
              </a:rPr>
              <a:t>Thread</a:t>
            </a:r>
            <a:r>
              <a:rPr lang="ko-KR" altLang="en-US">
                <a:cs typeface="Tahoma" panose="020B0604030504040204" pitchFamily="34" charset="0"/>
              </a:rPr>
              <a:t>를 생성함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4">
            <a:extLst>
              <a:ext uri="{FF2B5EF4-FFF2-40B4-BE49-F238E27FC236}">
                <a16:creationId xmlns:a16="http://schemas.microsoft.com/office/drawing/2014/main" id="{AB1FD38A-0890-2D87-F12F-E45D8CABF5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12.4 </a:t>
            </a:r>
            <a:r>
              <a:rPr lang="ko-KR" altLang="en-US"/>
              <a:t>동기화</a:t>
            </a:r>
          </a:p>
        </p:txBody>
      </p:sp>
      <p:sp>
        <p:nvSpPr>
          <p:cNvPr id="508931" name="Rectangle 3">
            <a:extLst>
              <a:ext uri="{FF2B5EF4-FFF2-40B4-BE49-F238E27FC236}">
                <a16:creationId xmlns:a16="http://schemas.microsoft.com/office/drawing/2014/main" id="{A0A60AEE-9FEC-5D94-39A3-15C3B13E16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CA5DDB7-CAE1-267E-0860-5BD57485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490938A2-7975-6080-C91D-D3637EB2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D834-C427-4250-868D-8C4CF2840300}" type="slidenum">
              <a:rPr lang="ko-KR" altLang="en-US"/>
              <a:pPr/>
              <a:t>22</a:t>
            </a:fld>
            <a:endParaRPr lang="en-US" altLang="ko-KR"/>
          </a:p>
        </p:txBody>
      </p:sp>
      <p:sp>
        <p:nvSpPr>
          <p:cNvPr id="510978" name="Rectangle 2">
            <a:extLst>
              <a:ext uri="{FF2B5EF4-FFF2-40B4-BE49-F238E27FC236}">
                <a16:creationId xmlns:a16="http://schemas.microsoft.com/office/drawing/2014/main" id="{8D4CFB64-9DF1-AC38-A0AD-FF4DF9852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동기화 목적</a:t>
            </a:r>
          </a:p>
        </p:txBody>
      </p:sp>
      <p:sp>
        <p:nvSpPr>
          <p:cNvPr id="510979" name="Rectangle 3">
            <a:extLst>
              <a:ext uri="{FF2B5EF4-FFF2-40B4-BE49-F238E27FC236}">
                <a16:creationId xmlns:a16="http://schemas.microsoft.com/office/drawing/2014/main" id="{1CE1D7E8-A239-BF69-4824-FAC661F57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동기화란</a:t>
            </a:r>
            <a:r>
              <a:rPr lang="en-US" altLang="ko-KR"/>
              <a:t>?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여러 스레드가 모여 작업 일관성을 이루는 것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여러 스레드의 분산 작업들이 </a:t>
            </a:r>
            <a:r>
              <a:rPr lang="en-US" altLang="ko-KR"/>
              <a:t>'</a:t>
            </a:r>
            <a:r>
              <a:rPr lang="ko-KR" altLang="en-US"/>
              <a:t>작업 동기화</a:t>
            </a:r>
            <a:r>
              <a:rPr lang="en-US" altLang="ko-KR"/>
              <a:t>'</a:t>
            </a:r>
            <a:r>
              <a:rPr lang="ko-KR" altLang="en-US"/>
              <a:t>를 이루는 것을 의미함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어떤 작업이 동기화된다는 것은 </a:t>
            </a:r>
            <a:r>
              <a:rPr lang="ko-KR" altLang="en-US">
                <a:solidFill>
                  <a:srgbClr val="6600CC"/>
                </a:solidFill>
              </a:rPr>
              <a:t>한 번에 한 작업씩 차례로 수행된다는 것</a:t>
            </a:r>
            <a:r>
              <a:rPr lang="ko-KR" altLang="en-US"/>
              <a:t>을 의미함</a:t>
            </a:r>
          </a:p>
          <a:p>
            <a:pPr>
              <a:lnSpc>
                <a:spcPct val="90000"/>
              </a:lnSpc>
            </a:pPr>
            <a:r>
              <a:rPr lang="ko-KR" altLang="en-US"/>
              <a:t>동기화가 필요한 이유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데이터 일관성</a:t>
            </a:r>
            <a:r>
              <a:rPr lang="en-US" altLang="ko-KR"/>
              <a:t>(data integrity) </a:t>
            </a:r>
            <a:r>
              <a:rPr lang="ko-KR" altLang="en-US"/>
              <a:t>유지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예컨대 은행 예금 계좌에 대한 여러 스레드가 동기화되지 않으면 잘못된 상황이 발생함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은행 계좌 클래스와 처리 클래스</a:t>
            </a:r>
            <a:r>
              <a:rPr lang="en-US" altLang="ko-KR"/>
              <a:t>(</a:t>
            </a:r>
            <a:r>
              <a:rPr lang="ko-KR" altLang="en-US"/>
              <a:t>다음 슬라이드</a:t>
            </a:r>
            <a:r>
              <a:rPr lang="en-US" altLang="ko-KR"/>
              <a:t>) </a:t>
            </a:r>
            <a:r>
              <a:rPr lang="ko-KR" altLang="en-US"/>
              <a:t>참고</a:t>
            </a:r>
            <a:endParaRPr lang="en-US" altLang="ko-KR"/>
          </a:p>
          <a:p>
            <a:pPr lvl="1">
              <a:lnSpc>
                <a:spcPct val="90000"/>
              </a:lnSpc>
            </a:pPr>
            <a:endParaRPr lang="ko-KR" altLang="en-US"/>
          </a:p>
          <a:p>
            <a:pPr>
              <a:lnSpc>
                <a:spcPct val="90000"/>
              </a:lnSpc>
            </a:pPr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BFB170B0-16A2-AF1D-40CF-D56FA07E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6">
            <a:extLst>
              <a:ext uri="{FF2B5EF4-FFF2-40B4-BE49-F238E27FC236}">
                <a16:creationId xmlns:a16="http://schemas.microsoft.com/office/drawing/2014/main" id="{D80EBD8C-E707-A404-26B4-FFAFCCAA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7D8E-499E-471F-A287-B9C36AC831FA}" type="slidenum">
              <a:rPr lang="ko-KR" altLang="en-US"/>
              <a:pPr/>
              <a:t>23</a:t>
            </a:fld>
            <a:endParaRPr lang="en-US" altLang="ko-KR"/>
          </a:p>
        </p:txBody>
      </p:sp>
      <p:sp>
        <p:nvSpPr>
          <p:cNvPr id="453634" name="Rectangle 2">
            <a:extLst>
              <a:ext uri="{FF2B5EF4-FFF2-40B4-BE49-F238E27FC236}">
                <a16:creationId xmlns:a16="http://schemas.microsoft.com/office/drawing/2014/main" id="{288B0DAE-DDEA-DE0D-99C4-62FEBE109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12.7 </a:t>
            </a:r>
            <a:r>
              <a:rPr lang="ko-KR" altLang="en-US"/>
              <a:t>동기화 문제</a:t>
            </a:r>
            <a:r>
              <a:rPr lang="en-US" altLang="ko-KR"/>
              <a:t>(1/3)</a:t>
            </a:r>
          </a:p>
        </p:txBody>
      </p:sp>
      <p:sp>
        <p:nvSpPr>
          <p:cNvPr id="453642" name="Rectangle 10">
            <a:extLst>
              <a:ext uri="{FF2B5EF4-FFF2-40B4-BE49-F238E27FC236}">
                <a16:creationId xmlns:a16="http://schemas.microsoft.com/office/drawing/2014/main" id="{F13C8DD9-B0CA-1CA0-25F0-85C68046F59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2400"/>
              <a:t>은행 계좌 클래스</a:t>
            </a:r>
          </a:p>
          <a:p>
            <a:r>
              <a:rPr lang="ko-KR" altLang="en-US" sz="2400"/>
              <a:t>필드</a:t>
            </a:r>
          </a:p>
          <a:p>
            <a:pPr lvl="1"/>
            <a:r>
              <a:rPr lang="en-US" altLang="ko-KR" sz="2000"/>
              <a:t>balance: </a:t>
            </a:r>
            <a:r>
              <a:rPr lang="ko-KR" altLang="en-US" sz="2000"/>
              <a:t>잔액</a:t>
            </a:r>
          </a:p>
          <a:p>
            <a:r>
              <a:rPr lang="ko-KR" altLang="en-US" sz="2400"/>
              <a:t>메소드</a:t>
            </a:r>
          </a:p>
          <a:p>
            <a:pPr lvl="1"/>
            <a:r>
              <a:rPr lang="en-US" altLang="ko-KR" sz="2000"/>
              <a:t>deposit: </a:t>
            </a:r>
            <a:r>
              <a:rPr lang="ko-KR" altLang="en-US" sz="2000"/>
              <a:t>예금</a:t>
            </a:r>
          </a:p>
          <a:p>
            <a:pPr lvl="1"/>
            <a:r>
              <a:rPr lang="en-US" altLang="ko-KR" sz="2000"/>
              <a:t>withdraw: </a:t>
            </a:r>
            <a:r>
              <a:rPr lang="ko-KR" altLang="en-US" sz="2000"/>
              <a:t>인출</a:t>
            </a:r>
          </a:p>
          <a:p>
            <a:pPr lvl="1"/>
            <a:r>
              <a:rPr lang="en-US" altLang="ko-KR" sz="2000"/>
              <a:t>balance: </a:t>
            </a:r>
            <a:r>
              <a:rPr lang="ko-KR" altLang="en-US" sz="2000"/>
              <a:t>잔액조회</a:t>
            </a:r>
          </a:p>
        </p:txBody>
      </p:sp>
      <p:grpSp>
        <p:nvGrpSpPr>
          <p:cNvPr id="453638" name="Group 6">
            <a:extLst>
              <a:ext uri="{FF2B5EF4-FFF2-40B4-BE49-F238E27FC236}">
                <a16:creationId xmlns:a16="http://schemas.microsoft.com/office/drawing/2014/main" id="{63743C59-F2CB-0A91-8401-C2A33DEDED68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628775"/>
            <a:ext cx="3527425" cy="4537075"/>
            <a:chOff x="1202" y="-453"/>
            <a:chExt cx="3519" cy="4518"/>
          </a:xfrm>
        </p:grpSpPr>
        <p:pic>
          <p:nvPicPr>
            <p:cNvPr id="453636" name="Picture 4">
              <a:extLst>
                <a:ext uri="{FF2B5EF4-FFF2-40B4-BE49-F238E27FC236}">
                  <a16:creationId xmlns:a16="http://schemas.microsoft.com/office/drawing/2014/main" id="{E9510D3C-A40A-0194-1199-CB0D7BEFA6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8" y="-453"/>
              <a:ext cx="3343" cy="2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3637" name="Picture 5">
              <a:extLst>
                <a:ext uri="{FF2B5EF4-FFF2-40B4-BE49-F238E27FC236}">
                  <a16:creationId xmlns:a16="http://schemas.microsoft.com/office/drawing/2014/main" id="{00F21515-2095-F465-9C36-40ACA5372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2" y="1929"/>
              <a:ext cx="3519" cy="2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8B7A169-ED3F-5417-213E-CD26D3EC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87CE91AA-F7A9-87E5-AAF4-C31A2C41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BD65A-0A91-4257-BD55-0D6B70D35AB8}" type="slidenum">
              <a:rPr lang="ko-KR" altLang="en-US"/>
              <a:pPr/>
              <a:t>24</a:t>
            </a:fld>
            <a:endParaRPr lang="en-US" altLang="ko-KR"/>
          </a:p>
        </p:txBody>
      </p:sp>
      <p:sp>
        <p:nvSpPr>
          <p:cNvPr id="431106" name="Rectangle 2">
            <a:extLst>
              <a:ext uri="{FF2B5EF4-FFF2-40B4-BE49-F238E27FC236}">
                <a16:creationId xmlns:a16="http://schemas.microsoft.com/office/drawing/2014/main" id="{BD9290C9-FD6A-E277-5134-789936B67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12.7 </a:t>
            </a:r>
            <a:r>
              <a:rPr lang="ko-KR" altLang="en-US"/>
              <a:t>동기화 문제</a:t>
            </a:r>
            <a:r>
              <a:rPr lang="en-US" altLang="ko-KR"/>
              <a:t>(2/3)</a:t>
            </a:r>
          </a:p>
        </p:txBody>
      </p:sp>
      <p:pic>
        <p:nvPicPr>
          <p:cNvPr id="431108" name="Picture 4">
            <a:extLst>
              <a:ext uri="{FF2B5EF4-FFF2-40B4-BE49-F238E27FC236}">
                <a16:creationId xmlns:a16="http://schemas.microsoft.com/office/drawing/2014/main" id="{9D3DA146-0198-909E-E94B-662C956E7C70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338" y="1600200"/>
            <a:ext cx="5038725" cy="4530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31109" name="Rectangle 5">
            <a:extLst>
              <a:ext uri="{FF2B5EF4-FFF2-40B4-BE49-F238E27FC236}">
                <a16:creationId xmlns:a16="http://schemas.microsoft.com/office/drawing/2014/main" id="{BEE9301A-149E-7EBB-96C4-65BD82543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787775"/>
            <a:ext cx="2305050" cy="43338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1110" name="AutoShape 6">
            <a:extLst>
              <a:ext uri="{FF2B5EF4-FFF2-40B4-BE49-F238E27FC236}">
                <a16:creationId xmlns:a16="http://schemas.microsoft.com/office/drawing/2014/main" id="{31BF57AE-8FA0-86A7-5C9E-71C6719304B0}"/>
              </a:ext>
            </a:extLst>
          </p:cNvPr>
          <p:cNvSpPr>
            <a:spLocks/>
          </p:cNvSpPr>
          <p:nvPr/>
        </p:nvSpPr>
        <p:spPr bwMode="auto">
          <a:xfrm>
            <a:off x="5364163" y="2276475"/>
            <a:ext cx="2881312" cy="1152525"/>
          </a:xfrm>
          <a:prstGeom prst="accentCallout2">
            <a:avLst>
              <a:gd name="adj1" fmla="val 9917"/>
              <a:gd name="adj2" fmla="val -2644"/>
              <a:gd name="adj3" fmla="val 9917"/>
              <a:gd name="adj4" fmla="val -29588"/>
              <a:gd name="adj5" fmla="val 146417"/>
              <a:gd name="adj6" fmla="val -5751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정해진 금액을 입금하고 </a:t>
            </a:r>
          </a:p>
          <a:p>
            <a:r>
              <a:rPr lang="en-US" altLang="ko-KR">
                <a:cs typeface="Tahoma" panose="020B0604030504040204" pitchFamily="34" charset="0"/>
              </a:rPr>
              <a:t>1</a:t>
            </a:r>
            <a:r>
              <a:rPr lang="ko-KR" altLang="en-US">
                <a:cs typeface="Tahoma" panose="020B0604030504040204" pitchFamily="34" charset="0"/>
              </a:rPr>
              <a:t>초간 정지함</a:t>
            </a:r>
          </a:p>
          <a:p>
            <a:r>
              <a:rPr lang="ko-KR" altLang="en-US">
                <a:cs typeface="Tahoma" panose="020B0604030504040204" pitchFamily="34" charset="0"/>
              </a:rPr>
              <a:t>정지하는 </a:t>
            </a:r>
            <a:r>
              <a:rPr lang="en-US" altLang="ko-KR">
                <a:cs typeface="Tahoma" panose="020B0604030504040204" pitchFamily="34" charset="0"/>
              </a:rPr>
              <a:t>1</a:t>
            </a:r>
            <a:r>
              <a:rPr lang="ko-KR" altLang="en-US">
                <a:cs typeface="Tahoma" panose="020B0604030504040204" pitchFamily="34" charset="0"/>
              </a:rPr>
              <a:t>초는 처리 시간을 흉내내는 것임</a:t>
            </a:r>
          </a:p>
        </p:txBody>
      </p:sp>
      <p:sp>
        <p:nvSpPr>
          <p:cNvPr id="431111" name="Rectangle 7">
            <a:extLst>
              <a:ext uri="{FF2B5EF4-FFF2-40B4-BE49-F238E27FC236}">
                <a16:creationId xmlns:a16="http://schemas.microsoft.com/office/drawing/2014/main" id="{1A7F21B6-5E59-100B-B4CB-5CE8E0340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868863"/>
            <a:ext cx="3889375" cy="108108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1112" name="AutoShape 8">
            <a:extLst>
              <a:ext uri="{FF2B5EF4-FFF2-40B4-BE49-F238E27FC236}">
                <a16:creationId xmlns:a16="http://schemas.microsoft.com/office/drawing/2014/main" id="{D44C3913-5C66-D597-801D-A91FBE2EFFFF}"/>
              </a:ext>
            </a:extLst>
          </p:cNvPr>
          <p:cNvSpPr>
            <a:spLocks/>
          </p:cNvSpPr>
          <p:nvPr/>
        </p:nvSpPr>
        <p:spPr bwMode="auto">
          <a:xfrm>
            <a:off x="5724525" y="4652963"/>
            <a:ext cx="2881313" cy="1152525"/>
          </a:xfrm>
          <a:prstGeom prst="accentCallout2">
            <a:avLst>
              <a:gd name="adj1" fmla="val 9917"/>
              <a:gd name="adj2" fmla="val -2644"/>
              <a:gd name="adj3" fmla="val 9917"/>
              <a:gd name="adj4" fmla="val -8870"/>
              <a:gd name="adj5" fmla="val 44352"/>
              <a:gd name="adj6" fmla="val -15264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>
                <a:cs typeface="Tahoma" panose="020B0604030504040204" pitchFamily="34" charset="0"/>
              </a:rPr>
              <a:t>Thread.sleep </a:t>
            </a:r>
            <a:r>
              <a:rPr lang="ko-KR" altLang="en-US">
                <a:cs typeface="Tahoma" panose="020B0604030504040204" pitchFamily="34" charset="0"/>
              </a:rPr>
              <a:t>메소드는 중단 예외를 발생시키므로 </a:t>
            </a:r>
            <a:r>
              <a:rPr lang="en-US" altLang="ko-KR">
                <a:cs typeface="Tahoma" panose="020B0604030504040204" pitchFamily="34" charset="0"/>
              </a:rPr>
              <a:t>try/catch </a:t>
            </a:r>
            <a:r>
              <a:rPr lang="ko-KR" altLang="en-US">
                <a:cs typeface="Tahoma" panose="020B0604030504040204" pitchFamily="34" charset="0"/>
              </a:rPr>
              <a:t>블록으로 감싸서 처리하였음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C9035AF-3198-F025-A124-2F1C6DD5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115457C5-7054-7843-D636-0070EBCE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2F33-E33E-4E6C-85F5-687E0DCFFF15}" type="slidenum">
              <a:rPr lang="ko-KR" altLang="en-US"/>
              <a:pPr/>
              <a:t>25</a:t>
            </a:fld>
            <a:endParaRPr lang="en-US" altLang="ko-KR"/>
          </a:p>
        </p:txBody>
      </p:sp>
      <p:sp>
        <p:nvSpPr>
          <p:cNvPr id="451586" name="Rectangle 2">
            <a:extLst>
              <a:ext uri="{FF2B5EF4-FFF2-40B4-BE49-F238E27FC236}">
                <a16:creationId xmlns:a16="http://schemas.microsoft.com/office/drawing/2014/main" id="{AEF71F0A-3FA0-855C-B850-5C60F925B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12.7 </a:t>
            </a:r>
            <a:r>
              <a:rPr lang="ko-KR" altLang="en-US"/>
              <a:t>동기화 문제</a:t>
            </a:r>
            <a:r>
              <a:rPr lang="en-US" altLang="ko-KR"/>
              <a:t>(3/3)</a:t>
            </a:r>
            <a:endParaRPr lang="ko-KR" altLang="en-US"/>
          </a:p>
        </p:txBody>
      </p:sp>
      <p:pic>
        <p:nvPicPr>
          <p:cNvPr id="451588" name="Picture 4">
            <a:extLst>
              <a:ext uri="{FF2B5EF4-FFF2-40B4-BE49-F238E27FC236}">
                <a16:creationId xmlns:a16="http://schemas.microsoft.com/office/drawing/2014/main" id="{162A2DE0-D99D-8825-C915-D2743E63F909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0388" y="1658938"/>
            <a:ext cx="6027737" cy="32321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51589" name="Text Box 5">
            <a:extLst>
              <a:ext uri="{FF2B5EF4-FFF2-40B4-BE49-F238E27FC236}">
                <a16:creationId xmlns:a16="http://schemas.microsoft.com/office/drawing/2014/main" id="{D6FBD88D-ED4C-7523-1417-367A5245E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346700"/>
            <a:ext cx="4895850" cy="1217613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  <a:endParaRPr lang="en-US" altLang="ko-KR" sz="1600">
              <a:solidFill>
                <a:srgbClr val="FF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0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20000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  <p:sp>
        <p:nvSpPr>
          <p:cNvPr id="451590" name="Rectangle 6">
            <a:extLst>
              <a:ext uri="{FF2B5EF4-FFF2-40B4-BE49-F238E27FC236}">
                <a16:creationId xmlns:a16="http://schemas.microsoft.com/office/drawing/2014/main" id="{30ED3C4C-1F23-7C4A-B48C-9CE63CFA3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060575"/>
            <a:ext cx="2305050" cy="288925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1591" name="AutoShape 7">
            <a:extLst>
              <a:ext uri="{FF2B5EF4-FFF2-40B4-BE49-F238E27FC236}">
                <a16:creationId xmlns:a16="http://schemas.microsoft.com/office/drawing/2014/main" id="{2248F809-A5E9-8F3B-C609-626C0C6AF9F8}"/>
              </a:ext>
            </a:extLst>
          </p:cNvPr>
          <p:cNvSpPr>
            <a:spLocks/>
          </p:cNvSpPr>
          <p:nvPr/>
        </p:nvSpPr>
        <p:spPr bwMode="auto">
          <a:xfrm>
            <a:off x="5292725" y="1628775"/>
            <a:ext cx="3095625" cy="360363"/>
          </a:xfrm>
          <a:prstGeom prst="accentCallout2">
            <a:avLst>
              <a:gd name="adj1" fmla="val 31718"/>
              <a:gd name="adj2" fmla="val -2463"/>
              <a:gd name="adj3" fmla="val 31718"/>
              <a:gd name="adj4" fmla="val -26412"/>
              <a:gd name="adj5" fmla="val 168722"/>
              <a:gd name="adj6" fmla="val -51282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각 업무는 만원 입금하는 것</a:t>
            </a:r>
            <a:endParaRPr lang="en-US" altLang="ko-KR">
              <a:cs typeface="Tahoma" panose="020B0604030504040204" pitchFamily="34" charset="0"/>
            </a:endParaRPr>
          </a:p>
        </p:txBody>
      </p:sp>
      <p:sp>
        <p:nvSpPr>
          <p:cNvPr id="451592" name="Rectangle 8">
            <a:extLst>
              <a:ext uri="{FF2B5EF4-FFF2-40B4-BE49-F238E27FC236}">
                <a16:creationId xmlns:a16="http://schemas.microsoft.com/office/drawing/2014/main" id="{C2F352FE-1151-93CA-0335-92411D462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400425"/>
            <a:ext cx="3889375" cy="8636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1593" name="AutoShape 9">
            <a:extLst>
              <a:ext uri="{FF2B5EF4-FFF2-40B4-BE49-F238E27FC236}">
                <a16:creationId xmlns:a16="http://schemas.microsoft.com/office/drawing/2014/main" id="{CD3E10C1-989E-04F4-099E-BBFD7845B04A}"/>
              </a:ext>
            </a:extLst>
          </p:cNvPr>
          <p:cNvSpPr>
            <a:spLocks/>
          </p:cNvSpPr>
          <p:nvPr/>
        </p:nvSpPr>
        <p:spPr bwMode="auto">
          <a:xfrm>
            <a:off x="468313" y="5013325"/>
            <a:ext cx="2881312" cy="1152525"/>
          </a:xfrm>
          <a:prstGeom prst="accentCallout2">
            <a:avLst>
              <a:gd name="adj1" fmla="val 9917"/>
              <a:gd name="adj2" fmla="val 102644"/>
              <a:gd name="adj3" fmla="val 9917"/>
              <a:gd name="adj4" fmla="val 113500"/>
              <a:gd name="adj5" fmla="val -65153"/>
              <a:gd name="adj6" fmla="val 12463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새로운 스레드 </a:t>
            </a:r>
            <a:r>
              <a:rPr lang="en-US" altLang="ko-KR">
                <a:cs typeface="Tahoma" panose="020B0604030504040204" pitchFamily="34" charset="0"/>
              </a:rPr>
              <a:t>thread1</a:t>
            </a:r>
            <a:r>
              <a:rPr lang="ko-KR" altLang="en-US">
                <a:cs typeface="Tahoma" panose="020B0604030504040204" pitchFamily="34" charset="0"/>
              </a:rPr>
              <a:t>을 시작하여 만원을 입금하고</a:t>
            </a:r>
          </a:p>
          <a:p>
            <a:r>
              <a:rPr lang="ko-KR" altLang="en-US">
                <a:cs typeface="Tahoma" panose="020B0604030504040204" pitchFamily="34" charset="0"/>
              </a:rPr>
              <a:t>같은 업무 </a:t>
            </a:r>
            <a:r>
              <a:rPr lang="en-US" altLang="ko-KR">
                <a:cs typeface="Tahoma" panose="020B0604030504040204" pitchFamily="34" charset="0"/>
              </a:rPr>
              <a:t>tr.run()</a:t>
            </a:r>
            <a:r>
              <a:rPr lang="ko-KR" altLang="en-US">
                <a:cs typeface="Tahoma" panose="020B0604030504040204" pitchFamily="34" charset="0"/>
              </a:rPr>
              <a:t>을 병행하여 수행하도록 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0D72C71-92BB-C4F7-162B-CC6BF6F4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57DE702B-2DBF-1AE8-0540-16509B2F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E1EA4-6D37-41A2-B483-83C85CA658AA}" type="slidenum">
              <a:rPr lang="ko-KR" altLang="en-US"/>
              <a:pPr/>
              <a:t>26</a:t>
            </a:fld>
            <a:endParaRPr lang="en-US" altLang="ko-KR"/>
          </a:p>
        </p:txBody>
      </p:sp>
      <p:sp>
        <p:nvSpPr>
          <p:cNvPr id="515074" name="Rectangle 2">
            <a:extLst>
              <a:ext uri="{FF2B5EF4-FFF2-40B4-BE49-F238E27FC236}">
                <a16:creationId xmlns:a16="http://schemas.microsoft.com/office/drawing/2014/main" id="{7ABF59E7-651A-ACF5-D3F3-AFB929070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뭐가 잘못되었는가</a:t>
            </a:r>
            <a:r>
              <a:rPr lang="en-US" altLang="ko-KR"/>
              <a:t>?</a:t>
            </a:r>
          </a:p>
        </p:txBody>
      </p:sp>
      <p:sp>
        <p:nvSpPr>
          <p:cNvPr id="515075" name="Rectangle 3">
            <a:extLst>
              <a:ext uri="{FF2B5EF4-FFF2-40B4-BE49-F238E27FC236}">
                <a16:creationId xmlns:a16="http://schemas.microsoft.com/office/drawing/2014/main" id="{03C0EC48-868A-5051-EFBB-6ED7CF4A3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실행결과 검토</a:t>
            </a:r>
          </a:p>
          <a:p>
            <a:pPr lvl="1"/>
            <a:r>
              <a:rPr lang="ko-KR" altLang="en-US"/>
              <a:t>수행 결과만 보면 앞서 작성한 프로그램은 올바른 프로그램처럼 보임</a:t>
            </a:r>
          </a:p>
          <a:p>
            <a:r>
              <a:rPr lang="ko-KR" altLang="en-US"/>
              <a:t>프로그램 수정</a:t>
            </a:r>
          </a:p>
          <a:p>
            <a:pPr lvl="1"/>
            <a:r>
              <a:rPr lang="en-US" altLang="ko-KR"/>
              <a:t>Transaction.deposit()</a:t>
            </a:r>
            <a:r>
              <a:rPr lang="ko-KR" altLang="en-US"/>
              <a:t>의 </a:t>
            </a:r>
            <a:r>
              <a:rPr lang="en-US" altLang="ko-KR"/>
              <a:t>pretendProcessing() </a:t>
            </a:r>
            <a:r>
              <a:rPr lang="ko-KR" altLang="en-US"/>
              <a:t>호출 부분을 아래와 같이 변경하자</a:t>
            </a:r>
            <a:r>
              <a:rPr lang="en-US" altLang="ko-KR"/>
              <a:t>.</a:t>
            </a:r>
          </a:p>
          <a:p>
            <a:pPr lvl="2"/>
            <a:r>
              <a:rPr lang="en-US" altLang="ko-KR"/>
              <a:t>pretendProcessing(0);</a:t>
            </a:r>
          </a:p>
          <a:p>
            <a:pPr lvl="1"/>
            <a:r>
              <a:rPr lang="ko-KR" altLang="en-US"/>
              <a:t>그러면 다음과 같은 실행 결과를 얻는다</a:t>
            </a:r>
            <a:r>
              <a:rPr lang="en-US" altLang="ko-KR"/>
              <a:t>.</a:t>
            </a:r>
          </a:p>
        </p:txBody>
      </p:sp>
      <p:sp>
        <p:nvSpPr>
          <p:cNvPr id="515076" name="Text Box 4">
            <a:extLst>
              <a:ext uri="{FF2B5EF4-FFF2-40B4-BE49-F238E27FC236}">
                <a16:creationId xmlns:a16="http://schemas.microsoft.com/office/drawing/2014/main" id="{2699960E-7938-6AF8-B6CF-9C6533AAF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5157788"/>
            <a:ext cx="4895850" cy="1217612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(</a:t>
            </a: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지연시간이 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0</a:t>
            </a: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일 때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)</a:t>
            </a: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0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10000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22949960-1B12-BAFA-082B-7C15386E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49F36E0C-7751-FAE8-8CE2-D3A9BACC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9D0F0-E161-4EB9-8FD6-4D6E177F144C}" type="slidenum">
              <a:rPr lang="ko-KR" altLang="en-US"/>
              <a:pPr/>
              <a:t>27</a:t>
            </a:fld>
            <a:endParaRPr lang="en-US" altLang="ko-KR"/>
          </a:p>
        </p:txBody>
      </p:sp>
      <p:sp>
        <p:nvSpPr>
          <p:cNvPr id="519170" name="Rectangle 2">
            <a:extLst>
              <a:ext uri="{FF2B5EF4-FFF2-40B4-BE49-F238E27FC236}">
                <a16:creationId xmlns:a16="http://schemas.microsoft.com/office/drawing/2014/main" id="{842845F1-AE06-21D1-2F47-1E7AD1AC0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join </a:t>
            </a:r>
            <a:r>
              <a:rPr lang="ko-KR" altLang="en-US"/>
              <a:t>메소드</a:t>
            </a:r>
          </a:p>
        </p:txBody>
      </p:sp>
      <p:sp>
        <p:nvSpPr>
          <p:cNvPr id="519171" name="Rectangle 3">
            <a:extLst>
              <a:ext uri="{FF2B5EF4-FFF2-40B4-BE49-F238E27FC236}">
                <a16:creationId xmlns:a16="http://schemas.microsoft.com/office/drawing/2014/main" id="{68FB83E5-E576-04B3-B8B0-9A6A5B06C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잘못된 실행결과가 나온 이유</a:t>
            </a:r>
          </a:p>
          <a:p>
            <a:pPr lvl="1"/>
            <a:r>
              <a:rPr lang="ko-KR" altLang="en-US"/>
              <a:t>스레드 실행이 동기화 되지 않았기 때문</a:t>
            </a:r>
          </a:p>
          <a:p>
            <a:pPr lvl="1"/>
            <a:r>
              <a:rPr lang="ko-KR" altLang="en-US"/>
              <a:t>메인 스레드와 </a:t>
            </a:r>
            <a:r>
              <a:rPr lang="en-US" altLang="ko-KR"/>
              <a:t>thread1</a:t>
            </a:r>
            <a:r>
              <a:rPr lang="ko-KR" altLang="en-US"/>
              <a:t>이 각각 만원을 입금함</a:t>
            </a:r>
          </a:p>
          <a:p>
            <a:pPr lvl="1"/>
            <a:r>
              <a:rPr lang="ko-KR" altLang="en-US"/>
              <a:t>이 만원이 입금된 결과를 보고 싶다면 </a:t>
            </a:r>
            <a:r>
              <a:rPr lang="en-US" altLang="ko-KR"/>
              <a:t>thread1</a:t>
            </a:r>
            <a:r>
              <a:rPr lang="ko-KR" altLang="en-US"/>
              <a:t>이 끝나기를 기다린 후에 잔액을 출력해야 함</a:t>
            </a:r>
          </a:p>
          <a:p>
            <a:r>
              <a:rPr lang="en-US" altLang="ko-KR"/>
              <a:t>join </a:t>
            </a:r>
            <a:r>
              <a:rPr lang="ko-KR" altLang="en-US"/>
              <a:t>메소드</a:t>
            </a:r>
          </a:p>
          <a:p>
            <a:pPr lvl="1"/>
            <a:r>
              <a:rPr lang="ko-KR" altLang="en-US"/>
              <a:t>다른 스레드가 끝나기를 기다리는 메소드</a:t>
            </a:r>
          </a:p>
          <a:p>
            <a:pPr lvl="1"/>
            <a:r>
              <a:rPr lang="ko-KR" altLang="en-US"/>
              <a:t>스레드 </a:t>
            </a:r>
            <a:r>
              <a:rPr lang="en-US" altLang="ko-KR"/>
              <a:t>t</a:t>
            </a:r>
            <a:r>
              <a:rPr lang="ko-KR" altLang="en-US"/>
              <a:t>가 끝나기를 기다리려면 </a:t>
            </a:r>
            <a:r>
              <a:rPr lang="en-US" altLang="ko-KR"/>
              <a:t>t.join()</a:t>
            </a:r>
            <a:r>
              <a:rPr lang="ko-KR" altLang="en-US"/>
              <a:t>을 호출</a:t>
            </a:r>
          </a:p>
          <a:p>
            <a:pPr lvl="1"/>
            <a:r>
              <a:rPr lang="ko-KR" altLang="en-US"/>
              <a:t>중단 예외를 발생시키므로 처리해야 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5899835-F28B-9965-5F19-7D903FFC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D4C20E31-3AE4-4CF8-66E6-943D537C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CDCFE-AB05-45CB-9B9D-C6AB2F9BBADB}" type="slidenum">
              <a:rPr lang="ko-KR" altLang="en-US"/>
              <a:pPr/>
              <a:t>28</a:t>
            </a:fld>
            <a:endParaRPr lang="en-US" altLang="ko-KR"/>
          </a:p>
        </p:txBody>
      </p:sp>
      <p:sp>
        <p:nvSpPr>
          <p:cNvPr id="433154" name="Rectangle 2">
            <a:extLst>
              <a:ext uri="{FF2B5EF4-FFF2-40B4-BE49-F238E27FC236}">
                <a16:creationId xmlns:a16="http://schemas.microsoft.com/office/drawing/2014/main" id="{C637B0A4-B888-3941-2D70-84E7DF872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12.8 </a:t>
            </a:r>
            <a:r>
              <a:rPr lang="ko-KR" altLang="en-US"/>
              <a:t>수정된 </a:t>
            </a:r>
            <a:r>
              <a:rPr lang="en-US" altLang="ko-KR"/>
              <a:t>Transaction(1/2)</a:t>
            </a:r>
          </a:p>
        </p:txBody>
      </p:sp>
      <p:pic>
        <p:nvPicPr>
          <p:cNvPr id="433156" name="Picture 4">
            <a:extLst>
              <a:ext uri="{FF2B5EF4-FFF2-40B4-BE49-F238E27FC236}">
                <a16:creationId xmlns:a16="http://schemas.microsoft.com/office/drawing/2014/main" id="{48446C0F-8E0D-2AC5-9C39-E57F5FD2B780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600200"/>
            <a:ext cx="5032375" cy="4530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33157" name="Rectangle 5">
            <a:extLst>
              <a:ext uri="{FF2B5EF4-FFF2-40B4-BE49-F238E27FC236}">
                <a16:creationId xmlns:a16="http://schemas.microsoft.com/office/drawing/2014/main" id="{933908A4-B337-670C-A563-86FFBBB35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787775"/>
            <a:ext cx="2305050" cy="43338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3158" name="AutoShape 6">
            <a:extLst>
              <a:ext uri="{FF2B5EF4-FFF2-40B4-BE49-F238E27FC236}">
                <a16:creationId xmlns:a16="http://schemas.microsoft.com/office/drawing/2014/main" id="{3DDE760B-8563-F42C-1868-9756A218EDFA}"/>
              </a:ext>
            </a:extLst>
          </p:cNvPr>
          <p:cNvSpPr>
            <a:spLocks/>
          </p:cNvSpPr>
          <p:nvPr/>
        </p:nvSpPr>
        <p:spPr bwMode="auto">
          <a:xfrm>
            <a:off x="5364163" y="2276475"/>
            <a:ext cx="2881312" cy="1152525"/>
          </a:xfrm>
          <a:prstGeom prst="accentCallout2">
            <a:avLst>
              <a:gd name="adj1" fmla="val 9917"/>
              <a:gd name="adj2" fmla="val -2644"/>
              <a:gd name="adj3" fmla="val 9917"/>
              <a:gd name="adj4" fmla="val -29588"/>
              <a:gd name="adj5" fmla="val 146417"/>
              <a:gd name="adj6" fmla="val -5751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정지하는 시간이 없도록 수정하였음</a:t>
            </a:r>
          </a:p>
          <a:p>
            <a:r>
              <a:rPr lang="ko-KR" altLang="en-US">
                <a:cs typeface="Tahoma" panose="020B0604030504040204" pitchFamily="34" charset="0"/>
              </a:rPr>
              <a:t>이 자체는 동기화와 상관 없음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9341961-74B5-41F8-8FCB-A5E2A275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30A7FCD-9EDB-73A1-C73D-305A5181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F880-3CD9-4369-8277-E83463386005}" type="slidenum">
              <a:rPr lang="ko-KR" altLang="en-US"/>
              <a:pPr/>
              <a:t>29</a:t>
            </a:fld>
            <a:endParaRPr lang="en-US" altLang="ko-KR"/>
          </a:p>
        </p:txBody>
      </p:sp>
      <p:sp>
        <p:nvSpPr>
          <p:cNvPr id="455682" name="Rectangle 2">
            <a:extLst>
              <a:ext uri="{FF2B5EF4-FFF2-40B4-BE49-F238E27FC236}">
                <a16:creationId xmlns:a16="http://schemas.microsoft.com/office/drawing/2014/main" id="{F666596C-A11C-53AB-F8F2-92F081C8A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12.8 </a:t>
            </a:r>
            <a:r>
              <a:rPr lang="ko-KR" altLang="en-US"/>
              <a:t>수정된 </a:t>
            </a:r>
            <a:r>
              <a:rPr lang="en-US" altLang="ko-KR"/>
              <a:t>Transaction(2/2)</a:t>
            </a:r>
          </a:p>
        </p:txBody>
      </p:sp>
      <p:pic>
        <p:nvPicPr>
          <p:cNvPr id="455684" name="Picture 4">
            <a:extLst>
              <a:ext uri="{FF2B5EF4-FFF2-40B4-BE49-F238E27FC236}">
                <a16:creationId xmlns:a16="http://schemas.microsoft.com/office/drawing/2014/main" id="{1CFCA66D-B24D-42D0-29FB-26D6FB2E6CA8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484313"/>
            <a:ext cx="6016625" cy="4324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55685" name="Text Box 5">
            <a:extLst>
              <a:ext uri="{FF2B5EF4-FFF2-40B4-BE49-F238E27FC236}">
                <a16:creationId xmlns:a16="http://schemas.microsoft.com/office/drawing/2014/main" id="{E61DA2B0-10BD-B8DB-0D99-D6925E67F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516563"/>
            <a:ext cx="4895850" cy="1217612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  <a:endParaRPr lang="en-US" altLang="ko-KR" sz="1600">
              <a:solidFill>
                <a:srgbClr val="FF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0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20000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  <p:sp>
        <p:nvSpPr>
          <p:cNvPr id="455686" name="Rectangle 6">
            <a:extLst>
              <a:ext uri="{FF2B5EF4-FFF2-40B4-BE49-F238E27FC236}">
                <a16:creationId xmlns:a16="http://schemas.microsoft.com/office/drawing/2014/main" id="{9F536B7B-7FCC-5A17-7754-115DB7D28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076700"/>
            <a:ext cx="3889375" cy="108108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5687" name="AutoShape 7">
            <a:extLst>
              <a:ext uri="{FF2B5EF4-FFF2-40B4-BE49-F238E27FC236}">
                <a16:creationId xmlns:a16="http://schemas.microsoft.com/office/drawing/2014/main" id="{78CAB2B8-D057-8EE8-4E43-6646771C25F7}"/>
              </a:ext>
            </a:extLst>
          </p:cNvPr>
          <p:cNvSpPr>
            <a:spLocks/>
          </p:cNvSpPr>
          <p:nvPr/>
        </p:nvSpPr>
        <p:spPr bwMode="auto">
          <a:xfrm>
            <a:off x="5940425" y="3429000"/>
            <a:ext cx="2879725" cy="1439863"/>
          </a:xfrm>
          <a:prstGeom prst="accentCallout2">
            <a:avLst>
              <a:gd name="adj1" fmla="val 7940"/>
              <a:gd name="adj2" fmla="val -2648"/>
              <a:gd name="adj3" fmla="val 7940"/>
              <a:gd name="adj4" fmla="val -26074"/>
              <a:gd name="adj5" fmla="val 45204"/>
              <a:gd name="adj6" fmla="val -5011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>
                <a:cs typeface="Tahoma" panose="020B0604030504040204" pitchFamily="34" charset="0"/>
              </a:rPr>
              <a:t>thread1.join()</a:t>
            </a:r>
            <a:r>
              <a:rPr lang="ko-KR" altLang="en-US">
                <a:cs typeface="Tahoma" panose="020B0604030504040204" pitchFamily="34" charset="0"/>
              </a:rPr>
              <a:t>을 호출하여 </a:t>
            </a:r>
            <a:r>
              <a:rPr lang="en-US" altLang="ko-KR">
                <a:cs typeface="Tahoma" panose="020B0604030504040204" pitchFamily="34" charset="0"/>
              </a:rPr>
              <a:t>thread1</a:t>
            </a:r>
            <a:r>
              <a:rPr lang="ko-KR" altLang="en-US">
                <a:cs typeface="Tahoma" panose="020B0604030504040204" pitchFamily="34" charset="0"/>
              </a:rPr>
              <a:t>이 끝나기를 기다림</a:t>
            </a:r>
          </a:p>
          <a:p>
            <a:r>
              <a:rPr lang="en-US" altLang="ko-KR">
                <a:cs typeface="Tahoma" panose="020B0604030504040204" pitchFamily="34" charset="0"/>
              </a:rPr>
              <a:t>InterruptedException</a:t>
            </a:r>
            <a:r>
              <a:rPr lang="ko-KR" altLang="en-US">
                <a:cs typeface="Tahoma" panose="020B0604030504040204" pitchFamily="34" charset="0"/>
              </a:rPr>
              <a:t>을 처리해야 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424B4EF-6638-BC11-8093-8918F701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130AD24D-65E5-A208-0BE7-94B8AEEE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E55F-D983-4B8D-81AD-128727AF007F}" type="slidenum">
              <a:rPr lang="ko-KR" altLang="en-US"/>
              <a:pPr/>
              <a:t>30</a:t>
            </a:fld>
            <a:endParaRPr lang="en-US" altLang="ko-KR"/>
          </a:p>
        </p:txBody>
      </p:sp>
      <p:sp>
        <p:nvSpPr>
          <p:cNvPr id="523266" name="Rectangle 2">
            <a:extLst>
              <a:ext uri="{FF2B5EF4-FFF2-40B4-BE49-F238E27FC236}">
                <a16:creationId xmlns:a16="http://schemas.microsoft.com/office/drawing/2014/main" id="{D4247D51-3BB8-1BFA-32ED-7AEF0A523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이제 잘못된 곳이 없는가</a:t>
            </a:r>
            <a:r>
              <a:rPr lang="en-US" altLang="ko-KR"/>
              <a:t>?</a:t>
            </a:r>
          </a:p>
        </p:txBody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40906721-405B-C669-D3C4-4979792F4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실행 결과 검토</a:t>
            </a:r>
          </a:p>
          <a:p>
            <a:pPr lvl="1"/>
            <a:r>
              <a:rPr lang="ko-KR" altLang="en-US"/>
              <a:t>만원씩 두 번 입금하였고 그 결과 잔액이 이만원이 되었으므로 올바른 것처럼 보임</a:t>
            </a:r>
          </a:p>
          <a:p>
            <a:pPr lvl="1"/>
            <a:r>
              <a:rPr lang="ko-KR" altLang="en-US"/>
              <a:t>동기화로는 </a:t>
            </a:r>
            <a:r>
              <a:rPr lang="en-US" altLang="ko-KR"/>
              <a:t>thread1.join() </a:t>
            </a:r>
            <a:r>
              <a:rPr lang="ko-KR" altLang="en-US"/>
              <a:t>밖에 수행한 것이 없음</a:t>
            </a:r>
          </a:p>
          <a:p>
            <a:r>
              <a:rPr lang="ko-KR" altLang="en-US"/>
              <a:t>그러나 아직 심각한 동기화 오류가 있음</a:t>
            </a:r>
          </a:p>
          <a:p>
            <a:pPr lvl="1"/>
            <a:r>
              <a:rPr lang="ko-KR" altLang="en-US"/>
              <a:t>계좌 자체에 대해서는 동기화를 수행하고 있지 않음</a:t>
            </a:r>
          </a:p>
          <a:p>
            <a:pPr lvl="1"/>
            <a:r>
              <a:rPr lang="ko-KR" altLang="en-US"/>
              <a:t>따라서 계좌 객체에 대해 동시에 실행되는 작업이 많다면 문제가 발생하게 됨</a:t>
            </a:r>
          </a:p>
          <a:p>
            <a:pPr lvl="1"/>
            <a:r>
              <a:rPr lang="ko-KR" altLang="en-US"/>
              <a:t>오류를 보기 위해 프로그램을 변경해 보자</a:t>
            </a:r>
            <a:r>
              <a:rPr lang="en-US" altLang="ko-KR"/>
              <a:t>(</a:t>
            </a:r>
            <a:r>
              <a:rPr lang="ko-KR" altLang="en-US"/>
              <a:t>프로그램 </a:t>
            </a:r>
            <a:r>
              <a:rPr lang="en-US" altLang="ko-KR"/>
              <a:t>12.9)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05539C2-0CB3-4740-60E8-0B52FEFB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957FE75-7354-7D7C-4A9C-833B63EC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D186-3808-4704-97E7-52474AFA1E27}" type="slidenum">
              <a:rPr lang="ko-KR" altLang="en-US"/>
              <a:pPr/>
              <a:t>31</a:t>
            </a:fld>
            <a:endParaRPr lang="en-US" altLang="ko-KR"/>
          </a:p>
        </p:txBody>
      </p:sp>
      <p:sp>
        <p:nvSpPr>
          <p:cNvPr id="435202" name="Rectangle 2">
            <a:extLst>
              <a:ext uri="{FF2B5EF4-FFF2-40B4-BE49-F238E27FC236}">
                <a16:creationId xmlns:a16="http://schemas.microsoft.com/office/drawing/2014/main" id="{25BA2909-0EDB-A703-5073-6613F659F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12.9 </a:t>
            </a:r>
            <a:r>
              <a:rPr lang="ko-KR" altLang="en-US"/>
              <a:t>오류 </a:t>
            </a:r>
            <a:r>
              <a:rPr lang="en-US" altLang="ko-KR"/>
              <a:t>Transaction(1/2)</a:t>
            </a:r>
          </a:p>
        </p:txBody>
      </p:sp>
      <p:pic>
        <p:nvPicPr>
          <p:cNvPr id="435204" name="Picture 4">
            <a:extLst>
              <a:ext uri="{FF2B5EF4-FFF2-40B4-BE49-F238E27FC236}">
                <a16:creationId xmlns:a16="http://schemas.microsoft.com/office/drawing/2014/main" id="{D334FAF2-AE55-C697-F254-3A3F4A2E8FCA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600200"/>
            <a:ext cx="4445000" cy="3660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35205" name="Rectangle 5">
            <a:extLst>
              <a:ext uri="{FF2B5EF4-FFF2-40B4-BE49-F238E27FC236}">
                <a16:creationId xmlns:a16="http://schemas.microsoft.com/office/drawing/2014/main" id="{E8DD55A2-7535-D912-9B21-4DE3A8396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716338"/>
            <a:ext cx="2663825" cy="504825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5206" name="AutoShape 6">
            <a:extLst>
              <a:ext uri="{FF2B5EF4-FFF2-40B4-BE49-F238E27FC236}">
                <a16:creationId xmlns:a16="http://schemas.microsoft.com/office/drawing/2014/main" id="{4C496D38-369F-8093-91A4-461E113847A8}"/>
              </a:ext>
            </a:extLst>
          </p:cNvPr>
          <p:cNvSpPr>
            <a:spLocks/>
          </p:cNvSpPr>
          <p:nvPr/>
        </p:nvSpPr>
        <p:spPr bwMode="auto">
          <a:xfrm>
            <a:off x="4787900" y="3141663"/>
            <a:ext cx="2881313" cy="1152525"/>
          </a:xfrm>
          <a:prstGeom prst="accentCallout2">
            <a:avLst>
              <a:gd name="adj1" fmla="val 9917"/>
              <a:gd name="adj2" fmla="val -2644"/>
              <a:gd name="adj3" fmla="val 9917"/>
              <a:gd name="adj4" fmla="val -17796"/>
              <a:gd name="adj5" fmla="val 48208"/>
              <a:gd name="adj6" fmla="val -3350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입금 금액이 얼마든 상관 없이 </a:t>
            </a:r>
            <a:r>
              <a:rPr lang="en-US" altLang="ko-KR">
                <a:cs typeface="Tahoma" panose="020B0604030504040204" pitchFamily="34" charset="0"/>
              </a:rPr>
              <a:t>1</a:t>
            </a:r>
            <a:r>
              <a:rPr lang="ko-KR" altLang="en-US">
                <a:cs typeface="Tahoma" panose="020B0604030504040204" pitchFamily="34" charset="0"/>
              </a:rPr>
              <a:t>원 단위씩 입금하는 것으로 변경하였음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4C31FEE-6058-8549-4344-C614FE72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52881D01-079C-AE4B-DC4B-7FE49835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9618-32F2-48AF-991F-7C6F0E9F00FF}" type="slidenum">
              <a:rPr lang="ko-KR" altLang="en-US"/>
              <a:pPr/>
              <a:t>32</a:t>
            </a:fld>
            <a:endParaRPr lang="en-US" altLang="ko-KR"/>
          </a:p>
        </p:txBody>
      </p:sp>
      <p:sp>
        <p:nvSpPr>
          <p:cNvPr id="457730" name="Rectangle 2">
            <a:extLst>
              <a:ext uri="{FF2B5EF4-FFF2-40B4-BE49-F238E27FC236}">
                <a16:creationId xmlns:a16="http://schemas.microsoft.com/office/drawing/2014/main" id="{94CF89EB-9B01-5A8C-AC72-C19872106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12.9 </a:t>
            </a:r>
            <a:r>
              <a:rPr lang="ko-KR" altLang="en-US"/>
              <a:t>오류 </a:t>
            </a:r>
            <a:r>
              <a:rPr lang="en-US" altLang="ko-KR"/>
              <a:t>Transaction(2/2)</a:t>
            </a:r>
          </a:p>
        </p:txBody>
      </p:sp>
      <p:pic>
        <p:nvPicPr>
          <p:cNvPr id="457732" name="Picture 4">
            <a:extLst>
              <a:ext uri="{FF2B5EF4-FFF2-40B4-BE49-F238E27FC236}">
                <a16:creationId xmlns:a16="http://schemas.microsoft.com/office/drawing/2014/main" id="{8C42CD03-0AC1-89CC-D465-9F301C5672DC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600200"/>
            <a:ext cx="6007100" cy="3440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57734" name="Text Box 6">
            <a:extLst>
              <a:ext uri="{FF2B5EF4-FFF2-40B4-BE49-F238E27FC236}">
                <a16:creationId xmlns:a16="http://schemas.microsoft.com/office/drawing/2014/main" id="{4306E2DE-E2D8-2AC6-535C-610F76A23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516563"/>
            <a:ext cx="4895850" cy="1217612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  <a:endParaRPr lang="en-US" altLang="ko-KR" sz="1600">
              <a:solidFill>
                <a:srgbClr val="FF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0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16969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  <p:sp>
        <p:nvSpPr>
          <p:cNvPr id="457735" name="Rectangle 7">
            <a:extLst>
              <a:ext uri="{FF2B5EF4-FFF2-40B4-BE49-F238E27FC236}">
                <a16:creationId xmlns:a16="http://schemas.microsoft.com/office/drawing/2014/main" id="{581228CD-FB78-BD0B-D13E-3FEDCC08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355975"/>
            <a:ext cx="3889375" cy="108108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7736" name="AutoShape 8">
            <a:extLst>
              <a:ext uri="{FF2B5EF4-FFF2-40B4-BE49-F238E27FC236}">
                <a16:creationId xmlns:a16="http://schemas.microsoft.com/office/drawing/2014/main" id="{52E775AC-A95A-084F-4A3A-D50B5093AFBD}"/>
              </a:ext>
            </a:extLst>
          </p:cNvPr>
          <p:cNvSpPr>
            <a:spLocks/>
          </p:cNvSpPr>
          <p:nvPr/>
        </p:nvSpPr>
        <p:spPr bwMode="auto">
          <a:xfrm>
            <a:off x="5651500" y="2924175"/>
            <a:ext cx="2881313" cy="1225550"/>
          </a:xfrm>
          <a:prstGeom prst="accentCallout2">
            <a:avLst>
              <a:gd name="adj1" fmla="val 9329"/>
              <a:gd name="adj2" fmla="val -2644"/>
              <a:gd name="adj3" fmla="val 9329"/>
              <a:gd name="adj4" fmla="val -21102"/>
              <a:gd name="adj5" fmla="val 35491"/>
              <a:gd name="adj6" fmla="val -40056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여전히 </a:t>
            </a:r>
            <a:r>
              <a:rPr lang="en-US" altLang="ko-KR">
                <a:cs typeface="Tahoma" panose="020B0604030504040204" pitchFamily="34" charset="0"/>
              </a:rPr>
              <a:t>join()</a:t>
            </a:r>
            <a:r>
              <a:rPr lang="ko-KR" altLang="en-US">
                <a:cs typeface="Tahoma" panose="020B0604030504040204" pitchFamily="34" charset="0"/>
              </a:rPr>
              <a:t>을 이용한 동기화를 수행하고 있음</a:t>
            </a:r>
          </a:p>
          <a:p>
            <a:r>
              <a:rPr lang="ko-KR" altLang="en-US">
                <a:cs typeface="Tahoma" panose="020B0604030504040204" pitchFamily="34" charset="0"/>
              </a:rPr>
              <a:t>그러나 실행 결과는 오류임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2585149-DE57-0C49-4C57-4C15660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C1EEDE69-D6DE-8B6F-226A-4C3ADCC2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576C-34D4-468D-B348-E0D7EE9E6B6B}" type="slidenum">
              <a:rPr lang="ko-KR" altLang="en-US"/>
              <a:pPr/>
              <a:t>33</a:t>
            </a:fld>
            <a:endParaRPr lang="en-US" altLang="ko-KR"/>
          </a:p>
        </p:txBody>
      </p:sp>
      <p:sp>
        <p:nvSpPr>
          <p:cNvPr id="526338" name="Rectangle 2">
            <a:extLst>
              <a:ext uri="{FF2B5EF4-FFF2-40B4-BE49-F238E27FC236}">
                <a16:creationId xmlns:a16="http://schemas.microsoft.com/office/drawing/2014/main" id="{7D814552-3350-5984-F41A-F78478DBB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오류 해결 방법</a:t>
            </a:r>
          </a:p>
        </p:txBody>
      </p:sp>
      <p:sp>
        <p:nvSpPr>
          <p:cNvPr id="526339" name="Rectangle 3">
            <a:extLst>
              <a:ext uri="{FF2B5EF4-FFF2-40B4-BE49-F238E27FC236}">
                <a16:creationId xmlns:a16="http://schemas.microsoft.com/office/drawing/2014/main" id="{44DCFC75-2962-804C-87DD-253769D5FD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ko-KR" altLang="en-US"/>
              <a:t>오류 분석</a:t>
            </a:r>
          </a:p>
          <a:p>
            <a:pPr lvl="1">
              <a:lnSpc>
                <a:spcPct val="80000"/>
              </a:lnSpc>
            </a:pPr>
            <a:r>
              <a:rPr lang="ko-KR" altLang="en-US"/>
              <a:t>프로그램 </a:t>
            </a:r>
            <a:r>
              <a:rPr lang="en-US" altLang="ko-KR"/>
              <a:t>12.9</a:t>
            </a:r>
            <a:r>
              <a:rPr lang="ko-KR" altLang="en-US"/>
              <a:t>의 결과를 보면 입금된 잔액이 </a:t>
            </a:r>
            <a:r>
              <a:rPr lang="en-US" altLang="ko-KR"/>
              <a:t>20000</a:t>
            </a:r>
            <a:r>
              <a:rPr lang="ko-KR" altLang="en-US"/>
              <a:t>원에 못미침을 알 수 있다</a:t>
            </a:r>
            <a:r>
              <a:rPr lang="en-US" altLang="ko-KR"/>
              <a:t>.</a:t>
            </a:r>
          </a:p>
          <a:p>
            <a:pPr lvl="1">
              <a:lnSpc>
                <a:spcPct val="80000"/>
              </a:lnSpc>
            </a:pPr>
            <a:r>
              <a:rPr lang="ko-KR" altLang="en-US"/>
              <a:t>입금 작업 중 몇 개가 다른 입금 작업과 중복되어 동기화되지 못한 것으로 판단됨</a:t>
            </a:r>
            <a:r>
              <a:rPr lang="en-US" altLang="ko-KR"/>
              <a:t>.</a:t>
            </a:r>
          </a:p>
          <a:p>
            <a:pPr>
              <a:lnSpc>
                <a:spcPct val="80000"/>
              </a:lnSpc>
            </a:pPr>
            <a:r>
              <a:rPr lang="en-US" altLang="ko-KR"/>
              <a:t>synchronized </a:t>
            </a:r>
            <a:r>
              <a:rPr lang="ko-KR" altLang="en-US"/>
              <a:t>메소드</a:t>
            </a:r>
          </a:p>
          <a:p>
            <a:pPr lvl="1">
              <a:lnSpc>
                <a:spcPct val="80000"/>
              </a:lnSpc>
            </a:pPr>
            <a:r>
              <a:rPr lang="ko-KR" altLang="en-US"/>
              <a:t>동기화되어야 하는 메소드를 </a:t>
            </a:r>
            <a:r>
              <a:rPr lang="en-US" altLang="ko-KR"/>
              <a:t>synchronized </a:t>
            </a:r>
            <a:r>
              <a:rPr lang="ko-KR" altLang="en-US"/>
              <a:t>메소드로 선언함</a:t>
            </a:r>
          </a:p>
          <a:p>
            <a:pPr lvl="1">
              <a:lnSpc>
                <a:spcPct val="80000"/>
              </a:lnSpc>
            </a:pPr>
            <a:r>
              <a:rPr lang="ko-KR" altLang="en-US"/>
              <a:t>객체의 동기화 메소드는 한 번에 하나만 수행 가능함</a:t>
            </a:r>
          </a:p>
          <a:p>
            <a:pPr lvl="1">
              <a:lnSpc>
                <a:spcPct val="80000"/>
              </a:lnSpc>
            </a:pPr>
            <a:r>
              <a:rPr lang="en-US" altLang="ko-KR"/>
              <a:t>Account</a:t>
            </a:r>
            <a:r>
              <a:rPr lang="ko-KR" altLang="en-US"/>
              <a:t>의 경우에는 객체의 상태를 바꾸는 메소드</a:t>
            </a:r>
            <a:r>
              <a:rPr lang="en-US" altLang="ko-KR"/>
              <a:t>(deposit, withdraw)</a:t>
            </a:r>
            <a:r>
              <a:rPr lang="ko-KR" altLang="en-US"/>
              <a:t>를 </a:t>
            </a:r>
            <a:r>
              <a:rPr lang="en-US" altLang="ko-KR"/>
              <a:t>synchronized </a:t>
            </a:r>
            <a:r>
              <a:rPr lang="ko-KR" altLang="en-US"/>
              <a:t>메소드로 선언해야 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99A0F042-5096-6844-7D83-A146DD15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6">
            <a:extLst>
              <a:ext uri="{FF2B5EF4-FFF2-40B4-BE49-F238E27FC236}">
                <a16:creationId xmlns:a16="http://schemas.microsoft.com/office/drawing/2014/main" id="{2E0097ED-1C83-0D60-304E-6BC48998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E367-5AC0-41B5-B00E-36479522B02B}" type="slidenum">
              <a:rPr lang="ko-KR" altLang="en-US"/>
              <a:pPr/>
              <a:t>34</a:t>
            </a:fld>
            <a:endParaRPr lang="en-US" altLang="ko-KR"/>
          </a:p>
        </p:txBody>
      </p:sp>
      <p:sp>
        <p:nvSpPr>
          <p:cNvPr id="459778" name="Rectangle 2">
            <a:extLst>
              <a:ext uri="{FF2B5EF4-FFF2-40B4-BE49-F238E27FC236}">
                <a16:creationId xmlns:a16="http://schemas.microsoft.com/office/drawing/2014/main" id="{469E5BD8-6EA2-5631-F935-FF9755ECC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12.10 </a:t>
            </a:r>
            <a:r>
              <a:rPr lang="ko-KR" altLang="en-US"/>
              <a:t>수정한 </a:t>
            </a:r>
            <a:r>
              <a:rPr lang="en-US" altLang="ko-KR"/>
              <a:t>Account</a:t>
            </a:r>
          </a:p>
        </p:txBody>
      </p:sp>
      <p:grpSp>
        <p:nvGrpSpPr>
          <p:cNvPr id="459782" name="Group 6">
            <a:extLst>
              <a:ext uri="{FF2B5EF4-FFF2-40B4-BE49-F238E27FC236}">
                <a16:creationId xmlns:a16="http://schemas.microsoft.com/office/drawing/2014/main" id="{0693C95E-8F41-3D38-688E-3AA48940E9DA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1628775"/>
            <a:ext cx="5026025" cy="4248150"/>
            <a:chOff x="576" y="1100"/>
            <a:chExt cx="4728" cy="4535"/>
          </a:xfrm>
        </p:grpSpPr>
        <p:pic>
          <p:nvPicPr>
            <p:cNvPr id="459780" name="Picture 4">
              <a:extLst>
                <a:ext uri="{FF2B5EF4-FFF2-40B4-BE49-F238E27FC236}">
                  <a16:creationId xmlns:a16="http://schemas.microsoft.com/office/drawing/2014/main" id="{537D85DE-A1DB-BE28-7E60-45A0099B8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" y="1100"/>
              <a:ext cx="4577" cy="2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9781" name="Picture 5">
              <a:extLst>
                <a:ext uri="{FF2B5EF4-FFF2-40B4-BE49-F238E27FC236}">
                  <a16:creationId xmlns:a16="http://schemas.microsoft.com/office/drawing/2014/main" id="{EFA19BEE-49FB-232A-1F9D-015C1D03F3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3273"/>
              <a:ext cx="4728" cy="2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59786" name="AutoShape 10">
            <a:extLst>
              <a:ext uri="{FF2B5EF4-FFF2-40B4-BE49-F238E27FC236}">
                <a16:creationId xmlns:a16="http://schemas.microsoft.com/office/drawing/2014/main" id="{2C11D860-731F-7BF9-6F14-5973701D3091}"/>
              </a:ext>
            </a:extLst>
          </p:cNvPr>
          <p:cNvSpPr>
            <a:spLocks/>
          </p:cNvSpPr>
          <p:nvPr/>
        </p:nvSpPr>
        <p:spPr bwMode="auto">
          <a:xfrm>
            <a:off x="4787900" y="1557338"/>
            <a:ext cx="2881313" cy="1152525"/>
          </a:xfrm>
          <a:prstGeom prst="accentCallout2">
            <a:avLst>
              <a:gd name="adj1" fmla="val 9917"/>
              <a:gd name="adj2" fmla="val -2644"/>
              <a:gd name="adj3" fmla="val 9917"/>
              <a:gd name="adj4" fmla="val -29588"/>
              <a:gd name="adj5" fmla="val 146417"/>
              <a:gd name="adj6" fmla="val -5751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>
                <a:cs typeface="Tahoma" panose="020B0604030504040204" pitchFamily="34" charset="0"/>
              </a:rPr>
              <a:t>deposit</a:t>
            </a:r>
            <a:r>
              <a:rPr lang="ko-KR" altLang="en-US">
                <a:cs typeface="Tahoma" panose="020B0604030504040204" pitchFamily="34" charset="0"/>
              </a:rPr>
              <a:t>과 </a:t>
            </a:r>
            <a:r>
              <a:rPr lang="en-US" altLang="ko-KR">
                <a:cs typeface="Tahoma" panose="020B0604030504040204" pitchFamily="34" charset="0"/>
              </a:rPr>
              <a:t>withdraw</a:t>
            </a:r>
            <a:r>
              <a:rPr lang="ko-KR" altLang="en-US">
                <a:cs typeface="Tahoma" panose="020B0604030504040204" pitchFamily="34" charset="0"/>
              </a:rPr>
              <a:t>는 동기화 메소드로 선언되었음</a:t>
            </a:r>
          </a:p>
        </p:txBody>
      </p:sp>
      <p:sp>
        <p:nvSpPr>
          <p:cNvPr id="459787" name="Rectangle 11">
            <a:extLst>
              <a:ext uri="{FF2B5EF4-FFF2-40B4-BE49-F238E27FC236}">
                <a16:creationId xmlns:a16="http://schemas.microsoft.com/office/drawing/2014/main" id="{961B0B2C-918A-C511-7B1D-5FBE1AA31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4062413"/>
            <a:ext cx="1296988" cy="2159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9788" name="Rectangle 12">
            <a:extLst>
              <a:ext uri="{FF2B5EF4-FFF2-40B4-BE49-F238E27FC236}">
                <a16:creationId xmlns:a16="http://schemas.microsoft.com/office/drawing/2014/main" id="{88791369-6477-AD7E-6848-3B19F75BF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241675"/>
            <a:ext cx="1296988" cy="2159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9789" name="AutoShape 13">
            <a:extLst>
              <a:ext uri="{FF2B5EF4-FFF2-40B4-BE49-F238E27FC236}">
                <a16:creationId xmlns:a16="http://schemas.microsoft.com/office/drawing/2014/main" id="{13228F79-7617-3472-0EA8-EEC384B9F1EA}"/>
              </a:ext>
            </a:extLst>
          </p:cNvPr>
          <p:cNvSpPr>
            <a:spLocks/>
          </p:cNvSpPr>
          <p:nvPr/>
        </p:nvSpPr>
        <p:spPr bwMode="auto">
          <a:xfrm>
            <a:off x="4786313" y="1557338"/>
            <a:ext cx="2881312" cy="1152525"/>
          </a:xfrm>
          <a:prstGeom prst="accentCallout2">
            <a:avLst>
              <a:gd name="adj1" fmla="val 9917"/>
              <a:gd name="adj2" fmla="val -2644"/>
              <a:gd name="adj3" fmla="val 9917"/>
              <a:gd name="adj4" fmla="val -29806"/>
              <a:gd name="adj5" fmla="val 218181"/>
              <a:gd name="adj6" fmla="val -5801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>
                <a:cs typeface="Tahoma" panose="020B0604030504040204" pitchFamily="34" charset="0"/>
              </a:rPr>
              <a:t>Account </a:t>
            </a:r>
            <a:r>
              <a:rPr lang="ko-KR" altLang="en-US">
                <a:cs typeface="Tahoma" panose="020B0604030504040204" pitchFamily="34" charset="0"/>
              </a:rPr>
              <a:t>객체의 상태를 바꾸는 </a:t>
            </a:r>
            <a:r>
              <a:rPr lang="en-US" altLang="ko-KR">
                <a:cs typeface="Tahoma" panose="020B0604030504040204" pitchFamily="34" charset="0"/>
              </a:rPr>
              <a:t>deposit</a:t>
            </a:r>
            <a:r>
              <a:rPr lang="ko-KR" altLang="en-US">
                <a:cs typeface="Tahoma" panose="020B0604030504040204" pitchFamily="34" charset="0"/>
              </a:rPr>
              <a:t>과 </a:t>
            </a:r>
            <a:r>
              <a:rPr lang="en-US" altLang="ko-KR">
                <a:cs typeface="Tahoma" panose="020B0604030504040204" pitchFamily="34" charset="0"/>
              </a:rPr>
              <a:t>withdraw</a:t>
            </a:r>
            <a:r>
              <a:rPr lang="ko-KR" altLang="en-US">
                <a:cs typeface="Tahoma" panose="020B0604030504040204" pitchFamily="34" charset="0"/>
              </a:rPr>
              <a:t>는 동기화 메소드로 선언되었음</a:t>
            </a:r>
          </a:p>
        </p:txBody>
      </p:sp>
      <p:sp>
        <p:nvSpPr>
          <p:cNvPr id="459791" name="Text Box 15">
            <a:extLst>
              <a:ext uri="{FF2B5EF4-FFF2-40B4-BE49-F238E27FC236}">
                <a16:creationId xmlns:a16="http://schemas.microsoft.com/office/drawing/2014/main" id="{4BBA73E6-DB36-FF3F-ED4B-FAC2ED565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516563"/>
            <a:ext cx="4895850" cy="1217612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  <a:endParaRPr lang="en-US" altLang="ko-KR" sz="1600">
              <a:solidFill>
                <a:srgbClr val="FF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0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예금 후 잔액 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= 20000</a:t>
            </a:r>
            <a:endParaRPr lang="ko-KR" altLang="en-US" sz="1600">
              <a:solidFill>
                <a:srgbClr val="000000"/>
              </a:solidFill>
              <a:latin typeface="Lucida Console" panose="020B0609040504020204" pitchFamily="49" charset="0"/>
              <a:ea typeface="굴림체" panose="020B0609000101010101" pitchFamily="49" charset="-127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5CAC8DB9-A6E4-C904-2802-44D8A227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17472D63-E17C-7F1F-EB45-FEE7D8AF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4E02-C053-4EC4-888A-48BAE190E70C}" type="slidenum">
              <a:rPr lang="ko-KR" altLang="en-US"/>
              <a:pPr/>
              <a:t>35</a:t>
            </a:fld>
            <a:endParaRPr lang="en-US" altLang="ko-KR"/>
          </a:p>
        </p:txBody>
      </p:sp>
      <p:sp>
        <p:nvSpPr>
          <p:cNvPr id="529410" name="Rectangle 2">
            <a:extLst>
              <a:ext uri="{FF2B5EF4-FFF2-40B4-BE49-F238E27FC236}">
                <a16:creationId xmlns:a16="http://schemas.microsoft.com/office/drawing/2014/main" id="{9CC8F1F5-3939-EDA4-7291-222086AB1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synchronized </a:t>
            </a:r>
            <a:r>
              <a:rPr lang="ko-KR" altLang="en-US"/>
              <a:t>블록</a:t>
            </a:r>
          </a:p>
        </p:txBody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85F7D8B0-D691-650E-50F0-DA3395902D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/>
              <a:t>synchronized </a:t>
            </a:r>
            <a:r>
              <a:rPr lang="ko-KR" altLang="en-US"/>
              <a:t>블록이 필요한 이유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동기화 메소드의 일부분만 실제로 동기화해야 하는 경우에 사용함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동기화 부분을 작게 만들어 병행성을 증가시킴</a:t>
            </a:r>
          </a:p>
          <a:p>
            <a:pPr>
              <a:lnSpc>
                <a:spcPct val="90000"/>
              </a:lnSpc>
            </a:pPr>
            <a:r>
              <a:rPr lang="en-US" altLang="ko-KR"/>
              <a:t>synchronized </a:t>
            </a:r>
            <a:r>
              <a:rPr lang="ko-KR" altLang="en-US"/>
              <a:t>블록 사용 예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00FF"/>
                </a:solidFill>
                <a:ea typeface="굴림체" panose="020B0609000101010101" pitchFamily="49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 deposit(</a:t>
            </a:r>
            <a:r>
              <a:rPr lang="en-US" altLang="ko-KR" sz="1800">
                <a:solidFill>
                  <a:srgbClr val="0000FF"/>
                </a:solidFill>
                <a:ea typeface="굴림체" panose="020B0609000101010101" pitchFamily="49" charset="-127"/>
              </a:rPr>
              <a:t>int</a:t>
            </a: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 amount) {</a:t>
            </a:r>
            <a:endParaRPr lang="en-US" altLang="ko-KR" sz="1800">
              <a:solidFill>
                <a:srgbClr val="0000FF"/>
              </a:solidFill>
              <a:ea typeface="굴림체" panose="020B0609000101010101" pitchFamily="49" charset="-127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00FF"/>
                </a:solidFill>
                <a:ea typeface="굴림체" panose="020B0609000101010101" pitchFamily="49" charset="-127"/>
              </a:rPr>
              <a:t>synchronized </a:t>
            </a: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(</a:t>
            </a:r>
            <a:r>
              <a:rPr lang="en-US" altLang="ko-KR" sz="1800">
                <a:solidFill>
                  <a:srgbClr val="0000FF"/>
                </a:solidFill>
                <a:ea typeface="굴림체" panose="020B0609000101010101" pitchFamily="49" charset="-127"/>
              </a:rPr>
              <a:t>this</a:t>
            </a: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) {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	balance += amount;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String depositMsg = amount + "</a:t>
            </a:r>
            <a:r>
              <a:rPr lang="ko-KR" altLang="en-US" sz="1800">
                <a:solidFill>
                  <a:srgbClr val="000000"/>
                </a:solidFill>
                <a:ea typeface="굴림체" panose="020B0609000101010101" pitchFamily="49" charset="-127"/>
              </a:rPr>
              <a:t>원이 입금되었습니다</a:t>
            </a: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.";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sendMessage(depositMsg);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0000"/>
                </a:solidFill>
                <a:ea typeface="굴림체" panose="020B0609000101010101" pitchFamily="49" charset="-127"/>
              </a:rPr>
              <a:t>}</a:t>
            </a:r>
            <a:endParaRPr lang="ko-KR" altLang="en-US" sz="1800">
              <a:solidFill>
                <a:srgbClr val="000000"/>
              </a:solidFill>
              <a:ea typeface="굴림체" panose="020B0609000101010101" pitchFamily="49" charset="-127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ko-KR" altLang="en-US"/>
          </a:p>
        </p:txBody>
      </p:sp>
      <p:sp>
        <p:nvSpPr>
          <p:cNvPr id="529412" name="Rectangle 4">
            <a:extLst>
              <a:ext uri="{FF2B5EF4-FFF2-40B4-BE49-F238E27FC236}">
                <a16:creationId xmlns:a16="http://schemas.microsoft.com/office/drawing/2014/main" id="{3C4164F5-8CD0-9AE7-D77D-DCA52A31B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960813"/>
            <a:ext cx="2736850" cy="936625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9413" name="AutoShape 5">
            <a:extLst>
              <a:ext uri="{FF2B5EF4-FFF2-40B4-BE49-F238E27FC236}">
                <a16:creationId xmlns:a16="http://schemas.microsoft.com/office/drawing/2014/main" id="{FD28C9D3-F3CF-ADD6-A318-3CE9030DE66C}"/>
              </a:ext>
            </a:extLst>
          </p:cNvPr>
          <p:cNvSpPr>
            <a:spLocks/>
          </p:cNvSpPr>
          <p:nvPr/>
        </p:nvSpPr>
        <p:spPr bwMode="auto">
          <a:xfrm>
            <a:off x="5076825" y="3860800"/>
            <a:ext cx="2881313" cy="936625"/>
          </a:xfrm>
          <a:prstGeom prst="accentCallout2">
            <a:avLst>
              <a:gd name="adj1" fmla="val 12204"/>
              <a:gd name="adj2" fmla="val -2644"/>
              <a:gd name="adj3" fmla="val 12204"/>
              <a:gd name="adj4" fmla="val -17301"/>
              <a:gd name="adj5" fmla="val 41019"/>
              <a:gd name="adj6" fmla="val -3239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>
                <a:cs typeface="Tahoma" panose="020B0604030504040204" pitchFamily="34" charset="0"/>
              </a:rPr>
              <a:t>balance</a:t>
            </a:r>
            <a:r>
              <a:rPr lang="ko-KR" altLang="en-US">
                <a:cs typeface="Tahoma" panose="020B0604030504040204" pitchFamily="34" charset="0"/>
              </a:rPr>
              <a:t>를 변경하는 부분만 동기화하면 되므로 동기화 블록을 사용하였음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3534F283-D4CA-F67D-33CC-749BA171AD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12.5 </a:t>
            </a:r>
            <a:r>
              <a:rPr lang="ko-KR" altLang="en-US"/>
              <a:t>생산자와 소비자</a:t>
            </a:r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9FF8A17C-058D-D4BF-D376-F42082DCBB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6E1EEAE-84F0-F118-07AB-57D2797D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74981CB-545D-5E8D-C520-9CEB7C72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F0B7A-FE1A-4D06-95DE-65ACC3887C2F}" type="slidenum">
              <a:rPr lang="ko-KR" altLang="en-US"/>
              <a:pPr/>
              <a:t>37</a:t>
            </a:fld>
            <a:endParaRPr lang="en-US" altLang="ko-KR"/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7201552B-CE66-7E15-6F05-63A580B31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생산자와 소비자 문제</a:t>
            </a:r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0A6772A3-5D06-8D37-C25D-E413BC9E8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계좌 문제</a:t>
            </a:r>
          </a:p>
          <a:p>
            <a:pPr lvl="1"/>
            <a:r>
              <a:rPr lang="ko-KR" altLang="en-US"/>
              <a:t>계좌 처리에 대한 일관성만 유지하면 됨</a:t>
            </a:r>
          </a:p>
          <a:p>
            <a:pPr lvl="1"/>
            <a:r>
              <a:rPr lang="ko-KR" altLang="en-US"/>
              <a:t>입금 </a:t>
            </a:r>
            <a:r>
              <a:rPr lang="en-US" altLang="ko-KR"/>
              <a:t>A</a:t>
            </a:r>
            <a:r>
              <a:rPr lang="ko-KR" altLang="en-US"/>
              <a:t>와 입금 </a:t>
            </a:r>
            <a:r>
              <a:rPr lang="en-US" altLang="ko-KR"/>
              <a:t>B</a:t>
            </a:r>
            <a:r>
              <a:rPr lang="ko-KR" altLang="en-US"/>
              <a:t>가 반드시 특정</a:t>
            </a:r>
            <a:r>
              <a:rPr lang="en-US" altLang="ko-KR"/>
              <a:t> </a:t>
            </a:r>
            <a:r>
              <a:rPr lang="ko-KR" altLang="en-US"/>
              <a:t>순서</a:t>
            </a:r>
            <a:r>
              <a:rPr lang="en-US" altLang="ko-KR"/>
              <a:t>(A, B</a:t>
            </a:r>
            <a:r>
              <a:rPr lang="ko-KR" altLang="en-US"/>
              <a:t>나 </a:t>
            </a:r>
            <a:r>
              <a:rPr lang="en-US" altLang="ko-KR"/>
              <a:t>B, A)</a:t>
            </a:r>
            <a:r>
              <a:rPr lang="ko-KR" altLang="en-US"/>
              <a:t>로 일어날 필요는 없고 두 입금이 다 반영되기만 하면 됨</a:t>
            </a:r>
          </a:p>
          <a:p>
            <a:r>
              <a:rPr lang="ko-KR" altLang="en-US"/>
              <a:t>생산자와 소비자 문제</a:t>
            </a:r>
          </a:p>
          <a:p>
            <a:pPr lvl="1"/>
            <a:r>
              <a:rPr lang="ko-KR" altLang="en-US"/>
              <a:t>공통된 데이터에 대해 작용한다는 것은 계좌 문제와 동일함</a:t>
            </a:r>
          </a:p>
          <a:p>
            <a:pPr lvl="1"/>
            <a:r>
              <a:rPr lang="ko-KR" altLang="en-US"/>
              <a:t>그러나 특정 순서</a:t>
            </a:r>
            <a:r>
              <a:rPr lang="en-US" altLang="ko-KR"/>
              <a:t>(</a:t>
            </a:r>
            <a:r>
              <a:rPr lang="ko-KR" altLang="en-US"/>
              <a:t>생산 후 소비</a:t>
            </a:r>
            <a:r>
              <a:rPr lang="en-US" altLang="ko-KR"/>
              <a:t>)</a:t>
            </a:r>
            <a:r>
              <a:rPr lang="ko-KR" altLang="en-US"/>
              <a:t>로 데이터가 처리되어야 함</a:t>
            </a:r>
          </a:p>
          <a:p>
            <a:pPr lvl="1"/>
            <a:r>
              <a:rPr lang="ko-KR" altLang="en-US"/>
              <a:t>빵집 예를 통해 생산자</a:t>
            </a:r>
            <a:r>
              <a:rPr lang="en-US" altLang="ko-KR"/>
              <a:t>, </a:t>
            </a:r>
            <a:r>
              <a:rPr lang="ko-KR" altLang="en-US"/>
              <a:t>소비자 프로그램을 알아보자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1703F1C-63D9-A6B1-BF8C-3B729344D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C368AE0E-F395-CC20-8132-40FB6CDF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70FB-F0AB-461D-AD05-664666CA6A9E}" type="slidenum">
              <a:rPr lang="ko-KR" altLang="en-US"/>
              <a:pPr/>
              <a:t>38</a:t>
            </a:fld>
            <a:endParaRPr lang="en-US" altLang="ko-KR"/>
          </a:p>
        </p:txBody>
      </p:sp>
      <p:sp>
        <p:nvSpPr>
          <p:cNvPr id="541698" name="Rectangle 2">
            <a:extLst>
              <a:ext uri="{FF2B5EF4-FFF2-40B4-BE49-F238E27FC236}">
                <a16:creationId xmlns:a16="http://schemas.microsoft.com/office/drawing/2014/main" id="{D021F242-1038-AA2C-4B44-C31D7E020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생산자와 소비자 예</a:t>
            </a:r>
            <a:r>
              <a:rPr lang="en-US" altLang="ko-KR"/>
              <a:t>: </a:t>
            </a:r>
            <a:r>
              <a:rPr lang="ko-KR" altLang="en-US"/>
              <a:t>빵집</a:t>
            </a:r>
          </a:p>
        </p:txBody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D41A36FF-9A9D-D1E1-F616-9A63604DD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빵 생산 과정</a:t>
            </a:r>
          </a:p>
          <a:p>
            <a:pPr lvl="1"/>
            <a:r>
              <a:rPr lang="en-US" altLang="ko-KR"/>
              <a:t>Producer </a:t>
            </a:r>
            <a:r>
              <a:rPr lang="ko-KR" altLang="en-US"/>
              <a:t>객체가 크림을 생산하여 버퍼에 넣음</a:t>
            </a:r>
          </a:p>
          <a:p>
            <a:pPr lvl="1"/>
            <a:r>
              <a:rPr lang="en-US" altLang="ko-KR"/>
              <a:t>Consumer </a:t>
            </a:r>
            <a:r>
              <a:rPr lang="ko-KR" altLang="en-US"/>
              <a:t>객체는 크림을 소비하고 해당 빵을 생산함</a:t>
            </a:r>
          </a:p>
          <a:p>
            <a:pPr lvl="1"/>
            <a:r>
              <a:rPr lang="ko-KR" altLang="en-US"/>
              <a:t>두 객체는 크림 버퍼를 공유함</a:t>
            </a:r>
          </a:p>
        </p:txBody>
      </p:sp>
      <p:sp>
        <p:nvSpPr>
          <p:cNvPr id="541700" name="Rectangle 4">
            <a:extLst>
              <a:ext uri="{FF2B5EF4-FFF2-40B4-BE49-F238E27FC236}">
                <a16:creationId xmlns:a16="http://schemas.microsoft.com/office/drawing/2014/main" id="{10C42578-4CD6-0C72-8286-F68A36128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0" y="4292600"/>
            <a:ext cx="431800" cy="72072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41701" name="Rectangle 5">
            <a:extLst>
              <a:ext uri="{FF2B5EF4-FFF2-40B4-BE49-F238E27FC236}">
                <a16:creationId xmlns:a16="http://schemas.microsoft.com/office/drawing/2014/main" id="{9E4CB6BA-7AD3-CB28-7948-74FBFA9F6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4292600"/>
            <a:ext cx="431800" cy="72072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41702" name="Rectangle 6">
            <a:extLst>
              <a:ext uri="{FF2B5EF4-FFF2-40B4-BE49-F238E27FC236}">
                <a16:creationId xmlns:a16="http://schemas.microsoft.com/office/drawing/2014/main" id="{2795E16F-DFAC-FE7A-14AE-E7E483ABC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4292600"/>
            <a:ext cx="431800" cy="72072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41703" name="Line 7">
            <a:extLst>
              <a:ext uri="{FF2B5EF4-FFF2-40B4-BE49-F238E27FC236}">
                <a16:creationId xmlns:a16="http://schemas.microsoft.com/office/drawing/2014/main" id="{A47A46D6-FB60-2068-1998-F06A7EA25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8550" y="4292600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/>
          </a:p>
        </p:txBody>
      </p:sp>
      <p:sp>
        <p:nvSpPr>
          <p:cNvPr id="541704" name="Line 8">
            <a:extLst>
              <a:ext uri="{FF2B5EF4-FFF2-40B4-BE49-F238E27FC236}">
                <a16:creationId xmlns:a16="http://schemas.microsoft.com/office/drawing/2014/main" id="{85EF9B03-D089-D6E9-A848-BA9691FB7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8550" y="5013325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/>
          </a:p>
        </p:txBody>
      </p:sp>
      <p:sp>
        <p:nvSpPr>
          <p:cNvPr id="541705" name="Rectangle 9">
            <a:extLst>
              <a:ext uri="{FF2B5EF4-FFF2-40B4-BE49-F238E27FC236}">
                <a16:creationId xmlns:a16="http://schemas.microsoft.com/office/drawing/2014/main" id="{05024D44-C9E2-AF19-AC68-21973A053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33825"/>
            <a:ext cx="1295400" cy="1366838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>
                <a:cs typeface="Tahoma" panose="020B0604030504040204" pitchFamily="34" charset="0"/>
              </a:rPr>
              <a:t>Producer</a:t>
            </a:r>
          </a:p>
          <a:p>
            <a:pPr algn="ctr"/>
            <a:r>
              <a:rPr lang="ko-KR" altLang="en-US">
                <a:cs typeface="Tahoma" panose="020B0604030504040204" pitchFamily="34" charset="0"/>
              </a:rPr>
              <a:t>객체</a:t>
            </a:r>
          </a:p>
        </p:txBody>
      </p:sp>
      <p:sp>
        <p:nvSpPr>
          <p:cNvPr id="541706" name="AutoShape 10">
            <a:extLst>
              <a:ext uri="{FF2B5EF4-FFF2-40B4-BE49-F238E27FC236}">
                <a16:creationId xmlns:a16="http://schemas.microsoft.com/office/drawing/2014/main" id="{6841569C-1647-19D5-3F5A-4FCE681A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584325" cy="1008063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>
                <a:cs typeface="Tahoma" panose="020B0604030504040204" pitchFamily="34" charset="0"/>
              </a:rPr>
              <a:t>크림생산</a:t>
            </a:r>
          </a:p>
        </p:txBody>
      </p:sp>
      <p:sp>
        <p:nvSpPr>
          <p:cNvPr id="541707" name="AutoShape 11">
            <a:extLst>
              <a:ext uri="{FF2B5EF4-FFF2-40B4-BE49-F238E27FC236}">
                <a16:creationId xmlns:a16="http://schemas.microsoft.com/office/drawing/2014/main" id="{7B5CF737-8EEF-4529-B1ED-F7811404E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149725"/>
            <a:ext cx="1584325" cy="1008063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>
                <a:cs typeface="Tahoma" panose="020B0604030504040204" pitchFamily="34" charset="0"/>
              </a:rPr>
              <a:t>크림소비</a:t>
            </a:r>
          </a:p>
        </p:txBody>
      </p:sp>
      <p:sp>
        <p:nvSpPr>
          <p:cNvPr id="541708" name="Rectangle 12">
            <a:extLst>
              <a:ext uri="{FF2B5EF4-FFF2-40B4-BE49-F238E27FC236}">
                <a16:creationId xmlns:a16="http://schemas.microsoft.com/office/drawing/2014/main" id="{BEA69606-0EE5-4CCA-8FF1-8943B3322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3933825"/>
            <a:ext cx="1295400" cy="1366838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>
                <a:cs typeface="Tahoma" panose="020B0604030504040204" pitchFamily="34" charset="0"/>
              </a:rPr>
              <a:t>Consumer</a:t>
            </a:r>
          </a:p>
          <a:p>
            <a:pPr algn="ctr"/>
            <a:r>
              <a:rPr lang="ko-KR" altLang="en-US">
                <a:cs typeface="Tahoma" panose="020B0604030504040204" pitchFamily="34" charset="0"/>
              </a:rPr>
              <a:t>객체</a:t>
            </a:r>
          </a:p>
          <a:p>
            <a:pPr algn="ctr"/>
            <a:r>
              <a:rPr lang="en-US" altLang="ko-KR">
                <a:cs typeface="Tahoma" panose="020B0604030504040204" pitchFamily="34" charset="0"/>
              </a:rPr>
              <a:t>(</a:t>
            </a:r>
            <a:r>
              <a:rPr lang="ko-KR" altLang="en-US">
                <a:cs typeface="Tahoma" panose="020B0604030504040204" pitchFamily="34" charset="0"/>
              </a:rPr>
              <a:t>빵 생산</a:t>
            </a:r>
            <a:r>
              <a:rPr lang="en-US" altLang="ko-KR">
                <a:cs typeface="Tahoma" panose="020B0604030504040204" pitchFamily="34" charset="0"/>
              </a:rPr>
              <a:t>)</a:t>
            </a:r>
          </a:p>
        </p:txBody>
      </p:sp>
      <p:sp>
        <p:nvSpPr>
          <p:cNvPr id="541709" name="Text Box 13">
            <a:extLst>
              <a:ext uri="{FF2B5EF4-FFF2-40B4-BE49-F238E27FC236}">
                <a16:creationId xmlns:a16="http://schemas.microsoft.com/office/drawing/2014/main" id="{BA5FB8E5-F7CB-7117-DEDE-23A141D6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573463"/>
            <a:ext cx="1174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ko-KR" altLang="en-US">
                <a:cs typeface="Tahoma" panose="020B0604030504040204" pitchFamily="34" charset="0"/>
              </a:rPr>
              <a:t>공유된 </a:t>
            </a:r>
          </a:p>
          <a:p>
            <a:pPr algn="ctr"/>
            <a:r>
              <a:rPr lang="ko-KR" altLang="en-US">
                <a:cs typeface="Tahoma" panose="020B0604030504040204" pitchFamily="34" charset="0"/>
              </a:rPr>
              <a:t>크림 버퍼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D567894-89F7-0B54-0CBB-0887DBB0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3402A4E6-C181-79BA-078A-25B52534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E7AA-1AA6-4BD3-A008-47D9565AD513}" type="slidenum">
              <a:rPr lang="ko-KR" altLang="en-US"/>
              <a:pPr/>
              <a:t>39</a:t>
            </a:fld>
            <a:endParaRPr lang="en-US" altLang="ko-KR"/>
          </a:p>
        </p:txBody>
      </p:sp>
      <p:sp>
        <p:nvSpPr>
          <p:cNvPr id="439298" name="Rectangle 2">
            <a:extLst>
              <a:ext uri="{FF2B5EF4-FFF2-40B4-BE49-F238E27FC236}">
                <a16:creationId xmlns:a16="http://schemas.microsoft.com/office/drawing/2014/main" id="{0F4976EF-656C-7EC5-A436-96FC2EB4E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56325" y="277813"/>
            <a:ext cx="2530475" cy="1139825"/>
          </a:xfrm>
        </p:spPr>
        <p:txBody>
          <a:bodyPr/>
          <a:lstStyle/>
          <a:p>
            <a:pPr algn="r"/>
            <a:r>
              <a:rPr lang="en-US" altLang="ko-KR" sz="4000"/>
              <a:t>12.11 Bakery</a:t>
            </a:r>
          </a:p>
        </p:txBody>
      </p:sp>
      <p:pic>
        <p:nvPicPr>
          <p:cNvPr id="439301" name="Picture 5">
            <a:extLst>
              <a:ext uri="{FF2B5EF4-FFF2-40B4-BE49-F238E27FC236}">
                <a16:creationId xmlns:a16="http://schemas.microsoft.com/office/drawing/2014/main" id="{029082C5-AA17-0BFB-1B97-263260C7162D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217488"/>
            <a:ext cx="5649912" cy="6640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39302" name="Rectangle 6">
            <a:extLst>
              <a:ext uri="{FF2B5EF4-FFF2-40B4-BE49-F238E27FC236}">
                <a16:creationId xmlns:a16="http://schemas.microsoft.com/office/drawing/2014/main" id="{95E70273-CE33-E9C2-6D7B-5102281E3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761038"/>
            <a:ext cx="3744912" cy="69215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9303" name="AutoShape 7">
            <a:extLst>
              <a:ext uri="{FF2B5EF4-FFF2-40B4-BE49-F238E27FC236}">
                <a16:creationId xmlns:a16="http://schemas.microsoft.com/office/drawing/2014/main" id="{219DDB25-A051-31C6-202B-2FCC226E4427}"/>
              </a:ext>
            </a:extLst>
          </p:cNvPr>
          <p:cNvSpPr>
            <a:spLocks/>
          </p:cNvSpPr>
          <p:nvPr/>
        </p:nvSpPr>
        <p:spPr bwMode="auto">
          <a:xfrm>
            <a:off x="5724525" y="4868863"/>
            <a:ext cx="2881313" cy="1152525"/>
          </a:xfrm>
          <a:prstGeom prst="accentCallout2">
            <a:avLst>
              <a:gd name="adj1" fmla="val 9917"/>
              <a:gd name="adj2" fmla="val -2644"/>
              <a:gd name="adj3" fmla="val 9917"/>
              <a:gd name="adj4" fmla="val -16694"/>
              <a:gd name="adj5" fmla="val 76444"/>
              <a:gd name="adj6" fmla="val -31185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버퍼를 하나 만들고 이를 공유하도록 생산자와 소비자 스레드를 만든 후 각각 시작시킴</a:t>
            </a:r>
          </a:p>
        </p:txBody>
      </p:sp>
      <p:sp>
        <p:nvSpPr>
          <p:cNvPr id="439304" name="Rectangle 8">
            <a:extLst>
              <a:ext uri="{FF2B5EF4-FFF2-40B4-BE49-F238E27FC236}">
                <a16:creationId xmlns:a16="http://schemas.microsoft.com/office/drawing/2014/main" id="{A69F5F15-8DAC-B0D4-501B-96AE92D53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429000"/>
            <a:ext cx="3600450" cy="194468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9305" name="AutoShape 9">
            <a:extLst>
              <a:ext uri="{FF2B5EF4-FFF2-40B4-BE49-F238E27FC236}">
                <a16:creationId xmlns:a16="http://schemas.microsoft.com/office/drawing/2014/main" id="{19FF35F6-1E49-FBB4-4C4F-80D02E467ED6}"/>
              </a:ext>
            </a:extLst>
          </p:cNvPr>
          <p:cNvSpPr>
            <a:spLocks/>
          </p:cNvSpPr>
          <p:nvPr/>
        </p:nvSpPr>
        <p:spPr bwMode="auto">
          <a:xfrm>
            <a:off x="5724525" y="3429000"/>
            <a:ext cx="2881313" cy="647700"/>
          </a:xfrm>
          <a:prstGeom prst="accentCallout2">
            <a:avLst>
              <a:gd name="adj1" fmla="val 17648"/>
              <a:gd name="adj2" fmla="val -2644"/>
              <a:gd name="adj3" fmla="val 17648"/>
              <a:gd name="adj4" fmla="val -19722"/>
              <a:gd name="adj5" fmla="val 132352"/>
              <a:gd name="adj6" fmla="val -3730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크림 객체를 생성하는 메소드</a:t>
            </a:r>
          </a:p>
        </p:txBody>
      </p:sp>
      <p:sp>
        <p:nvSpPr>
          <p:cNvPr id="439306" name="Rectangle 10">
            <a:extLst>
              <a:ext uri="{FF2B5EF4-FFF2-40B4-BE49-F238E27FC236}">
                <a16:creationId xmlns:a16="http://schemas.microsoft.com/office/drawing/2014/main" id="{C99AB353-C52B-D45D-6F83-0E3B12718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268413"/>
            <a:ext cx="3600450" cy="216058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9307" name="AutoShape 11">
            <a:extLst>
              <a:ext uri="{FF2B5EF4-FFF2-40B4-BE49-F238E27FC236}">
                <a16:creationId xmlns:a16="http://schemas.microsoft.com/office/drawing/2014/main" id="{2FC4CDF1-616D-B621-F41E-EC33EB4B7E97}"/>
              </a:ext>
            </a:extLst>
          </p:cNvPr>
          <p:cNvSpPr>
            <a:spLocks/>
          </p:cNvSpPr>
          <p:nvPr/>
        </p:nvSpPr>
        <p:spPr bwMode="auto">
          <a:xfrm>
            <a:off x="5724525" y="1844675"/>
            <a:ext cx="2881313" cy="647700"/>
          </a:xfrm>
          <a:prstGeom prst="accentCallout2">
            <a:avLst>
              <a:gd name="adj1" fmla="val 17648"/>
              <a:gd name="adj2" fmla="val -2644"/>
              <a:gd name="adj3" fmla="val 17648"/>
              <a:gd name="adj4" fmla="val -19722"/>
              <a:gd name="adj5" fmla="val 76718"/>
              <a:gd name="adj6" fmla="val -3730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크림 객체를 출력하는 메소드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9BD7DC8-C1DD-C96F-0321-65BA1164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1328F7FF-8526-A8B4-2D7B-FEA40BD2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5C3F-2803-4F1A-842A-B73B28E3ED5D}" type="slidenum">
              <a:rPr lang="ko-KR" altLang="en-US"/>
              <a:pPr/>
              <a:t>40</a:t>
            </a:fld>
            <a:endParaRPr lang="en-US" altLang="ko-KR"/>
          </a:p>
        </p:txBody>
      </p:sp>
      <p:sp>
        <p:nvSpPr>
          <p:cNvPr id="461826" name="Rectangle 2">
            <a:extLst>
              <a:ext uri="{FF2B5EF4-FFF2-40B4-BE49-F238E27FC236}">
                <a16:creationId xmlns:a16="http://schemas.microsoft.com/office/drawing/2014/main" id="{1F18FB72-9B0F-6F32-3C0D-83B8AE6A5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12.11 Buffer</a:t>
            </a: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id="{1461FB4D-BE93-2B89-3497-808C43630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61832" name="Group 8">
            <a:extLst>
              <a:ext uri="{FF2B5EF4-FFF2-40B4-BE49-F238E27FC236}">
                <a16:creationId xmlns:a16="http://schemas.microsoft.com/office/drawing/2014/main" id="{33517EBD-24D4-D081-BE5E-A99FF9AA644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628775"/>
            <a:ext cx="6119812" cy="4032250"/>
            <a:chOff x="-189" y="338"/>
            <a:chExt cx="6138" cy="3838"/>
          </a:xfrm>
        </p:grpSpPr>
        <p:pic>
          <p:nvPicPr>
            <p:cNvPr id="461828" name="Picture 4">
              <a:extLst>
                <a:ext uri="{FF2B5EF4-FFF2-40B4-BE49-F238E27FC236}">
                  <a16:creationId xmlns:a16="http://schemas.microsoft.com/office/drawing/2014/main" id="{B885EE04-F9D3-E614-B26F-669D22978B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9" y="338"/>
              <a:ext cx="6138" cy="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1830" name="Picture 6">
              <a:extLst>
                <a:ext uri="{FF2B5EF4-FFF2-40B4-BE49-F238E27FC236}">
                  <a16:creationId xmlns:a16="http://schemas.microsoft.com/office/drawing/2014/main" id="{5020257D-A613-AD13-F624-8F6A24253D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6" y="3974"/>
              <a:ext cx="60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61835" name="Rectangle 11">
            <a:extLst>
              <a:ext uri="{FF2B5EF4-FFF2-40B4-BE49-F238E27FC236}">
                <a16:creationId xmlns:a16="http://schemas.microsoft.com/office/drawing/2014/main" id="{51F4D206-A776-5C93-AA42-7C4F0A59B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141663"/>
            <a:ext cx="5545137" cy="115093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1836" name="AutoShape 12">
            <a:extLst>
              <a:ext uri="{FF2B5EF4-FFF2-40B4-BE49-F238E27FC236}">
                <a16:creationId xmlns:a16="http://schemas.microsoft.com/office/drawing/2014/main" id="{43C1BF8D-2928-219F-E069-2FBC6CBB7E89}"/>
              </a:ext>
            </a:extLst>
          </p:cNvPr>
          <p:cNvSpPr>
            <a:spLocks/>
          </p:cNvSpPr>
          <p:nvPr/>
        </p:nvSpPr>
        <p:spPr bwMode="auto">
          <a:xfrm>
            <a:off x="6877050" y="2708275"/>
            <a:ext cx="1801813" cy="647700"/>
          </a:xfrm>
          <a:prstGeom prst="accentCallout2">
            <a:avLst>
              <a:gd name="adj1" fmla="val 17648"/>
              <a:gd name="adj2" fmla="val -4227"/>
              <a:gd name="adj3" fmla="val 17648"/>
              <a:gd name="adj4" fmla="val -25991"/>
              <a:gd name="adj5" fmla="val 65931"/>
              <a:gd name="adj6" fmla="val -4837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버퍼에 크림을 넣는 메소드</a:t>
            </a:r>
          </a:p>
        </p:txBody>
      </p:sp>
      <p:sp>
        <p:nvSpPr>
          <p:cNvPr id="461837" name="Rectangle 13">
            <a:extLst>
              <a:ext uri="{FF2B5EF4-FFF2-40B4-BE49-F238E27FC236}">
                <a16:creationId xmlns:a16="http://schemas.microsoft.com/office/drawing/2014/main" id="{1DDD8319-41D3-335A-29C4-25714970A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060575"/>
            <a:ext cx="3600450" cy="2159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1838" name="AutoShape 14">
            <a:extLst>
              <a:ext uri="{FF2B5EF4-FFF2-40B4-BE49-F238E27FC236}">
                <a16:creationId xmlns:a16="http://schemas.microsoft.com/office/drawing/2014/main" id="{09017A5A-D92E-E872-C773-7F25F8ADF55C}"/>
              </a:ext>
            </a:extLst>
          </p:cNvPr>
          <p:cNvSpPr>
            <a:spLocks/>
          </p:cNvSpPr>
          <p:nvPr/>
        </p:nvSpPr>
        <p:spPr bwMode="auto">
          <a:xfrm>
            <a:off x="5724525" y="1844675"/>
            <a:ext cx="2881313" cy="647700"/>
          </a:xfrm>
          <a:prstGeom prst="accentCallout2">
            <a:avLst>
              <a:gd name="adj1" fmla="val 17648"/>
              <a:gd name="adj2" fmla="val -2644"/>
              <a:gd name="adj3" fmla="val 17648"/>
              <a:gd name="adj4" fmla="val -19722"/>
              <a:gd name="adj5" fmla="val 44852"/>
              <a:gd name="adj6" fmla="val -3730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버퍼의 크림 변수는 한 개이므로 버퍼의 크기는 </a:t>
            </a:r>
            <a:r>
              <a:rPr lang="en-US" altLang="ko-KR">
                <a:cs typeface="Tahoma" panose="020B0604030504040204" pitchFamily="34" charset="0"/>
              </a:rPr>
              <a:t>1</a:t>
            </a:r>
            <a:r>
              <a:rPr lang="ko-KR" altLang="en-US">
                <a:cs typeface="Tahoma" panose="020B0604030504040204" pitchFamily="34" charset="0"/>
              </a:rPr>
              <a:t>임</a:t>
            </a:r>
          </a:p>
        </p:txBody>
      </p:sp>
      <p:sp>
        <p:nvSpPr>
          <p:cNvPr id="461839" name="Rectangle 15">
            <a:extLst>
              <a:ext uri="{FF2B5EF4-FFF2-40B4-BE49-F238E27FC236}">
                <a16:creationId xmlns:a16="http://schemas.microsoft.com/office/drawing/2014/main" id="{90711547-374C-0220-0F2D-BF4677098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292600"/>
            <a:ext cx="5545137" cy="1152525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1840" name="AutoShape 16">
            <a:extLst>
              <a:ext uri="{FF2B5EF4-FFF2-40B4-BE49-F238E27FC236}">
                <a16:creationId xmlns:a16="http://schemas.microsoft.com/office/drawing/2014/main" id="{BD18654B-E495-329E-F1A9-FC8B312C2B3C}"/>
              </a:ext>
            </a:extLst>
          </p:cNvPr>
          <p:cNvSpPr>
            <a:spLocks/>
          </p:cNvSpPr>
          <p:nvPr/>
        </p:nvSpPr>
        <p:spPr bwMode="auto">
          <a:xfrm>
            <a:off x="6877050" y="5618163"/>
            <a:ext cx="1801813" cy="647700"/>
          </a:xfrm>
          <a:prstGeom prst="accentCallout2">
            <a:avLst>
              <a:gd name="adj1" fmla="val 17648"/>
              <a:gd name="adj2" fmla="val -4227"/>
              <a:gd name="adj3" fmla="val 17648"/>
              <a:gd name="adj4" fmla="val -25991"/>
              <a:gd name="adj5" fmla="val -25981"/>
              <a:gd name="adj6" fmla="val -4837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버퍼에서 크림을 빼는 메소드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A95C30C-F69B-AC39-CF6D-D0B1D2E6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A70C7065-40B1-F07D-608F-AE0A991B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1AD6-78CA-4E3C-874B-551ACC28E025}" type="slidenum">
              <a:rPr lang="ko-KR" altLang="en-US"/>
              <a:pPr/>
              <a:t>41</a:t>
            </a:fld>
            <a:endParaRPr lang="en-US" altLang="ko-KR"/>
          </a:p>
        </p:txBody>
      </p:sp>
      <p:sp>
        <p:nvSpPr>
          <p:cNvPr id="463874" name="Rectangle 2">
            <a:extLst>
              <a:ext uri="{FF2B5EF4-FFF2-40B4-BE49-F238E27FC236}">
                <a16:creationId xmlns:a16="http://schemas.microsoft.com/office/drawing/2014/main" id="{4D680248-DAB0-9D07-80CE-96051C2D5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12.11 Producer</a:t>
            </a:r>
          </a:p>
        </p:txBody>
      </p:sp>
      <p:pic>
        <p:nvPicPr>
          <p:cNvPr id="463876" name="Picture 4">
            <a:extLst>
              <a:ext uri="{FF2B5EF4-FFF2-40B4-BE49-F238E27FC236}">
                <a16:creationId xmlns:a16="http://schemas.microsoft.com/office/drawing/2014/main" id="{B3ECFB9C-2C49-88A6-8569-3B923BCE90E7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4851400" cy="3857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63877" name="Rectangle 5">
            <a:extLst>
              <a:ext uri="{FF2B5EF4-FFF2-40B4-BE49-F238E27FC236}">
                <a16:creationId xmlns:a16="http://schemas.microsoft.com/office/drawing/2014/main" id="{F4C69638-EC03-F7DD-6803-FC608CA5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365625"/>
            <a:ext cx="3384550" cy="71913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3878" name="AutoShape 6">
            <a:extLst>
              <a:ext uri="{FF2B5EF4-FFF2-40B4-BE49-F238E27FC236}">
                <a16:creationId xmlns:a16="http://schemas.microsoft.com/office/drawing/2014/main" id="{BA0A5861-9D61-D271-1974-DBBB8272E4B4}"/>
              </a:ext>
            </a:extLst>
          </p:cNvPr>
          <p:cNvSpPr>
            <a:spLocks/>
          </p:cNvSpPr>
          <p:nvPr/>
        </p:nvSpPr>
        <p:spPr bwMode="auto">
          <a:xfrm>
            <a:off x="5724525" y="4149725"/>
            <a:ext cx="2881313" cy="863600"/>
          </a:xfrm>
          <a:prstGeom prst="accentCallout2">
            <a:avLst>
              <a:gd name="adj1" fmla="val 13236"/>
              <a:gd name="adj2" fmla="val -2644"/>
              <a:gd name="adj3" fmla="val 13236"/>
              <a:gd name="adj4" fmla="val -19722"/>
              <a:gd name="adj5" fmla="val 33639"/>
              <a:gd name="adj6" fmla="val -3730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정해진 수</a:t>
            </a:r>
            <a:r>
              <a:rPr lang="en-US" altLang="ko-KR">
                <a:cs typeface="Tahoma" panose="020B0604030504040204" pitchFamily="34" charset="0"/>
              </a:rPr>
              <a:t>(Bakery.NUM)</a:t>
            </a:r>
            <a:r>
              <a:rPr lang="ko-KR" altLang="en-US">
                <a:cs typeface="Tahoma" panose="020B0604030504040204" pitchFamily="34" charset="0"/>
              </a:rPr>
              <a:t>만큼 크림을 생산하여 버퍼에 넣음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E7EC865-EA7E-3752-F482-51A1692E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B1C66176-41E1-D135-A585-F666B807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FD43-CC95-4D0C-BF75-6BE187EE9923}" type="slidenum">
              <a:rPr lang="ko-KR" altLang="en-US"/>
              <a:pPr/>
              <a:t>42</a:t>
            </a:fld>
            <a:endParaRPr lang="en-US" altLang="ko-KR"/>
          </a:p>
        </p:txBody>
      </p:sp>
      <p:sp>
        <p:nvSpPr>
          <p:cNvPr id="465922" name="Rectangle 2">
            <a:extLst>
              <a:ext uri="{FF2B5EF4-FFF2-40B4-BE49-F238E27FC236}">
                <a16:creationId xmlns:a16="http://schemas.microsoft.com/office/drawing/2014/main" id="{5027C01E-B492-6B11-9641-4F8057731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12.11 Consumer</a:t>
            </a:r>
          </a:p>
        </p:txBody>
      </p:sp>
      <p:pic>
        <p:nvPicPr>
          <p:cNvPr id="465924" name="Picture 4">
            <a:extLst>
              <a:ext uri="{FF2B5EF4-FFF2-40B4-BE49-F238E27FC236}">
                <a16:creationId xmlns:a16="http://schemas.microsoft.com/office/drawing/2014/main" id="{F6F1FCD6-AB4A-35FE-F55E-E7ED9C61564E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557338"/>
            <a:ext cx="7104063" cy="3905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65925" name="Rectangle 5">
            <a:extLst>
              <a:ext uri="{FF2B5EF4-FFF2-40B4-BE49-F238E27FC236}">
                <a16:creationId xmlns:a16="http://schemas.microsoft.com/office/drawing/2014/main" id="{2A50A476-E0F6-07D3-D840-E35C3AA7D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365625"/>
            <a:ext cx="6265862" cy="71913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5926" name="AutoShape 6">
            <a:extLst>
              <a:ext uri="{FF2B5EF4-FFF2-40B4-BE49-F238E27FC236}">
                <a16:creationId xmlns:a16="http://schemas.microsoft.com/office/drawing/2014/main" id="{55174BB0-BDF5-0A75-EEAF-4B8A58203880}"/>
              </a:ext>
            </a:extLst>
          </p:cNvPr>
          <p:cNvSpPr>
            <a:spLocks/>
          </p:cNvSpPr>
          <p:nvPr/>
        </p:nvSpPr>
        <p:spPr bwMode="auto">
          <a:xfrm>
            <a:off x="5724525" y="3213100"/>
            <a:ext cx="2881313" cy="863600"/>
          </a:xfrm>
          <a:prstGeom prst="accentCallout2">
            <a:avLst>
              <a:gd name="adj1" fmla="val 13236"/>
              <a:gd name="adj2" fmla="val -2644"/>
              <a:gd name="adj3" fmla="val 13236"/>
              <a:gd name="adj4" fmla="val -19722"/>
              <a:gd name="adj5" fmla="val 133454"/>
              <a:gd name="adj6" fmla="val -3730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정해진 수</a:t>
            </a:r>
            <a:r>
              <a:rPr lang="en-US" altLang="ko-KR">
                <a:cs typeface="Tahoma" panose="020B0604030504040204" pitchFamily="34" charset="0"/>
              </a:rPr>
              <a:t>(Bakery.NUM)</a:t>
            </a:r>
            <a:r>
              <a:rPr lang="ko-KR" altLang="en-US">
                <a:cs typeface="Tahoma" panose="020B0604030504040204" pitchFamily="34" charset="0"/>
              </a:rPr>
              <a:t>만큼 크림을 소비하고 해당 빵을 출력함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5655FFA-F6C6-BA93-FA6E-493667EA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52099B3-FD29-1F49-82E6-7721BD2E7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94CB-E4BF-4C5E-986A-97229BB21DA1}" type="slidenum">
              <a:rPr lang="ko-KR" altLang="en-US"/>
              <a:pPr/>
              <a:t>43</a:t>
            </a:fld>
            <a:endParaRPr lang="en-US" altLang="ko-KR"/>
          </a:p>
        </p:txBody>
      </p:sp>
      <p:sp>
        <p:nvSpPr>
          <p:cNvPr id="543746" name="Rectangle 2">
            <a:extLst>
              <a:ext uri="{FF2B5EF4-FFF2-40B4-BE49-F238E27FC236}">
                <a16:creationId xmlns:a16="http://schemas.microsoft.com/office/drawing/2014/main" id="{C35F1137-9F4D-C79D-46F5-75A82C2E7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빵집 프로그램의 문제점</a:t>
            </a:r>
          </a:p>
        </p:txBody>
      </p:sp>
      <p:sp>
        <p:nvSpPr>
          <p:cNvPr id="543747" name="Rectangle 3">
            <a:extLst>
              <a:ext uri="{FF2B5EF4-FFF2-40B4-BE49-F238E27FC236}">
                <a16:creationId xmlns:a16="http://schemas.microsoft.com/office/drawing/2014/main" id="{BC3248FF-3800-F977-5211-86DABB816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7573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실행결과 분석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크림</a:t>
            </a:r>
            <a:r>
              <a:rPr lang="en-US" altLang="ko-KR">
                <a:sym typeface="Wingdings" panose="05000000000000000000" pitchFamily="2" charset="2"/>
              </a:rPr>
              <a:t></a:t>
            </a:r>
            <a:r>
              <a:rPr lang="ko-KR" altLang="en-US">
                <a:sym typeface="Wingdings" panose="05000000000000000000" pitchFamily="2" charset="2"/>
              </a:rPr>
              <a:t>설탕</a:t>
            </a:r>
            <a:r>
              <a:rPr lang="en-US" altLang="ko-KR">
                <a:sym typeface="Wingdings" panose="05000000000000000000" pitchFamily="2" charset="2"/>
              </a:rPr>
              <a:t></a:t>
            </a:r>
            <a:r>
              <a:rPr lang="ko-KR" altLang="en-US">
                <a:sym typeface="Wingdings" panose="05000000000000000000" pitchFamily="2" charset="2"/>
              </a:rPr>
              <a:t>꿀 순서로 생산되었지만 빵은 같은 빵만 생산되었음</a:t>
            </a:r>
          </a:p>
          <a:p>
            <a:pPr lvl="1">
              <a:lnSpc>
                <a:spcPct val="90000"/>
              </a:lnSpc>
            </a:pPr>
            <a:r>
              <a:rPr lang="ko-KR" altLang="en-US">
                <a:sym typeface="Wingdings" panose="05000000000000000000" pitchFamily="2" charset="2"/>
              </a:rPr>
              <a:t>생산한 크림을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순서대로 사용하지 못함</a:t>
            </a:r>
            <a:endParaRPr lang="ko-KR" altLang="en-US"/>
          </a:p>
        </p:txBody>
      </p:sp>
      <p:sp>
        <p:nvSpPr>
          <p:cNvPr id="543748" name="Text Box 4">
            <a:extLst>
              <a:ext uri="{FF2B5EF4-FFF2-40B4-BE49-F238E27FC236}">
                <a16:creationId xmlns:a16="http://schemas.microsoft.com/office/drawing/2014/main" id="{D4809BA0-5BB8-9E2A-7608-A7EFC475B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357563"/>
            <a:ext cx="3311525" cy="3273425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 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1</a:t>
            </a: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설탕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꿀빵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꿀빵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꿀빵</a:t>
            </a:r>
          </a:p>
        </p:txBody>
      </p:sp>
      <p:sp>
        <p:nvSpPr>
          <p:cNvPr id="543749" name="Text Box 5">
            <a:extLst>
              <a:ext uri="{FF2B5EF4-FFF2-40B4-BE49-F238E27FC236}">
                <a16:creationId xmlns:a16="http://schemas.microsoft.com/office/drawing/2014/main" id="{B20353B7-4CA9-0D3E-FBD7-4C179E69A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357563"/>
            <a:ext cx="3311525" cy="3273425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 </a:t>
            </a: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2</a:t>
            </a: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크림빵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크림빵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크림빵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설탕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6AC245E-0648-25EF-D3EE-5DBBFAC5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BECEA75-822A-DE85-951D-4BB19722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A1CA-F470-44A8-91E7-E860E33C1D9B}" type="slidenum">
              <a:rPr lang="ko-KR" altLang="en-US"/>
              <a:pPr/>
              <a:t>44</a:t>
            </a:fld>
            <a:endParaRPr lang="en-US" altLang="ko-KR"/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752A04AD-DA90-94F6-261B-7680EF9D4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빵집 프로그램 문제 해결 방법</a:t>
            </a:r>
          </a:p>
        </p:txBody>
      </p:sp>
      <p:sp>
        <p:nvSpPr>
          <p:cNvPr id="547843" name="Rectangle 3">
            <a:extLst>
              <a:ext uri="{FF2B5EF4-FFF2-40B4-BE49-F238E27FC236}">
                <a16:creationId xmlns:a16="http://schemas.microsoft.com/office/drawing/2014/main" id="{123683EA-96BF-5C91-EDAA-5B1A850F2A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동기화 메소드로 충분하지 않다</a:t>
            </a:r>
            <a:r>
              <a:rPr lang="en-US" altLang="ko-KR"/>
              <a:t>!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현재 버퍼의 </a:t>
            </a:r>
            <a:r>
              <a:rPr lang="en-US" altLang="ko-KR"/>
              <a:t>put()</a:t>
            </a:r>
            <a:r>
              <a:rPr lang="ko-KR" altLang="en-US"/>
              <a:t>과 </a:t>
            </a:r>
            <a:r>
              <a:rPr lang="en-US" altLang="ko-KR"/>
              <a:t>get()</a:t>
            </a:r>
            <a:r>
              <a:rPr lang="ko-KR" altLang="en-US"/>
              <a:t>은 동기화 메소드임</a:t>
            </a:r>
          </a:p>
          <a:p>
            <a:pPr>
              <a:lnSpc>
                <a:spcPct val="90000"/>
              </a:lnSpc>
            </a:pPr>
            <a:r>
              <a:rPr lang="ko-KR" altLang="en-US"/>
              <a:t>생산자와 소비자 사이의 동기화가 필요함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생산자가 크림을 하나 생산한 후에는 소비자가 소비할 때까지 기다려야 함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소비자가 크림을 하나 소비한 후에는 생산자가 새로운 크림을 생산할 때까지 기다려야 함</a:t>
            </a:r>
          </a:p>
          <a:p>
            <a:pPr>
              <a:lnSpc>
                <a:spcPct val="90000"/>
              </a:lnSpc>
            </a:pPr>
            <a:r>
              <a:rPr lang="ko-KR" altLang="en-US"/>
              <a:t>기다리고 깨우는 메커니즘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기다리려면 </a:t>
            </a:r>
            <a:r>
              <a:rPr lang="en-US" altLang="ko-KR"/>
              <a:t>wait()</a:t>
            </a:r>
            <a:r>
              <a:rPr lang="ko-KR" altLang="en-US"/>
              <a:t>을 호출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깨우려면 </a:t>
            </a:r>
            <a:r>
              <a:rPr lang="en-US" altLang="ko-KR"/>
              <a:t>notify()</a:t>
            </a:r>
            <a:r>
              <a:rPr lang="ko-KR" altLang="en-US"/>
              <a:t>나 </a:t>
            </a:r>
            <a:r>
              <a:rPr lang="en-US" altLang="ko-KR"/>
              <a:t>notifyAll()</a:t>
            </a:r>
            <a:r>
              <a:rPr lang="ko-KR" altLang="en-US"/>
              <a:t>을 호출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Buffer</a:t>
            </a:r>
            <a:r>
              <a:rPr lang="ko-KR" altLang="en-US"/>
              <a:t>의 </a:t>
            </a:r>
            <a:r>
              <a:rPr lang="en-US" altLang="ko-KR"/>
              <a:t>get()</a:t>
            </a:r>
            <a:r>
              <a:rPr lang="ko-KR" altLang="en-US"/>
              <a:t>과 </a:t>
            </a:r>
            <a:r>
              <a:rPr lang="en-US" altLang="ko-KR"/>
              <a:t>put()</a:t>
            </a:r>
            <a:r>
              <a:rPr lang="ko-KR" altLang="en-US"/>
              <a:t>에 이를 구현해야 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B81DBA0-48BF-113B-6DD1-BED48CEC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295EBCF7-8958-5D3E-BF43-C6DD3616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0524D-8342-414E-AB16-FE0ED899C7D9}" type="slidenum">
              <a:rPr lang="ko-KR" altLang="en-US"/>
              <a:pPr/>
              <a:t>45</a:t>
            </a:fld>
            <a:endParaRPr lang="en-US" altLang="ko-KR"/>
          </a:p>
        </p:txBody>
      </p:sp>
      <p:sp>
        <p:nvSpPr>
          <p:cNvPr id="441346" name="Rectangle 2">
            <a:extLst>
              <a:ext uri="{FF2B5EF4-FFF2-40B4-BE49-F238E27FC236}">
                <a16:creationId xmlns:a16="http://schemas.microsoft.com/office/drawing/2014/main" id="{685E5C5D-BE2B-6984-2A5A-9C5ED1918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12.12 </a:t>
            </a:r>
            <a:r>
              <a:rPr lang="ko-KR" altLang="en-US"/>
              <a:t>올바른 </a:t>
            </a:r>
            <a:r>
              <a:rPr lang="en-US" altLang="ko-KR"/>
              <a:t>Buffer (1/2)</a:t>
            </a:r>
          </a:p>
        </p:txBody>
      </p:sp>
      <p:sp>
        <p:nvSpPr>
          <p:cNvPr id="441347" name="Rectangle 3">
            <a:extLst>
              <a:ext uri="{FF2B5EF4-FFF2-40B4-BE49-F238E27FC236}">
                <a16:creationId xmlns:a16="http://schemas.microsoft.com/office/drawing/2014/main" id="{2127FB0D-F7F5-5731-BF1B-B54A0D11E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41348" name="Group 4">
            <a:extLst>
              <a:ext uri="{FF2B5EF4-FFF2-40B4-BE49-F238E27FC236}">
                <a16:creationId xmlns:a16="http://schemas.microsoft.com/office/drawing/2014/main" id="{D4EC8060-E496-B0B0-D9B6-2701CD64570A}"/>
              </a:ext>
            </a:extLst>
          </p:cNvPr>
          <p:cNvGrpSpPr>
            <a:grpSpLocks/>
          </p:cNvGrpSpPr>
          <p:nvPr/>
        </p:nvGrpSpPr>
        <p:grpSpPr bwMode="auto">
          <a:xfrm>
            <a:off x="487363" y="1484313"/>
            <a:ext cx="5884862" cy="5256212"/>
            <a:chOff x="262" y="663"/>
            <a:chExt cx="6138" cy="5180"/>
          </a:xfrm>
        </p:grpSpPr>
        <p:pic>
          <p:nvPicPr>
            <p:cNvPr id="441349" name="Picture 5">
              <a:extLst>
                <a:ext uri="{FF2B5EF4-FFF2-40B4-BE49-F238E27FC236}">
                  <a16:creationId xmlns:a16="http://schemas.microsoft.com/office/drawing/2014/main" id="{4E44B699-61E9-5EEA-EECA-5C77E83C1C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" y="663"/>
              <a:ext cx="5231" cy="2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1350" name="Picture 6">
              <a:extLst>
                <a:ext uri="{FF2B5EF4-FFF2-40B4-BE49-F238E27FC236}">
                  <a16:creationId xmlns:a16="http://schemas.microsoft.com/office/drawing/2014/main" id="{19B18E2C-58B1-3289-A3E5-982FE2BA1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" y="3695"/>
              <a:ext cx="6138" cy="2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41351" name="Rectangle 7">
            <a:extLst>
              <a:ext uri="{FF2B5EF4-FFF2-40B4-BE49-F238E27FC236}">
                <a16:creationId xmlns:a16="http://schemas.microsoft.com/office/drawing/2014/main" id="{FBEB3735-19DC-F33A-927C-0294C259F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3862388"/>
            <a:ext cx="5043488" cy="179863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1352" name="AutoShape 8">
            <a:extLst>
              <a:ext uri="{FF2B5EF4-FFF2-40B4-BE49-F238E27FC236}">
                <a16:creationId xmlns:a16="http://schemas.microsoft.com/office/drawing/2014/main" id="{F8C49047-BCA8-61E9-A6DA-427D0A6812F6}"/>
              </a:ext>
            </a:extLst>
          </p:cNvPr>
          <p:cNvSpPr>
            <a:spLocks/>
          </p:cNvSpPr>
          <p:nvPr/>
        </p:nvSpPr>
        <p:spPr bwMode="auto">
          <a:xfrm>
            <a:off x="6588125" y="3429000"/>
            <a:ext cx="2305050" cy="1008063"/>
          </a:xfrm>
          <a:prstGeom prst="accentCallout2">
            <a:avLst>
              <a:gd name="adj1" fmla="val 11338"/>
              <a:gd name="adj2" fmla="val -3306"/>
              <a:gd name="adj3" fmla="val 11338"/>
              <a:gd name="adj4" fmla="val -9574"/>
              <a:gd name="adj5" fmla="val 42361"/>
              <a:gd name="adj6" fmla="val -1597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버퍼가 비어있지 않으면 생산하지 않고 기다림</a:t>
            </a:r>
          </a:p>
        </p:txBody>
      </p:sp>
      <p:sp>
        <p:nvSpPr>
          <p:cNvPr id="441353" name="Rectangle 9">
            <a:extLst>
              <a:ext uri="{FF2B5EF4-FFF2-40B4-BE49-F238E27FC236}">
                <a16:creationId xmlns:a16="http://schemas.microsoft.com/office/drawing/2014/main" id="{F448534A-D3DD-5C2E-3938-CFF18A20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1930400"/>
            <a:ext cx="3600450" cy="2159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1354" name="AutoShape 10">
            <a:extLst>
              <a:ext uri="{FF2B5EF4-FFF2-40B4-BE49-F238E27FC236}">
                <a16:creationId xmlns:a16="http://schemas.microsoft.com/office/drawing/2014/main" id="{415130B3-05CE-4EC3-1CC1-660EE7821D0B}"/>
              </a:ext>
            </a:extLst>
          </p:cNvPr>
          <p:cNvSpPr>
            <a:spLocks/>
          </p:cNvSpPr>
          <p:nvPr/>
        </p:nvSpPr>
        <p:spPr bwMode="auto">
          <a:xfrm>
            <a:off x="5738813" y="1714500"/>
            <a:ext cx="2881312" cy="647700"/>
          </a:xfrm>
          <a:prstGeom prst="accentCallout2">
            <a:avLst>
              <a:gd name="adj1" fmla="val 17648"/>
              <a:gd name="adj2" fmla="val -2644"/>
              <a:gd name="adj3" fmla="val 17648"/>
              <a:gd name="adj4" fmla="val -19722"/>
              <a:gd name="adj5" fmla="val 44852"/>
              <a:gd name="adj6" fmla="val -3730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버퍼가 비었는지 나타내는 플래그</a:t>
            </a:r>
          </a:p>
        </p:txBody>
      </p:sp>
      <p:sp>
        <p:nvSpPr>
          <p:cNvPr id="441355" name="Rectangle 11">
            <a:extLst>
              <a:ext uri="{FF2B5EF4-FFF2-40B4-BE49-F238E27FC236}">
                <a16:creationId xmlns:a16="http://schemas.microsoft.com/office/drawing/2014/main" id="{AAA15D3F-FDD1-042C-F740-09549C874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75" y="6310313"/>
            <a:ext cx="5027613" cy="214312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1356" name="AutoShape 12">
            <a:extLst>
              <a:ext uri="{FF2B5EF4-FFF2-40B4-BE49-F238E27FC236}">
                <a16:creationId xmlns:a16="http://schemas.microsoft.com/office/drawing/2014/main" id="{624B35B8-59C2-95FF-630C-F2978D2E0C0A}"/>
              </a:ext>
            </a:extLst>
          </p:cNvPr>
          <p:cNvSpPr>
            <a:spLocks/>
          </p:cNvSpPr>
          <p:nvPr/>
        </p:nvSpPr>
        <p:spPr bwMode="auto">
          <a:xfrm>
            <a:off x="6588125" y="5084763"/>
            <a:ext cx="2176463" cy="1152525"/>
          </a:xfrm>
          <a:prstGeom prst="accentCallout2">
            <a:avLst>
              <a:gd name="adj1" fmla="val 9917"/>
              <a:gd name="adj2" fmla="val -3500"/>
              <a:gd name="adj3" fmla="val 9917"/>
              <a:gd name="adj4" fmla="val -17213"/>
              <a:gd name="adj5" fmla="val 106472"/>
              <a:gd name="adj6" fmla="val -31074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크림을 생산한 후에는 혹시 기다리고 있을 다른 스레드</a:t>
            </a:r>
            <a:r>
              <a:rPr lang="en-US" altLang="ko-KR">
                <a:cs typeface="Tahoma" panose="020B0604030504040204" pitchFamily="34" charset="0"/>
              </a:rPr>
              <a:t>(</a:t>
            </a:r>
            <a:r>
              <a:rPr lang="ko-KR" altLang="en-US">
                <a:cs typeface="Tahoma" panose="020B0604030504040204" pitchFamily="34" charset="0"/>
              </a:rPr>
              <a:t>소비자</a:t>
            </a:r>
            <a:r>
              <a:rPr lang="en-US" altLang="ko-KR">
                <a:cs typeface="Tahoma" panose="020B0604030504040204" pitchFamily="34" charset="0"/>
              </a:rPr>
              <a:t>)</a:t>
            </a:r>
            <a:r>
              <a:rPr lang="ko-KR" altLang="en-US">
                <a:cs typeface="Tahoma" panose="020B0604030504040204" pitchFamily="34" charset="0"/>
              </a:rPr>
              <a:t>를 깨움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948B598-F0AC-79AD-5568-DE1174AA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3F19925E-873E-358D-6D37-0DCBD892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E812C-2CF2-45DA-9C82-3A4573427D32}" type="slidenum">
              <a:rPr lang="ko-KR" altLang="en-US"/>
              <a:pPr/>
              <a:t>46</a:t>
            </a:fld>
            <a:endParaRPr lang="en-US" altLang="ko-KR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4DA654BF-590E-59A3-596D-93A4836E4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12.12 </a:t>
            </a:r>
            <a:r>
              <a:rPr lang="ko-KR" altLang="en-US"/>
              <a:t>올바른 </a:t>
            </a:r>
            <a:r>
              <a:rPr lang="en-US" altLang="ko-KR"/>
              <a:t>Buffer (2/2)</a:t>
            </a:r>
          </a:p>
        </p:txBody>
      </p:sp>
      <p:pic>
        <p:nvPicPr>
          <p:cNvPr id="467976" name="Picture 8">
            <a:extLst>
              <a:ext uri="{FF2B5EF4-FFF2-40B4-BE49-F238E27FC236}">
                <a16:creationId xmlns:a16="http://schemas.microsoft.com/office/drawing/2014/main" id="{76CC4BF4-44D2-B05D-9B97-59DBF3CC9A01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575" y="1571625"/>
            <a:ext cx="6129338" cy="3441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67977" name="Rectangle 9">
            <a:extLst>
              <a:ext uri="{FF2B5EF4-FFF2-40B4-BE49-F238E27FC236}">
                <a16:creationId xmlns:a16="http://schemas.microsoft.com/office/drawing/2014/main" id="{3D6977AF-0893-1816-CA5A-896B984DB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" y="1990725"/>
            <a:ext cx="5116513" cy="1725613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7978" name="AutoShape 10">
            <a:extLst>
              <a:ext uri="{FF2B5EF4-FFF2-40B4-BE49-F238E27FC236}">
                <a16:creationId xmlns:a16="http://schemas.microsoft.com/office/drawing/2014/main" id="{8E22B8B2-CCD3-6626-0FA4-85C45698A12E}"/>
              </a:ext>
            </a:extLst>
          </p:cNvPr>
          <p:cNvSpPr>
            <a:spLocks/>
          </p:cNvSpPr>
          <p:nvPr/>
        </p:nvSpPr>
        <p:spPr bwMode="auto">
          <a:xfrm>
            <a:off x="6731000" y="1557338"/>
            <a:ext cx="2305050" cy="1008062"/>
          </a:xfrm>
          <a:prstGeom prst="accentCallout2">
            <a:avLst>
              <a:gd name="adj1" fmla="val 11338"/>
              <a:gd name="adj2" fmla="val -3306"/>
              <a:gd name="adj3" fmla="val 11338"/>
              <a:gd name="adj4" fmla="val -9574"/>
              <a:gd name="adj5" fmla="val 42361"/>
              <a:gd name="adj6" fmla="val -1597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버퍼가 비어있으면 소비하지 않고 기다림</a:t>
            </a:r>
          </a:p>
        </p:txBody>
      </p:sp>
      <p:sp>
        <p:nvSpPr>
          <p:cNvPr id="467979" name="Rectangle 11">
            <a:extLst>
              <a:ext uri="{FF2B5EF4-FFF2-40B4-BE49-F238E27FC236}">
                <a16:creationId xmlns:a16="http://schemas.microsoft.com/office/drawing/2014/main" id="{5E6219C4-D78E-D822-31A4-80EE27A84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4151313"/>
            <a:ext cx="5100638" cy="214312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7980" name="AutoShape 12">
            <a:extLst>
              <a:ext uri="{FF2B5EF4-FFF2-40B4-BE49-F238E27FC236}">
                <a16:creationId xmlns:a16="http://schemas.microsoft.com/office/drawing/2014/main" id="{E3DCAE41-2AA0-2EEC-6C9D-8A02F707AC6D}"/>
              </a:ext>
            </a:extLst>
          </p:cNvPr>
          <p:cNvSpPr>
            <a:spLocks/>
          </p:cNvSpPr>
          <p:nvPr/>
        </p:nvSpPr>
        <p:spPr bwMode="auto">
          <a:xfrm>
            <a:off x="684213" y="5084763"/>
            <a:ext cx="2176462" cy="1152525"/>
          </a:xfrm>
          <a:prstGeom prst="accentCallout2">
            <a:avLst>
              <a:gd name="adj1" fmla="val 9917"/>
              <a:gd name="adj2" fmla="val 103500"/>
              <a:gd name="adj3" fmla="val 9917"/>
              <a:gd name="adj4" fmla="val 111162"/>
              <a:gd name="adj5" fmla="val -62949"/>
              <a:gd name="adj6" fmla="val 11881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크림을 소비한 후에는 혹시 기다리고 있을 다른 스레드</a:t>
            </a:r>
            <a:r>
              <a:rPr lang="en-US" altLang="ko-KR">
                <a:cs typeface="Tahoma" panose="020B0604030504040204" pitchFamily="34" charset="0"/>
              </a:rPr>
              <a:t>(</a:t>
            </a:r>
            <a:r>
              <a:rPr lang="ko-KR" altLang="en-US">
                <a:cs typeface="Tahoma" panose="020B0604030504040204" pitchFamily="34" charset="0"/>
              </a:rPr>
              <a:t>생산자</a:t>
            </a:r>
            <a:r>
              <a:rPr lang="en-US" altLang="ko-KR">
                <a:cs typeface="Tahoma" panose="020B0604030504040204" pitchFamily="34" charset="0"/>
              </a:rPr>
              <a:t>)</a:t>
            </a:r>
            <a:r>
              <a:rPr lang="ko-KR" altLang="en-US">
                <a:cs typeface="Tahoma" panose="020B0604030504040204" pitchFamily="34" charset="0"/>
              </a:rPr>
              <a:t>를 깨움</a:t>
            </a:r>
          </a:p>
        </p:txBody>
      </p:sp>
      <p:sp>
        <p:nvSpPr>
          <p:cNvPr id="467981" name="Text Box 13">
            <a:extLst>
              <a:ext uri="{FF2B5EF4-FFF2-40B4-BE49-F238E27FC236}">
                <a16:creationId xmlns:a16="http://schemas.microsoft.com/office/drawing/2014/main" id="{A8AB0CE4-7B85-B239-43D8-87DB604C6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997200"/>
            <a:ext cx="2232025" cy="3273425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  <a:endParaRPr lang="en-US" altLang="ko-KR" sz="1600">
              <a:solidFill>
                <a:srgbClr val="FF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크림빵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설탕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설탕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설탕빵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크림 소비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빵 생산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꿀빵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4874E22-53A0-8624-5C59-84C5A2B4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319E6F63-D516-EC40-9E33-47024C47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BB04-E0FE-4FCE-8E56-EAC81BF77147}" type="slidenum">
              <a:rPr lang="ko-KR" altLang="en-US"/>
              <a:pPr/>
              <a:t>47</a:t>
            </a:fld>
            <a:endParaRPr lang="en-US" altLang="ko-KR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75452369-6575-CEB7-2392-C1A899BDA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notify()</a:t>
            </a:r>
            <a:r>
              <a:rPr lang="ko-KR" altLang="en-US"/>
              <a:t>와 </a:t>
            </a:r>
            <a:r>
              <a:rPr lang="en-US" altLang="ko-KR"/>
              <a:t>notifyAll()</a:t>
            </a:r>
            <a:r>
              <a:rPr lang="ko-KR" altLang="en-US"/>
              <a:t>의 차이</a:t>
            </a:r>
          </a:p>
        </p:txBody>
      </p:sp>
      <p:sp>
        <p:nvSpPr>
          <p:cNvPr id="551939" name="Rectangle 3">
            <a:extLst>
              <a:ext uri="{FF2B5EF4-FFF2-40B4-BE49-F238E27FC236}">
                <a16:creationId xmlns:a16="http://schemas.microsoft.com/office/drawing/2014/main" id="{C682DF93-68B3-6E86-0351-0DFD773E22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프로그램 </a:t>
            </a:r>
            <a:r>
              <a:rPr lang="en-US" altLang="ko-KR"/>
              <a:t>12.12</a:t>
            </a:r>
            <a:r>
              <a:rPr lang="ko-KR" altLang="en-US"/>
              <a:t>를 이용한 실험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프로그램 </a:t>
            </a:r>
            <a:r>
              <a:rPr lang="en-US" altLang="ko-KR"/>
              <a:t>12.12</a:t>
            </a:r>
            <a:r>
              <a:rPr lang="ko-KR" altLang="en-US"/>
              <a:t>의 </a:t>
            </a:r>
            <a:r>
              <a:rPr lang="en-US" altLang="ko-KR"/>
              <a:t>notifyAll()</a:t>
            </a:r>
            <a:r>
              <a:rPr lang="ko-KR" altLang="en-US"/>
              <a:t>을 </a:t>
            </a:r>
            <a:r>
              <a:rPr lang="en-US" altLang="ko-KR"/>
              <a:t>notify()</a:t>
            </a:r>
            <a:r>
              <a:rPr lang="ko-KR" altLang="en-US"/>
              <a:t>로 바꾸어도 잘 동작함</a:t>
            </a:r>
          </a:p>
          <a:p>
            <a:pPr>
              <a:lnSpc>
                <a:spcPct val="90000"/>
              </a:lnSpc>
            </a:pPr>
            <a:r>
              <a:rPr lang="ko-KR" altLang="en-US"/>
              <a:t>하나를 깨우는가 여럿을 깨우는가</a:t>
            </a:r>
            <a:r>
              <a:rPr lang="en-US" altLang="ko-KR"/>
              <a:t>?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notify()</a:t>
            </a:r>
            <a:r>
              <a:rPr lang="ko-KR" altLang="en-US"/>
              <a:t>는 대기하고 있는 스레드 중 하나를 임의로 골라서 깨움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notifyAll()</a:t>
            </a:r>
            <a:r>
              <a:rPr lang="ko-KR" altLang="en-US"/>
              <a:t>은 대기하고 있는 모든 스레드를 깨움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대기 목록에 있는 스레드가 모두 동기화 메소드를 수행하던 중이었으면 차이가 없음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대기 목록에 있는 스레드들이 일반 메소드를 수행하던 중이었으면 </a:t>
            </a:r>
            <a:r>
              <a:rPr lang="en-US" altLang="ko-KR"/>
              <a:t>notifyAll()</a:t>
            </a:r>
            <a:r>
              <a:rPr lang="ko-KR" altLang="en-US"/>
              <a:t>로 인해 병행 수행됨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>
            <a:extLst>
              <a:ext uri="{FF2B5EF4-FFF2-40B4-BE49-F238E27FC236}">
                <a16:creationId xmlns:a16="http://schemas.microsoft.com/office/drawing/2014/main" id="{86694FD6-9A01-5A3A-3BBC-6AB3E013D0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12.6 </a:t>
            </a:r>
            <a:r>
              <a:rPr lang="ko-KR" altLang="en-US"/>
              <a:t>교착상태</a:t>
            </a:r>
            <a:r>
              <a:rPr lang="en-US" altLang="ko-KR"/>
              <a:t>(</a:t>
            </a:r>
            <a:r>
              <a:rPr lang="ko-KR" altLang="en-US"/>
              <a:t>고급 주제</a:t>
            </a:r>
            <a:r>
              <a:rPr lang="en-US" altLang="ko-KR"/>
              <a:t>)</a:t>
            </a:r>
          </a:p>
        </p:txBody>
      </p:sp>
      <p:sp>
        <p:nvSpPr>
          <p:cNvPr id="556035" name="Rectangle 3">
            <a:extLst>
              <a:ext uri="{FF2B5EF4-FFF2-40B4-BE49-F238E27FC236}">
                <a16:creationId xmlns:a16="http://schemas.microsoft.com/office/drawing/2014/main" id="{24FDF779-B8D1-75E8-774C-12F35EBD34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5FD61ACB-B7C6-321A-CE2F-0DCEFE2A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C973216E-99A2-6918-1684-4C32A3C2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FC13-BD4B-4757-9972-F91F22F52008}" type="slidenum">
              <a:rPr lang="ko-KR" altLang="en-US"/>
              <a:pPr/>
              <a:t>49</a:t>
            </a:fld>
            <a:endParaRPr lang="en-US" altLang="ko-KR"/>
          </a:p>
        </p:txBody>
      </p:sp>
      <p:sp>
        <p:nvSpPr>
          <p:cNvPr id="558082" name="Rectangle 2">
            <a:extLst>
              <a:ext uri="{FF2B5EF4-FFF2-40B4-BE49-F238E27FC236}">
                <a16:creationId xmlns:a16="http://schemas.microsoft.com/office/drawing/2014/main" id="{5651B5F4-F082-3D97-06AC-C77924BDF0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교착상태 정의</a:t>
            </a:r>
          </a:p>
        </p:txBody>
      </p:sp>
      <p:sp>
        <p:nvSpPr>
          <p:cNvPr id="558083" name="Rectangle 3">
            <a:extLst>
              <a:ext uri="{FF2B5EF4-FFF2-40B4-BE49-F238E27FC236}">
                <a16:creationId xmlns:a16="http://schemas.microsoft.com/office/drawing/2014/main" id="{549B04A8-EAD9-CDD3-C0CC-B518F7F714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교착상태</a:t>
            </a:r>
            <a:r>
              <a:rPr lang="en-US" altLang="ko-KR"/>
              <a:t>(deadlock)</a:t>
            </a:r>
            <a:r>
              <a:rPr lang="ko-KR" altLang="en-US"/>
              <a:t>란</a:t>
            </a:r>
            <a:r>
              <a:rPr lang="en-US" altLang="ko-KR"/>
              <a:t>?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공유된 자원의 점유 순서가 서로 얽혀서 더 이상 계산을 진행할 수 없는 상태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여기서 </a:t>
            </a:r>
            <a:r>
              <a:rPr lang="en-US" altLang="ko-KR"/>
              <a:t>'</a:t>
            </a:r>
            <a:r>
              <a:rPr lang="ko-KR" altLang="en-US"/>
              <a:t>공유된 자원</a:t>
            </a:r>
            <a:r>
              <a:rPr lang="en-US" altLang="ko-KR"/>
              <a:t>'</a:t>
            </a:r>
            <a:r>
              <a:rPr lang="ko-KR" altLang="en-US"/>
              <a:t>이란 </a:t>
            </a:r>
            <a:r>
              <a:rPr lang="en-US" altLang="ko-KR"/>
              <a:t>'</a:t>
            </a:r>
            <a:r>
              <a:rPr lang="ko-KR" altLang="en-US"/>
              <a:t>공유된 데이터</a:t>
            </a:r>
            <a:r>
              <a:rPr lang="en-US" altLang="ko-KR"/>
              <a:t>'</a:t>
            </a:r>
            <a:r>
              <a:rPr lang="ko-KR" altLang="en-US"/>
              <a:t>를 의미함</a:t>
            </a:r>
          </a:p>
          <a:p>
            <a:pPr>
              <a:lnSpc>
                <a:spcPct val="90000"/>
              </a:lnSpc>
            </a:pPr>
            <a:r>
              <a:rPr lang="ko-KR" altLang="en-US"/>
              <a:t>교착상태 예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식사하는 철학자 문제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E.W.Dijkstra</a:t>
            </a:r>
            <a:r>
              <a:rPr lang="ko-KR" altLang="en-US"/>
              <a:t>가 제시한 문제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옆 사람과 포크를 공유해야</a:t>
            </a:r>
            <a:br>
              <a:rPr lang="ko-KR" altLang="en-US"/>
            </a:br>
            <a:r>
              <a:rPr lang="ko-KR" altLang="en-US"/>
              <a:t>식사할 수 있음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모두 왼편 포크를 든다면</a:t>
            </a:r>
            <a:r>
              <a:rPr lang="en-US" altLang="ko-KR"/>
              <a:t>?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교착상태에 빠짐</a:t>
            </a:r>
            <a:endParaRPr lang="ko-KR" altLang="en-US"/>
          </a:p>
        </p:txBody>
      </p:sp>
      <p:pic>
        <p:nvPicPr>
          <p:cNvPr id="558084" name="Picture 4">
            <a:extLst>
              <a:ext uri="{FF2B5EF4-FFF2-40B4-BE49-F238E27FC236}">
                <a16:creationId xmlns:a16="http://schemas.microsoft.com/office/drawing/2014/main" id="{D6A0DA0A-8718-5E8F-1C78-CDF64A17C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3500438"/>
            <a:ext cx="2976563" cy="277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6725CE43-C236-DBF2-6747-A6B44471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6A4C1A8-DDCE-8C67-786A-0EF26716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029B7-AB6B-4A96-A8B0-CADDCD81CC08}" type="slidenum">
              <a:rPr lang="ko-KR" altLang="en-US"/>
              <a:pPr/>
              <a:t>50</a:t>
            </a:fld>
            <a:endParaRPr lang="en-US" altLang="ko-KR"/>
          </a:p>
        </p:txBody>
      </p:sp>
      <p:pic>
        <p:nvPicPr>
          <p:cNvPr id="443396" name="Picture 4">
            <a:extLst>
              <a:ext uri="{FF2B5EF4-FFF2-40B4-BE49-F238E27FC236}">
                <a16:creationId xmlns:a16="http://schemas.microsoft.com/office/drawing/2014/main" id="{45A3B0CA-1F83-07DF-8C5F-208E2617D324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581025"/>
            <a:ext cx="6524625" cy="62055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43394" name="Rectangle 2">
            <a:extLst>
              <a:ext uri="{FF2B5EF4-FFF2-40B4-BE49-F238E27FC236}">
                <a16:creationId xmlns:a16="http://schemas.microsoft.com/office/drawing/2014/main" id="{627EAAE9-98C1-C5FD-600D-C8FAE522F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8625" y="277813"/>
            <a:ext cx="3178175" cy="1139825"/>
          </a:xfrm>
        </p:spPr>
        <p:txBody>
          <a:bodyPr/>
          <a:lstStyle/>
          <a:p>
            <a:pPr algn="r"/>
            <a:r>
              <a:rPr lang="en-US" altLang="ko-KR" sz="4000"/>
              <a:t>12.13 Philosopher(1/5)</a:t>
            </a:r>
          </a:p>
        </p:txBody>
      </p:sp>
      <p:sp>
        <p:nvSpPr>
          <p:cNvPr id="443397" name="Rectangle 5">
            <a:extLst>
              <a:ext uri="{FF2B5EF4-FFF2-40B4-BE49-F238E27FC236}">
                <a16:creationId xmlns:a16="http://schemas.microsoft.com/office/drawing/2014/main" id="{1898E554-04BF-5BF4-101F-7D8AA187A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709863"/>
            <a:ext cx="1800225" cy="8636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3398" name="AutoShape 6">
            <a:extLst>
              <a:ext uri="{FF2B5EF4-FFF2-40B4-BE49-F238E27FC236}">
                <a16:creationId xmlns:a16="http://schemas.microsoft.com/office/drawing/2014/main" id="{C0D14BB8-A858-C0C7-58B5-FC44D8A7A2A7}"/>
              </a:ext>
            </a:extLst>
          </p:cNvPr>
          <p:cNvSpPr>
            <a:spLocks/>
          </p:cNvSpPr>
          <p:nvPr/>
        </p:nvSpPr>
        <p:spPr bwMode="auto">
          <a:xfrm>
            <a:off x="4211638" y="2709863"/>
            <a:ext cx="4392612" cy="863600"/>
          </a:xfrm>
          <a:prstGeom prst="accentCallout2">
            <a:avLst>
              <a:gd name="adj1" fmla="val 13236"/>
              <a:gd name="adj2" fmla="val -1736"/>
              <a:gd name="adj3" fmla="val 13236"/>
              <a:gd name="adj4" fmla="val -12972"/>
              <a:gd name="adj5" fmla="val 33824"/>
              <a:gd name="adj6" fmla="val -2446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철학자 이름</a:t>
            </a:r>
            <a:r>
              <a:rPr lang="en-US" altLang="ko-KR">
                <a:cs typeface="Tahoma" panose="020B0604030504040204" pitchFamily="34" charset="0"/>
              </a:rPr>
              <a:t>, </a:t>
            </a:r>
            <a:r>
              <a:rPr lang="ko-KR" altLang="en-US">
                <a:cs typeface="Tahoma" panose="020B0604030504040204" pitchFamily="34" charset="0"/>
              </a:rPr>
              <a:t>스파게티 접시</a:t>
            </a:r>
            <a:r>
              <a:rPr lang="en-US" altLang="ko-KR">
                <a:cs typeface="Tahoma" panose="020B0604030504040204" pitchFamily="34" charset="0"/>
              </a:rPr>
              <a:t>, </a:t>
            </a:r>
            <a:r>
              <a:rPr lang="ko-KR" altLang="en-US">
                <a:cs typeface="Tahoma" panose="020B0604030504040204" pitchFamily="34" charset="0"/>
              </a:rPr>
              <a:t>왼편 포크</a:t>
            </a:r>
            <a:r>
              <a:rPr lang="en-US" altLang="ko-KR">
                <a:cs typeface="Tahoma" panose="020B0604030504040204" pitchFamily="34" charset="0"/>
              </a:rPr>
              <a:t>, </a:t>
            </a:r>
            <a:r>
              <a:rPr lang="ko-KR" altLang="en-US">
                <a:cs typeface="Tahoma" panose="020B0604030504040204" pitchFamily="34" charset="0"/>
              </a:rPr>
              <a:t>오른편 포크를 정하여 철학자 객체를 생성함</a:t>
            </a:r>
          </a:p>
        </p:txBody>
      </p:sp>
      <p:sp>
        <p:nvSpPr>
          <p:cNvPr id="443399" name="Rectangle 7">
            <a:extLst>
              <a:ext uri="{FF2B5EF4-FFF2-40B4-BE49-F238E27FC236}">
                <a16:creationId xmlns:a16="http://schemas.microsoft.com/office/drawing/2014/main" id="{55CABA1B-950B-38A4-FBF3-EE06E7051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981075"/>
            <a:ext cx="3960812" cy="4318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3400" name="AutoShape 8">
            <a:extLst>
              <a:ext uri="{FF2B5EF4-FFF2-40B4-BE49-F238E27FC236}">
                <a16:creationId xmlns:a16="http://schemas.microsoft.com/office/drawing/2014/main" id="{E895F5D5-A736-F352-45A4-A65C61B0E5EB}"/>
              </a:ext>
            </a:extLst>
          </p:cNvPr>
          <p:cNvSpPr>
            <a:spLocks/>
          </p:cNvSpPr>
          <p:nvPr/>
        </p:nvSpPr>
        <p:spPr bwMode="auto">
          <a:xfrm>
            <a:off x="4211638" y="1700213"/>
            <a:ext cx="4408487" cy="590550"/>
          </a:xfrm>
          <a:prstGeom prst="accentCallout2">
            <a:avLst>
              <a:gd name="adj1" fmla="val 19356"/>
              <a:gd name="adj2" fmla="val -1727"/>
              <a:gd name="adj3" fmla="val 19356"/>
              <a:gd name="adj4" fmla="val -12782"/>
              <a:gd name="adj5" fmla="val -50537"/>
              <a:gd name="adj6" fmla="val -23875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교착상태를 발생시키기 위해 철학자 수는 </a:t>
            </a:r>
            <a:r>
              <a:rPr lang="en-US" altLang="ko-KR">
                <a:cs typeface="Tahoma" panose="020B0604030504040204" pitchFamily="34" charset="0"/>
              </a:rPr>
              <a:t>2, </a:t>
            </a:r>
            <a:r>
              <a:rPr lang="ko-KR" altLang="en-US">
                <a:cs typeface="Tahoma" panose="020B0604030504040204" pitchFamily="34" charset="0"/>
              </a:rPr>
              <a:t>스파게티 양은 </a:t>
            </a:r>
            <a:r>
              <a:rPr lang="en-US" altLang="ko-KR">
                <a:cs typeface="Tahoma" panose="020B0604030504040204" pitchFamily="34" charset="0"/>
              </a:rPr>
              <a:t>5</a:t>
            </a:r>
            <a:r>
              <a:rPr lang="ko-KR" altLang="en-US">
                <a:cs typeface="Tahoma" panose="020B0604030504040204" pitchFamily="34" charset="0"/>
              </a:rPr>
              <a:t>백만번으로 정했음</a:t>
            </a:r>
          </a:p>
        </p:txBody>
      </p:sp>
      <p:sp>
        <p:nvSpPr>
          <p:cNvPr id="443401" name="Rectangle 9">
            <a:extLst>
              <a:ext uri="{FF2B5EF4-FFF2-40B4-BE49-F238E27FC236}">
                <a16:creationId xmlns:a16="http://schemas.microsoft.com/office/drawing/2014/main" id="{F21AF292-3387-7B37-59F5-E80B65130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652963"/>
            <a:ext cx="3527425" cy="108108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3402" name="AutoShape 10">
            <a:extLst>
              <a:ext uri="{FF2B5EF4-FFF2-40B4-BE49-F238E27FC236}">
                <a16:creationId xmlns:a16="http://schemas.microsoft.com/office/drawing/2014/main" id="{4EC79DD1-0275-0497-6A5F-98FC7598F7BA}"/>
              </a:ext>
            </a:extLst>
          </p:cNvPr>
          <p:cNvSpPr>
            <a:spLocks/>
          </p:cNvSpPr>
          <p:nvPr/>
        </p:nvSpPr>
        <p:spPr bwMode="auto">
          <a:xfrm>
            <a:off x="5292725" y="4797425"/>
            <a:ext cx="2176463" cy="720725"/>
          </a:xfrm>
          <a:prstGeom prst="accentCallout2">
            <a:avLst>
              <a:gd name="adj1" fmla="val 15861"/>
              <a:gd name="adj2" fmla="val -3500"/>
              <a:gd name="adj3" fmla="val 15861"/>
              <a:gd name="adj4" fmla="val -16921"/>
              <a:gd name="adj5" fmla="val 63218"/>
              <a:gd name="adj6" fmla="val -3049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식사 전에 포크를 집는 메소드</a:t>
            </a:r>
          </a:p>
        </p:txBody>
      </p:sp>
      <p:sp>
        <p:nvSpPr>
          <p:cNvPr id="443403" name="Rectangle 11">
            <a:extLst>
              <a:ext uri="{FF2B5EF4-FFF2-40B4-BE49-F238E27FC236}">
                <a16:creationId xmlns:a16="http://schemas.microsoft.com/office/drawing/2014/main" id="{F105F008-91EE-CF77-6FB8-E26ABA30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732463"/>
            <a:ext cx="3527425" cy="108108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3404" name="AutoShape 12">
            <a:extLst>
              <a:ext uri="{FF2B5EF4-FFF2-40B4-BE49-F238E27FC236}">
                <a16:creationId xmlns:a16="http://schemas.microsoft.com/office/drawing/2014/main" id="{871988EC-A5AB-5914-855D-702CC214DD6D}"/>
              </a:ext>
            </a:extLst>
          </p:cNvPr>
          <p:cNvSpPr>
            <a:spLocks/>
          </p:cNvSpPr>
          <p:nvPr/>
        </p:nvSpPr>
        <p:spPr bwMode="auto">
          <a:xfrm>
            <a:off x="5292725" y="5732463"/>
            <a:ext cx="2176463" cy="720725"/>
          </a:xfrm>
          <a:prstGeom prst="accentCallout2">
            <a:avLst>
              <a:gd name="adj1" fmla="val 15861"/>
              <a:gd name="adj2" fmla="val -3500"/>
              <a:gd name="adj3" fmla="val 15861"/>
              <a:gd name="adj4" fmla="val -16921"/>
              <a:gd name="adj5" fmla="val 63218"/>
              <a:gd name="adj6" fmla="val -3049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식사 후에 포크를 놓는 메소드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6F0DE6EB-1AAC-5CFE-7D21-B14970C1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2DA90CF-E233-80D8-116F-0EA3C756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A0FF-0003-4DF0-966A-8670608B49E6}" type="slidenum">
              <a:rPr lang="ko-KR" altLang="en-US"/>
              <a:pPr/>
              <a:t>51</a:t>
            </a:fld>
            <a:endParaRPr lang="en-US" altLang="ko-KR"/>
          </a:p>
        </p:txBody>
      </p:sp>
      <p:sp>
        <p:nvSpPr>
          <p:cNvPr id="470018" name="Rectangle 2">
            <a:extLst>
              <a:ext uri="{FF2B5EF4-FFF2-40B4-BE49-F238E27FC236}">
                <a16:creationId xmlns:a16="http://schemas.microsoft.com/office/drawing/2014/main" id="{2D332E34-7230-F145-D4D6-F8DF0B0CC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12.13 Philosopher(2/5)</a:t>
            </a:r>
          </a:p>
        </p:txBody>
      </p:sp>
      <p:grpSp>
        <p:nvGrpSpPr>
          <p:cNvPr id="470023" name="Group 7">
            <a:extLst>
              <a:ext uri="{FF2B5EF4-FFF2-40B4-BE49-F238E27FC236}">
                <a16:creationId xmlns:a16="http://schemas.microsoft.com/office/drawing/2014/main" id="{748DE44D-9B1A-0C95-61BC-BE7BBB1B04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9750" y="1557338"/>
            <a:ext cx="5832475" cy="4464050"/>
            <a:chOff x="68" y="-2376"/>
            <a:chExt cx="5660" cy="4740"/>
          </a:xfrm>
        </p:grpSpPr>
        <p:pic>
          <p:nvPicPr>
            <p:cNvPr id="470020" name="Picture 4">
              <a:extLst>
                <a:ext uri="{FF2B5EF4-FFF2-40B4-BE49-F238E27FC236}">
                  <a16:creationId xmlns:a16="http://schemas.microsoft.com/office/drawing/2014/main" id="{D90FA05A-965D-A31E-4751-60072412E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" y="1942"/>
              <a:ext cx="5660" cy="4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0021" name="Picture 5">
              <a:extLst>
                <a:ext uri="{FF2B5EF4-FFF2-40B4-BE49-F238E27FC236}">
                  <a16:creationId xmlns:a16="http://schemas.microsoft.com/office/drawing/2014/main" id="{540BC39E-2D25-DC78-2311-298345C8A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" y="-2376"/>
              <a:ext cx="5584" cy="4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70024" name="Rectangle 8">
            <a:extLst>
              <a:ext uri="{FF2B5EF4-FFF2-40B4-BE49-F238E27FC236}">
                <a16:creationId xmlns:a16="http://schemas.microsoft.com/office/drawing/2014/main" id="{241F8FC2-7708-8244-B944-B724370EE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917700"/>
            <a:ext cx="1800225" cy="10795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0025" name="AutoShape 9">
            <a:extLst>
              <a:ext uri="{FF2B5EF4-FFF2-40B4-BE49-F238E27FC236}">
                <a16:creationId xmlns:a16="http://schemas.microsoft.com/office/drawing/2014/main" id="{E4BAFDC0-DE6E-A892-2C95-A9CEDF0352DA}"/>
              </a:ext>
            </a:extLst>
          </p:cNvPr>
          <p:cNvSpPr>
            <a:spLocks/>
          </p:cNvSpPr>
          <p:nvPr/>
        </p:nvSpPr>
        <p:spPr bwMode="auto">
          <a:xfrm>
            <a:off x="4283075" y="1917700"/>
            <a:ext cx="4392613" cy="863600"/>
          </a:xfrm>
          <a:prstGeom prst="accentCallout2">
            <a:avLst>
              <a:gd name="adj1" fmla="val 13236"/>
              <a:gd name="adj2" fmla="val -1736"/>
              <a:gd name="adj3" fmla="val 13236"/>
              <a:gd name="adj4" fmla="val -12972"/>
              <a:gd name="adj5" fmla="val 33824"/>
              <a:gd name="adj6" fmla="val -2446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포크를 집고 한 포크 떠 먹은 후에 포크를 놓음</a:t>
            </a:r>
            <a:r>
              <a:rPr lang="en-US" altLang="ko-KR">
                <a:cs typeface="Tahoma" panose="020B0604030504040204" pitchFamily="34" charset="0"/>
              </a:rPr>
              <a:t>. </a:t>
            </a:r>
            <a:r>
              <a:rPr lang="ko-KR" altLang="en-US">
                <a:cs typeface="Tahoma" panose="020B0604030504040204" pitchFamily="34" charset="0"/>
              </a:rPr>
              <a:t>중간에 몇 포크를 먹었는지 출력함</a:t>
            </a:r>
          </a:p>
        </p:txBody>
      </p:sp>
      <p:sp>
        <p:nvSpPr>
          <p:cNvPr id="470026" name="Rectangle 10">
            <a:extLst>
              <a:ext uri="{FF2B5EF4-FFF2-40B4-BE49-F238E27FC236}">
                <a16:creationId xmlns:a16="http://schemas.microsoft.com/office/drawing/2014/main" id="{A03EE818-66EA-F7CF-8593-BCAE57943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013325"/>
            <a:ext cx="2592388" cy="10795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0027" name="AutoShape 11">
            <a:extLst>
              <a:ext uri="{FF2B5EF4-FFF2-40B4-BE49-F238E27FC236}">
                <a16:creationId xmlns:a16="http://schemas.microsoft.com/office/drawing/2014/main" id="{AB5E233C-A70C-B07D-5F3E-4F1BD69ED5C7}"/>
              </a:ext>
            </a:extLst>
          </p:cNvPr>
          <p:cNvSpPr>
            <a:spLocks/>
          </p:cNvSpPr>
          <p:nvPr/>
        </p:nvSpPr>
        <p:spPr bwMode="auto">
          <a:xfrm>
            <a:off x="4859338" y="5013325"/>
            <a:ext cx="3600450" cy="863600"/>
          </a:xfrm>
          <a:prstGeom prst="accentCallout2">
            <a:avLst>
              <a:gd name="adj1" fmla="val 13236"/>
              <a:gd name="adj2" fmla="val -2116"/>
              <a:gd name="adj3" fmla="val 13236"/>
              <a:gd name="adj4" fmla="val -15875"/>
              <a:gd name="adj5" fmla="val 54412"/>
              <a:gd name="adj6" fmla="val -30116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각 철학자 스레드가 하는 일은 스파게티 접시가 빌 때까지 먹는 것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280C3A2-C2CD-FD23-D646-4DE3905F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395E0BFB-2091-7F9A-7929-1A86590F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B5C01-2D30-4C14-8358-DED006C9410B}" type="slidenum">
              <a:rPr lang="ko-KR" altLang="en-US"/>
              <a:pPr/>
              <a:t>52</a:t>
            </a:fld>
            <a:endParaRPr lang="en-US" altLang="ko-KR"/>
          </a:p>
        </p:txBody>
      </p:sp>
      <p:pic>
        <p:nvPicPr>
          <p:cNvPr id="472069" name="Picture 5">
            <a:extLst>
              <a:ext uri="{FF2B5EF4-FFF2-40B4-BE49-F238E27FC236}">
                <a16:creationId xmlns:a16="http://schemas.microsoft.com/office/drawing/2014/main" id="{34A97B66-C131-663F-C484-82D8170E885C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782638"/>
            <a:ext cx="6888163" cy="6075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72066" name="Rectangle 2">
            <a:extLst>
              <a:ext uri="{FF2B5EF4-FFF2-40B4-BE49-F238E27FC236}">
                <a16:creationId xmlns:a16="http://schemas.microsoft.com/office/drawing/2014/main" id="{846A1977-92EB-AF8A-18E8-1E62624A8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8625" y="277813"/>
            <a:ext cx="3178175" cy="1139825"/>
          </a:xfrm>
        </p:spPr>
        <p:txBody>
          <a:bodyPr/>
          <a:lstStyle/>
          <a:p>
            <a:pPr algn="r"/>
            <a:r>
              <a:rPr lang="en-US" altLang="ko-KR" sz="4000"/>
              <a:t>12.13 Philosopher(3/5)</a:t>
            </a:r>
          </a:p>
        </p:txBody>
      </p:sp>
      <p:sp>
        <p:nvSpPr>
          <p:cNvPr id="472070" name="Rectangle 6">
            <a:extLst>
              <a:ext uri="{FF2B5EF4-FFF2-40B4-BE49-F238E27FC236}">
                <a16:creationId xmlns:a16="http://schemas.microsoft.com/office/drawing/2014/main" id="{5CB247D1-AD11-075E-79B8-BB3A428C8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5" y="3184525"/>
            <a:ext cx="6064250" cy="12954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2071" name="AutoShape 7">
            <a:extLst>
              <a:ext uri="{FF2B5EF4-FFF2-40B4-BE49-F238E27FC236}">
                <a16:creationId xmlns:a16="http://schemas.microsoft.com/office/drawing/2014/main" id="{17385186-BDEA-664D-6289-1AEA8C4CE306}"/>
              </a:ext>
            </a:extLst>
          </p:cNvPr>
          <p:cNvSpPr>
            <a:spLocks/>
          </p:cNvSpPr>
          <p:nvPr/>
        </p:nvSpPr>
        <p:spPr bwMode="auto">
          <a:xfrm>
            <a:off x="5364163" y="2276475"/>
            <a:ext cx="3384550" cy="792163"/>
          </a:xfrm>
          <a:prstGeom prst="accentCallout2">
            <a:avLst>
              <a:gd name="adj1" fmla="val 14431"/>
              <a:gd name="adj2" fmla="val -2250"/>
              <a:gd name="adj3" fmla="val 14431"/>
              <a:gd name="adj4" fmla="val -12194"/>
              <a:gd name="adj5" fmla="val 110819"/>
              <a:gd name="adj6" fmla="val -22375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왼편 포크</a:t>
            </a:r>
            <a:r>
              <a:rPr lang="en-US" altLang="ko-KR">
                <a:cs typeface="Tahoma" panose="020B0604030504040204" pitchFamily="34" charset="0"/>
              </a:rPr>
              <a:t>, </a:t>
            </a:r>
            <a:r>
              <a:rPr lang="ko-KR" altLang="en-US">
                <a:cs typeface="Tahoma" panose="020B0604030504040204" pitchFamily="34" charset="0"/>
              </a:rPr>
              <a:t>오른편 포크를 정하여 각 철학자를 생성시킨 후 식사하도록 함</a:t>
            </a:r>
          </a:p>
        </p:txBody>
      </p:sp>
      <p:sp>
        <p:nvSpPr>
          <p:cNvPr id="472072" name="Rectangle 8">
            <a:extLst>
              <a:ext uri="{FF2B5EF4-FFF2-40B4-BE49-F238E27FC236}">
                <a16:creationId xmlns:a16="http://schemas.microsoft.com/office/drawing/2014/main" id="{3DE80457-5184-DE8F-7CE1-2B5D09656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4724400"/>
            <a:ext cx="5614987" cy="129698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2073" name="AutoShape 9">
            <a:extLst>
              <a:ext uri="{FF2B5EF4-FFF2-40B4-BE49-F238E27FC236}">
                <a16:creationId xmlns:a16="http://schemas.microsoft.com/office/drawing/2014/main" id="{8A5AD7F1-14D7-8276-44EB-E3E7176CB92E}"/>
              </a:ext>
            </a:extLst>
          </p:cNvPr>
          <p:cNvSpPr>
            <a:spLocks/>
          </p:cNvSpPr>
          <p:nvPr/>
        </p:nvSpPr>
        <p:spPr bwMode="auto">
          <a:xfrm>
            <a:off x="5364163" y="6092825"/>
            <a:ext cx="3024187" cy="504825"/>
          </a:xfrm>
          <a:prstGeom prst="accentCallout2">
            <a:avLst>
              <a:gd name="adj1" fmla="val 22644"/>
              <a:gd name="adj2" fmla="val -2519"/>
              <a:gd name="adj3" fmla="val 22644"/>
              <a:gd name="adj4" fmla="val -15380"/>
              <a:gd name="adj5" fmla="val -11319"/>
              <a:gd name="adj6" fmla="val -28505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모든 철학자의 식사가 끝나면 최종 식사 결과 출력</a:t>
            </a:r>
          </a:p>
        </p:txBody>
      </p:sp>
      <p:sp>
        <p:nvSpPr>
          <p:cNvPr id="472074" name="Rectangle 10">
            <a:extLst>
              <a:ext uri="{FF2B5EF4-FFF2-40B4-BE49-F238E27FC236}">
                <a16:creationId xmlns:a16="http://schemas.microsoft.com/office/drawing/2014/main" id="{248A0725-7584-B6F1-BF7C-8CCD7BD24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844675"/>
            <a:ext cx="4681538" cy="217488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2075" name="AutoShape 11">
            <a:extLst>
              <a:ext uri="{FF2B5EF4-FFF2-40B4-BE49-F238E27FC236}">
                <a16:creationId xmlns:a16="http://schemas.microsoft.com/office/drawing/2014/main" id="{76633526-41B2-08B3-0080-AC9CE0D056B8}"/>
              </a:ext>
            </a:extLst>
          </p:cNvPr>
          <p:cNvSpPr>
            <a:spLocks/>
          </p:cNvSpPr>
          <p:nvPr/>
        </p:nvSpPr>
        <p:spPr bwMode="auto">
          <a:xfrm>
            <a:off x="539750" y="101600"/>
            <a:ext cx="3384550" cy="590550"/>
          </a:xfrm>
          <a:prstGeom prst="accentCallout2">
            <a:avLst>
              <a:gd name="adj1" fmla="val 19356"/>
              <a:gd name="adj2" fmla="val 102250"/>
              <a:gd name="adj3" fmla="val 19356"/>
              <a:gd name="adj4" fmla="val 131847"/>
              <a:gd name="adj5" fmla="val 292204"/>
              <a:gd name="adj6" fmla="val 16153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철학자는 최대 </a:t>
            </a:r>
            <a:r>
              <a:rPr lang="en-US" altLang="ko-KR">
                <a:cs typeface="Tahoma" panose="020B0604030504040204" pitchFamily="34" charset="0"/>
              </a:rPr>
              <a:t>5</a:t>
            </a:r>
            <a:r>
              <a:rPr lang="ko-KR" altLang="en-US">
                <a:cs typeface="Tahoma" panose="020B0604030504040204" pitchFamily="34" charset="0"/>
              </a:rPr>
              <a:t>명이지만 이황과 헤겔만 식사할 예정임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3E304CE-C4DA-7AFF-0E00-3842328D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2751DEB1-1F36-4D74-0770-69944EF1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368D-DB4C-4053-BEEE-04D04D6D3344}" type="slidenum">
              <a:rPr lang="ko-KR" altLang="en-US"/>
              <a:pPr/>
              <a:t>53</a:t>
            </a:fld>
            <a:endParaRPr lang="en-US" altLang="ko-KR"/>
          </a:p>
        </p:txBody>
      </p:sp>
      <p:sp>
        <p:nvSpPr>
          <p:cNvPr id="474114" name="Rectangle 2">
            <a:extLst>
              <a:ext uri="{FF2B5EF4-FFF2-40B4-BE49-F238E27FC236}">
                <a16:creationId xmlns:a16="http://schemas.microsoft.com/office/drawing/2014/main" id="{529038F8-258D-A6A3-3487-853A07192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12.13 Fork(4/5)</a:t>
            </a:r>
          </a:p>
        </p:txBody>
      </p:sp>
      <p:pic>
        <p:nvPicPr>
          <p:cNvPr id="474116" name="Picture 4">
            <a:extLst>
              <a:ext uri="{FF2B5EF4-FFF2-40B4-BE49-F238E27FC236}">
                <a16:creationId xmlns:a16="http://schemas.microsoft.com/office/drawing/2014/main" id="{0D022E86-682A-DAEF-6767-704B5BD5F1D0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471613"/>
            <a:ext cx="5005388" cy="538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74117" name="Rectangle 5">
            <a:extLst>
              <a:ext uri="{FF2B5EF4-FFF2-40B4-BE49-F238E27FC236}">
                <a16:creationId xmlns:a16="http://schemas.microsoft.com/office/drawing/2014/main" id="{FA0FD0A8-44BC-CDA5-6B28-944EAA51B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2967038"/>
            <a:ext cx="4391025" cy="2592387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4118" name="AutoShape 6">
            <a:extLst>
              <a:ext uri="{FF2B5EF4-FFF2-40B4-BE49-F238E27FC236}">
                <a16:creationId xmlns:a16="http://schemas.microsoft.com/office/drawing/2014/main" id="{D9B5AA46-C75E-F31B-705B-60738831EF4A}"/>
              </a:ext>
            </a:extLst>
          </p:cNvPr>
          <p:cNvSpPr>
            <a:spLocks/>
          </p:cNvSpPr>
          <p:nvPr/>
        </p:nvSpPr>
        <p:spPr bwMode="auto">
          <a:xfrm>
            <a:off x="6227763" y="2967038"/>
            <a:ext cx="2592387" cy="863600"/>
          </a:xfrm>
          <a:prstGeom prst="accentCallout2">
            <a:avLst>
              <a:gd name="adj1" fmla="val 13236"/>
              <a:gd name="adj2" fmla="val -2940"/>
              <a:gd name="adj3" fmla="val 13236"/>
              <a:gd name="adj4" fmla="val -12245"/>
              <a:gd name="adj5" fmla="val 57903"/>
              <a:gd name="adj6" fmla="val -2192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사용 전에 포크를 </a:t>
            </a:r>
            <a:r>
              <a:rPr lang="en-US" altLang="ko-KR">
                <a:cs typeface="Tahoma" panose="020B0604030504040204" pitchFamily="34" charset="0"/>
              </a:rPr>
              <a:t>"</a:t>
            </a:r>
            <a:r>
              <a:rPr lang="ko-KR" altLang="en-US">
                <a:cs typeface="Tahoma" panose="020B0604030504040204" pitchFamily="34" charset="0"/>
              </a:rPr>
              <a:t>찜</a:t>
            </a:r>
            <a:r>
              <a:rPr lang="en-US" altLang="ko-KR">
                <a:cs typeface="Tahoma" panose="020B0604030504040204" pitchFamily="34" charset="0"/>
              </a:rPr>
              <a:t>"</a:t>
            </a:r>
            <a:r>
              <a:rPr lang="ko-KR" altLang="en-US">
                <a:cs typeface="Tahoma" panose="020B0604030504040204" pitchFamily="34" charset="0"/>
              </a:rPr>
              <a:t>하는 동기화 메소드</a:t>
            </a:r>
          </a:p>
        </p:txBody>
      </p:sp>
      <p:sp>
        <p:nvSpPr>
          <p:cNvPr id="474119" name="Rectangle 7">
            <a:extLst>
              <a:ext uri="{FF2B5EF4-FFF2-40B4-BE49-F238E27FC236}">
                <a16:creationId xmlns:a16="http://schemas.microsoft.com/office/drawing/2014/main" id="{5C031C5C-996D-FE69-87FE-DF32D28CA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589588"/>
            <a:ext cx="4391025" cy="1079500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4120" name="AutoShape 8">
            <a:extLst>
              <a:ext uri="{FF2B5EF4-FFF2-40B4-BE49-F238E27FC236}">
                <a16:creationId xmlns:a16="http://schemas.microsoft.com/office/drawing/2014/main" id="{9E4B4ADD-10FC-234C-2A7D-8EB53C2BA08E}"/>
              </a:ext>
            </a:extLst>
          </p:cNvPr>
          <p:cNvSpPr>
            <a:spLocks/>
          </p:cNvSpPr>
          <p:nvPr/>
        </p:nvSpPr>
        <p:spPr bwMode="auto">
          <a:xfrm>
            <a:off x="6226175" y="5373688"/>
            <a:ext cx="2592388" cy="863600"/>
          </a:xfrm>
          <a:prstGeom prst="accentCallout2">
            <a:avLst>
              <a:gd name="adj1" fmla="val 13236"/>
              <a:gd name="adj2" fmla="val -2940"/>
              <a:gd name="adj3" fmla="val 13236"/>
              <a:gd name="adj4" fmla="val -12245"/>
              <a:gd name="adj5" fmla="val 57903"/>
              <a:gd name="adj6" fmla="val -21921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사용 후에 포크를 놓는 동기화 메소드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3BA7747-BA10-6B34-D9B0-898AF2D7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DD4B2CE8-844C-9006-0AF3-F73A771E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18A2-0A82-48E5-9836-BC8EFF5C0771}" type="slidenum">
              <a:rPr lang="ko-KR" altLang="en-US"/>
              <a:pPr/>
              <a:t>54</a:t>
            </a:fld>
            <a:endParaRPr lang="en-US" altLang="ko-KR"/>
          </a:p>
        </p:txBody>
      </p:sp>
      <p:sp>
        <p:nvSpPr>
          <p:cNvPr id="476162" name="Rectangle 2">
            <a:extLst>
              <a:ext uri="{FF2B5EF4-FFF2-40B4-BE49-F238E27FC236}">
                <a16:creationId xmlns:a16="http://schemas.microsoft.com/office/drawing/2014/main" id="{EF04AAEC-D8EF-5FDA-DB6B-26892AA85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12.13 Spaghetti(5/5)</a:t>
            </a:r>
          </a:p>
        </p:txBody>
      </p:sp>
      <p:pic>
        <p:nvPicPr>
          <p:cNvPr id="476164" name="Picture 4">
            <a:extLst>
              <a:ext uri="{FF2B5EF4-FFF2-40B4-BE49-F238E27FC236}">
                <a16:creationId xmlns:a16="http://schemas.microsoft.com/office/drawing/2014/main" id="{E2D2FE6D-B8E9-BAAB-9975-7EF5F8D31788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600200"/>
            <a:ext cx="3209925" cy="3859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76165" name="Rectangle 5">
            <a:extLst>
              <a:ext uri="{FF2B5EF4-FFF2-40B4-BE49-F238E27FC236}">
                <a16:creationId xmlns:a16="http://schemas.microsoft.com/office/drawing/2014/main" id="{EC06C93E-D99D-7AFB-22F2-7BF669D8F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557338"/>
            <a:ext cx="2808288" cy="3959225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6166" name="AutoShape 6">
            <a:extLst>
              <a:ext uri="{FF2B5EF4-FFF2-40B4-BE49-F238E27FC236}">
                <a16:creationId xmlns:a16="http://schemas.microsoft.com/office/drawing/2014/main" id="{F736FA79-4777-5497-F290-2545304A1501}"/>
              </a:ext>
            </a:extLst>
          </p:cNvPr>
          <p:cNvSpPr>
            <a:spLocks/>
          </p:cNvSpPr>
          <p:nvPr/>
        </p:nvSpPr>
        <p:spPr bwMode="auto">
          <a:xfrm>
            <a:off x="4356100" y="1700213"/>
            <a:ext cx="4176713" cy="863600"/>
          </a:xfrm>
          <a:prstGeom prst="accentCallout2">
            <a:avLst>
              <a:gd name="adj1" fmla="val 13236"/>
              <a:gd name="adj2" fmla="val -1824"/>
              <a:gd name="adj3" fmla="val 13236"/>
              <a:gd name="adj4" fmla="val -7944"/>
              <a:gd name="adj5" fmla="val 57903"/>
              <a:gd name="adj6" fmla="val -1432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스파게티는 다른 철학자와 공유하지 않으므로 스파게티 클래스엔 동기화 메소드가 필요 없음</a:t>
            </a:r>
          </a:p>
        </p:txBody>
      </p:sp>
      <p:sp>
        <p:nvSpPr>
          <p:cNvPr id="476167" name="Text Box 7">
            <a:extLst>
              <a:ext uri="{FF2B5EF4-FFF2-40B4-BE49-F238E27FC236}">
                <a16:creationId xmlns:a16="http://schemas.microsoft.com/office/drawing/2014/main" id="{2F350CAE-8833-3A08-5E9A-8EC1D5B6A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141663"/>
            <a:ext cx="4392613" cy="3567112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  <a:endParaRPr lang="en-US" altLang="ko-KR" sz="1600">
              <a:solidFill>
                <a:srgbClr val="FF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헤겔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1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헤겔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2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헤겔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3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헤겔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4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이황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1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이황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2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이황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3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...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헤겔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623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이황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607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</p:txBody>
      </p:sp>
      <p:sp>
        <p:nvSpPr>
          <p:cNvPr id="476168" name="AutoShape 8">
            <a:extLst>
              <a:ext uri="{FF2B5EF4-FFF2-40B4-BE49-F238E27FC236}">
                <a16:creationId xmlns:a16="http://schemas.microsoft.com/office/drawing/2014/main" id="{2686399F-C8B5-EED3-8769-BED3B0856975}"/>
              </a:ext>
            </a:extLst>
          </p:cNvPr>
          <p:cNvSpPr>
            <a:spLocks/>
          </p:cNvSpPr>
          <p:nvPr/>
        </p:nvSpPr>
        <p:spPr bwMode="auto">
          <a:xfrm>
            <a:off x="6659563" y="4292600"/>
            <a:ext cx="2151062" cy="1512888"/>
          </a:xfrm>
          <a:prstGeom prst="accentCallout2">
            <a:avLst>
              <a:gd name="adj1" fmla="val 7556"/>
              <a:gd name="adj2" fmla="val -3542"/>
              <a:gd name="adj3" fmla="val 7556"/>
              <a:gd name="adj4" fmla="val -14171"/>
              <a:gd name="adj5" fmla="val 146065"/>
              <a:gd name="adj6" fmla="val -25463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cs typeface="Tahoma" panose="020B0604030504040204" pitchFamily="34" charset="0"/>
              </a:rPr>
              <a:t>교착상태가 발생한 상황</a:t>
            </a:r>
          </a:p>
          <a:p>
            <a:r>
              <a:rPr lang="en-US" altLang="ko-KR">
                <a:cs typeface="Tahoma" panose="020B0604030504040204" pitchFamily="34" charset="0"/>
              </a:rPr>
              <a:t>Ctrl-Break </a:t>
            </a:r>
            <a:r>
              <a:rPr lang="ko-KR" altLang="en-US">
                <a:cs typeface="Tahoma" panose="020B0604030504040204" pitchFamily="34" charset="0"/>
              </a:rPr>
              <a:t>키로 프로세스를 종료해야 함</a:t>
            </a:r>
            <a:endParaRPr lang="en-US" altLang="ko-KR"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3A034B1-B9B9-0980-F4A7-7EF7F536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5621BE4E-E74F-7764-EBA8-20028F66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7BB1-0CFB-4A73-90AD-54EAA1726E99}" type="slidenum">
              <a:rPr lang="ko-KR" altLang="en-US"/>
              <a:pPr/>
              <a:t>55</a:t>
            </a:fld>
            <a:endParaRPr lang="en-US" altLang="ko-KR"/>
          </a:p>
        </p:txBody>
      </p:sp>
      <p:sp>
        <p:nvSpPr>
          <p:cNvPr id="568322" name="Rectangle 2">
            <a:extLst>
              <a:ext uri="{FF2B5EF4-FFF2-40B4-BE49-F238E27FC236}">
                <a16:creationId xmlns:a16="http://schemas.microsoft.com/office/drawing/2014/main" id="{B0EBF3A1-A545-3426-3931-AFB664F44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/>
              <a:t>식사하는 철학자 프로그램의 객체 연결 관계</a:t>
            </a:r>
          </a:p>
        </p:txBody>
      </p:sp>
      <p:sp>
        <p:nvSpPr>
          <p:cNvPr id="568323" name="Rectangle 3">
            <a:extLst>
              <a:ext uri="{FF2B5EF4-FFF2-40B4-BE49-F238E27FC236}">
                <a16:creationId xmlns:a16="http://schemas.microsoft.com/office/drawing/2014/main" id="{F134DBFE-90ED-027C-E0A5-29100236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포크 객체는 최대 </a:t>
            </a:r>
            <a:r>
              <a:rPr lang="en-US" altLang="ko-KR" sz="2400"/>
              <a:t>5</a:t>
            </a:r>
            <a:r>
              <a:rPr lang="ko-KR" altLang="en-US" sz="2400"/>
              <a:t>개며</a:t>
            </a:r>
            <a:r>
              <a:rPr lang="en-US" altLang="ko-KR" sz="2400"/>
              <a:t>(</a:t>
            </a:r>
            <a:r>
              <a:rPr lang="ko-KR" altLang="en-US" sz="2400"/>
              <a:t>현재는 </a:t>
            </a:r>
            <a:r>
              <a:rPr lang="en-US" altLang="ko-KR" sz="2400"/>
              <a:t>2</a:t>
            </a:r>
            <a:r>
              <a:rPr lang="ko-KR" altLang="en-US" sz="2400"/>
              <a:t>개</a:t>
            </a:r>
            <a:r>
              <a:rPr lang="en-US" altLang="ko-KR" sz="2400"/>
              <a:t>) fork </a:t>
            </a:r>
            <a:r>
              <a:rPr lang="ko-KR" altLang="en-US" sz="2400"/>
              <a:t>배열은 객체를 연결하기 위한 것일 뿐임</a:t>
            </a:r>
            <a:r>
              <a:rPr lang="en-US" altLang="ko-KR" sz="2400"/>
              <a:t>(</a:t>
            </a:r>
            <a:r>
              <a:rPr lang="ko-KR" altLang="en-US" sz="2400"/>
              <a:t>배열 크기 </a:t>
            </a:r>
            <a:r>
              <a:rPr lang="en-US" altLang="ko-KR" sz="2400"/>
              <a:t>= </a:t>
            </a:r>
            <a:r>
              <a:rPr lang="ko-KR" altLang="en-US" sz="2400"/>
              <a:t>포크 개수 </a:t>
            </a:r>
            <a:r>
              <a:rPr lang="en-US" altLang="ko-KR" sz="2400"/>
              <a:t>+ 1)</a:t>
            </a:r>
          </a:p>
        </p:txBody>
      </p:sp>
      <p:pic>
        <p:nvPicPr>
          <p:cNvPr id="568325" name="Picture 5">
            <a:extLst>
              <a:ext uri="{FF2B5EF4-FFF2-40B4-BE49-F238E27FC236}">
                <a16:creationId xmlns:a16="http://schemas.microsoft.com/office/drawing/2014/main" id="{72A37D80-6242-CBC1-54B5-412285EED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492375"/>
            <a:ext cx="5832475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8D4B200-D86A-9294-1EDB-FF9AF73A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D6A91A9-E2FE-26DE-314F-270B4BB0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A359-28F4-419D-8704-EAA1944C3A98}" type="slidenum">
              <a:rPr lang="ko-KR" altLang="en-US"/>
              <a:pPr/>
              <a:t>56</a:t>
            </a:fld>
            <a:endParaRPr lang="en-US" altLang="ko-KR"/>
          </a:p>
        </p:txBody>
      </p:sp>
      <p:sp>
        <p:nvSpPr>
          <p:cNvPr id="564226" name="Rectangle 2">
            <a:extLst>
              <a:ext uri="{FF2B5EF4-FFF2-40B4-BE49-F238E27FC236}">
                <a16:creationId xmlns:a16="http://schemas.microsoft.com/office/drawing/2014/main" id="{10DD8DF5-E6FB-30F6-6ECF-7E4AB79F0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식사하는 철학자 프로그램 분석</a:t>
            </a:r>
          </a:p>
        </p:txBody>
      </p:sp>
      <p:sp>
        <p:nvSpPr>
          <p:cNvPr id="564227" name="Rectangle 3">
            <a:extLst>
              <a:ext uri="{FF2B5EF4-FFF2-40B4-BE49-F238E27FC236}">
                <a16:creationId xmlns:a16="http://schemas.microsoft.com/office/drawing/2014/main" id="{BFC7814D-0C30-BB6B-929B-2375E4EAE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핵심은 포크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포크 개수 </a:t>
            </a:r>
            <a:r>
              <a:rPr lang="en-US" altLang="ko-KR"/>
              <a:t>=</a:t>
            </a:r>
            <a:r>
              <a:rPr lang="ko-KR" altLang="en-US"/>
              <a:t> 철학자 수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그러나 각 철학자는 두 개의 포크를 사용해야 함</a:t>
            </a:r>
          </a:p>
          <a:p>
            <a:pPr>
              <a:lnSpc>
                <a:spcPct val="90000"/>
              </a:lnSpc>
            </a:pPr>
            <a:r>
              <a:rPr lang="ko-KR" altLang="en-US"/>
              <a:t>포크를 집는 과정이 얽히면 문제가 생김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모두 동시에 왼편 포크를 집거나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동시에 오른편 포크를 집으면 교착상태에 빠짐</a:t>
            </a:r>
          </a:p>
          <a:p>
            <a:pPr>
              <a:lnSpc>
                <a:spcPct val="90000"/>
              </a:lnSpc>
            </a:pPr>
            <a:r>
              <a:rPr lang="ko-KR" altLang="en-US"/>
              <a:t>프로그램 변경 사항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원래는 철학자가 </a:t>
            </a:r>
            <a:r>
              <a:rPr lang="en-US" altLang="ko-KR"/>
              <a:t>5</a:t>
            </a:r>
            <a:r>
              <a:rPr lang="ko-KR" altLang="en-US"/>
              <a:t>명이지만 교착상태에 빠지는 것을 실제로 보기 위해 </a:t>
            </a:r>
            <a:r>
              <a:rPr lang="en-US" altLang="ko-KR"/>
              <a:t>2</a:t>
            </a:r>
            <a:r>
              <a:rPr lang="ko-KR" altLang="en-US"/>
              <a:t>명으로 변경하였음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원래 문제에는 식사 중에 철학자들이 생각하는 시간이 포함되어 있지만 이 프로그램에서는 생략하였음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2622D13-DA46-0B2B-E518-4856457B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4F7CC9EE-0F71-808B-B36A-BF2A1537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F1C3-096D-4D87-8F8B-AD25F02AD83D}" type="slidenum">
              <a:rPr lang="ko-KR" altLang="en-US"/>
              <a:pPr/>
              <a:t>57</a:t>
            </a:fld>
            <a:endParaRPr lang="en-US" altLang="ko-KR"/>
          </a:p>
        </p:txBody>
      </p:sp>
      <p:sp>
        <p:nvSpPr>
          <p:cNvPr id="570370" name="Rectangle 2">
            <a:extLst>
              <a:ext uri="{FF2B5EF4-FFF2-40B4-BE49-F238E27FC236}">
                <a16:creationId xmlns:a16="http://schemas.microsoft.com/office/drawing/2014/main" id="{59ABFCB5-7682-6D21-4233-44AA45F63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교착상태 회피 방법</a:t>
            </a:r>
          </a:p>
        </p:txBody>
      </p:sp>
      <p:sp>
        <p:nvSpPr>
          <p:cNvPr id="570371" name="Rectangle 3">
            <a:extLst>
              <a:ext uri="{FF2B5EF4-FFF2-40B4-BE49-F238E27FC236}">
                <a16:creationId xmlns:a16="http://schemas.microsoft.com/office/drawing/2014/main" id="{EDF45F1E-C8D0-258A-398F-77E151E45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교착상태 해결 방법</a:t>
            </a:r>
          </a:p>
          <a:p>
            <a:pPr lvl="1"/>
            <a:r>
              <a:rPr lang="ko-KR" altLang="en-US"/>
              <a:t>교착상태 복구</a:t>
            </a:r>
            <a:r>
              <a:rPr lang="en-US" altLang="ko-KR"/>
              <a:t>: </a:t>
            </a:r>
            <a:r>
              <a:rPr lang="ko-KR" altLang="en-US"/>
              <a:t>교착상태가 발생했는지 점검하고 자원 재조정을 통하여 복구함</a:t>
            </a:r>
          </a:p>
          <a:p>
            <a:pPr lvl="1"/>
            <a:r>
              <a:rPr lang="ko-KR" altLang="en-US"/>
              <a:t>교착상태 회피</a:t>
            </a:r>
            <a:r>
              <a:rPr lang="en-US" altLang="ko-KR"/>
              <a:t>: </a:t>
            </a:r>
            <a:r>
              <a:rPr lang="ko-KR" altLang="en-US"/>
              <a:t>애초에 교착상태가 발생하지 못하도록 조처함</a:t>
            </a:r>
          </a:p>
          <a:p>
            <a:r>
              <a:rPr lang="ko-KR" altLang="en-US"/>
              <a:t>교착상태 회피 방법</a:t>
            </a:r>
          </a:p>
          <a:p>
            <a:pPr lvl="1"/>
            <a:r>
              <a:rPr lang="ko-KR" altLang="en-US"/>
              <a:t>대표적인 교착상태 회피 방법으로 자원 점유 순서를 정하는 것이 있음</a:t>
            </a:r>
          </a:p>
          <a:p>
            <a:pPr lvl="1"/>
            <a:r>
              <a:rPr lang="ko-KR" altLang="en-US"/>
              <a:t>모든 자원에 일련번호를 붙인 후</a:t>
            </a:r>
            <a:r>
              <a:rPr lang="en-US" altLang="ko-KR"/>
              <a:t>, </a:t>
            </a:r>
            <a:r>
              <a:rPr lang="ko-KR" altLang="en-US"/>
              <a:t>이 순서대로 자원을 요청하고 점유함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AD4C39A-C5F5-2973-65E4-0009F073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5479EC1-4083-5B57-28CD-3F4D3771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AA90-FE9A-48ED-8692-20B15D2954B0}" type="slidenum">
              <a:rPr lang="ko-KR" altLang="en-US"/>
              <a:pPr/>
              <a:t>58</a:t>
            </a:fld>
            <a:endParaRPr lang="en-US" altLang="ko-KR"/>
          </a:p>
        </p:txBody>
      </p:sp>
      <p:sp>
        <p:nvSpPr>
          <p:cNvPr id="574466" name="Rectangle 2">
            <a:extLst>
              <a:ext uri="{FF2B5EF4-FFF2-40B4-BE49-F238E27FC236}">
                <a16:creationId xmlns:a16="http://schemas.microsoft.com/office/drawing/2014/main" id="{14E1CB52-BAE0-3B12-1350-D1CDF0CB6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자원요청 순서 조정</a:t>
            </a:r>
          </a:p>
        </p:txBody>
      </p:sp>
      <p:sp>
        <p:nvSpPr>
          <p:cNvPr id="574467" name="Rectangle 3">
            <a:extLst>
              <a:ext uri="{FF2B5EF4-FFF2-40B4-BE49-F238E27FC236}">
                <a16:creationId xmlns:a16="http://schemas.microsoft.com/office/drawing/2014/main" id="{DDC85376-6E81-6B6A-E83E-2074C07D9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/>
              <a:t>포크 번호가 있다고 가정하고 낮은 번호부터 요청함</a:t>
            </a:r>
          </a:p>
          <a:p>
            <a:r>
              <a:rPr lang="ko-KR" altLang="en-US" sz="2400"/>
              <a:t>마지막 철학자의 요청 순서만 바꾸면 됨</a:t>
            </a:r>
          </a:p>
        </p:txBody>
      </p:sp>
      <p:pic>
        <p:nvPicPr>
          <p:cNvPr id="574468" name="Picture 4">
            <a:extLst>
              <a:ext uri="{FF2B5EF4-FFF2-40B4-BE49-F238E27FC236}">
                <a16:creationId xmlns:a16="http://schemas.microsoft.com/office/drawing/2014/main" id="{6F3CA005-8A17-069C-3185-E9EAB034B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508250"/>
            <a:ext cx="5986462" cy="408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B665CA1-8DDB-099A-37CA-20650C1F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2170BFC1-D6B7-B4E7-B828-BF218469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0640-A117-4EB0-A6DD-3487928A44C0}" type="slidenum">
              <a:rPr lang="ko-KR" altLang="en-US"/>
              <a:pPr/>
              <a:t>59</a:t>
            </a:fld>
            <a:endParaRPr lang="en-US" altLang="ko-KR"/>
          </a:p>
        </p:txBody>
      </p:sp>
      <p:pic>
        <p:nvPicPr>
          <p:cNvPr id="445444" name="Picture 4">
            <a:extLst>
              <a:ext uri="{FF2B5EF4-FFF2-40B4-BE49-F238E27FC236}">
                <a16:creationId xmlns:a16="http://schemas.microsoft.com/office/drawing/2014/main" id="{0BB91A46-51A3-0854-2F02-0A24267E21D1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0"/>
            <a:ext cx="6796088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45442" name="Rectangle 2">
            <a:extLst>
              <a:ext uri="{FF2B5EF4-FFF2-40B4-BE49-F238E27FC236}">
                <a16:creationId xmlns:a16="http://schemas.microsoft.com/office/drawing/2014/main" id="{67182E87-FC8D-EAA8-CB0C-317F4FC21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51500" y="277813"/>
            <a:ext cx="3241675" cy="1139825"/>
          </a:xfrm>
        </p:spPr>
        <p:txBody>
          <a:bodyPr/>
          <a:lstStyle/>
          <a:p>
            <a:pPr algn="r"/>
            <a:r>
              <a:rPr lang="en-US" altLang="ko-KR" sz="4000"/>
              <a:t>12.14 Philosopher </a:t>
            </a:r>
            <a:r>
              <a:rPr lang="ko-KR" altLang="en-US" sz="4000"/>
              <a:t>발췌</a:t>
            </a:r>
          </a:p>
        </p:txBody>
      </p:sp>
      <p:sp>
        <p:nvSpPr>
          <p:cNvPr id="445445" name="Rectangle 5">
            <a:extLst>
              <a:ext uri="{FF2B5EF4-FFF2-40B4-BE49-F238E27FC236}">
                <a16:creationId xmlns:a16="http://schemas.microsoft.com/office/drawing/2014/main" id="{89A9395C-9223-4219-82B7-F0D56DA8D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2968625"/>
            <a:ext cx="2608263" cy="892175"/>
          </a:xfrm>
          <a:prstGeom prst="rect">
            <a:avLst/>
          </a:prstGeom>
          <a:noFill/>
          <a:ln w="19050" algn="ctr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endParaRPr lang="ko-KR" altLang="en-US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5446" name="AutoShape 6">
            <a:extLst>
              <a:ext uri="{FF2B5EF4-FFF2-40B4-BE49-F238E27FC236}">
                <a16:creationId xmlns:a16="http://schemas.microsoft.com/office/drawing/2014/main" id="{C0EC40C8-740C-2DE8-1894-38A54E601164}"/>
              </a:ext>
            </a:extLst>
          </p:cNvPr>
          <p:cNvSpPr>
            <a:spLocks/>
          </p:cNvSpPr>
          <p:nvPr/>
        </p:nvSpPr>
        <p:spPr bwMode="auto">
          <a:xfrm>
            <a:off x="4859338" y="2636838"/>
            <a:ext cx="3384550" cy="1079500"/>
          </a:xfrm>
          <a:prstGeom prst="accentCallout2">
            <a:avLst>
              <a:gd name="adj1" fmla="val 10588"/>
              <a:gd name="adj2" fmla="val -2250"/>
              <a:gd name="adj3" fmla="val 10588"/>
              <a:gd name="adj4" fmla="val -10694"/>
              <a:gd name="adj5" fmla="val 60588"/>
              <a:gd name="adj6" fmla="val -19324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ko-KR" altLang="en-US">
                <a:solidFill>
                  <a:srgbClr val="6600CC"/>
                </a:solidFill>
                <a:cs typeface="Tahoma" panose="020B0604030504040204" pitchFamily="34" charset="0"/>
              </a:rPr>
              <a:t>마지막 철학자는 왼편 포크와 오른편 포크를 바꿈</a:t>
            </a:r>
            <a:r>
              <a:rPr lang="en-US" altLang="ko-KR">
                <a:solidFill>
                  <a:srgbClr val="6600CC"/>
                </a:solidFill>
                <a:cs typeface="Tahoma" panose="020B0604030504040204" pitchFamily="34" charset="0"/>
              </a:rPr>
              <a:t>.</a:t>
            </a:r>
            <a:r>
              <a:rPr lang="en-US" altLang="ko-KR">
                <a:cs typeface="Tahoma" panose="020B0604030504040204" pitchFamily="34" charset="0"/>
              </a:rPr>
              <a:t> </a:t>
            </a:r>
            <a:r>
              <a:rPr lang="ko-KR" altLang="en-US">
                <a:cs typeface="Tahoma" panose="020B0604030504040204" pitchFamily="34" charset="0"/>
              </a:rPr>
              <a:t>따라서 마지막 철학자도 낮은 번호부터 요청하게 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3736BE0-317A-2B32-921E-9AF0C08F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5BC43BE6-6AC5-BFA1-3BE6-EEEF4FFD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66C4B-6346-4490-B558-945C14B65F19}" type="slidenum">
              <a:rPr lang="ko-KR" altLang="en-US"/>
              <a:pPr/>
              <a:t>60</a:t>
            </a:fld>
            <a:endParaRPr lang="en-US" altLang="ko-KR"/>
          </a:p>
        </p:txBody>
      </p:sp>
      <p:sp>
        <p:nvSpPr>
          <p:cNvPr id="562178" name="Rectangle 2">
            <a:extLst>
              <a:ext uri="{FF2B5EF4-FFF2-40B4-BE49-F238E27FC236}">
                <a16:creationId xmlns:a16="http://schemas.microsoft.com/office/drawing/2014/main" id="{24E73C66-FF61-15DB-223D-27A9D20870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12.14 Philosopher </a:t>
            </a:r>
            <a:r>
              <a:rPr lang="ko-KR" altLang="en-US"/>
              <a:t>실행 결과</a:t>
            </a:r>
          </a:p>
        </p:txBody>
      </p:sp>
      <p:sp>
        <p:nvSpPr>
          <p:cNvPr id="562179" name="Rectangle 3">
            <a:extLst>
              <a:ext uri="{FF2B5EF4-FFF2-40B4-BE49-F238E27FC236}">
                <a16:creationId xmlns:a16="http://schemas.microsoft.com/office/drawing/2014/main" id="{FA4331CA-D125-FFF6-C42A-EAE5768886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교착상태 해결</a:t>
            </a:r>
          </a:p>
          <a:p>
            <a:pPr lvl="1"/>
            <a:r>
              <a:rPr lang="ko-KR" altLang="en-US"/>
              <a:t>모든 철학자가 </a:t>
            </a:r>
            <a:r>
              <a:rPr lang="en-US" altLang="ko-KR"/>
              <a:t>5</a:t>
            </a:r>
            <a:r>
              <a:rPr lang="ko-KR" altLang="en-US"/>
              <a:t>백만 포크씩 먹고 식사를 종료함</a:t>
            </a:r>
          </a:p>
          <a:p>
            <a:pPr lvl="1"/>
            <a:r>
              <a:rPr lang="ko-KR" altLang="en-US"/>
              <a:t>철학자 수를 </a:t>
            </a:r>
            <a:r>
              <a:rPr lang="en-US" altLang="ko-KR"/>
              <a:t>5</a:t>
            </a:r>
            <a:r>
              <a:rPr lang="ko-KR" altLang="en-US"/>
              <a:t>로 늘려도 마찬가지로 잘 동작함</a:t>
            </a:r>
          </a:p>
        </p:txBody>
      </p:sp>
      <p:sp>
        <p:nvSpPr>
          <p:cNvPr id="562180" name="Text Box 4">
            <a:extLst>
              <a:ext uri="{FF2B5EF4-FFF2-40B4-BE49-F238E27FC236}">
                <a16:creationId xmlns:a16="http://schemas.microsoft.com/office/drawing/2014/main" id="{A28ABFC3-FF69-03C8-A9A3-ED2C570EA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3141663"/>
            <a:ext cx="4392612" cy="3273425"/>
          </a:xfrm>
          <a:prstGeom prst="rect">
            <a:avLst/>
          </a:prstGeom>
          <a:solidFill>
            <a:srgbClr val="DDD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실행결과</a:t>
            </a:r>
            <a:endParaRPr lang="en-US" altLang="ko-KR" sz="1600">
              <a:solidFill>
                <a:srgbClr val="FF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algn="justLow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Tahoma" panose="020B0604030504040204" pitchFamily="34" charset="0"/>
              </a:rPr>
              <a:t>=========================</a:t>
            </a:r>
            <a:endParaRPr lang="en-US" altLang="ko-KR" sz="160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  <a:cs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이황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1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헤겔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1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헤겔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2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...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이황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4999999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이황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5000000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최종적으로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...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이황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5000000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최종적으로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...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헤겔</a:t>
            </a:r>
            <a:r>
              <a:rPr lang="en-US" altLang="ko-KR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: 5000000 </a:t>
            </a: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포크 먹음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ko-KR" altLang="en-US" sz="1600">
                <a:solidFill>
                  <a:srgbClr val="000000"/>
                </a:solidFill>
                <a:latin typeface="Lucida Console" panose="020B0609040504020204" pitchFamily="49" charset="0"/>
                <a:ea typeface="굴림체" panose="020B0609000101010101" pitchFamily="49" charset="-127"/>
                <a:cs typeface="Tahoma" panose="020B0604030504040204" pitchFamily="34" charset="0"/>
              </a:rPr>
              <a:t>*** 식사 끝 ***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8C43D1D8-E541-B3D2-144C-2198DFCB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12C06BCB-8D74-624A-F970-94FCF559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D1D-9944-4D34-9F11-4BC91CDA26B7}" type="slidenum">
              <a:rPr lang="ko-KR" altLang="en-US"/>
              <a:pPr/>
              <a:t>61</a:t>
            </a:fld>
            <a:endParaRPr lang="en-US" altLang="ko-KR"/>
          </a:p>
        </p:txBody>
      </p:sp>
      <p:sp>
        <p:nvSpPr>
          <p:cNvPr id="576514" name="Rectangle 2">
            <a:extLst>
              <a:ext uri="{FF2B5EF4-FFF2-40B4-BE49-F238E27FC236}">
                <a16:creationId xmlns:a16="http://schemas.microsoft.com/office/drawing/2014/main" id="{AB7C14D3-CE99-5FB0-314C-96524ABC4F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교착상태 해결의 의미</a:t>
            </a:r>
          </a:p>
        </p:txBody>
      </p:sp>
      <p:sp>
        <p:nvSpPr>
          <p:cNvPr id="576515" name="Rectangle 3">
            <a:extLst>
              <a:ext uri="{FF2B5EF4-FFF2-40B4-BE49-F238E27FC236}">
                <a16:creationId xmlns:a16="http://schemas.microsoft.com/office/drawing/2014/main" id="{BC3E99AC-7854-27CB-D137-64626B247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교착상태 발생의 심각성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교착상태가 발생하면 모든 프로세스</a:t>
            </a:r>
            <a:r>
              <a:rPr lang="en-US" altLang="ko-KR"/>
              <a:t>(</a:t>
            </a:r>
            <a:r>
              <a:rPr lang="ko-KR" altLang="en-US"/>
              <a:t>스레드</a:t>
            </a:r>
            <a:r>
              <a:rPr lang="en-US" altLang="ko-KR"/>
              <a:t>)</a:t>
            </a:r>
            <a:r>
              <a:rPr lang="ko-KR" altLang="en-US"/>
              <a:t>가 동작을 멈춤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심지어 교착상태가 발생했는지 모르는 경우도 있음</a:t>
            </a:r>
            <a:endParaRPr lang="en-US" altLang="ko-KR"/>
          </a:p>
          <a:p>
            <a:pPr>
              <a:lnSpc>
                <a:spcPct val="90000"/>
              </a:lnSpc>
            </a:pPr>
            <a:r>
              <a:rPr lang="ko-KR" altLang="en-US"/>
              <a:t>교착상태 회피 방법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자원 점유 순서를 일렬로 정하면 교착상태를 방지할 수 있음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자원 점유 순서 제한 때문에 병렬성이 다소 저하될 수 있지만 아예 동작하지 못하는 것보다는 나음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병렬성도 희생시키고 싶지 않다면 교착상태 감지 및 복구 방법을 고려해 볼 수 있음</a:t>
            </a:r>
            <a:endParaRPr lang="en-US" altLang="ko-K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4" name="Rectangle 8">
            <a:extLst>
              <a:ext uri="{FF2B5EF4-FFF2-40B4-BE49-F238E27FC236}">
                <a16:creationId xmlns:a16="http://schemas.microsoft.com/office/drawing/2014/main" id="{DA8D9986-382E-7F1B-4027-84243C34EE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Key Point </a:t>
            </a:r>
            <a:endParaRPr lang="ko-KR" altLang="en-US"/>
          </a:p>
        </p:txBody>
      </p:sp>
      <p:sp>
        <p:nvSpPr>
          <p:cNvPr id="34825" name="Rectangle 9">
            <a:extLst>
              <a:ext uri="{FF2B5EF4-FFF2-40B4-BE49-F238E27FC236}">
                <a16:creationId xmlns:a16="http://schemas.microsoft.com/office/drawing/2014/main" id="{5A227C12-02DD-C145-31C9-3F97CFC3AD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786C235-E5DF-66CD-54E7-A6C85BC3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37396E4-B8BE-7D2B-C4B2-69D3EF63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3CB09-7A62-4118-9B17-6BD61D98D3CB}" type="slidenum">
              <a:rPr lang="ko-KR" altLang="en-US"/>
              <a:pPr/>
              <a:t>63</a:t>
            </a:fld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D84A8-4CBF-C982-713C-FA92CAFBB90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EA00CD70-3021-45EB-82EA-0FC88F3637E9}" type="slidenum">
              <a:rPr kumimoji="0" lang="ko-KR" altLang="en-US" sz="1000">
                <a:latin typeface="HY동녘B" pitchFamily="18" charset="-127"/>
                <a:ea typeface="HY동녘B" pitchFamily="18" charset="-127"/>
              </a:rPr>
              <a:pPr algn="r" eaLnBrk="1" hangingPunct="1"/>
              <a:t>63</a:t>
            </a:fld>
            <a:endParaRPr kumimoji="0" lang="en-US" altLang="ko-KR" sz="1000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F2BC44DA-9636-0636-8BDE-E4BB88D37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Key Point 1</a:t>
            </a:r>
          </a:p>
        </p:txBody>
      </p:sp>
      <p:sp>
        <p:nvSpPr>
          <p:cNvPr id="35848" name="Rectangle 8">
            <a:extLst>
              <a:ext uri="{FF2B5EF4-FFF2-40B4-BE49-F238E27FC236}">
                <a16:creationId xmlns:a16="http://schemas.microsoft.com/office/drawing/2014/main" id="{ADF7ECE4-EE19-E31E-7EF1-16E42B1BA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ko-KR" altLang="en-US" sz="2000"/>
              <a:t>프로세스란 수행중인 프로그램을 뜻한다</a:t>
            </a:r>
            <a:r>
              <a:rPr lang="en-US" altLang="ko-KR" sz="2000"/>
              <a:t>. </a:t>
            </a:r>
            <a:r>
              <a:rPr lang="ko-KR" altLang="en-US" sz="2000"/>
              <a:t>따라서 프로그램에 수행상황 정보가 포함된 것을 프로세스라고 볼 수 있다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스레드란 프로세스가 유지하고 있는 제어 흐름 정보를 뜻한다</a:t>
            </a:r>
            <a:r>
              <a:rPr lang="en-US" altLang="ko-KR" sz="2000"/>
              <a:t>. </a:t>
            </a:r>
            <a:r>
              <a:rPr lang="ko-KR" altLang="en-US" sz="2000"/>
              <a:t>다중 스레드는 한 프로세스 내에서 여러 제어 흐름이 존재하는 상황을 나타내는 말이다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en-US" altLang="ko-KR" sz="2000"/>
              <a:t>Java</a:t>
            </a:r>
            <a:r>
              <a:rPr lang="ko-KR" altLang="en-US" sz="2000"/>
              <a:t>에서 스레드는 </a:t>
            </a:r>
            <a:r>
              <a:rPr lang="en-US" altLang="ko-KR" sz="2000"/>
              <a:t>Thread </a:t>
            </a:r>
            <a:r>
              <a:rPr lang="ko-KR" altLang="en-US" sz="2000"/>
              <a:t>클래스를 이용하여 지원하는데 </a:t>
            </a:r>
            <a:r>
              <a:rPr lang="en-US" altLang="ko-KR" sz="2000"/>
              <a:t>Thread </a:t>
            </a:r>
            <a:r>
              <a:rPr lang="ko-KR" altLang="en-US" sz="2000"/>
              <a:t>클래스 내에는 </a:t>
            </a:r>
            <a:r>
              <a:rPr lang="en-US" altLang="ko-KR" sz="2000"/>
              <a:t>run </a:t>
            </a:r>
            <a:r>
              <a:rPr lang="ko-KR" altLang="en-US" sz="2000"/>
              <a:t>메소드가 존재해야 한다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자신만의 스레드 클래스를 만들려면 </a:t>
            </a:r>
            <a:r>
              <a:rPr lang="en-US" altLang="ko-KR" sz="2000"/>
              <a:t>Thread </a:t>
            </a:r>
            <a:r>
              <a:rPr lang="ko-KR" altLang="en-US" sz="2000"/>
              <a:t>클래스를 확장하여 만들 수 있다</a:t>
            </a:r>
            <a:r>
              <a:rPr lang="en-US" altLang="ko-KR" sz="2000"/>
              <a:t>. </a:t>
            </a:r>
            <a:r>
              <a:rPr lang="ko-KR" altLang="en-US" sz="2000"/>
              <a:t>스레드를 실행시키려면 </a:t>
            </a:r>
            <a:r>
              <a:rPr lang="en-US" altLang="ko-KR" sz="2000"/>
              <a:t>run </a:t>
            </a:r>
            <a:r>
              <a:rPr lang="ko-KR" altLang="en-US" sz="2000"/>
              <a:t>메소드 대신 </a:t>
            </a:r>
            <a:r>
              <a:rPr lang="en-US" altLang="ko-KR" sz="2000"/>
              <a:t>start </a:t>
            </a:r>
            <a:r>
              <a:rPr lang="ko-KR" altLang="en-US" sz="2000"/>
              <a:t>메소드를 호출해야 한다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메소드 </a:t>
            </a:r>
            <a:r>
              <a:rPr lang="en-US" altLang="ko-KR" sz="2000"/>
              <a:t>start</a:t>
            </a:r>
            <a:r>
              <a:rPr lang="ko-KR" altLang="en-US" sz="2000"/>
              <a:t>로 시작된 스레드는 스레드 큐에 들어가며 </a:t>
            </a:r>
            <a:r>
              <a:rPr lang="en-US" altLang="ko-KR" sz="2000"/>
              <a:t>CPU</a:t>
            </a:r>
            <a:r>
              <a:rPr lang="ko-KR" altLang="en-US" sz="2000"/>
              <a:t>는 스레드 큐 내의 스레드를 무작위로 꺼내어 일정 시간 수행하고 다시 스레드 큐에 넣는다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en-US" altLang="ko-KR" sz="2000"/>
              <a:t>Runnable </a:t>
            </a:r>
            <a:r>
              <a:rPr lang="ko-KR" altLang="en-US" sz="2000"/>
              <a:t>객체를 인수로 하여 </a:t>
            </a:r>
            <a:r>
              <a:rPr lang="en-US" altLang="ko-KR" sz="2000"/>
              <a:t>Thread </a:t>
            </a:r>
            <a:r>
              <a:rPr lang="ko-KR" altLang="en-US" sz="2000"/>
              <a:t>객체를 생성할 수 있다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어떤 작업이 동기화된다는 것은 한 번에 한 작업씩 차례로 수행된다는 것을 의미하는데</a:t>
            </a:r>
            <a:r>
              <a:rPr lang="en-US" altLang="ko-KR" sz="2000"/>
              <a:t>, </a:t>
            </a:r>
            <a:r>
              <a:rPr lang="ko-KR" altLang="en-US" sz="2000"/>
              <a:t>공통 데이터를 다루는 여러 스레드는 동기화되어야 한다</a:t>
            </a:r>
            <a:r>
              <a:rPr lang="en-US" altLang="ko-KR" sz="2000"/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F303B33-08FB-058B-0C86-E8F51B12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9300CA4-2797-9390-E13B-C70C61300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E41B-D9CE-4523-A6BD-62F11F3DAB8E}" type="slidenum">
              <a:rPr lang="ko-KR" altLang="en-US"/>
              <a:pPr/>
              <a:t>64</a:t>
            </a:fld>
            <a:endParaRPr lang="en-US" altLang="ko-KR"/>
          </a:p>
        </p:txBody>
      </p:sp>
      <p:sp>
        <p:nvSpPr>
          <p:cNvPr id="416770" name="Rectangle 2">
            <a:extLst>
              <a:ext uri="{FF2B5EF4-FFF2-40B4-BE49-F238E27FC236}">
                <a16:creationId xmlns:a16="http://schemas.microsoft.com/office/drawing/2014/main" id="{7F6FCC9B-E8F0-5603-3BD4-57DF1120BE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Key Point 2</a:t>
            </a:r>
          </a:p>
        </p:txBody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E7C61467-2CFF-2E67-DDB5-47DAE1964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ko-KR" altLang="en-US" sz="2000"/>
              <a:t>스레드 </a:t>
            </a:r>
            <a:r>
              <a:rPr lang="en-US" altLang="ko-KR" sz="2000"/>
              <a:t>t</a:t>
            </a:r>
            <a:r>
              <a:rPr lang="ko-KR" altLang="en-US" sz="2000"/>
              <a:t>에 대해 메소드 </a:t>
            </a:r>
            <a:r>
              <a:rPr lang="en-US" altLang="ko-KR" sz="2000"/>
              <a:t>t.join</a:t>
            </a:r>
            <a:r>
              <a:rPr lang="ko-KR" altLang="en-US" sz="2000"/>
              <a:t>을 호출하면 스레드 </a:t>
            </a:r>
            <a:r>
              <a:rPr lang="en-US" altLang="ko-KR" sz="2000"/>
              <a:t>t</a:t>
            </a:r>
            <a:r>
              <a:rPr lang="ko-KR" altLang="en-US" sz="2000"/>
              <a:t>가 종료되기를 기다린다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스레드 사이에 공유되는 데이터에 대해 여러 스레드 사이에서 동기화를 수행하려면 해당 메소드를 </a:t>
            </a:r>
            <a:r>
              <a:rPr lang="en-US" altLang="ko-KR" sz="2000"/>
              <a:t>synchronized </a:t>
            </a:r>
            <a:r>
              <a:rPr lang="ko-KR" altLang="en-US" sz="2000"/>
              <a:t>메소드로 선언해야 한다</a:t>
            </a:r>
            <a:r>
              <a:rPr lang="en-US" altLang="ko-KR" sz="2000"/>
              <a:t>. </a:t>
            </a:r>
            <a:r>
              <a:rPr lang="ko-KR" altLang="en-US" sz="2000"/>
              <a:t>데이터를 단순히 참조하는 메소드는 </a:t>
            </a:r>
            <a:r>
              <a:rPr lang="en-US" altLang="ko-KR" sz="2000"/>
              <a:t>synchronized </a:t>
            </a:r>
            <a:r>
              <a:rPr lang="ko-KR" altLang="en-US" sz="2000"/>
              <a:t>메소드로 구현할 필요가 없으며 데이터를 수정하는 메소드는 </a:t>
            </a:r>
            <a:r>
              <a:rPr lang="en-US" altLang="ko-KR" sz="2000"/>
              <a:t>synchronized </a:t>
            </a:r>
            <a:r>
              <a:rPr lang="ko-KR" altLang="en-US" sz="2000"/>
              <a:t>메소드로 구현해야 한다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메소드의 일부분만 동기화시키려면 </a:t>
            </a:r>
            <a:r>
              <a:rPr lang="en-US" altLang="ko-KR" sz="2000"/>
              <a:t>synchronized </a:t>
            </a:r>
            <a:r>
              <a:rPr lang="ko-KR" altLang="en-US" sz="2000"/>
              <a:t>블록을 사용하면 된다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메소드 </a:t>
            </a:r>
            <a:r>
              <a:rPr lang="en-US" altLang="ko-KR" sz="2000"/>
              <a:t>wait</a:t>
            </a:r>
            <a:r>
              <a:rPr lang="ko-KR" altLang="en-US" sz="2000"/>
              <a:t>를 호출하면 현재 수행중인 스레드가 대기 목록에 들어간다</a:t>
            </a:r>
            <a:r>
              <a:rPr lang="en-US" altLang="ko-KR" sz="2000"/>
              <a:t>. </a:t>
            </a:r>
            <a:r>
              <a:rPr lang="ko-KR" altLang="en-US" sz="2000"/>
              <a:t>반대로 대기 목록에 있는 스레드를 깨우려면 </a:t>
            </a:r>
            <a:r>
              <a:rPr lang="en-US" altLang="ko-KR" sz="2000"/>
              <a:t>notify</a:t>
            </a:r>
            <a:r>
              <a:rPr lang="ko-KR" altLang="en-US" sz="2000"/>
              <a:t>나 </a:t>
            </a:r>
            <a:r>
              <a:rPr lang="en-US" altLang="ko-KR" sz="2000"/>
              <a:t>notifyAll</a:t>
            </a:r>
            <a:r>
              <a:rPr lang="ko-KR" altLang="en-US" sz="2000"/>
              <a:t>을 호출한다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공유 자원 점유 순서가 서로 얽혀서 더 이상 계산을 진행할 수 없는 상태를 교착상태라고 한다</a:t>
            </a:r>
            <a:r>
              <a:rPr lang="en-US" altLang="ko-KR" sz="2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2000"/>
              <a:t>자원 점유 순서를 일렬로 정하면 순환 관계가 발생하지 않으므로 교착상태를 방지할 수 있다</a:t>
            </a:r>
            <a:r>
              <a:rPr lang="en-US" altLang="ko-KR" sz="2000"/>
              <a:t>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6" name="Rectangle 8">
            <a:extLst>
              <a:ext uri="{FF2B5EF4-FFF2-40B4-BE49-F238E27FC236}">
                <a16:creationId xmlns:a16="http://schemas.microsoft.com/office/drawing/2014/main" id="{49D9A81F-BAF3-B958-67C2-9D65F79937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프로그래밍 실습</a:t>
            </a:r>
          </a:p>
        </p:txBody>
      </p:sp>
      <p:sp>
        <p:nvSpPr>
          <p:cNvPr id="37897" name="Rectangle 9">
            <a:extLst>
              <a:ext uri="{FF2B5EF4-FFF2-40B4-BE49-F238E27FC236}">
                <a16:creationId xmlns:a16="http://schemas.microsoft.com/office/drawing/2014/main" id="{971A3BA7-574A-6399-629D-589194CBF3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E9EDB1-A522-A529-9AC7-CFD63570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C286DDCE-0B1E-A42F-D878-4AD8DA0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A8F4-7D7D-49E5-92C4-386EABD6562F}" type="slidenum">
              <a:rPr lang="ko-KR" altLang="en-US"/>
              <a:pPr/>
              <a:t>66</a:t>
            </a:fld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E9F7E3-56B5-1FF8-02A4-0638E9526584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FFDC83A1-EFA5-411F-89C4-BA821AA38F9B}" type="slidenum">
              <a:rPr kumimoji="0" lang="ko-KR" altLang="en-US" sz="1000">
                <a:latin typeface="HY동녘B" pitchFamily="18" charset="-127"/>
                <a:ea typeface="HY동녘B" pitchFamily="18" charset="-127"/>
              </a:rPr>
              <a:pPr algn="r" eaLnBrk="1" hangingPunct="1"/>
              <a:t>66</a:t>
            </a:fld>
            <a:endParaRPr kumimoji="0" lang="en-US" altLang="ko-KR" sz="1000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B562E012-AEF8-1A23-490B-DD0B77F9A5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ko-KR" altLang="en-US">
                <a:solidFill>
                  <a:schemeClr val="tx1"/>
                </a:solidFill>
              </a:rPr>
              <a:t>▶ 프로그래밍 실습 </a:t>
            </a:r>
            <a:r>
              <a:rPr lang="en-US" altLang="ko-KR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E5D36462-B384-449F-7530-34FDD03398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7138988" cy="4530725"/>
          </a:xfrm>
        </p:spPr>
        <p:txBody>
          <a:bodyPr/>
          <a:lstStyle/>
          <a:p>
            <a:pPr marL="457200" indent="-457200"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2400" b="1"/>
              <a:t>1.</a:t>
            </a:r>
            <a:r>
              <a:rPr lang="ko-KR" altLang="en-US" sz="2400" b="1"/>
              <a:t>생명게임</a:t>
            </a:r>
            <a:endParaRPr lang="ko-KR" altLang="en-US" sz="2400"/>
          </a:p>
          <a:p>
            <a:pPr marL="838200" lvl="1" indent="-381000" algn="just">
              <a:lnSpc>
                <a:spcPct val="80000"/>
              </a:lnSpc>
            </a:pPr>
            <a:r>
              <a:rPr lang="ko-KR" altLang="en-US" sz="2000"/>
              <a:t>생명게임은 식물의 군집 분포를 파악하기 위해 존 콘웨이</a:t>
            </a:r>
            <a:r>
              <a:rPr lang="en-US" altLang="ko-KR" sz="2000"/>
              <a:t>(John H. Conway)</a:t>
            </a:r>
            <a:r>
              <a:rPr lang="ko-KR" altLang="en-US" sz="2000"/>
              <a:t>가 고안한 것이다</a:t>
            </a:r>
            <a:r>
              <a:rPr lang="en-US" altLang="ko-KR" sz="2000"/>
              <a:t>. </a:t>
            </a:r>
            <a:r>
              <a:rPr lang="ko-KR" altLang="en-US" sz="2000"/>
              <a:t>생명게임은 정사각형 격자가 바둑판 형태로 놓여 있는 벌판에서 시작한다</a:t>
            </a:r>
            <a:r>
              <a:rPr lang="en-US" altLang="ko-KR" sz="2000"/>
              <a:t>. </a:t>
            </a:r>
            <a:r>
              <a:rPr lang="ko-KR" altLang="en-US" sz="2000"/>
              <a:t>각 격자에는 한 개체가 생존해 있거나 죽어있다</a:t>
            </a:r>
            <a:r>
              <a:rPr lang="en-US" altLang="ko-KR" sz="2000"/>
              <a:t>. </a:t>
            </a:r>
            <a:r>
              <a:rPr lang="ko-KR" altLang="en-US" sz="2000"/>
              <a:t>각 격자의 개체는 다음과 같은 원칙에 의해서 다음 세대에서 자신의 생존을 결정한다</a:t>
            </a:r>
            <a:r>
              <a:rPr lang="en-US" altLang="ko-KR" sz="2000"/>
              <a:t>.</a:t>
            </a:r>
          </a:p>
          <a:p>
            <a:pPr marL="1257300" lvl="2" indent="-342900" algn="just">
              <a:lnSpc>
                <a:spcPct val="80000"/>
              </a:lnSpc>
            </a:pPr>
            <a:r>
              <a:rPr lang="ko-KR" altLang="en-US" sz="1800"/>
              <a:t>주변 격자에 있는 개체 수가 </a:t>
            </a:r>
            <a:r>
              <a:rPr lang="en-US" altLang="ko-KR" sz="1800"/>
              <a:t>1</a:t>
            </a:r>
            <a:r>
              <a:rPr lang="ko-KR" altLang="en-US" sz="1800"/>
              <a:t>이하면 그 격자는 외로움 때문에 다음 세대에 죽는다</a:t>
            </a:r>
            <a:r>
              <a:rPr lang="en-US" altLang="ko-KR" sz="1800"/>
              <a:t>.</a:t>
            </a:r>
          </a:p>
          <a:p>
            <a:pPr marL="1257300" lvl="2" indent="-342900" algn="just">
              <a:lnSpc>
                <a:spcPct val="80000"/>
              </a:lnSpc>
            </a:pPr>
            <a:r>
              <a:rPr lang="ko-KR" altLang="en-US" sz="1800"/>
              <a:t>주변 격자에 있는 개체 수가 </a:t>
            </a:r>
            <a:r>
              <a:rPr lang="en-US" altLang="ko-KR" sz="1800"/>
              <a:t>2</a:t>
            </a:r>
            <a:r>
              <a:rPr lang="ko-KR" altLang="en-US" sz="1800"/>
              <a:t>나 </a:t>
            </a:r>
            <a:r>
              <a:rPr lang="en-US" altLang="ko-KR" sz="1800"/>
              <a:t>3</a:t>
            </a:r>
            <a:r>
              <a:rPr lang="ko-KR" altLang="en-US" sz="1800"/>
              <a:t>이면 그 격자는 다음 세대에도 살아남는다</a:t>
            </a:r>
            <a:r>
              <a:rPr lang="en-US" altLang="ko-KR" sz="1800"/>
              <a:t>.</a:t>
            </a:r>
          </a:p>
          <a:p>
            <a:pPr marL="1257300" lvl="2" indent="-342900" algn="just">
              <a:lnSpc>
                <a:spcPct val="80000"/>
              </a:lnSpc>
            </a:pPr>
            <a:r>
              <a:rPr lang="ko-KR" altLang="en-US" sz="1800"/>
              <a:t>주변 격자에 있는 개체 수가 </a:t>
            </a:r>
            <a:r>
              <a:rPr lang="en-US" altLang="ko-KR" sz="1800"/>
              <a:t>4</a:t>
            </a:r>
            <a:r>
              <a:rPr lang="ko-KR" altLang="en-US" sz="1800"/>
              <a:t>이상이면 그 격자는 인구 밀집으로 인해 다음 세대에 죽는다</a:t>
            </a:r>
            <a:r>
              <a:rPr lang="en-US" altLang="ko-KR" sz="1800"/>
              <a:t>.</a:t>
            </a:r>
          </a:p>
          <a:p>
            <a:pPr marL="838200" lvl="1" indent="-381000" algn="just">
              <a:lnSpc>
                <a:spcPct val="80000"/>
              </a:lnSpc>
            </a:pPr>
            <a:r>
              <a:rPr lang="ko-KR" altLang="en-US" sz="2000"/>
              <a:t>주변 격자란 한 격자의 여덟 방향에 있는 격자들을 의미한다</a:t>
            </a:r>
            <a:r>
              <a:rPr lang="en-US" altLang="ko-KR" sz="2000"/>
              <a:t>. </a:t>
            </a:r>
            <a:r>
              <a:rPr lang="ko-KR" altLang="en-US" sz="2000"/>
              <a:t>이런 방식으로 생명게임은 현 세대의 개체 분포를 바탕으로 다음 세대의 개체들을 결정한다</a:t>
            </a:r>
            <a:r>
              <a:rPr lang="en-US" altLang="ko-KR" sz="2000"/>
              <a:t>.</a:t>
            </a:r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B164C86E-2145-C3C2-B045-D8E2944D6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8922" name="Rectangle 10">
            <a:extLst>
              <a:ext uri="{FF2B5EF4-FFF2-40B4-BE49-F238E27FC236}">
                <a16:creationId xmlns:a16="http://schemas.microsoft.com/office/drawing/2014/main" id="{371D4E2C-B140-3FCE-E163-59833BE70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5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8925" name="Rectangle 13">
            <a:extLst>
              <a:ext uri="{FF2B5EF4-FFF2-40B4-BE49-F238E27FC236}">
                <a16:creationId xmlns:a16="http://schemas.microsoft.com/office/drawing/2014/main" id="{8856D641-8CC1-6921-2822-F5480ACD6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38924" name="_x68545520">
            <a:extLst>
              <a:ext uri="{FF2B5EF4-FFF2-40B4-BE49-F238E27FC236}">
                <a16:creationId xmlns:a16="http://schemas.microsoft.com/office/drawing/2014/main" id="{D731DC40-2DD7-FCB0-B896-7831CD3C3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3573463"/>
            <a:ext cx="1008062" cy="100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062CEFD-D61F-9F2B-754E-F7BBBFE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18A2D4DC-7742-D170-A592-5C81AB75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DB3F7-CDCC-4216-B39E-8E1660C4C5FF}" type="slidenum">
              <a:rPr lang="ko-KR" altLang="en-US"/>
              <a:pPr/>
              <a:t>67</a:t>
            </a:fld>
            <a:endParaRPr lang="en-US" altLang="ko-KR"/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9CA4CA9A-A43E-D0E9-2DFE-51DE1010C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chemeClr val="tx1"/>
                </a:solidFill>
              </a:rPr>
              <a:t>▶ 프로그래밍 실습 </a:t>
            </a:r>
            <a:r>
              <a:rPr lang="en-US" altLang="ko-KR">
                <a:solidFill>
                  <a:schemeClr val="tx1"/>
                </a:solidFill>
              </a:rPr>
              <a:t>1 (</a:t>
            </a:r>
            <a:r>
              <a:rPr lang="ko-KR" altLang="en-US">
                <a:solidFill>
                  <a:schemeClr val="tx1"/>
                </a:solidFill>
              </a:rPr>
              <a:t>계속</a:t>
            </a:r>
            <a:r>
              <a:rPr lang="en-US" altLang="ko-KR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0DC7EC61-A34C-7464-EBE0-09512B885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80000"/>
              </a:lnSpc>
            </a:pPr>
            <a:r>
              <a:rPr lang="ko-KR" altLang="en-US" sz="2000"/>
              <a:t>본래 생명게임은 현 세대의 각 격자 개체를 기준으로 다음 세대의 각 격자 생존 여부를 결정하는 프로그램이지만</a:t>
            </a:r>
            <a:r>
              <a:rPr lang="en-US" altLang="ko-KR" sz="2000"/>
              <a:t>, </a:t>
            </a:r>
            <a:r>
              <a:rPr lang="ko-KR" altLang="en-US" sz="2000"/>
              <a:t>이 실습문제에서는 스레드를 이용하는 버전으로 프로그램을 변경해 보자</a:t>
            </a:r>
            <a:r>
              <a:rPr lang="en-US" altLang="ko-KR" sz="2000"/>
              <a:t>. </a:t>
            </a:r>
          </a:p>
          <a:p>
            <a:pPr lvl="1" algn="just">
              <a:lnSpc>
                <a:spcPct val="80000"/>
              </a:lnSpc>
            </a:pPr>
            <a:r>
              <a:rPr lang="ko-KR" altLang="en-US" sz="2000"/>
              <a:t>각 셀을 나타내기 위한 클래스를 스레드 클래스 </a:t>
            </a:r>
            <a:r>
              <a:rPr lang="en-US" altLang="ko-KR" sz="2000"/>
              <a:t>Cell</a:t>
            </a:r>
            <a:r>
              <a:rPr lang="ko-KR" altLang="en-US" sz="2000"/>
              <a:t>로 정의하고 각 셀의 다음 세대를 결정짓는 작업을 </a:t>
            </a:r>
            <a:r>
              <a:rPr lang="en-US" altLang="ko-KR" sz="2000"/>
              <a:t>run() </a:t>
            </a:r>
            <a:r>
              <a:rPr lang="ko-KR" altLang="en-US" sz="2000"/>
              <a:t>메소드로 정의하자</a:t>
            </a:r>
            <a:r>
              <a:rPr lang="en-US" altLang="ko-KR" sz="2000"/>
              <a:t>. </a:t>
            </a:r>
            <a:r>
              <a:rPr lang="ko-KR" altLang="en-US" sz="2000"/>
              <a:t>그리고 </a:t>
            </a:r>
            <a:r>
              <a:rPr lang="en-US" altLang="ko-KR" sz="2000"/>
              <a:t>60×40</a:t>
            </a:r>
            <a:r>
              <a:rPr lang="ko-KR" altLang="en-US" sz="2000"/>
              <a:t>인 바둑판의 각 격자에 해당하는 개체를 만들어 각 격자 스레드를 시작시킨다</a:t>
            </a:r>
            <a:r>
              <a:rPr lang="en-US" altLang="ko-KR" sz="2000"/>
              <a:t>. </a:t>
            </a:r>
            <a:r>
              <a:rPr lang="ko-KR" altLang="en-US" sz="2000"/>
              <a:t>이렇게 하면 본래 생명게임과 다른 형태로 진행될 수 있다</a:t>
            </a:r>
            <a:r>
              <a:rPr lang="en-US" altLang="ko-KR" sz="2000"/>
              <a:t>.</a:t>
            </a:r>
          </a:p>
          <a:p>
            <a:pPr lvl="1" algn="just">
              <a:lnSpc>
                <a:spcPct val="80000"/>
              </a:lnSpc>
            </a:pPr>
            <a:r>
              <a:rPr lang="ko-KR" altLang="en-US" sz="2000"/>
              <a:t>또한 </a:t>
            </a:r>
            <a:r>
              <a:rPr lang="en-US" altLang="ko-KR" sz="2000"/>
              <a:t>Cell </a:t>
            </a:r>
            <a:r>
              <a:rPr lang="ko-KR" altLang="en-US" sz="2000"/>
              <a:t>객체를 생성하여 실제로 화면에 그릴 애플릿 클래스도 정의하자</a:t>
            </a:r>
            <a:r>
              <a:rPr lang="en-US" altLang="ko-KR" sz="2000"/>
              <a:t>. </a:t>
            </a:r>
            <a:r>
              <a:rPr lang="ko-KR" altLang="en-US" sz="2000"/>
              <a:t>애플릿 클래스의 </a:t>
            </a:r>
            <a:r>
              <a:rPr lang="en-US" altLang="ko-KR" sz="2000"/>
              <a:t>init() </a:t>
            </a:r>
            <a:r>
              <a:rPr lang="ko-KR" altLang="en-US" sz="2000"/>
              <a:t>메소드 내에서 여러 </a:t>
            </a:r>
            <a:r>
              <a:rPr lang="en-US" altLang="ko-KR" sz="2000"/>
              <a:t>Cell </a:t>
            </a:r>
            <a:r>
              <a:rPr lang="ko-KR" altLang="en-US" sz="2000"/>
              <a:t>객체를 생성하고 </a:t>
            </a:r>
            <a:r>
              <a:rPr lang="en-US" altLang="ko-KR" sz="2000"/>
              <a:t>start()</a:t>
            </a:r>
            <a:r>
              <a:rPr lang="ko-KR" altLang="en-US" sz="2000"/>
              <a:t>를 호출하도록 정의한다</a:t>
            </a:r>
            <a:r>
              <a:rPr lang="en-US" altLang="ko-KR" sz="2000"/>
              <a:t>. </a:t>
            </a:r>
            <a:r>
              <a:rPr lang="ko-KR" altLang="en-US" sz="2000"/>
              <a:t>각 셀의 상태를 그리는 작업은 애플릿에서 수행하도록 할 수도 있고 </a:t>
            </a:r>
            <a:r>
              <a:rPr lang="en-US" altLang="ko-KR" sz="2000"/>
              <a:t>Cell </a:t>
            </a:r>
            <a:r>
              <a:rPr lang="ko-KR" altLang="en-US" sz="2000"/>
              <a:t>객체에서 요청하도록 할 수도 있다</a:t>
            </a:r>
            <a:r>
              <a:rPr lang="en-US" altLang="ko-KR" sz="2000"/>
              <a:t>. Cell </a:t>
            </a:r>
            <a:r>
              <a:rPr lang="ko-KR" altLang="en-US" sz="2000"/>
              <a:t>객체에서 요청하도록 하려면 애플릿 객체를 </a:t>
            </a:r>
            <a:r>
              <a:rPr lang="en-US" altLang="ko-KR" sz="2000"/>
              <a:t>Cell </a:t>
            </a:r>
            <a:r>
              <a:rPr lang="ko-KR" altLang="en-US" sz="2000"/>
              <a:t>객체에 전달하고 </a:t>
            </a:r>
            <a:r>
              <a:rPr lang="en-US" altLang="ko-KR" sz="2000"/>
              <a:t>Cell </a:t>
            </a:r>
            <a:r>
              <a:rPr lang="ko-KR" altLang="en-US" sz="2000"/>
              <a:t>객체에서 애플릿 객체의 </a:t>
            </a:r>
            <a:r>
              <a:rPr lang="en-US" altLang="ko-KR" sz="2000"/>
              <a:t>repaint() </a:t>
            </a:r>
            <a:r>
              <a:rPr lang="ko-KR" altLang="en-US" sz="2000"/>
              <a:t>메소드를 호출하도록 하면 된다</a:t>
            </a:r>
            <a:r>
              <a:rPr lang="en-US" altLang="ko-KR" sz="2000"/>
              <a:t>. Cell </a:t>
            </a:r>
            <a:r>
              <a:rPr lang="ko-KR" altLang="en-US" sz="2000"/>
              <a:t>객체를 너무 많이 만들게 되면</a:t>
            </a:r>
            <a:r>
              <a:rPr lang="en-US" altLang="ko-KR" sz="2000"/>
              <a:t>(</a:t>
            </a:r>
            <a:r>
              <a:rPr lang="ko-KR" altLang="en-US" sz="2000"/>
              <a:t>몇 천개 이상</a:t>
            </a:r>
            <a:r>
              <a:rPr lang="en-US" altLang="ko-KR" sz="2000"/>
              <a:t>) </a:t>
            </a:r>
            <a:r>
              <a:rPr lang="ko-KR" altLang="en-US" sz="2000"/>
              <a:t>메모리 부족 오류가 발생할 수 있으므로 주의하자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71ECEE-679E-A1E8-8E57-B7B7CB53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/>
              <a:t>© 창병모,우균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594C19E7-4153-B4F0-D80B-93373830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A3BD-5E55-4180-B3C4-5E2009C201F3}" type="slidenum">
              <a:rPr lang="ko-KR" altLang="en-US"/>
              <a:pPr/>
              <a:t>68</a:t>
            </a:fld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38AC9-9F21-FF3B-B087-DD4C95B7740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algn="ctr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B737EA6D-423D-4777-A1C9-7AE957F6E291}" type="slidenum">
              <a:rPr kumimoji="0" lang="ko-KR" altLang="en-US" sz="1000">
                <a:latin typeface="HY동녘B" pitchFamily="18" charset="-127"/>
                <a:ea typeface="HY동녘B" pitchFamily="18" charset="-127"/>
              </a:rPr>
              <a:pPr algn="r" eaLnBrk="1" hangingPunct="1"/>
              <a:t>68</a:t>
            </a:fld>
            <a:endParaRPr kumimoji="0" lang="en-US" altLang="ko-KR" sz="1000"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859DEE9D-0187-6F29-4200-E691927634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ko-KR" altLang="en-US">
                <a:solidFill>
                  <a:schemeClr val="tx1"/>
                </a:solidFill>
              </a:rPr>
              <a:t>▶ 프로그래밍 실습 </a:t>
            </a:r>
            <a:r>
              <a:rPr lang="en-US" altLang="ko-KR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1668" name="Rectangle 3">
            <a:extLst>
              <a:ext uri="{FF2B5EF4-FFF2-40B4-BE49-F238E27FC236}">
                <a16:creationId xmlns:a16="http://schemas.microsoft.com/office/drawing/2014/main" id="{F43B6997-6086-3E8A-FE50-63DC75358F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2400" b="1"/>
              <a:t>2. </a:t>
            </a:r>
            <a:r>
              <a:rPr lang="ko-KR" altLang="en-US" sz="2400" b="1"/>
              <a:t>석차 계산</a:t>
            </a:r>
            <a:endParaRPr lang="ko-KR" altLang="en-US" sz="2400"/>
          </a:p>
          <a:p>
            <a:pPr lvl="1">
              <a:lnSpc>
                <a:spcPct val="80000"/>
              </a:lnSpc>
            </a:pPr>
            <a:r>
              <a:rPr lang="ko-KR" altLang="en-US" sz="2000"/>
              <a:t>학생들의 석차를 구하는 병렬 프로그램을 작성하라</a:t>
            </a:r>
            <a:r>
              <a:rPr lang="en-US" altLang="ko-KR" sz="2000"/>
              <a:t>. </a:t>
            </a:r>
            <a:r>
              <a:rPr lang="ko-KR" altLang="en-US" sz="2000"/>
              <a:t>자신의 석차는 자신보다 높은 점수인 사람들 수 더하기 </a:t>
            </a:r>
            <a:r>
              <a:rPr lang="en-US" altLang="ko-KR" sz="2000"/>
              <a:t>1</a:t>
            </a:r>
            <a:r>
              <a:rPr lang="ko-KR" altLang="en-US" sz="2000"/>
              <a:t>로 정의된다</a:t>
            </a:r>
            <a:r>
              <a:rPr lang="en-US" altLang="ko-KR" sz="2000"/>
              <a:t>. </a:t>
            </a:r>
            <a:r>
              <a:rPr lang="ko-KR" altLang="en-US" sz="2000"/>
              <a:t>예컨대 한 반 학생들이 </a:t>
            </a:r>
            <a:r>
              <a:rPr lang="en-US" altLang="ko-KR" sz="2000"/>
              <a:t>5</a:t>
            </a:r>
            <a:r>
              <a:rPr lang="ko-KR" altLang="en-US" sz="2000"/>
              <a:t>명이고 각 학생의 점수가 </a:t>
            </a:r>
            <a:r>
              <a:rPr lang="en-US" altLang="ko-KR" sz="2000"/>
              <a:t>80, 95, 95, 87, 70</a:t>
            </a:r>
            <a:r>
              <a:rPr lang="ko-KR" altLang="en-US" sz="2000"/>
              <a:t>이라면 석차는 차례로 </a:t>
            </a:r>
            <a:r>
              <a:rPr lang="en-US" altLang="ko-KR" sz="2000"/>
              <a:t>4, 1, 1, 3, 5</a:t>
            </a:r>
            <a:r>
              <a:rPr lang="ko-KR" altLang="en-US" sz="2000"/>
              <a:t>가 된다</a:t>
            </a:r>
            <a:r>
              <a:rPr lang="en-US" altLang="ko-KR" sz="2000"/>
              <a:t>. </a:t>
            </a:r>
          </a:p>
          <a:p>
            <a:pPr lvl="1">
              <a:lnSpc>
                <a:spcPct val="80000"/>
              </a:lnSpc>
            </a:pPr>
            <a:r>
              <a:rPr lang="ko-KR" altLang="en-US" sz="2000"/>
              <a:t>각 학생의 석차를 구하는 스레드 </a:t>
            </a:r>
            <a:r>
              <a:rPr lang="en-US" altLang="ko-KR" sz="2000"/>
              <a:t>FindRankingThread</a:t>
            </a:r>
            <a:r>
              <a:rPr lang="ko-KR" altLang="en-US" sz="2000"/>
              <a:t>를 학생 수만큼 만들어서 시작시킨다</a:t>
            </a:r>
            <a:r>
              <a:rPr lang="en-US" altLang="ko-KR" sz="2000"/>
              <a:t>. </a:t>
            </a:r>
            <a:r>
              <a:rPr lang="ko-KR" altLang="en-US" sz="2000"/>
              <a:t>학생들의 점수 배열을 </a:t>
            </a:r>
            <a:r>
              <a:rPr lang="en-US" altLang="ko-KR" sz="2000"/>
              <a:t>grade, </a:t>
            </a:r>
            <a:r>
              <a:rPr lang="ko-KR" altLang="en-US" sz="2000"/>
              <a:t>석차를 저장하기 위한 배열을 </a:t>
            </a:r>
            <a:r>
              <a:rPr lang="en-US" altLang="ko-KR" sz="2000"/>
              <a:t>ranking</a:t>
            </a:r>
            <a:r>
              <a:rPr lang="ko-KR" altLang="en-US" sz="2000"/>
              <a:t>이라고 하면 </a:t>
            </a:r>
            <a:r>
              <a:rPr lang="en-US" altLang="ko-KR" sz="2000"/>
              <a:t>FindRankingThread</a:t>
            </a:r>
            <a:r>
              <a:rPr lang="ko-KR" altLang="en-US" sz="2000"/>
              <a:t>의 생성자는 다음과 같이 정의한다</a:t>
            </a:r>
            <a:r>
              <a:rPr lang="en-US" altLang="ko-KR" sz="2000"/>
              <a:t>.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/>
              <a:t>public FindRankingThread(int[] grade, int index, int[] ranking);</a:t>
            </a:r>
          </a:p>
          <a:p>
            <a:pPr lvl="1">
              <a:lnSpc>
                <a:spcPct val="80000"/>
              </a:lnSpc>
            </a:pPr>
            <a:r>
              <a:rPr lang="en-US" altLang="ko-KR" sz="2000"/>
              <a:t>FindRankingThread</a:t>
            </a:r>
            <a:r>
              <a:rPr lang="ko-KR" altLang="en-US" sz="2000"/>
              <a:t>의 </a:t>
            </a:r>
            <a:r>
              <a:rPr lang="en-US" altLang="ko-KR" sz="2000"/>
              <a:t>run </a:t>
            </a:r>
            <a:r>
              <a:rPr lang="ko-KR" altLang="en-US" sz="2000"/>
              <a:t>메소드는 </a:t>
            </a:r>
            <a:r>
              <a:rPr lang="en-US" altLang="ko-KR" sz="2000"/>
              <a:t>grade</a:t>
            </a:r>
            <a:r>
              <a:rPr lang="ko-KR" altLang="en-US" sz="2000"/>
              <a:t>에서 </a:t>
            </a:r>
            <a:r>
              <a:rPr lang="en-US" altLang="ko-KR" sz="2000"/>
              <a:t>grade[index]</a:t>
            </a:r>
            <a:r>
              <a:rPr lang="ko-KR" altLang="en-US" sz="2000"/>
              <a:t>보다 높은 값을 세서 </a:t>
            </a:r>
            <a:r>
              <a:rPr lang="en-US" altLang="ko-KR" sz="2000"/>
              <a:t>ranking[index]</a:t>
            </a:r>
            <a:r>
              <a:rPr lang="ko-KR" altLang="en-US" sz="2000"/>
              <a:t>에 저장한다</a:t>
            </a:r>
            <a:r>
              <a:rPr lang="en-US" altLang="ko-KR" sz="2000"/>
              <a:t>. </a:t>
            </a:r>
            <a:r>
              <a:rPr lang="ko-KR" altLang="en-US" sz="2000"/>
              <a:t>적절한 점수 배열을 만들고 </a:t>
            </a:r>
            <a:r>
              <a:rPr lang="en-US" altLang="ko-KR" sz="2000"/>
              <a:t>FindRankingThread</a:t>
            </a:r>
            <a:r>
              <a:rPr lang="ko-KR" altLang="en-US" sz="2000"/>
              <a:t>를 테스트하는 메소드를 별도의 클래스에 정의하라</a:t>
            </a:r>
            <a:r>
              <a:rPr lang="en-US" altLang="ko-KR" sz="2000"/>
              <a:t>. </a:t>
            </a:r>
            <a:r>
              <a:rPr lang="ko-KR" altLang="en-US" sz="2000"/>
              <a:t>석차를 구하는 스레드 전체에 대해 </a:t>
            </a:r>
            <a:r>
              <a:rPr lang="en-US" altLang="ko-KR" sz="2000"/>
              <a:t>join</a:t>
            </a:r>
            <a:r>
              <a:rPr lang="ko-KR" altLang="en-US" sz="2000"/>
              <a:t>을 수행한 후에 석차를 출력해야 한다는 점에 주의하라</a:t>
            </a:r>
            <a:r>
              <a:rPr lang="en-US" altLang="ko-KR" sz="2000"/>
              <a:t>. </a:t>
            </a:r>
            <a:r>
              <a:rPr lang="ko-KR" altLang="en-US" sz="2000"/>
              <a:t>배열을 출력할 때는 </a:t>
            </a:r>
            <a:r>
              <a:rPr lang="en-US" altLang="ko-KR" sz="2000"/>
              <a:t>Arrays.toString </a:t>
            </a:r>
            <a:r>
              <a:rPr lang="ko-KR" altLang="en-US" sz="2000"/>
              <a:t>메소드를 이용하면 편리하다</a:t>
            </a:r>
            <a:r>
              <a:rPr lang="en-US" altLang="ko-KR" sz="200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Level design template">
  <a:themeElements>
    <a:clrScheme name="1_Level design template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Level design template">
      <a:majorFont>
        <a:latin typeface="HY동녘B"/>
        <a:ea typeface="HY동녘B"/>
        <a:cs typeface="Tahoma"/>
      </a:majorFont>
      <a:minorFont>
        <a:latin typeface="HY동녘B"/>
        <a:ea typeface="HY동녘B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동녘M" pitchFamily="18" charset="-127"/>
            <a:ea typeface="HY동녘M" pitchFamily="18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동녘M" pitchFamily="18" charset="-127"/>
            <a:ea typeface="HY동녘M" pitchFamily="18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1_Level design template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design template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design template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design template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design template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design template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vel design template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vel design template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8294</TotalTime>
  <Words>3544</Words>
  <Application>Microsoft Office PowerPoint</Application>
  <PresentationFormat>화면 슬라이드 쇼(4:3)</PresentationFormat>
  <Paragraphs>614</Paragraphs>
  <Slides>68</Slides>
  <Notes>68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81" baseType="lpstr">
      <vt:lpstr>Tahoma</vt:lpstr>
      <vt:lpstr>굴림</vt:lpstr>
      <vt:lpstr>Arial</vt:lpstr>
      <vt:lpstr>HY동녘B</vt:lpstr>
      <vt:lpstr>Times New Roman</vt:lpstr>
      <vt:lpstr>Wingdings</vt:lpstr>
      <vt:lpstr>굴림체</vt:lpstr>
      <vt:lpstr>Lucida Console</vt:lpstr>
      <vt:lpstr>Courier New</vt:lpstr>
      <vt:lpstr>HY강B</vt:lpstr>
      <vt:lpstr>HY견고딕</vt:lpstr>
      <vt:lpstr>HY동녘M</vt:lpstr>
      <vt:lpstr>1_Level design template</vt:lpstr>
      <vt:lpstr>Part 12 스레드</vt:lpstr>
      <vt:lpstr>이 장의 내용 </vt:lpstr>
      <vt:lpstr>12.1 프로세스와 스레드</vt:lpstr>
      <vt:lpstr>프로세스</vt:lpstr>
      <vt:lpstr>프로세스와 스레드</vt:lpstr>
      <vt:lpstr>다중 스레드 프로그래밍</vt:lpstr>
      <vt:lpstr>12.2 스레드를 사용하는 이유</vt:lpstr>
      <vt:lpstr>멀티태스킹의 필요성</vt:lpstr>
      <vt:lpstr>다중 스레드의 필요성</vt:lpstr>
      <vt:lpstr>12.3 Java의 스레드</vt:lpstr>
      <vt:lpstr>스레드 클래스</vt:lpstr>
      <vt:lpstr>스레드 관련 메소드</vt:lpstr>
      <vt:lpstr>12.1 스레드 준비: Messenger</vt:lpstr>
      <vt:lpstr>12.2 Shout</vt:lpstr>
      <vt:lpstr>12.3 Messenger Thread</vt:lpstr>
      <vt:lpstr>12.4 Shout</vt:lpstr>
      <vt:lpstr>스레드 수행 메커니즘</vt:lpstr>
      <vt:lpstr>스레드 큐</vt:lpstr>
      <vt:lpstr>Runnable 구현 Messenger</vt:lpstr>
      <vt:lpstr>Shout</vt:lpstr>
      <vt:lpstr>12.4 동기화</vt:lpstr>
      <vt:lpstr>동기화 목적</vt:lpstr>
      <vt:lpstr>12.7 동기화 문제(1/3)</vt:lpstr>
      <vt:lpstr>12.7 동기화 문제(2/3)</vt:lpstr>
      <vt:lpstr>12.7 동기화 문제(3/3)</vt:lpstr>
      <vt:lpstr>뭐가 잘못되었는가?</vt:lpstr>
      <vt:lpstr>join 메소드</vt:lpstr>
      <vt:lpstr>12.8 수정된 Transaction(1/2)</vt:lpstr>
      <vt:lpstr>12.8 수정된 Transaction(2/2)</vt:lpstr>
      <vt:lpstr>이제 잘못된 곳이 없는가?</vt:lpstr>
      <vt:lpstr>12.9 오류 Transaction(1/2)</vt:lpstr>
      <vt:lpstr>12.9 오류 Transaction(2/2)</vt:lpstr>
      <vt:lpstr>오류 해결 방법</vt:lpstr>
      <vt:lpstr>12.10 수정한 Account</vt:lpstr>
      <vt:lpstr>synchronized 블록</vt:lpstr>
      <vt:lpstr>12.5 생산자와 소비자</vt:lpstr>
      <vt:lpstr>생산자와 소비자 문제</vt:lpstr>
      <vt:lpstr>생산자와 소비자 예: 빵집</vt:lpstr>
      <vt:lpstr>12.11 Bakery</vt:lpstr>
      <vt:lpstr>12.11 Buffer</vt:lpstr>
      <vt:lpstr>12.11 Producer</vt:lpstr>
      <vt:lpstr>12.11 Consumer</vt:lpstr>
      <vt:lpstr>빵집 프로그램의 문제점</vt:lpstr>
      <vt:lpstr>빵집 프로그램 문제 해결 방법</vt:lpstr>
      <vt:lpstr>12.12 올바른 Buffer (1/2)</vt:lpstr>
      <vt:lpstr>12.12 올바른 Buffer (2/2)</vt:lpstr>
      <vt:lpstr>notify()와 notifyAll()의 차이</vt:lpstr>
      <vt:lpstr>12.6 교착상태(고급 주제)</vt:lpstr>
      <vt:lpstr>교착상태 정의</vt:lpstr>
      <vt:lpstr>12.13 Philosopher(1/5)</vt:lpstr>
      <vt:lpstr>12.13 Philosopher(2/5)</vt:lpstr>
      <vt:lpstr>12.13 Philosopher(3/5)</vt:lpstr>
      <vt:lpstr>12.13 Fork(4/5)</vt:lpstr>
      <vt:lpstr>12.13 Spaghetti(5/5)</vt:lpstr>
      <vt:lpstr>식사하는 철학자 프로그램의 객체 연결 관계</vt:lpstr>
      <vt:lpstr>식사하는 철학자 프로그램 분석</vt:lpstr>
      <vt:lpstr>교착상태 회피 방법</vt:lpstr>
      <vt:lpstr>자원요청 순서 조정</vt:lpstr>
      <vt:lpstr>12.14 Philosopher 발췌</vt:lpstr>
      <vt:lpstr>12.14 Philosopher 실행 결과</vt:lpstr>
      <vt:lpstr>교착상태 해결의 의미</vt:lpstr>
      <vt:lpstr>Key Point </vt:lpstr>
      <vt:lpstr>Key Point 1</vt:lpstr>
      <vt:lpstr>Key Point 2</vt:lpstr>
      <vt:lpstr>프로그래밍 실습</vt:lpstr>
      <vt:lpstr>▶ 프로그래밍 실습 1</vt:lpstr>
      <vt:lpstr>▶ 프로그래밍 실습 1 (계속)</vt:lpstr>
      <vt:lpstr>▶ 프로그래밍 실습 2</vt:lpstr>
    </vt:vector>
  </TitlesOfParts>
  <Company>부산대학교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 스레드</dc:title>
  <dc:creator>우균</dc:creator>
  <cp:lastModifiedBy>한정희 AI융합ICT전공(교수)</cp:lastModifiedBy>
  <cp:revision>337</cp:revision>
  <cp:lastPrinted>1995-10-08T01:49:42Z</cp:lastPrinted>
  <dcterms:created xsi:type="dcterms:W3CDTF">1995-11-01T10:23:08Z</dcterms:created>
  <dcterms:modified xsi:type="dcterms:W3CDTF">2026-05-14T09:07:37Z</dcterms:modified>
</cp:coreProperties>
</file>