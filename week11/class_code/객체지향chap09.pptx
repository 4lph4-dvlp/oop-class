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notesMasterIdLst>
    <p:notesMasterId r:id="rId68"/>
  </p:notesMasterIdLst>
  <p:handoutMasterIdLst>
    <p:handoutMasterId r:id="rId69"/>
  </p:handoutMasterIdLst>
  <p:sldIdLst>
    <p:sldId id="291" r:id="rId2"/>
    <p:sldId id="298" r:id="rId3"/>
    <p:sldId id="381" r:id="rId4"/>
    <p:sldId id="420" r:id="rId5"/>
    <p:sldId id="421" r:id="rId6"/>
    <p:sldId id="422" r:id="rId7"/>
    <p:sldId id="423" r:id="rId8"/>
    <p:sldId id="424" r:id="rId9"/>
    <p:sldId id="425" r:id="rId10"/>
    <p:sldId id="427" r:id="rId11"/>
    <p:sldId id="426" r:id="rId12"/>
    <p:sldId id="428" r:id="rId13"/>
    <p:sldId id="429" r:id="rId14"/>
    <p:sldId id="430" r:id="rId15"/>
    <p:sldId id="431" r:id="rId16"/>
    <p:sldId id="435" r:id="rId17"/>
    <p:sldId id="432" r:id="rId18"/>
    <p:sldId id="433" r:id="rId19"/>
    <p:sldId id="434" r:id="rId20"/>
    <p:sldId id="436" r:id="rId21"/>
    <p:sldId id="437" r:id="rId22"/>
    <p:sldId id="438" r:id="rId23"/>
    <p:sldId id="439" r:id="rId24"/>
    <p:sldId id="440" r:id="rId25"/>
    <p:sldId id="449" r:id="rId26"/>
    <p:sldId id="441" r:id="rId27"/>
    <p:sldId id="442" r:id="rId28"/>
    <p:sldId id="458" r:id="rId29"/>
    <p:sldId id="479" r:id="rId30"/>
    <p:sldId id="450" r:id="rId31"/>
    <p:sldId id="451" r:id="rId32"/>
    <p:sldId id="452" r:id="rId33"/>
    <p:sldId id="453" r:id="rId34"/>
    <p:sldId id="480" r:id="rId35"/>
    <p:sldId id="454" r:id="rId36"/>
    <p:sldId id="455" r:id="rId37"/>
    <p:sldId id="456" r:id="rId38"/>
    <p:sldId id="444" r:id="rId39"/>
    <p:sldId id="481" r:id="rId40"/>
    <p:sldId id="445" r:id="rId41"/>
    <p:sldId id="446" r:id="rId42"/>
    <p:sldId id="447" r:id="rId43"/>
    <p:sldId id="464" r:id="rId44"/>
    <p:sldId id="465" r:id="rId45"/>
    <p:sldId id="459" r:id="rId46"/>
    <p:sldId id="460" r:id="rId47"/>
    <p:sldId id="461" r:id="rId48"/>
    <p:sldId id="462" r:id="rId49"/>
    <p:sldId id="463" r:id="rId50"/>
    <p:sldId id="466" r:id="rId51"/>
    <p:sldId id="467" r:id="rId52"/>
    <p:sldId id="477" r:id="rId53"/>
    <p:sldId id="468" r:id="rId54"/>
    <p:sldId id="469" r:id="rId55"/>
    <p:sldId id="470" r:id="rId56"/>
    <p:sldId id="471" r:id="rId57"/>
    <p:sldId id="478" r:id="rId58"/>
    <p:sldId id="473" r:id="rId59"/>
    <p:sldId id="474" r:id="rId60"/>
    <p:sldId id="475" r:id="rId61"/>
    <p:sldId id="476" r:id="rId62"/>
    <p:sldId id="388" r:id="rId63"/>
    <p:sldId id="389" r:id="rId64"/>
    <p:sldId id="387" r:id="rId65"/>
    <p:sldId id="374" r:id="rId66"/>
    <p:sldId id="375" r:id="rId67"/>
  </p:sldIdLst>
  <p:sldSz cx="9144000" cy="6858000" type="screen4x3"/>
  <p:notesSz cx="6858000" cy="9144000"/>
  <p:defaultTextStyle>
    <a:defPPr>
      <a:defRPr lang="en-US"/>
    </a:defPPr>
    <a:lvl1pPr algn="ctr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1pPr>
    <a:lvl2pPr marL="457200" algn="ctr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2pPr>
    <a:lvl3pPr marL="914400" algn="ctr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3pPr>
    <a:lvl4pPr marL="1371600" algn="ctr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4pPr>
    <a:lvl5pPr marL="1828800" algn="ctr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5">
          <p15:clr>
            <a:srgbClr val="A4A3A4"/>
          </p15:clr>
        </p15:guide>
        <p15:guide id="2" pos="144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33FF"/>
    <a:srgbClr val="FF00FF"/>
    <a:srgbClr val="FF6600"/>
    <a:srgbClr val="6666FF"/>
    <a:srgbClr val="FF5050"/>
    <a:srgbClr val="990000"/>
    <a:srgbClr val="FFFF00"/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96" autoAdjust="0"/>
    <p:restoredTop sz="94717" autoAdjust="0"/>
  </p:normalViewPr>
  <p:slideViewPr>
    <p:cSldViewPr>
      <p:cViewPr varScale="1">
        <p:scale>
          <a:sx n="57" d="100"/>
          <a:sy n="57" d="100"/>
        </p:scale>
        <p:origin x="1528" y="44"/>
      </p:cViewPr>
      <p:guideLst>
        <p:guide orient="horz" pos="2285"/>
        <p:guide pos="1446"/>
      </p:guideLst>
    </p:cSldViewPr>
  </p:slideViewPr>
  <p:outlineViewPr>
    <p:cViewPr>
      <p:scale>
        <a:sx n="33" d="100"/>
        <a:sy n="33" d="100"/>
      </p:scale>
      <p:origin x="0" y="292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3108"/>
    </p:cViewPr>
  </p:sorterViewPr>
  <p:notesViewPr>
    <p:cSldViewPr>
      <p:cViewPr varScale="1">
        <p:scale>
          <a:sx n="83" d="100"/>
          <a:sy n="83" d="100"/>
        </p:scale>
        <p:origin x="-169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D80325B-968B-D7D4-56F9-DF348651541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cs typeface="Tahoma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E909ED6-1114-DA3C-8235-C4FA3EDA34F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cs typeface="Tahoma" pitchFamily="34" charset="0"/>
              </a:defRPr>
            </a:lvl1pPr>
          </a:lstStyle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8B2751D-A262-1100-41FB-103550D0B95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cs typeface="Tahoma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A257E5BB-C10A-14D4-6F14-6C048152A33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67EC63FD-0BEB-4A0C-8EF6-C3F6E79A9C21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031C75B-EF9F-0DEC-3596-32ABAEF60D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cs typeface="Tahoma" pitchFamily="34" charset="0"/>
              </a:defRPr>
            </a:lvl1pPr>
          </a:lstStyle>
          <a:p>
            <a:pPr>
              <a:defRPr/>
            </a:pPr>
            <a:endParaRPr lang="ko-KR" altLang="ko-KR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6ACBA60-AED6-EE09-F20B-F61B439FEF8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cs typeface="Tahoma" pitchFamily="34" charset="0"/>
              </a:defRPr>
            </a:lvl1pPr>
          </a:lstStyle>
          <a:p>
            <a:pPr>
              <a:defRPr/>
            </a:pPr>
            <a:r>
              <a:rPr lang="ko-KR" altLang="en-US"/>
              <a:t>© 우균, 창병모</a:t>
            </a:r>
            <a:endParaRPr lang="ko-KR" altLang="ko-KR"/>
          </a:p>
        </p:txBody>
      </p:sp>
      <p:sp>
        <p:nvSpPr>
          <p:cNvPr id="70660" name="Rectangle 4">
            <a:extLst>
              <a:ext uri="{FF2B5EF4-FFF2-40B4-BE49-F238E27FC236}">
                <a16:creationId xmlns:a16="http://schemas.microsoft.com/office/drawing/2014/main" id="{D34F0C39-E9B8-7E12-4ED4-A208B4E4C1DD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ECEEBCF5-74F8-B712-49D4-A3318C677C6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ko-KR" noProof="0"/>
              <a:t>마스터 문자열 유형 편집</a:t>
            </a:r>
          </a:p>
          <a:p>
            <a:pPr lvl="1"/>
            <a:r>
              <a:rPr lang="ko-KR" altLang="ko-KR" noProof="0"/>
              <a:t>둘째 수준</a:t>
            </a:r>
          </a:p>
          <a:p>
            <a:pPr lvl="2"/>
            <a:r>
              <a:rPr lang="ko-KR" altLang="ko-KR" noProof="0"/>
              <a:t>셋째 수준</a:t>
            </a:r>
          </a:p>
          <a:p>
            <a:pPr lvl="3"/>
            <a:r>
              <a:rPr lang="ko-KR" altLang="ko-KR" noProof="0"/>
              <a:t>넷째 수준</a:t>
            </a:r>
          </a:p>
          <a:p>
            <a:pPr lvl="4"/>
            <a:r>
              <a:rPr lang="ko-KR" altLang="ko-KR" noProof="0"/>
              <a:t>다섯째 수준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D8C1C38A-B506-37B7-4C98-FDE6DC0BE8A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cs typeface="Tahoma" pitchFamily="34" charset="0"/>
              </a:defRPr>
            </a:lvl1pPr>
          </a:lstStyle>
          <a:p>
            <a:pPr>
              <a:defRPr/>
            </a:pPr>
            <a:endParaRPr lang="ko-KR" altLang="ko-KR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31B40C49-5C99-53E5-63E0-2459EE77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876B6186-8D19-4019-A509-53F8331EFBB8}" type="slidenum">
              <a:rPr lang="ko-KR" altLang="ko-KR"/>
              <a:pPr/>
              <a:t>‹#›</a:t>
            </a:fld>
            <a:endParaRPr lang="ko-KR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3">
            <a:extLst>
              <a:ext uri="{FF2B5EF4-FFF2-40B4-BE49-F238E27FC236}">
                <a16:creationId xmlns:a16="http://schemas.microsoft.com/office/drawing/2014/main" id="{721A9256-0282-B9F6-D3FE-47FB086174D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r>
              <a:rPr lang="ko-KR" altLang="en-US">
                <a:latin typeface="Times New Roman" panose="02020603050405020304" pitchFamily="18" charset="0"/>
              </a:rPr>
              <a:t>© 우균, 창병모</a:t>
            </a:r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71683" name="Rectangle 7">
            <a:extLst>
              <a:ext uri="{FF2B5EF4-FFF2-40B4-BE49-F238E27FC236}">
                <a16:creationId xmlns:a16="http://schemas.microsoft.com/office/drawing/2014/main" id="{EA2A6089-0371-D234-3DF5-DE62FA8E86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77215D3-9E86-405A-A070-42C2858BA6C7}" type="slidenum">
              <a:rPr lang="ko-KR" altLang="ko-KR">
                <a:latin typeface="Times New Roman" panose="02020603050405020304" pitchFamily="18" charset="0"/>
                <a:cs typeface="Tahoma" panose="020B0604030504040204" pitchFamily="34" charset="0"/>
              </a:rPr>
              <a:pPr algn="r" eaLnBrk="1" hangingPunct="1">
                <a:spcBef>
                  <a:spcPct val="0"/>
                </a:spcBef>
              </a:pPr>
              <a:t>1</a:t>
            </a:fld>
            <a:endParaRPr lang="ko-KR" altLang="ko-KR">
              <a:latin typeface="Times New Roman" panose="02020603050405020304" pitchFamily="18" charset="0"/>
              <a:cs typeface="Tahoma" panose="020B0604030504040204" pitchFamily="34" charset="0"/>
            </a:endParaRPr>
          </a:p>
        </p:txBody>
      </p:sp>
      <p:sp>
        <p:nvSpPr>
          <p:cNvPr id="71684" name="Rectangle 2">
            <a:extLst>
              <a:ext uri="{FF2B5EF4-FFF2-40B4-BE49-F238E27FC236}">
                <a16:creationId xmlns:a16="http://schemas.microsoft.com/office/drawing/2014/main" id="{DFD18A8D-C9CF-9924-CA26-38C825BBBAF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5" name="Rectangle 3">
            <a:extLst>
              <a:ext uri="{FF2B5EF4-FFF2-40B4-BE49-F238E27FC236}">
                <a16:creationId xmlns:a16="http://schemas.microsoft.com/office/drawing/2014/main" id="{6508E404-58A8-C873-0978-5F3CEED4EF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>
            <a:extLst>
              <a:ext uri="{FF2B5EF4-FFF2-40B4-BE49-F238E27FC236}">
                <a16:creationId xmlns:a16="http://schemas.microsoft.com/office/drawing/2014/main" id="{F353B751-88E8-2E71-F3B8-9F1558AC0D6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r>
              <a:rPr lang="ko-KR" altLang="en-US">
                <a:latin typeface="Times New Roman" panose="02020603050405020304" pitchFamily="18" charset="0"/>
              </a:rPr>
              <a:t>© 우균, 창병모</a:t>
            </a:r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72707" name="Rectangle 7">
            <a:extLst>
              <a:ext uri="{FF2B5EF4-FFF2-40B4-BE49-F238E27FC236}">
                <a16:creationId xmlns:a16="http://schemas.microsoft.com/office/drawing/2014/main" id="{0A457B4F-F14B-3F91-1A06-904E4CD5DE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878ACDD-934B-471E-8E13-98CD0EC656E1}" type="slidenum">
              <a:rPr lang="ko-KR" altLang="ko-KR">
                <a:latin typeface="Times New Roman" panose="02020603050405020304" pitchFamily="18" charset="0"/>
                <a:cs typeface="Tahoma" panose="020B0604030504040204" pitchFamily="34" charset="0"/>
              </a:rPr>
              <a:pPr algn="r" eaLnBrk="1" hangingPunct="1">
                <a:spcBef>
                  <a:spcPct val="0"/>
                </a:spcBef>
              </a:pPr>
              <a:t>2</a:t>
            </a:fld>
            <a:endParaRPr lang="ko-KR" altLang="ko-KR">
              <a:latin typeface="Times New Roman" panose="02020603050405020304" pitchFamily="18" charset="0"/>
              <a:cs typeface="Tahoma" panose="020B0604030504040204" pitchFamily="34" charset="0"/>
            </a:endParaRPr>
          </a:p>
        </p:txBody>
      </p:sp>
      <p:sp>
        <p:nvSpPr>
          <p:cNvPr id="72708" name="Rectangle 2">
            <a:extLst>
              <a:ext uri="{FF2B5EF4-FFF2-40B4-BE49-F238E27FC236}">
                <a16:creationId xmlns:a16="http://schemas.microsoft.com/office/drawing/2014/main" id="{C9B22EC0-6425-E8A2-F973-29250ECB789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9" name="Rectangle 3">
            <a:extLst>
              <a:ext uri="{FF2B5EF4-FFF2-40B4-BE49-F238E27FC236}">
                <a16:creationId xmlns:a16="http://schemas.microsoft.com/office/drawing/2014/main" id="{AB8FAB1E-479F-9BD4-6AEB-75C95014B2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3">
            <a:extLst>
              <a:ext uri="{FF2B5EF4-FFF2-40B4-BE49-F238E27FC236}">
                <a16:creationId xmlns:a16="http://schemas.microsoft.com/office/drawing/2014/main" id="{6FC3B383-8597-D588-8B6F-45E489351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r>
              <a:rPr lang="ko-KR" altLang="en-US">
                <a:latin typeface="Times New Roman" panose="02020603050405020304" pitchFamily="18" charset="0"/>
              </a:rPr>
              <a:t>© 우균, 창병모</a:t>
            </a:r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73731" name="Rectangle 7">
            <a:extLst>
              <a:ext uri="{FF2B5EF4-FFF2-40B4-BE49-F238E27FC236}">
                <a16:creationId xmlns:a16="http://schemas.microsoft.com/office/drawing/2014/main" id="{DD7DFBC8-1C62-FB7E-B043-35D2EDB32E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1A2B6F5-9618-4A86-ADBE-DB3B50F294A6}" type="slidenum">
              <a:rPr lang="ko-KR" altLang="ko-KR">
                <a:latin typeface="Times New Roman" panose="02020603050405020304" pitchFamily="18" charset="0"/>
                <a:cs typeface="Tahoma" panose="020B0604030504040204" pitchFamily="34" charset="0"/>
              </a:rPr>
              <a:pPr algn="r" eaLnBrk="1" hangingPunct="1">
                <a:spcBef>
                  <a:spcPct val="0"/>
                </a:spcBef>
              </a:pPr>
              <a:t>3</a:t>
            </a:fld>
            <a:endParaRPr lang="ko-KR" altLang="ko-KR">
              <a:latin typeface="Times New Roman" panose="02020603050405020304" pitchFamily="18" charset="0"/>
              <a:cs typeface="Tahoma" panose="020B0604030504040204" pitchFamily="34" charset="0"/>
            </a:endParaRPr>
          </a:p>
        </p:txBody>
      </p:sp>
      <p:sp>
        <p:nvSpPr>
          <p:cNvPr id="73732" name="Rectangle 2">
            <a:extLst>
              <a:ext uri="{FF2B5EF4-FFF2-40B4-BE49-F238E27FC236}">
                <a16:creationId xmlns:a16="http://schemas.microsoft.com/office/drawing/2014/main" id="{5F8BD8AA-493E-F7D4-6A7A-46A4956051C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3" name="Rectangle 3">
            <a:extLst>
              <a:ext uri="{FF2B5EF4-FFF2-40B4-BE49-F238E27FC236}">
                <a16:creationId xmlns:a16="http://schemas.microsoft.com/office/drawing/2014/main" id="{4E4FA994-5F46-D7F7-C062-2DEE7436F5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3">
            <a:extLst>
              <a:ext uri="{FF2B5EF4-FFF2-40B4-BE49-F238E27FC236}">
                <a16:creationId xmlns:a16="http://schemas.microsoft.com/office/drawing/2014/main" id="{7065218F-02D9-81BA-2DD7-FED27EBCF02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r>
              <a:rPr lang="ko-KR" altLang="en-US">
                <a:latin typeface="Times New Roman" panose="02020603050405020304" pitchFamily="18" charset="0"/>
              </a:rPr>
              <a:t>© 우균, 창병모</a:t>
            </a:r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74755" name="Rectangle 7">
            <a:extLst>
              <a:ext uri="{FF2B5EF4-FFF2-40B4-BE49-F238E27FC236}">
                <a16:creationId xmlns:a16="http://schemas.microsoft.com/office/drawing/2014/main" id="{3DBBFDDB-3176-4E2C-F6A4-87B5ECE93E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C64F393-2F81-48FE-A645-9B2F77A7A3B0}" type="slidenum">
              <a:rPr lang="ko-KR" altLang="ko-KR">
                <a:latin typeface="Times New Roman" panose="02020603050405020304" pitchFamily="18" charset="0"/>
                <a:cs typeface="Tahoma" panose="020B0604030504040204" pitchFamily="34" charset="0"/>
              </a:rPr>
              <a:pPr algn="r" eaLnBrk="1" hangingPunct="1">
                <a:spcBef>
                  <a:spcPct val="0"/>
                </a:spcBef>
              </a:pPr>
              <a:t>10</a:t>
            </a:fld>
            <a:endParaRPr lang="ko-KR" altLang="ko-KR">
              <a:latin typeface="Times New Roman" panose="02020603050405020304" pitchFamily="18" charset="0"/>
              <a:cs typeface="Tahoma" panose="020B0604030504040204" pitchFamily="34" charset="0"/>
            </a:endParaRPr>
          </a:p>
        </p:txBody>
      </p:sp>
      <p:sp>
        <p:nvSpPr>
          <p:cNvPr id="74756" name="Rectangle 2">
            <a:extLst>
              <a:ext uri="{FF2B5EF4-FFF2-40B4-BE49-F238E27FC236}">
                <a16:creationId xmlns:a16="http://schemas.microsoft.com/office/drawing/2014/main" id="{72ACF923-4294-39A8-BD3E-C37BB7080DC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7" name="Rectangle 3">
            <a:extLst>
              <a:ext uri="{FF2B5EF4-FFF2-40B4-BE49-F238E27FC236}">
                <a16:creationId xmlns:a16="http://schemas.microsoft.com/office/drawing/2014/main" id="{5B73C5C9-06AA-0B80-313D-48B6AAB6CA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>
            <a:extLst>
              <a:ext uri="{FF2B5EF4-FFF2-40B4-BE49-F238E27FC236}">
                <a16:creationId xmlns:a16="http://schemas.microsoft.com/office/drawing/2014/main" id="{A5C2F303-EF49-D53A-1EEA-D2AB4EFAEC0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r>
              <a:rPr lang="ko-KR" altLang="en-US">
                <a:latin typeface="Times New Roman" panose="02020603050405020304" pitchFamily="18" charset="0"/>
              </a:rPr>
              <a:t>© 우균, 창병모</a:t>
            </a:r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75779" name="Rectangle 7">
            <a:extLst>
              <a:ext uri="{FF2B5EF4-FFF2-40B4-BE49-F238E27FC236}">
                <a16:creationId xmlns:a16="http://schemas.microsoft.com/office/drawing/2014/main" id="{6498DF30-AB8A-7D8A-1653-F03E17027A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E54CF96-4ABE-4035-BE32-F1FD1A8FFAE1}" type="slidenum">
              <a:rPr lang="ko-KR" altLang="ko-KR">
                <a:latin typeface="Times New Roman" panose="02020603050405020304" pitchFamily="18" charset="0"/>
                <a:cs typeface="Tahoma" panose="020B0604030504040204" pitchFamily="34" charset="0"/>
              </a:rPr>
              <a:pPr algn="r" eaLnBrk="1" hangingPunct="1">
                <a:spcBef>
                  <a:spcPct val="0"/>
                </a:spcBef>
              </a:pPr>
              <a:t>23</a:t>
            </a:fld>
            <a:endParaRPr lang="ko-KR" altLang="ko-KR">
              <a:latin typeface="Times New Roman" panose="02020603050405020304" pitchFamily="18" charset="0"/>
              <a:cs typeface="Tahoma" panose="020B0604030504040204" pitchFamily="34" charset="0"/>
            </a:endParaRPr>
          </a:p>
        </p:txBody>
      </p:sp>
      <p:sp>
        <p:nvSpPr>
          <p:cNvPr id="75780" name="Rectangle 2">
            <a:extLst>
              <a:ext uri="{FF2B5EF4-FFF2-40B4-BE49-F238E27FC236}">
                <a16:creationId xmlns:a16="http://schemas.microsoft.com/office/drawing/2014/main" id="{69289844-E446-1DB3-59D0-E597D89ED81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1" name="Rectangle 3">
            <a:extLst>
              <a:ext uri="{FF2B5EF4-FFF2-40B4-BE49-F238E27FC236}">
                <a16:creationId xmlns:a16="http://schemas.microsoft.com/office/drawing/2014/main" id="{B1752531-2306-ED06-4D4E-69BD98E548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3">
            <a:extLst>
              <a:ext uri="{FF2B5EF4-FFF2-40B4-BE49-F238E27FC236}">
                <a16:creationId xmlns:a16="http://schemas.microsoft.com/office/drawing/2014/main" id="{AE0ED66B-9F82-2CA0-CD81-A94D817B53D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r>
              <a:rPr lang="ko-KR" altLang="en-US">
                <a:latin typeface="Times New Roman" panose="02020603050405020304" pitchFamily="18" charset="0"/>
              </a:rPr>
              <a:t>© 우균, 창병모</a:t>
            </a:r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76803" name="Rectangle 7">
            <a:extLst>
              <a:ext uri="{FF2B5EF4-FFF2-40B4-BE49-F238E27FC236}">
                <a16:creationId xmlns:a16="http://schemas.microsoft.com/office/drawing/2014/main" id="{BA1936E9-8585-ADB6-BFDC-E55574D38B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729D710-DF65-4885-A69F-F2B468708AA6}" type="slidenum">
              <a:rPr lang="ko-KR" altLang="ko-KR">
                <a:latin typeface="Times New Roman" panose="02020603050405020304" pitchFamily="18" charset="0"/>
                <a:cs typeface="Tahoma" panose="020B0604030504040204" pitchFamily="34" charset="0"/>
              </a:rPr>
              <a:pPr algn="r" eaLnBrk="1" hangingPunct="1">
                <a:spcBef>
                  <a:spcPct val="0"/>
                </a:spcBef>
              </a:pPr>
              <a:t>62</a:t>
            </a:fld>
            <a:endParaRPr lang="ko-KR" altLang="ko-KR">
              <a:latin typeface="Times New Roman" panose="02020603050405020304" pitchFamily="18" charset="0"/>
              <a:cs typeface="Tahoma" panose="020B0604030504040204" pitchFamily="34" charset="0"/>
            </a:endParaRPr>
          </a:p>
        </p:txBody>
      </p:sp>
      <p:sp>
        <p:nvSpPr>
          <p:cNvPr id="76804" name="Rectangle 2">
            <a:extLst>
              <a:ext uri="{FF2B5EF4-FFF2-40B4-BE49-F238E27FC236}">
                <a16:creationId xmlns:a16="http://schemas.microsoft.com/office/drawing/2014/main" id="{65DD39D9-2E1E-AACB-11CA-5378D759A5F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5" name="Rectangle 3">
            <a:extLst>
              <a:ext uri="{FF2B5EF4-FFF2-40B4-BE49-F238E27FC236}">
                <a16:creationId xmlns:a16="http://schemas.microsoft.com/office/drawing/2014/main" id="{D031CEC9-6994-0C05-6FDB-95AFB4F09C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3">
            <a:extLst>
              <a:ext uri="{FF2B5EF4-FFF2-40B4-BE49-F238E27FC236}">
                <a16:creationId xmlns:a16="http://schemas.microsoft.com/office/drawing/2014/main" id="{85D57463-9525-25E2-84C4-14B0B948C11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r>
              <a:rPr lang="ko-KR" altLang="en-US">
                <a:latin typeface="Times New Roman" panose="02020603050405020304" pitchFamily="18" charset="0"/>
              </a:rPr>
              <a:t>© 우균, 창병모</a:t>
            </a:r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77827" name="Rectangle 7">
            <a:extLst>
              <a:ext uri="{FF2B5EF4-FFF2-40B4-BE49-F238E27FC236}">
                <a16:creationId xmlns:a16="http://schemas.microsoft.com/office/drawing/2014/main" id="{191E5D13-8B0B-DC60-449F-D34B1994DD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510DE63-EF11-4180-9D6D-248134781D6A}" type="slidenum">
              <a:rPr lang="ko-KR" altLang="ko-KR">
                <a:latin typeface="Times New Roman" panose="02020603050405020304" pitchFamily="18" charset="0"/>
                <a:cs typeface="Tahoma" panose="020B0604030504040204" pitchFamily="34" charset="0"/>
              </a:rPr>
              <a:pPr algn="r" eaLnBrk="1" hangingPunct="1">
                <a:spcBef>
                  <a:spcPct val="0"/>
                </a:spcBef>
              </a:pPr>
              <a:t>63</a:t>
            </a:fld>
            <a:endParaRPr lang="ko-KR" altLang="ko-KR">
              <a:latin typeface="Times New Roman" panose="02020603050405020304" pitchFamily="18" charset="0"/>
              <a:cs typeface="Tahoma" panose="020B0604030504040204" pitchFamily="34" charset="0"/>
            </a:endParaRPr>
          </a:p>
        </p:txBody>
      </p:sp>
      <p:sp>
        <p:nvSpPr>
          <p:cNvPr id="77828" name="Rectangle 2">
            <a:extLst>
              <a:ext uri="{FF2B5EF4-FFF2-40B4-BE49-F238E27FC236}">
                <a16:creationId xmlns:a16="http://schemas.microsoft.com/office/drawing/2014/main" id="{9B2A2075-211A-2F1D-BA24-EDF7C98E479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9" name="Rectangle 3">
            <a:extLst>
              <a:ext uri="{FF2B5EF4-FFF2-40B4-BE49-F238E27FC236}">
                <a16:creationId xmlns:a16="http://schemas.microsoft.com/office/drawing/2014/main" id="{BD147A14-43C8-A77F-3017-85FB1652A7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3">
            <a:extLst>
              <a:ext uri="{FF2B5EF4-FFF2-40B4-BE49-F238E27FC236}">
                <a16:creationId xmlns:a16="http://schemas.microsoft.com/office/drawing/2014/main" id="{F58D45ED-E0D8-890D-C879-DCBED899A16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r>
              <a:rPr lang="ko-KR" altLang="en-US">
                <a:latin typeface="Times New Roman" panose="02020603050405020304" pitchFamily="18" charset="0"/>
              </a:rPr>
              <a:t>© 우균, 창병모</a:t>
            </a:r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78851" name="Rectangle 7">
            <a:extLst>
              <a:ext uri="{FF2B5EF4-FFF2-40B4-BE49-F238E27FC236}">
                <a16:creationId xmlns:a16="http://schemas.microsoft.com/office/drawing/2014/main" id="{EA766400-B962-9B3D-DACC-D121ACBA44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466FF31-CF98-447A-8508-589B83FB5D62}" type="slidenum">
              <a:rPr lang="ko-KR" altLang="ko-KR">
                <a:latin typeface="Times New Roman" panose="02020603050405020304" pitchFamily="18" charset="0"/>
                <a:cs typeface="Tahoma" panose="020B0604030504040204" pitchFamily="34" charset="0"/>
              </a:rPr>
              <a:pPr algn="r" eaLnBrk="1" hangingPunct="1">
                <a:spcBef>
                  <a:spcPct val="0"/>
                </a:spcBef>
              </a:pPr>
              <a:t>64</a:t>
            </a:fld>
            <a:endParaRPr lang="ko-KR" altLang="ko-KR">
              <a:latin typeface="Times New Roman" panose="02020603050405020304" pitchFamily="18" charset="0"/>
              <a:cs typeface="Tahoma" panose="020B0604030504040204" pitchFamily="34" charset="0"/>
            </a:endParaRPr>
          </a:p>
        </p:txBody>
      </p:sp>
      <p:sp>
        <p:nvSpPr>
          <p:cNvPr id="78852" name="Rectangle 2">
            <a:extLst>
              <a:ext uri="{FF2B5EF4-FFF2-40B4-BE49-F238E27FC236}">
                <a16:creationId xmlns:a16="http://schemas.microsoft.com/office/drawing/2014/main" id="{0ACA4A94-18D3-F86E-76A3-8AE4E8B8A66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3" name="Rectangle 3">
            <a:extLst>
              <a:ext uri="{FF2B5EF4-FFF2-40B4-BE49-F238E27FC236}">
                <a16:creationId xmlns:a16="http://schemas.microsoft.com/office/drawing/2014/main" id="{1712BC42-B2CB-9AF0-2556-60E22C60C0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3">
            <a:extLst>
              <a:ext uri="{FF2B5EF4-FFF2-40B4-BE49-F238E27FC236}">
                <a16:creationId xmlns:a16="http://schemas.microsoft.com/office/drawing/2014/main" id="{588F55B9-B113-DF01-A05C-3CB77FA0471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r>
              <a:rPr lang="ko-KR" altLang="en-US">
                <a:latin typeface="Times New Roman" panose="02020603050405020304" pitchFamily="18" charset="0"/>
              </a:rPr>
              <a:t>© 우균, 창병모</a:t>
            </a:r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79875" name="Rectangle 7">
            <a:extLst>
              <a:ext uri="{FF2B5EF4-FFF2-40B4-BE49-F238E27FC236}">
                <a16:creationId xmlns:a16="http://schemas.microsoft.com/office/drawing/2014/main" id="{DEC39D44-E9CD-0290-F84A-11BFAB43AA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934D301-0A19-4F85-9A06-E0E515F4D977}" type="slidenum">
              <a:rPr lang="ko-KR" altLang="ko-KR">
                <a:latin typeface="Times New Roman" panose="02020603050405020304" pitchFamily="18" charset="0"/>
                <a:cs typeface="Tahoma" panose="020B0604030504040204" pitchFamily="34" charset="0"/>
              </a:rPr>
              <a:pPr algn="r" eaLnBrk="1" hangingPunct="1">
                <a:spcBef>
                  <a:spcPct val="0"/>
                </a:spcBef>
              </a:pPr>
              <a:t>65</a:t>
            </a:fld>
            <a:endParaRPr lang="ko-KR" altLang="ko-KR">
              <a:latin typeface="Times New Roman" panose="02020603050405020304" pitchFamily="18" charset="0"/>
              <a:cs typeface="Tahoma" panose="020B0604030504040204" pitchFamily="34" charset="0"/>
            </a:endParaRPr>
          </a:p>
        </p:txBody>
      </p:sp>
      <p:sp>
        <p:nvSpPr>
          <p:cNvPr id="79876" name="Rectangle 2">
            <a:extLst>
              <a:ext uri="{FF2B5EF4-FFF2-40B4-BE49-F238E27FC236}">
                <a16:creationId xmlns:a16="http://schemas.microsoft.com/office/drawing/2014/main" id="{0BFCD447-3DBC-F201-9916-EEF015CD291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7" name="Rectangle 3">
            <a:extLst>
              <a:ext uri="{FF2B5EF4-FFF2-40B4-BE49-F238E27FC236}">
                <a16:creationId xmlns:a16="http://schemas.microsoft.com/office/drawing/2014/main" id="{45C14F92-9D04-17AC-DB10-81CB186A12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3">
            <a:extLst>
              <a:ext uri="{FF2B5EF4-FFF2-40B4-BE49-F238E27FC236}">
                <a16:creationId xmlns:a16="http://schemas.microsoft.com/office/drawing/2014/main" id="{DFDD65EA-E8E8-5020-4FD6-310A88E33CB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r>
              <a:rPr lang="ko-KR" altLang="en-US">
                <a:latin typeface="Times New Roman" panose="02020603050405020304" pitchFamily="18" charset="0"/>
              </a:rPr>
              <a:t>© 우균, 창병모</a:t>
            </a:r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80899" name="Rectangle 7">
            <a:extLst>
              <a:ext uri="{FF2B5EF4-FFF2-40B4-BE49-F238E27FC236}">
                <a16:creationId xmlns:a16="http://schemas.microsoft.com/office/drawing/2014/main" id="{E0C5AE11-0BDB-E44E-BE7B-776600F2F3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BE8F914-0B53-4CB0-A11B-FBCD9ABD878E}" type="slidenum">
              <a:rPr lang="ko-KR" altLang="ko-KR">
                <a:latin typeface="Times New Roman" panose="02020603050405020304" pitchFamily="18" charset="0"/>
                <a:cs typeface="Tahoma" panose="020B0604030504040204" pitchFamily="34" charset="0"/>
              </a:rPr>
              <a:pPr algn="r" eaLnBrk="1" hangingPunct="1">
                <a:spcBef>
                  <a:spcPct val="0"/>
                </a:spcBef>
              </a:pPr>
              <a:t>66</a:t>
            </a:fld>
            <a:endParaRPr lang="ko-KR" altLang="ko-KR">
              <a:latin typeface="Times New Roman" panose="02020603050405020304" pitchFamily="18" charset="0"/>
              <a:cs typeface="Tahoma" panose="020B0604030504040204" pitchFamily="34" charset="0"/>
            </a:endParaRPr>
          </a:p>
        </p:txBody>
      </p:sp>
      <p:sp>
        <p:nvSpPr>
          <p:cNvPr id="80900" name="Rectangle 2">
            <a:extLst>
              <a:ext uri="{FF2B5EF4-FFF2-40B4-BE49-F238E27FC236}">
                <a16:creationId xmlns:a16="http://schemas.microsoft.com/office/drawing/2014/main" id="{B1F03628-23CB-29CE-5826-01005E9DFC5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1" name="Rectangle 3">
            <a:extLst>
              <a:ext uri="{FF2B5EF4-FFF2-40B4-BE49-F238E27FC236}">
                <a16:creationId xmlns:a16="http://schemas.microsoft.com/office/drawing/2014/main" id="{38BCC385-90BF-0428-5EE5-9302A89F6F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57E34CAE-D50E-AB37-DB85-88E241883344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2889250"/>
            <a:ext cx="8610600" cy="201613"/>
            <a:chOff x="144" y="1680"/>
            <a:chExt cx="5424" cy="144"/>
          </a:xfrm>
        </p:grpSpPr>
        <p:sp>
          <p:nvSpPr>
            <p:cNvPr id="3" name="Rectangle 8">
              <a:extLst>
                <a:ext uri="{FF2B5EF4-FFF2-40B4-BE49-F238E27FC236}">
                  <a16:creationId xmlns:a16="http://schemas.microsoft.com/office/drawing/2014/main" id="{F29016C9-C417-F742-446C-A26E5580D63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" name="Rectangle 9">
              <a:extLst>
                <a:ext uri="{FF2B5EF4-FFF2-40B4-BE49-F238E27FC236}">
                  <a16:creationId xmlns:a16="http://schemas.microsoft.com/office/drawing/2014/main" id="{A0A50307-409B-CD16-4D95-14F790E8E2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5" name="Rectangle 10">
              <a:extLst>
                <a:ext uri="{FF2B5EF4-FFF2-40B4-BE49-F238E27FC236}">
                  <a16:creationId xmlns:a16="http://schemas.microsoft.com/office/drawing/2014/main" id="{56668BA9-BC4E-D1BD-97CB-7E54B6B8F58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sp>
        <p:nvSpPr>
          <p:cNvPr id="4218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 anchor="b"/>
          <a:lstStyle>
            <a:lvl1pPr algn="ctr">
              <a:defRPr sz="5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218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2F8B0C0-8DE7-C8AB-DAF5-F8EE928A02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ahoma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274B000-0033-1D09-34D8-5E198097F2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ahoma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D422C09-5E16-F316-1FF5-1F0A549F43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ahoma" panose="020B0604030504040204" pitchFamily="34" charset="0"/>
                <a:ea typeface="굴림" panose="020B0600000101010101" pitchFamily="50" charset="-127"/>
              </a:defRPr>
            </a:lvl1pPr>
          </a:lstStyle>
          <a:p>
            <a:fld id="{110196A5-3127-4A1B-B17D-868A9285D946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40692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61707F7-8182-4C13-F780-CDB5C325CC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B305D3-47A5-8751-5A5D-C547B4F2AB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11CD973-54D8-396B-D5EF-67AD238A7B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3FFE6D-4A8B-4D37-90F4-CCECA44C2F3E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0082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098CFC5-973F-793C-F681-A044E9B64B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E9EB67A-AE3E-89BC-B704-711339AE36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B01165F-CCE5-396B-F2ED-E76641A735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E7286A-7362-439A-B530-791C416B58EA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04689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35F09-F2C3-7351-BCB5-F09321F285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287149-C463-1666-5F77-D6C1E11F11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21683E-05C8-1FB5-84D7-39AAE98B9F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A89B98-DB5D-411D-98D9-FA999F4AA36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58737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1D02415-AB50-A23F-8841-E82E88DA27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0C9DCBC-2D2F-256C-546F-9F4A8E69E9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A191166-9F23-B5CB-F0D4-2FACB81370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90FA8C-62D9-434A-A6A6-82666486F50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72059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E2FBDFA-99E3-3EDE-1864-04B5328031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EDCABAB-BFD5-9781-147A-1F6FFB2A16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D3B9CC7-A636-BE8B-15FF-EE89AAC55F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E3F20F-CCF7-4549-A90C-59DCEBD0B692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92128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063076B-E778-C270-8AE4-6BEC24436F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1C0018B-CDE1-F946-895E-ADB1C0D905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8DC2AE2-301C-6C6B-7A77-619FA0666D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F346E3-42E2-4E2D-91C1-75D4EFC9BF30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8573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2052B0-64A8-CCD5-4325-8B0EDE470A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C7C9AC-8FD9-E80C-447D-C9A6119D3C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A49AE6-4D52-C8FB-19D7-47766D2F34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E59816-A5A1-46F9-A1B1-7364A24451ED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24093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96E34F-59AA-2FBD-E044-D5DA653199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737832-D349-67A7-B106-CC29B79CAE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490D26-5FC3-466E-B28B-C925643F92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5403EB-6D3B-4981-8C80-D3E61E82A47A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43269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FF8772D-392E-9189-A0C1-1CCAEECBA1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1DC21B0-7787-9A59-B2A4-5638D6070E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87269D7-8EC7-7857-EBA8-E22282061A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873B29-E226-4A60-BB09-72EB798EBD5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04291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E7C01BA-CA88-9E10-71F5-A368CCF921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A036BE0-D0A3-5788-1442-B24BE72846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3DA7F9-7448-70DB-ADEC-3617C65934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5DC897-CC70-4DEC-B15B-8CF75B0934FB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69897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C00BD70-AD54-2A84-8DD3-9FA397170F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3E843E0-7917-A4B8-9C07-984A477712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20868" name="Rectangle 4">
            <a:extLst>
              <a:ext uri="{FF2B5EF4-FFF2-40B4-BE49-F238E27FC236}">
                <a16:creationId xmlns:a16="http://schemas.microsoft.com/office/drawing/2014/main" id="{E62AED54-A547-E017-EC99-29CF15C3BF4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kumimoji="0" sz="100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420869" name="Rectangle 5">
            <a:extLst>
              <a:ext uri="{FF2B5EF4-FFF2-40B4-BE49-F238E27FC236}">
                <a16:creationId xmlns:a16="http://schemas.microsoft.com/office/drawing/2014/main" id="{86411B74-DBEE-1A64-6676-47761692104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20870" name="Rectangle 6">
            <a:extLst>
              <a:ext uri="{FF2B5EF4-FFF2-40B4-BE49-F238E27FC236}">
                <a16:creationId xmlns:a16="http://schemas.microsoft.com/office/drawing/2014/main" id="{279414E2-E546-1DDE-F0BE-DBD44D6AB38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000">
                <a:latin typeface="HY동녘B" pitchFamily="18" charset="-127"/>
                <a:ea typeface="HY동녘B" pitchFamily="18" charset="-127"/>
              </a:defRPr>
            </a:lvl1pPr>
          </a:lstStyle>
          <a:p>
            <a:fld id="{1606CDFA-8B80-45D4-8F69-909189C6EE16}" type="slidenum">
              <a:rPr lang="ko-KR" altLang="en-US"/>
              <a:pPr/>
              <a:t>‹#›</a:t>
            </a:fld>
            <a:endParaRPr lang="en-US" altLang="ko-KR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CC644608-FB0F-C6D6-E67F-2BFFD190A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/>
            <a:endParaRPr kumimoji="0" lang="ko-KR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Line 8">
            <a:extLst>
              <a:ext uri="{FF2B5EF4-FFF2-40B4-BE49-F238E27FC236}">
                <a16:creationId xmlns:a16="http://schemas.microsoft.com/office/drawing/2014/main" id="{10E73EF7-05E9-83F0-C761-B0DB607511B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44780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76E761AE-7ECB-434D-6D68-996D77BC5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/>
            <a:endParaRPr kumimoji="0" lang="ko-KR" altLang="en-US" sz="2400">
              <a:latin typeface="Times New Roman" panose="02020603050405020304" pitchFamily="18" charset="0"/>
            </a:endParaRP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5C23A219-7BCE-0E66-8551-A098D0012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/>
            <a:endParaRPr kumimoji="0" lang="ko-KR" altLang="en-US" sz="240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p:hf hdr="0" ftr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동녘B" pitchFamily="18" charset="-127"/>
          <a:ea typeface="HY동녘B" pitchFamily="18" charset="-127"/>
          <a:cs typeface="Tahoma" pitchFamily="34" charset="0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동녘B" pitchFamily="18" charset="-127"/>
          <a:ea typeface="HY동녘B" pitchFamily="18" charset="-127"/>
          <a:cs typeface="Tahoma" pitchFamily="34" charset="0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동녘B" pitchFamily="18" charset="-127"/>
          <a:ea typeface="HY동녘B" pitchFamily="18" charset="-127"/>
          <a:cs typeface="Tahoma" pitchFamily="34" charset="0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동녘B" pitchFamily="18" charset="-127"/>
          <a:ea typeface="HY동녘B" pitchFamily="18" charset="-127"/>
          <a:cs typeface="Tahoma" pitchFamily="34" charset="0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동녘B" pitchFamily="18" charset="-127"/>
          <a:ea typeface="HY동녘B" pitchFamily="18" charset="-127"/>
          <a:cs typeface="Tahoma" pitchFamily="34" charset="0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동녘B" pitchFamily="18" charset="-127"/>
          <a:ea typeface="HY동녘B" pitchFamily="18" charset="-127"/>
          <a:cs typeface="Tahoma" pitchFamily="34" charset="0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동녘B" pitchFamily="18" charset="-127"/>
          <a:ea typeface="HY동녘B" pitchFamily="18" charset="-127"/>
          <a:cs typeface="Tahoma" pitchFamily="34" charset="0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동녘B" pitchFamily="18" charset="-127"/>
          <a:ea typeface="HY동녘B" pitchFamily="18" charset="-127"/>
          <a:cs typeface="Tahoma" pitchFamily="34" charset="0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kumimoji="1"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java.sun.com/javase/6/docs/api/java/awt/Window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5ED6E7EF-BCA5-3282-3528-BAE6CE847E8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000">
                <a:latin typeface="Tahoma" panose="020B0604030504040204" pitchFamily="34" charset="0"/>
                <a:ea typeface="굴림" panose="020B0600000101010101" pitchFamily="50" charset="-127"/>
              </a:rPr>
              <a:t>© </a:t>
            </a:r>
            <a:r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t>창병모</a:t>
            </a:r>
            <a:r>
              <a:rPr kumimoji="0" lang="en-US" altLang="ko-KR" sz="1000">
                <a:latin typeface="Tahoma" panose="020B0604030504040204" pitchFamily="34" charset="0"/>
                <a:ea typeface="굴림" panose="020B0600000101010101" pitchFamily="50" charset="-127"/>
              </a:rPr>
              <a:t>,</a:t>
            </a:r>
            <a:r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t>우균</a:t>
            </a:r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075" name="Rectangle 6">
            <a:extLst>
              <a:ext uri="{FF2B5EF4-FFF2-40B4-BE49-F238E27FC236}">
                <a16:creationId xmlns:a16="http://schemas.microsoft.com/office/drawing/2014/main" id="{540B45BC-480A-7593-90B0-2BF9A03788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7FE532C9-A965-4C6C-B10D-D3D8033074F8}" type="slidenum"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076" name="Rectangle 9">
            <a:extLst>
              <a:ext uri="{FF2B5EF4-FFF2-40B4-BE49-F238E27FC236}">
                <a16:creationId xmlns:a16="http://schemas.microsoft.com/office/drawing/2014/main" id="{942A809D-A552-0DD3-8381-D2B5AF9069B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68313" y="685800"/>
            <a:ext cx="8351837" cy="2127250"/>
          </a:xfrm>
        </p:spPr>
        <p:txBody>
          <a:bodyPr/>
          <a:lstStyle/>
          <a:p>
            <a:pPr eaLnBrk="1" hangingPunct="1"/>
            <a:br>
              <a:rPr lang="en-US" altLang="ko-KR" sz="4000"/>
            </a:br>
            <a:br>
              <a:rPr lang="en-US" altLang="ko-KR" sz="4000"/>
            </a:br>
            <a:br>
              <a:rPr lang="en-US" altLang="ko-KR" sz="4000"/>
            </a:br>
            <a:r>
              <a:rPr lang="en-US" altLang="ko-KR" sz="4000"/>
              <a:t>Part 09 </a:t>
            </a:r>
            <a:r>
              <a:rPr lang="ko-KR" altLang="en-US" sz="4000" b="1"/>
              <a:t>그래픽 사용자 인터페이스</a:t>
            </a:r>
            <a:br>
              <a:rPr lang="ko-KR" altLang="en-US" sz="4000"/>
            </a:br>
            <a:r>
              <a:rPr lang="ko-KR" altLang="en-US" sz="4000"/>
              <a:t> </a:t>
            </a:r>
          </a:p>
        </p:txBody>
      </p:sp>
      <p:sp>
        <p:nvSpPr>
          <p:cNvPr id="3077" name="Rectangle 10">
            <a:extLst>
              <a:ext uri="{FF2B5EF4-FFF2-40B4-BE49-F238E27FC236}">
                <a16:creationId xmlns:a16="http://schemas.microsoft.com/office/drawing/2014/main" id="{229EF543-D392-0A86-EFBD-E07159DDB9C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latin typeface="Tahoma" panose="020B0604030504040204" pitchFamily="34" charset="0"/>
              </a:rPr>
              <a:t>©</a:t>
            </a:r>
            <a:r>
              <a:rPr lang="ko-KR" altLang="en-US"/>
              <a:t> 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r>
              <a:rPr lang="en-US" altLang="ko-KR"/>
              <a:t> </a:t>
            </a:r>
            <a:endParaRPr lang="ko-KR" alt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1BB028-3B67-A8D6-DFD1-E79192E7360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D7B208-B2CE-2227-87CF-1342ECE4F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6FE70A63-DDA6-41E3-91AE-FEA171191ECF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2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11B23C39-6107-7464-29DA-F2AD5D14F6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solidFill>
                  <a:schemeClr val="tx1"/>
                </a:solidFill>
              </a:rPr>
              <a:t>이 장의 내용</a:t>
            </a:r>
            <a:r>
              <a:rPr lang="ko-KR" altLang="en-US"/>
              <a:t> </a:t>
            </a:r>
            <a:endParaRPr lang="en-US" altLang="ko-KR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7CAA7A69-F9F0-1926-DF75-98BE0F86B5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400"/>
              <a:t>여러 가지 </a:t>
            </a:r>
            <a:r>
              <a:rPr lang="en-US" altLang="ko-KR" sz="2400"/>
              <a:t>GUI </a:t>
            </a:r>
            <a:r>
              <a:rPr lang="ko-KR" altLang="en-US" sz="2400"/>
              <a:t>구성요소를 이해한다</a:t>
            </a:r>
            <a:r>
              <a:rPr lang="en-US" altLang="ko-KR" sz="2400"/>
              <a:t>. </a:t>
            </a:r>
            <a:endParaRPr lang="ko-KR" altLang="en-US" sz="2400"/>
          </a:p>
          <a:p>
            <a:r>
              <a:rPr lang="ko-KR" altLang="en-US" sz="2400"/>
              <a:t>다양한 배치 관리자를 이해하고 익힌다</a:t>
            </a:r>
            <a:r>
              <a:rPr lang="en-US" altLang="ko-KR" sz="2400"/>
              <a:t>. </a:t>
            </a:r>
            <a:endParaRPr lang="ko-KR" altLang="en-US" sz="2400"/>
          </a:p>
          <a:p>
            <a:r>
              <a:rPr lang="ko-KR" altLang="en-US" sz="2400"/>
              <a:t>컴포넌트</a:t>
            </a:r>
            <a:r>
              <a:rPr lang="en-US" altLang="ko-KR" sz="2400"/>
              <a:t>, </a:t>
            </a:r>
            <a:r>
              <a:rPr lang="ko-KR" altLang="en-US" sz="2400"/>
              <a:t>이벤트 및 리스너에 대해서 정리한다</a:t>
            </a:r>
            <a:r>
              <a:rPr lang="en-US" altLang="ko-KR" sz="2400"/>
              <a:t>. </a:t>
            </a:r>
            <a:endParaRPr lang="ko-KR" altLang="en-US" sz="2400"/>
          </a:p>
          <a:p>
            <a:r>
              <a:rPr lang="ko-KR" altLang="en-US" sz="2400"/>
              <a:t>애니메이션 프로그램 작성법을 익힌다</a:t>
            </a:r>
            <a:r>
              <a:rPr lang="en-US" altLang="ko-KR" sz="2400"/>
              <a:t>. </a:t>
            </a:r>
            <a:endParaRPr lang="ko-KR" altLang="en-US" sz="2400"/>
          </a:p>
          <a:p>
            <a:pPr eaLnBrk="1" hangingPunct="1"/>
            <a:endParaRPr lang="en-US" altLang="ko-KR" sz="2400">
              <a:solidFill>
                <a:srgbClr val="FF6600"/>
              </a:solidFill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879D0852-3AB1-DC23-C687-5D303276ED6D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000">
                <a:latin typeface="Tahoma" panose="020B0604030504040204" pitchFamily="34" charset="0"/>
                <a:ea typeface="굴림" panose="020B0600000101010101" pitchFamily="50" charset="-127"/>
              </a:rPr>
              <a:t>© </a:t>
            </a:r>
            <a:r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t>창병모</a:t>
            </a:r>
            <a:r>
              <a:rPr kumimoji="0" lang="en-US" altLang="ko-KR" sz="1000">
                <a:latin typeface="Tahoma" panose="020B0604030504040204" pitchFamily="34" charset="0"/>
                <a:ea typeface="굴림" panose="020B0600000101010101" pitchFamily="50" charset="-127"/>
              </a:rPr>
              <a:t>,</a:t>
            </a:r>
            <a:r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t>우균</a:t>
            </a:r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123" name="Rectangle 6">
            <a:extLst>
              <a:ext uri="{FF2B5EF4-FFF2-40B4-BE49-F238E27FC236}">
                <a16:creationId xmlns:a16="http://schemas.microsoft.com/office/drawing/2014/main" id="{90EEB8E8-1DA6-4374-49CB-AE211F27E2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8237B02C-283C-4612-8A80-AF2E545AB721}" type="slidenum"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E6759B94-F671-1A2B-FAAA-E69C749EF3E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4400"/>
              <a:t>9.1 </a:t>
            </a:r>
            <a:r>
              <a:rPr lang="ko-KR" altLang="en-US" sz="4400"/>
              <a:t>컴포넌트와 컨테이너</a:t>
            </a:r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E22766EA-E267-08BD-A064-FD2F5E502F0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FFB93C13-EB2F-5580-A98C-185FBC85B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GUI</a:t>
            </a:r>
            <a:r>
              <a:rPr lang="ko-KR" altLang="en-US" b="1"/>
              <a:t> 컴포넌트</a:t>
            </a:r>
            <a:endParaRPr lang="ko-KR" altLang="en-US"/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ADC39A1D-9E91-3E4B-E562-5A291FF5B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GUI</a:t>
            </a:r>
            <a:r>
              <a:rPr lang="ko-KR" altLang="en-US" sz="2400" b="1"/>
              <a:t> 컴포넌트</a:t>
            </a:r>
            <a:r>
              <a:rPr lang="en-US" altLang="ko-KR" sz="2400" b="1"/>
              <a:t>(component)</a:t>
            </a:r>
            <a:endParaRPr lang="en-US" altLang="ko-KR" sz="2400"/>
          </a:p>
          <a:p>
            <a:pPr lvl="1"/>
            <a:r>
              <a:rPr lang="en-US" altLang="ko-KR" sz="2000"/>
              <a:t>GUI </a:t>
            </a:r>
            <a:r>
              <a:rPr lang="ko-KR" altLang="en-US" sz="2000"/>
              <a:t>프로그램에서 사용하는 화면 요소</a:t>
            </a:r>
            <a:r>
              <a:rPr lang="en-US" altLang="ko-KR" sz="2000"/>
              <a:t>(screen element) </a:t>
            </a:r>
          </a:p>
          <a:p>
            <a:pPr lvl="1"/>
            <a:r>
              <a:rPr lang="ko-KR" altLang="en-US" sz="2000"/>
              <a:t>예</a:t>
            </a:r>
            <a:endParaRPr lang="en-US" altLang="ko-KR" sz="2000"/>
          </a:p>
          <a:p>
            <a:pPr lvl="2"/>
            <a:r>
              <a:rPr lang="ko-KR" altLang="en-US" sz="1800"/>
              <a:t>레이블</a:t>
            </a:r>
            <a:r>
              <a:rPr lang="en-US" altLang="ko-KR" sz="1800"/>
              <a:t>(label), </a:t>
            </a:r>
            <a:r>
              <a:rPr lang="ko-KR" altLang="en-US" sz="1800"/>
              <a:t>버튼</a:t>
            </a:r>
            <a:r>
              <a:rPr lang="en-US" altLang="ko-KR" sz="1800"/>
              <a:t>(button), </a:t>
            </a:r>
            <a:r>
              <a:rPr lang="ko-KR" altLang="en-US" sz="1800"/>
              <a:t>텍스트 필드</a:t>
            </a:r>
            <a:r>
              <a:rPr lang="en-US" altLang="ko-KR" sz="1800"/>
              <a:t>(text field),</a:t>
            </a:r>
          </a:p>
          <a:p>
            <a:pPr lvl="2"/>
            <a:r>
              <a:rPr lang="ko-KR" altLang="en-US" sz="1800"/>
              <a:t>텍스트 영역</a:t>
            </a:r>
            <a:r>
              <a:rPr lang="en-US" altLang="ko-KR" sz="1800"/>
              <a:t>(text area), </a:t>
            </a:r>
            <a:r>
              <a:rPr lang="ko-KR" altLang="en-US" sz="1800"/>
              <a:t>스크롤바</a:t>
            </a:r>
            <a:r>
              <a:rPr lang="en-US" altLang="ko-KR" sz="1800"/>
              <a:t>(scroll bar), </a:t>
            </a:r>
            <a:r>
              <a:rPr lang="ko-KR" altLang="en-US" sz="1800"/>
              <a:t>메뉴</a:t>
            </a:r>
            <a:r>
              <a:rPr lang="en-US" altLang="ko-KR" sz="1800"/>
              <a:t>(menu) </a:t>
            </a:r>
            <a:r>
              <a:rPr lang="ko-KR" altLang="en-US" sz="1800"/>
              <a:t>등</a:t>
            </a:r>
            <a:endParaRPr lang="en-US" altLang="ko-KR" sz="1800"/>
          </a:p>
          <a:p>
            <a:pPr lvl="1"/>
            <a:r>
              <a:rPr lang="en-US" altLang="ko-KR" sz="2000"/>
              <a:t>java.awt</a:t>
            </a:r>
          </a:p>
          <a:p>
            <a:pPr lvl="2"/>
            <a:r>
              <a:rPr lang="en-US" altLang="ko-KR" sz="1600"/>
              <a:t>Abstract Windowing Toolkit (AWT)</a:t>
            </a:r>
            <a:r>
              <a:rPr lang="ko-KR" altLang="en-US" sz="1600"/>
              <a:t>으로 원조 </a:t>
            </a:r>
            <a:r>
              <a:rPr lang="en-US" altLang="ko-KR" sz="1600"/>
              <a:t>Java GUI </a:t>
            </a:r>
            <a:r>
              <a:rPr lang="ko-KR" altLang="en-US" sz="1600"/>
              <a:t>패키지</a:t>
            </a:r>
          </a:p>
          <a:p>
            <a:pPr lvl="1"/>
            <a:r>
              <a:rPr lang="en-US" altLang="ko-KR" sz="2000"/>
              <a:t>javax.swing</a:t>
            </a:r>
          </a:p>
          <a:p>
            <a:pPr lvl="2"/>
            <a:r>
              <a:rPr lang="ko-KR" altLang="en-US" sz="1600"/>
              <a:t>다양한 컴포넌트가 추가된 </a:t>
            </a:r>
            <a:r>
              <a:rPr lang="en-US" altLang="ko-KR" sz="1600"/>
              <a:t>GUI </a:t>
            </a:r>
            <a:r>
              <a:rPr lang="ko-KR" altLang="en-US" sz="1600"/>
              <a:t>패키지</a:t>
            </a:r>
          </a:p>
          <a:p>
            <a:endParaRPr lang="ko-KR" altLang="en-US" sz="24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DE0B76-1D3C-A7AC-F574-57D3220E22D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207185-E492-8878-F920-BA875E656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70F43DEE-A6BC-418C-9DF1-2DDDFCA227F7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4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A5338697-DB15-C0F7-EF19-0C6DB69C4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GUI </a:t>
            </a:r>
            <a:r>
              <a:rPr lang="ko-KR" altLang="en-US" b="1"/>
              <a:t>컨테이너</a:t>
            </a:r>
            <a:endParaRPr lang="ko-KR" altLang="en-US"/>
          </a:p>
        </p:txBody>
      </p:sp>
      <p:sp>
        <p:nvSpPr>
          <p:cNvPr id="7171" name="내용 개체 틀 2">
            <a:extLst>
              <a:ext uri="{FF2B5EF4-FFF2-40B4-BE49-F238E27FC236}">
                <a16:creationId xmlns:a16="http://schemas.microsoft.com/office/drawing/2014/main" id="{9477AB82-0A4C-0AB4-1923-AA7A0C048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/>
              <a:t>다른 컴포넌트들을 포함하고 조직하는데 사용</a:t>
            </a:r>
            <a:endParaRPr lang="en-US" altLang="ko-KR" sz="2000"/>
          </a:p>
          <a:p>
            <a:r>
              <a:rPr lang="ko-KR" altLang="en-US" sz="2000"/>
              <a:t>컨테이너 자체가 하나의 특수한 컴포넌트이다</a:t>
            </a:r>
            <a:r>
              <a:rPr lang="en-US" altLang="ko-KR" sz="2000"/>
              <a:t>. </a:t>
            </a:r>
          </a:p>
          <a:p>
            <a:r>
              <a:rPr lang="ko-KR" altLang="en-US" sz="2000"/>
              <a:t>컨테이너와 컴포넌트 사이의 관계</a:t>
            </a:r>
            <a:endParaRPr lang="en-US" altLang="ko-KR" sz="2000"/>
          </a:p>
          <a:p>
            <a:pPr lvl="1"/>
            <a:r>
              <a:rPr lang="ko-KR" altLang="en-US" sz="1800"/>
              <a:t>윈도우즈의 폴더와 파일과 비슷함</a:t>
            </a:r>
            <a:endParaRPr lang="en-US" altLang="ko-KR" sz="1800"/>
          </a:p>
          <a:p>
            <a:r>
              <a:rPr lang="ko-KR" altLang="en-US" sz="2000"/>
              <a:t>예</a:t>
            </a:r>
            <a:endParaRPr lang="en-US" altLang="ko-KR" sz="2000"/>
          </a:p>
          <a:p>
            <a:pPr lvl="1"/>
            <a:r>
              <a:rPr lang="ko-KR" altLang="en-US" sz="1600"/>
              <a:t>프레임</a:t>
            </a:r>
            <a:r>
              <a:rPr lang="en-US" altLang="ko-KR" sz="1600"/>
              <a:t>(frame), </a:t>
            </a:r>
            <a:r>
              <a:rPr lang="ko-KR" altLang="en-US" sz="1600"/>
              <a:t>패널</a:t>
            </a:r>
            <a:r>
              <a:rPr lang="en-US" altLang="ko-KR" sz="1600"/>
              <a:t>(panel), </a:t>
            </a:r>
            <a:r>
              <a:rPr lang="ko-KR" altLang="en-US" sz="1600"/>
              <a:t>애플릿</a:t>
            </a:r>
            <a:r>
              <a:rPr lang="en-US" altLang="ko-KR" sz="1600"/>
              <a:t>(applet), </a:t>
            </a:r>
            <a:r>
              <a:rPr lang="ko-KR" altLang="en-US" sz="1600"/>
              <a:t>대화상자</a:t>
            </a:r>
            <a:r>
              <a:rPr lang="en-US" altLang="ko-KR" sz="1600"/>
              <a:t>(dialog box) </a:t>
            </a:r>
            <a:r>
              <a:rPr lang="ko-KR" altLang="en-US" sz="1600"/>
              <a:t>등</a:t>
            </a:r>
            <a:endParaRPr lang="en-US" altLang="ko-KR" sz="1600"/>
          </a:p>
          <a:p>
            <a:pPr lvl="1"/>
            <a:endParaRPr lang="en-US" altLang="ko-KR" sz="1600"/>
          </a:p>
          <a:p>
            <a:r>
              <a:rPr lang="en-US" altLang="ko-KR" sz="2000"/>
              <a:t>JFrame</a:t>
            </a:r>
            <a:r>
              <a:rPr lang="ko-KR" altLang="en-US" sz="2000"/>
              <a:t>의 상속 관계</a:t>
            </a:r>
            <a:endParaRPr lang="en-US" altLang="ko-KR" sz="20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java.lang.Object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  java.awt.Component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    java.awt.Container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      java.awt.Window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        java.awt.Frame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          javax.swing.Frame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solidFill>
                  <a:srgbClr val="3333FF"/>
                </a:solidFill>
                <a:hlinkClick r:id="rId2"/>
              </a:rPr>
              <a:t>         </a:t>
            </a:r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033CAF-040E-034E-0997-99A1094A8FA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© </a:t>
            </a:r>
            <a:r>
              <a:rPr lang="ko-KR" altLang="en-US" dirty="0" err="1"/>
              <a:t>창병모</a:t>
            </a:r>
            <a:r>
              <a:rPr lang="en-US" altLang="ko-KR" dirty="0"/>
              <a:t>,</a:t>
            </a:r>
            <a:r>
              <a:rPr lang="ko-KR" altLang="en-US" dirty="0"/>
              <a:t>우균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C8F8F4-21A1-ABD4-279D-9F1A40BFC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4D215A8B-D6A0-49F7-8DAF-47F19EFC55D3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5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>
            <a:extLst>
              <a:ext uri="{FF2B5EF4-FFF2-40B4-BE49-F238E27FC236}">
                <a16:creationId xmlns:a16="http://schemas.microsoft.com/office/drawing/2014/main" id="{A601E68F-2156-D9CA-9232-C243667DE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GUI </a:t>
            </a:r>
            <a:r>
              <a:rPr lang="ko-KR" altLang="en-US" b="1"/>
              <a:t>컨테이너</a:t>
            </a:r>
            <a:endParaRPr lang="ko-KR" altLang="en-US"/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BD8CBD37-E809-0E26-038D-CFE735CE7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/>
              <a:t>패널</a:t>
            </a:r>
            <a:r>
              <a:rPr lang="en-US" altLang="ko-KR" sz="2000"/>
              <a:t>(panel)</a:t>
            </a:r>
          </a:p>
          <a:p>
            <a:pPr lvl="1"/>
            <a:r>
              <a:rPr lang="ko-KR" altLang="en-US" sz="1800"/>
              <a:t>다른 컴포넌트들을 포함하고 조직할 수 있는 컨테이너로 스스로 디스플레이될 수 없다</a:t>
            </a:r>
            <a:endParaRPr lang="en-US" altLang="ko-KR" sz="1800"/>
          </a:p>
          <a:p>
            <a:pPr lvl="1"/>
            <a:r>
              <a:rPr lang="ko-KR" altLang="en-US" sz="1800"/>
              <a:t>디스플레이하려면 콘텐트 페인 같은 컨테이너에 추가</a:t>
            </a:r>
            <a:r>
              <a:rPr lang="en-US" altLang="ko-KR" sz="1800"/>
              <a:t>(add)</a:t>
            </a:r>
            <a:r>
              <a:rPr lang="ko-KR" altLang="en-US" sz="1800"/>
              <a:t>되어야 한다</a:t>
            </a:r>
            <a:r>
              <a:rPr lang="en-US" altLang="ko-KR" sz="1800"/>
              <a:t>. </a:t>
            </a:r>
          </a:p>
          <a:p>
            <a:pPr lvl="1"/>
            <a:endParaRPr lang="en-US" altLang="ko-KR" sz="1800"/>
          </a:p>
          <a:p>
            <a:r>
              <a:rPr lang="ko-KR" altLang="en-US" sz="2000"/>
              <a:t>패널의 종류</a:t>
            </a:r>
            <a:endParaRPr lang="en-US" altLang="ko-KR" sz="2000"/>
          </a:p>
          <a:p>
            <a:pPr lvl="1"/>
            <a:r>
              <a:rPr lang="ko-KR" altLang="en-US" sz="1800"/>
              <a:t> </a:t>
            </a:r>
            <a:r>
              <a:rPr lang="en-US" altLang="ko-KR" sz="1800"/>
              <a:t>java.awt</a:t>
            </a:r>
            <a:r>
              <a:rPr lang="ko-KR" altLang="en-US" sz="1800"/>
              <a:t>에서 제공하는 </a:t>
            </a:r>
            <a:r>
              <a:rPr lang="en-US" altLang="ko-KR" sz="1800"/>
              <a:t>Panel</a:t>
            </a:r>
            <a:r>
              <a:rPr lang="ko-KR" altLang="en-US" sz="1800"/>
              <a:t>과 </a:t>
            </a:r>
            <a:endParaRPr lang="en-US" altLang="ko-KR" sz="1800"/>
          </a:p>
          <a:p>
            <a:pPr lvl="1"/>
            <a:r>
              <a:rPr lang="en-US" altLang="ko-KR" sz="1800"/>
              <a:t>javax.swing</a:t>
            </a:r>
            <a:r>
              <a:rPr lang="ko-KR" altLang="en-US" sz="1800"/>
              <a:t>에서 제공하는 </a:t>
            </a:r>
            <a:r>
              <a:rPr lang="en-US" altLang="ko-KR" sz="1800"/>
              <a:t>JPanel</a:t>
            </a:r>
            <a:r>
              <a:rPr lang="ko-KR" altLang="en-US" sz="1800"/>
              <a:t>이 있다</a:t>
            </a:r>
            <a:r>
              <a:rPr lang="en-US" altLang="ko-KR" sz="1800"/>
              <a:t>.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  java.lang.Object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    java.awt.Component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      java.awt.Container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        java.awt.Panel</a:t>
            </a:r>
            <a:endParaRPr lang="ko-KR" altLang="en-US" sz="1600">
              <a:latin typeface="Lucida Console" panose="020B0609040504020204" pitchFamily="49" charset="0"/>
            </a:endParaRPr>
          </a:p>
          <a:p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1FC50E-9E4F-B887-2C65-9372E38DA47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BD2FB24-1C24-B7EB-011D-606C93F98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41F73C4C-4021-46E4-B0F7-395CFF9BBF46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6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>
            <a:extLst>
              <a:ext uri="{FF2B5EF4-FFF2-40B4-BE49-F238E27FC236}">
                <a16:creationId xmlns:a16="http://schemas.microsoft.com/office/drawing/2014/main" id="{229A8292-529F-9B73-E521-54956B48A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Swing GUI </a:t>
            </a:r>
            <a:r>
              <a:rPr lang="ko-KR" altLang="en-US"/>
              <a:t>컴포넌트</a:t>
            </a:r>
          </a:p>
        </p:txBody>
      </p:sp>
      <p:sp>
        <p:nvSpPr>
          <p:cNvPr id="9219" name="내용 개체 틀 2">
            <a:extLst>
              <a:ext uri="{FF2B5EF4-FFF2-40B4-BE49-F238E27FC236}">
                <a16:creationId xmlns:a16="http://schemas.microsoft.com/office/drawing/2014/main" id="{867CADA6-866C-4914-9AA0-451EA9532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/>
              <a:t>Swing GUI </a:t>
            </a:r>
            <a:r>
              <a:rPr lang="ko-KR" altLang="en-US" sz="2000"/>
              <a:t>컴포넌트들은 </a:t>
            </a:r>
            <a:r>
              <a:rPr lang="en-US" altLang="ko-KR" sz="2000"/>
              <a:t>JComponent </a:t>
            </a:r>
            <a:r>
              <a:rPr lang="ko-KR" altLang="en-US" sz="2000"/>
              <a:t>클래스로부터 유도된다</a:t>
            </a:r>
            <a:r>
              <a:rPr lang="en-US" altLang="ko-KR" sz="2000"/>
              <a:t>.</a:t>
            </a:r>
          </a:p>
          <a:p>
            <a:r>
              <a:rPr lang="en-US" altLang="ko-KR" sz="2000"/>
              <a:t>JComponent</a:t>
            </a:r>
            <a:r>
              <a:rPr lang="ko-KR" altLang="en-US" sz="2000"/>
              <a:t>는 일종의 </a:t>
            </a:r>
            <a:r>
              <a:rPr lang="en-US" altLang="ko-KR" sz="2000"/>
              <a:t>Container</a:t>
            </a:r>
            <a:r>
              <a:rPr lang="ko-KR" altLang="en-US" sz="2000"/>
              <a:t>이다</a:t>
            </a:r>
            <a:r>
              <a:rPr lang="en-US" altLang="ko-KR" sz="2000"/>
              <a:t>.</a:t>
            </a:r>
          </a:p>
          <a:p>
            <a:r>
              <a:rPr lang="en-US" altLang="ko-KR" sz="2000"/>
              <a:t>Container</a:t>
            </a:r>
            <a:r>
              <a:rPr lang="ko-KR" altLang="en-US" sz="2000"/>
              <a:t>와 </a:t>
            </a:r>
            <a:r>
              <a:rPr lang="en-US" altLang="ko-KR" sz="2000"/>
              <a:t>JComponent </a:t>
            </a:r>
            <a:r>
              <a:rPr lang="ko-KR" altLang="en-US" sz="2000"/>
              <a:t>클래스의 계층구조는 다음과 같다</a:t>
            </a:r>
            <a:r>
              <a:rPr lang="en-US" altLang="ko-KR" sz="2000"/>
              <a:t>. </a:t>
            </a:r>
            <a:endParaRPr lang="ko-KR" altLang="en-US" sz="20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java.lang.Object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  java.awt.Component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    java.awt.Container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      javax.swing.Jcomponent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ko-KR" sz="1600">
              <a:latin typeface="Lucida Console" panose="020B0609040504020204" pitchFamily="49" charset="0"/>
            </a:endParaRPr>
          </a:p>
          <a:p>
            <a:r>
              <a:rPr lang="ko-KR" altLang="en-US" sz="2000"/>
              <a:t>예</a:t>
            </a:r>
            <a:r>
              <a:rPr lang="en-US" altLang="ko-KR" sz="2000"/>
              <a:t>:</a:t>
            </a:r>
            <a:r>
              <a:rPr lang="ko-KR" altLang="en-US" sz="2000"/>
              <a:t> </a:t>
            </a:r>
            <a:r>
              <a:rPr lang="en-US" altLang="ko-KR" sz="2000"/>
              <a:t>JPanel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java.lang.Object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  java.awt.Component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    java.awt.Container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      javax.swing.JComponent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        javax.swing.JPanel </a:t>
            </a:r>
          </a:p>
          <a:p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EB3E9-C5B1-14F2-0DC5-977B06A77E6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2F21EA-FD15-4DE5-813C-5C32A9C40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D7C6BED2-5987-4B48-AFDA-B0BEC551344E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7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>
            <a:extLst>
              <a:ext uri="{FF2B5EF4-FFF2-40B4-BE49-F238E27FC236}">
                <a16:creationId xmlns:a16="http://schemas.microsoft.com/office/drawing/2014/main" id="{062DDE54-D59E-37C7-9A9E-E1A781250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애플릿</a:t>
            </a:r>
          </a:p>
        </p:txBody>
      </p:sp>
      <p:sp>
        <p:nvSpPr>
          <p:cNvPr id="10243" name="내용 개체 틀 2">
            <a:extLst>
              <a:ext uri="{FF2B5EF4-FFF2-40B4-BE49-F238E27FC236}">
                <a16:creationId xmlns:a16="http://schemas.microsoft.com/office/drawing/2014/main" id="{95E2B6DC-A13C-AA8C-6728-D24B0156A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Applet</a:t>
            </a:r>
            <a:r>
              <a:rPr lang="ko-KR" altLang="en-US" sz="2400"/>
              <a:t> 혹은 </a:t>
            </a:r>
            <a:r>
              <a:rPr lang="en-US" altLang="ko-KR" sz="2400"/>
              <a:t>JApplet</a:t>
            </a:r>
          </a:p>
          <a:p>
            <a:pPr lvl="1"/>
            <a:r>
              <a:rPr lang="en-US" altLang="ko-KR" sz="1800"/>
              <a:t>Panel</a:t>
            </a:r>
            <a:r>
              <a:rPr lang="ko-KR" altLang="en-US" sz="1800"/>
              <a:t>로부터 유도된 일종의 패널이다</a:t>
            </a:r>
            <a:r>
              <a:rPr lang="en-US" altLang="ko-KR" sz="1800"/>
              <a:t>. </a:t>
            </a:r>
          </a:p>
          <a:p>
            <a:pPr lvl="1"/>
            <a:r>
              <a:rPr lang="ko-KR" altLang="en-US" sz="1800"/>
              <a:t>애플릿 생성</a:t>
            </a:r>
            <a:r>
              <a:rPr lang="en-US" altLang="ko-KR" sz="1800"/>
              <a:t>, </a:t>
            </a:r>
            <a:r>
              <a:rPr lang="ko-KR" altLang="en-US" sz="1800"/>
              <a:t>실행 등에 관한 모든 세부사항들이 정의되어 있다</a:t>
            </a:r>
            <a:r>
              <a:rPr lang="en-US" altLang="ko-KR" sz="1800"/>
              <a:t>. </a:t>
            </a:r>
          </a:p>
          <a:p>
            <a:pPr lvl="1"/>
            <a:endParaRPr lang="en-US" altLang="ko-KR" sz="18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800">
                <a:latin typeface="Lucida Console" panose="020B0609040504020204" pitchFamily="49" charset="0"/>
              </a:rPr>
              <a:t>java.lang.Object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800">
                <a:latin typeface="Lucida Console" panose="020B0609040504020204" pitchFamily="49" charset="0"/>
              </a:rPr>
              <a:t>  java.awt.Component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800">
                <a:latin typeface="Lucida Console" panose="020B0609040504020204" pitchFamily="49" charset="0"/>
              </a:rPr>
              <a:t>    java.awt.Container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800">
                <a:latin typeface="Lucida Console" panose="020B0609040504020204" pitchFamily="49" charset="0"/>
              </a:rPr>
              <a:t>      java.awt.Panel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800">
                <a:latin typeface="Lucida Console" panose="020B0609040504020204" pitchFamily="49" charset="0"/>
              </a:rPr>
              <a:t>        java.applet.Applet</a:t>
            </a:r>
            <a:endParaRPr lang="ko-KR" altLang="en-US" sz="1800">
              <a:latin typeface="Lucida Console" panose="020B06090405040202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800">
                <a:latin typeface="Lucida Console" panose="020B0609040504020204" pitchFamily="49" charset="0"/>
              </a:rPr>
              <a:t>          javax.swing.JApplet</a:t>
            </a:r>
            <a:endParaRPr lang="ko-KR" altLang="en-US" sz="1800">
              <a:latin typeface="Lucida Console" panose="020B0609040504020204" pitchFamily="49" charset="0"/>
            </a:endParaRPr>
          </a:p>
          <a:p>
            <a:endParaRPr lang="en-US" altLang="ko-KR" sz="2400"/>
          </a:p>
          <a:p>
            <a:endParaRPr lang="en-US" altLang="ko-KR" sz="24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781F6A-32CF-C2CC-03D4-E3F98C7BEA8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B2DB39B-54EE-DB08-8238-8BDF97173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2E8A5C48-C141-413A-BCB6-81CE5D9F61FF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8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B75E8F45-3022-F4A1-A5AA-841F955D2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애플릿</a:t>
            </a:r>
          </a:p>
        </p:txBody>
      </p:sp>
      <p:sp>
        <p:nvSpPr>
          <p:cNvPr id="11267" name="내용 개체 틀 2">
            <a:extLst>
              <a:ext uri="{FF2B5EF4-FFF2-40B4-BE49-F238E27FC236}">
                <a16:creationId xmlns:a16="http://schemas.microsoft.com/office/drawing/2014/main" id="{08F35F94-B9E0-064E-68D3-CF4772BF7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/>
              <a:t>애플릿 작성</a:t>
            </a:r>
            <a:endParaRPr lang="en-US" altLang="ko-KR" sz="1800"/>
          </a:p>
          <a:p>
            <a:pPr lvl="1"/>
            <a:r>
              <a:rPr lang="en-US" altLang="ko-KR" sz="1800"/>
              <a:t>paint</a:t>
            </a:r>
            <a:r>
              <a:rPr lang="ko-KR" altLang="en-US" sz="1800"/>
              <a:t> 메소드를 정의하는 것도 사실은 </a:t>
            </a:r>
            <a:r>
              <a:rPr lang="en-US" altLang="ko-KR" sz="1800"/>
              <a:t>Component</a:t>
            </a:r>
            <a:r>
              <a:rPr lang="ko-KR" altLang="en-US" sz="1800"/>
              <a:t>에서 정의되고 </a:t>
            </a:r>
            <a:r>
              <a:rPr lang="en-US" altLang="ko-KR" sz="1800"/>
              <a:t>Applet</a:t>
            </a:r>
            <a:r>
              <a:rPr lang="ko-KR" altLang="en-US" sz="1800"/>
              <a:t> 클래스를 통해 상속된 것을 재정의하는 것이다</a:t>
            </a:r>
            <a:r>
              <a:rPr lang="en-US" altLang="ko-KR" sz="1800"/>
              <a:t>. 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CAC5B7-26D6-CDFD-9D5E-F8421CEF3F8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11B9EB-F633-4773-676A-696332F61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0858E581-E424-4B02-9FA7-B1E323173410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9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sp>
        <p:nvSpPr>
          <p:cNvPr id="11270" name="직사각형 5">
            <a:extLst>
              <a:ext uri="{FF2B5EF4-FFF2-40B4-BE49-F238E27FC236}">
                <a16:creationId xmlns:a16="http://schemas.microsoft.com/office/drawing/2014/main" id="{7104C1DD-BF2B-A377-3FE2-DC5B08EDA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3068638"/>
            <a:ext cx="4572000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>
                <a:latin typeface="Lucida Console" panose="020B0609040504020204" pitchFamily="49" charset="0"/>
                <a:ea typeface="굴림" panose="020B0600000101010101" pitchFamily="50" charset="-127"/>
              </a:rPr>
              <a:t>AppletClass extends Applet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>
                <a:latin typeface="Lucida Console" panose="020B0609040504020204" pitchFamily="49" charset="0"/>
                <a:ea typeface="굴림" panose="020B0600000101010101" pitchFamily="50" charset="-127"/>
              </a:rPr>
              <a:t>{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>
                <a:latin typeface="Lucida Console" panose="020B0609040504020204" pitchFamily="49" charset="0"/>
                <a:ea typeface="굴림" panose="020B0600000101010101" pitchFamily="50" charset="-127"/>
              </a:rPr>
              <a:t>   // </a:t>
            </a:r>
            <a:r>
              <a:rPr lang="ko-KR" altLang="en-US" sz="1800">
                <a:latin typeface="Lucida Console" panose="020B0609040504020204" pitchFamily="49" charset="0"/>
                <a:ea typeface="굴림" panose="020B0600000101010101" pitchFamily="50" charset="-127"/>
              </a:rPr>
              <a:t>애플릿이 해야 할 일을 작성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>
                <a:latin typeface="Lucida Console" panose="020B0609040504020204" pitchFamily="49" charset="0"/>
                <a:ea typeface="굴림" panose="020B0600000101010101" pitchFamily="50" charset="-127"/>
              </a:rPr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Lucida Console" panose="020B0609040504020204" pitchFamily="49" charset="0"/>
              <a:ea typeface="굴림" panose="020B0600000101010101" pitchFamily="50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>
                <a:latin typeface="Lucida Console" panose="020B0609040504020204" pitchFamily="49" charset="0"/>
                <a:ea typeface="굴림" panose="020B0600000101010101" pitchFamily="50" charset="-127"/>
              </a:rPr>
              <a:t>AppletClass extends JApplet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>
                <a:latin typeface="Lucida Console" panose="020B0609040504020204" pitchFamily="49" charset="0"/>
                <a:ea typeface="굴림" panose="020B0600000101010101" pitchFamily="50" charset="-127"/>
              </a:rPr>
              <a:t>{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>
                <a:latin typeface="Lucida Console" panose="020B0609040504020204" pitchFamily="49" charset="0"/>
                <a:ea typeface="굴림" panose="020B0600000101010101" pitchFamily="50" charset="-127"/>
              </a:rPr>
              <a:t>   // </a:t>
            </a:r>
            <a:r>
              <a:rPr lang="ko-KR" altLang="en-US" sz="1800">
                <a:latin typeface="Lucida Console" panose="020B0609040504020204" pitchFamily="49" charset="0"/>
                <a:ea typeface="굴림" panose="020B0600000101010101" pitchFamily="50" charset="-127"/>
              </a:rPr>
              <a:t>애플릿이 해야 할 일을 작성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>
                <a:latin typeface="Lucida Console" panose="020B0609040504020204" pitchFamily="49" charset="0"/>
                <a:ea typeface="굴림" panose="020B0600000101010101" pitchFamily="50" charset="-127"/>
              </a:rPr>
              <a:t>}</a:t>
            </a:r>
            <a:endParaRPr lang="ko-KR" altLang="en-US" sz="1800">
              <a:latin typeface="Lucida Console" panose="020B0609040504020204" pitchFamily="49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E702EDCB-0AA1-7288-B161-1F5E801C9B9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000">
                <a:latin typeface="Tahoma" panose="020B0604030504040204" pitchFamily="34" charset="0"/>
                <a:ea typeface="굴림" panose="020B0600000101010101" pitchFamily="50" charset="-127"/>
              </a:rPr>
              <a:t>© </a:t>
            </a:r>
            <a:r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t>창병모</a:t>
            </a:r>
            <a:r>
              <a:rPr kumimoji="0" lang="en-US" altLang="ko-KR" sz="1000">
                <a:latin typeface="Tahoma" panose="020B0604030504040204" pitchFamily="34" charset="0"/>
                <a:ea typeface="굴림" panose="020B0600000101010101" pitchFamily="50" charset="-127"/>
              </a:rPr>
              <a:t>,</a:t>
            </a:r>
            <a:r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t>우균</a:t>
            </a:r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2291" name="Rectangle 6">
            <a:extLst>
              <a:ext uri="{FF2B5EF4-FFF2-40B4-BE49-F238E27FC236}">
                <a16:creationId xmlns:a16="http://schemas.microsoft.com/office/drawing/2014/main" id="{DD919254-C1F3-64A3-508F-0A902B68EC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5096322C-1D04-4310-9AAE-514C40EF5F12}" type="slidenum"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67C0AFEF-4363-8543-0BE3-57FF21F7384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4400"/>
              <a:t>9.2 </a:t>
            </a:r>
            <a:r>
              <a:rPr lang="ko-KR" altLang="en-US" sz="4400"/>
              <a:t>배치 관리자</a:t>
            </a:r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B9433067-B019-E743-725F-93F9C5731F6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3F802B43-6798-B8E2-5EC8-FB85FEB20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사용자 인터페이스</a:t>
            </a:r>
          </a:p>
        </p:txBody>
      </p:sp>
      <p:sp>
        <p:nvSpPr>
          <p:cNvPr id="13315" name="내용 개체 틀 2">
            <a:extLst>
              <a:ext uri="{FF2B5EF4-FFF2-40B4-BE49-F238E27FC236}">
                <a16:creationId xmlns:a16="http://schemas.microsoft.com/office/drawing/2014/main" id="{29E4A8AD-2C18-8D91-C18B-64B369AB3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/>
              <a:t>소프트웨어 설계의 목적</a:t>
            </a:r>
            <a:endParaRPr lang="en-US" altLang="ko-KR" sz="2400"/>
          </a:p>
          <a:p>
            <a:pPr lvl="1"/>
            <a:r>
              <a:rPr lang="ko-KR" altLang="en-US" sz="2000"/>
              <a:t>사용자의 문제 해결을 돕는 것이라고 할 수 있다</a:t>
            </a:r>
            <a:r>
              <a:rPr lang="en-US" altLang="ko-KR" sz="2000"/>
              <a:t>. </a:t>
            </a:r>
          </a:p>
          <a:p>
            <a:pPr lvl="1"/>
            <a:endParaRPr lang="en-US" altLang="ko-KR" sz="2000"/>
          </a:p>
          <a:p>
            <a:r>
              <a:rPr lang="ko-KR" altLang="en-US" sz="2400"/>
              <a:t>사용자 인터페이스 설계</a:t>
            </a:r>
            <a:endParaRPr lang="en-US" altLang="ko-KR" sz="2400"/>
          </a:p>
          <a:p>
            <a:pPr lvl="1"/>
            <a:r>
              <a:rPr lang="ko-KR" altLang="en-US" sz="2000"/>
              <a:t>사용자를 잘 파악해야 한다</a:t>
            </a:r>
            <a:r>
              <a:rPr lang="en-US" altLang="ko-KR" sz="2000"/>
              <a:t>.</a:t>
            </a:r>
            <a:endParaRPr lang="ko-KR" altLang="en-US"/>
          </a:p>
          <a:p>
            <a:pPr lvl="2"/>
            <a:r>
              <a:rPr lang="ko-KR" altLang="en-US"/>
              <a:t>사용자가 진정 요구하는 것</a:t>
            </a:r>
          </a:p>
          <a:p>
            <a:pPr lvl="2"/>
            <a:r>
              <a:rPr lang="ko-KR" altLang="en-US"/>
              <a:t>사용자의 일반적 행동</a:t>
            </a:r>
          </a:p>
          <a:p>
            <a:pPr lvl="2"/>
            <a:r>
              <a:rPr lang="ko-KR" altLang="en-US"/>
              <a:t>컴퓨터 처리 및 문제에 관련된 전문지식 정도</a:t>
            </a:r>
            <a:endParaRPr lang="en-US" altLang="ko-KR"/>
          </a:p>
          <a:p>
            <a:pPr lvl="1"/>
            <a:r>
              <a:rPr lang="ko-KR" altLang="en-US" sz="2000"/>
              <a:t>사용자의 실수를 예방하도록 설계해야 한다</a:t>
            </a:r>
            <a:r>
              <a:rPr lang="en-US" altLang="ko-KR" sz="2000"/>
              <a:t>.</a:t>
            </a:r>
          </a:p>
          <a:p>
            <a:pPr lvl="1"/>
            <a:r>
              <a:rPr lang="ko-KR" altLang="en-US" sz="2000"/>
              <a:t>사용자의 능력을 최대로 발휘할 수 있도록 설계해야 한다</a:t>
            </a:r>
            <a:r>
              <a:rPr lang="en-US" altLang="ko-KR" sz="2000"/>
              <a:t>.</a:t>
            </a:r>
          </a:p>
          <a:p>
            <a:pPr lvl="1"/>
            <a:r>
              <a:rPr lang="ko-KR" altLang="en-US" sz="2000">
                <a:solidFill>
                  <a:srgbClr val="FF00FF"/>
                </a:solidFill>
              </a:rPr>
              <a:t>일관성</a:t>
            </a:r>
            <a:r>
              <a:rPr lang="ko-KR" altLang="en-US" sz="2000"/>
              <a:t> 있게 설계해야 한다</a:t>
            </a:r>
            <a:r>
              <a:rPr lang="en-US" altLang="ko-KR" sz="2000"/>
              <a:t>.</a:t>
            </a:r>
          </a:p>
          <a:p>
            <a:endParaRPr lang="ko-KR" altLang="en-US" sz="24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3A5831-A7F1-0119-2C09-FD604EB511D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589C64-41DC-3C43-45F6-6066C017E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A5A21117-FF38-4334-A22A-A5A02B813956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11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>
            <a:extLst>
              <a:ext uri="{FF2B5EF4-FFF2-40B4-BE49-F238E27FC236}">
                <a16:creationId xmlns:a16="http://schemas.microsoft.com/office/drawing/2014/main" id="{35704EA7-820F-71A4-6D16-1BC668B08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배치 관리자</a:t>
            </a:r>
            <a:endParaRPr lang="ko-KR" altLang="en-US"/>
          </a:p>
        </p:txBody>
      </p:sp>
      <p:sp>
        <p:nvSpPr>
          <p:cNvPr id="14339" name="내용 개체 틀 2">
            <a:extLst>
              <a:ext uri="{FF2B5EF4-FFF2-40B4-BE49-F238E27FC236}">
                <a16:creationId xmlns:a16="http://schemas.microsoft.com/office/drawing/2014/main" id="{2BC533EE-8D70-FC6F-5378-3CD85A86B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/>
              <a:t>배치 관리자</a:t>
            </a:r>
            <a:r>
              <a:rPr lang="en-US" altLang="ko-KR" sz="2000"/>
              <a:t>(layout manager)</a:t>
            </a:r>
          </a:p>
          <a:p>
            <a:pPr lvl="1"/>
            <a:r>
              <a:rPr lang="ko-KR" altLang="en-US" sz="1800"/>
              <a:t>컨테이너 내에서 컴포넌트들의 배치를 제어 혹은 관리하는 객체</a:t>
            </a:r>
            <a:endParaRPr lang="en-US" altLang="ko-KR" sz="1800"/>
          </a:p>
          <a:p>
            <a:pPr lvl="1"/>
            <a:r>
              <a:rPr lang="ko-KR" altLang="en-US" sz="1800"/>
              <a:t>일관성 있는 사용자 인터페이스를 설계하는 데 있어서 매우 중요하다</a:t>
            </a:r>
            <a:r>
              <a:rPr lang="en-US" altLang="ko-KR" sz="1800"/>
              <a:t>. </a:t>
            </a:r>
          </a:p>
          <a:p>
            <a:pPr lvl="1"/>
            <a:endParaRPr lang="en-US" altLang="ko-KR" sz="1800"/>
          </a:p>
          <a:p>
            <a:r>
              <a:rPr lang="en-US" altLang="ko-KR" sz="2000"/>
              <a:t>Java </a:t>
            </a:r>
            <a:r>
              <a:rPr lang="ko-KR" altLang="en-US" sz="2000"/>
              <a:t>표준 라이브러리가 제공하는 배치 관리자들</a:t>
            </a:r>
            <a:endParaRPr lang="en-US" altLang="ko-KR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EB1D9D-F0CD-AB8C-8437-EA2114C3939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6455D0-5331-19B5-3615-EE28B0AD0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DBE00C6D-5C73-41C9-BE33-EAEC3A5695EF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12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sp>
        <p:nvSpPr>
          <p:cNvPr id="14342" name="Rectangle 2">
            <a:extLst>
              <a:ext uri="{FF2B5EF4-FFF2-40B4-BE49-F238E27FC236}">
                <a16:creationId xmlns:a16="http://schemas.microsoft.com/office/drawing/2014/main" id="{C1C82BFF-AFCC-200D-4139-877318817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14343" name="_x103222016" descr="EMB000017a40907">
            <a:extLst>
              <a:ext uri="{FF2B5EF4-FFF2-40B4-BE49-F238E27FC236}">
                <a16:creationId xmlns:a16="http://schemas.microsoft.com/office/drawing/2014/main" id="{ED6B1DCC-FB58-7C5C-B25C-F895D5A79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3716338"/>
            <a:ext cx="3902075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>
            <a:extLst>
              <a:ext uri="{FF2B5EF4-FFF2-40B4-BE49-F238E27FC236}">
                <a16:creationId xmlns:a16="http://schemas.microsoft.com/office/drawing/2014/main" id="{4965FC5F-01C2-2F0B-57C5-FF580B3EB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배치 관리자 변경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19B68D-7D4E-56B5-D104-3C0313EAC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Clr>
                <a:schemeClr val="bg2"/>
              </a:buClr>
              <a:buFont typeface="Wingdings" panose="05000000000000000000" pitchFamily="2" charset="2"/>
              <a:buChar char="p"/>
              <a:defRPr/>
            </a:pPr>
            <a:r>
              <a:rPr lang="ko-KR" altLang="en-US" sz="2000" dirty="0"/>
              <a:t>각 컨테이너는 초기 설정된 배치 관리자를 갖고 있고 </a:t>
            </a:r>
            <a:endParaRPr lang="en-US" altLang="ko-KR" sz="2000" dirty="0"/>
          </a:p>
          <a:p>
            <a:pPr marL="342900" lvl="1" indent="-342900">
              <a:buClr>
                <a:schemeClr val="bg2"/>
              </a:buClr>
              <a:buFont typeface="Wingdings" panose="05000000000000000000" pitchFamily="2" charset="2"/>
              <a:buChar char="p"/>
              <a:defRPr/>
            </a:pPr>
            <a:r>
              <a:rPr lang="ko-KR" altLang="en-US" sz="2000" dirty="0"/>
              <a:t>필요하면 명시적으로 다른 것으로 대치할 수 있다</a:t>
            </a:r>
            <a:r>
              <a:rPr lang="en-US" altLang="ko-KR" sz="2000" dirty="0"/>
              <a:t>. </a:t>
            </a:r>
          </a:p>
          <a:p>
            <a:pPr>
              <a:defRPr/>
            </a:pPr>
            <a:r>
              <a:rPr lang="ko-KR" altLang="en-US" sz="2000" dirty="0"/>
              <a:t>배치 관리자 변경은 컨테이너의 </a:t>
            </a:r>
            <a:r>
              <a:rPr lang="en-US" altLang="ko-KR" sz="2000" dirty="0" err="1"/>
              <a:t>setLayout</a:t>
            </a:r>
            <a:r>
              <a:rPr lang="ko-KR" altLang="en-US" sz="2000" dirty="0"/>
              <a:t> </a:t>
            </a:r>
            <a:r>
              <a:rPr lang="ko-KR" altLang="en-US" sz="2000" dirty="0" err="1"/>
              <a:t>메쏘드를</a:t>
            </a:r>
            <a:r>
              <a:rPr lang="ko-KR" altLang="en-US" sz="2000" dirty="0"/>
              <a:t> 사용해야 한다</a:t>
            </a:r>
            <a:endParaRPr lang="en-US" altLang="ko-KR" sz="2000" dirty="0"/>
          </a:p>
          <a:p>
            <a:pPr>
              <a:defRPr/>
            </a:pPr>
            <a:r>
              <a:rPr lang="ko-KR" altLang="en-US" sz="2000" dirty="0"/>
              <a:t>예</a:t>
            </a:r>
          </a:p>
          <a:p>
            <a:pPr lvl="1">
              <a:buFont typeface="Wingdings" panose="05000000000000000000" pitchFamily="2" charset="2"/>
              <a:buNone/>
              <a:defRPr/>
            </a:pPr>
            <a:r>
              <a:rPr lang="en-US" altLang="ko-KR" sz="1800" dirty="0" err="1">
                <a:latin typeface="Lucida Console" pitchFamily="49" charset="0"/>
              </a:rPr>
              <a:t>JPanel</a:t>
            </a:r>
            <a:r>
              <a:rPr lang="en-US" altLang="ko-KR" sz="1800" dirty="0">
                <a:latin typeface="Lucida Console" pitchFamily="49" charset="0"/>
              </a:rPr>
              <a:t> panel = new </a:t>
            </a:r>
            <a:r>
              <a:rPr lang="en-US" altLang="ko-KR" sz="1800" dirty="0" err="1">
                <a:latin typeface="Lucida Console" pitchFamily="49" charset="0"/>
              </a:rPr>
              <a:t>JPanel</a:t>
            </a:r>
            <a:r>
              <a:rPr lang="en-US" altLang="ko-KR" sz="1800" dirty="0">
                <a:latin typeface="Lucida Console" pitchFamily="49" charset="0"/>
              </a:rPr>
              <a:t>();</a:t>
            </a:r>
            <a:endParaRPr lang="ko-KR" altLang="en-US" sz="1800" dirty="0">
              <a:latin typeface="Lucida Console" pitchFamily="49" charset="0"/>
            </a:endParaRPr>
          </a:p>
          <a:p>
            <a:pPr lvl="1">
              <a:buFont typeface="Wingdings" panose="05000000000000000000" pitchFamily="2" charset="2"/>
              <a:buNone/>
              <a:defRPr/>
            </a:pPr>
            <a:r>
              <a:rPr lang="en-US" altLang="ko-KR" sz="1800" dirty="0" err="1">
                <a:latin typeface="Lucida Console" pitchFamily="49" charset="0"/>
              </a:rPr>
              <a:t>panel.setLayout</a:t>
            </a:r>
            <a:r>
              <a:rPr lang="en-US" altLang="ko-KR" sz="1800" dirty="0">
                <a:latin typeface="Lucida Console" pitchFamily="49" charset="0"/>
              </a:rPr>
              <a:t>(new </a:t>
            </a:r>
            <a:r>
              <a:rPr lang="en-US" altLang="ko-KR" sz="1800" dirty="0" err="1">
                <a:latin typeface="Lucida Console" pitchFamily="49" charset="0"/>
              </a:rPr>
              <a:t>BorderLayout</a:t>
            </a:r>
            <a:r>
              <a:rPr lang="en-US" altLang="ko-KR" sz="1800" dirty="0">
                <a:latin typeface="Lucida Console" pitchFamily="49" charset="0"/>
              </a:rPr>
              <a:t>());</a:t>
            </a:r>
            <a:endParaRPr lang="ko-KR" altLang="en-US" sz="1800" dirty="0">
              <a:latin typeface="Lucida Console" pitchFamily="49" charset="0"/>
            </a:endParaRPr>
          </a:p>
          <a:p>
            <a:pPr>
              <a:defRPr/>
            </a:pP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8CBC81-9D29-01BB-14D6-C792551A55C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7B9746-5271-888C-D5ED-3997C0AEA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81AB0CF6-3CC1-4B65-9A3E-15A9E8BD4D2B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13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>
            <a:extLst>
              <a:ext uri="{FF2B5EF4-FFF2-40B4-BE49-F238E27FC236}">
                <a16:creationId xmlns:a16="http://schemas.microsoft.com/office/drawing/2014/main" id="{1EA3B960-CFF5-7F54-DE1F-2584D1C70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흐름 배치</a:t>
            </a:r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86B4E132-7C3F-B133-1821-F0B9DADAC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b="1"/>
              <a:t>흐름 배치</a:t>
            </a:r>
            <a:r>
              <a:rPr lang="en-US" altLang="ko-KR" sz="2400" b="1"/>
              <a:t>(flow layout)</a:t>
            </a:r>
            <a:endParaRPr lang="en-US" altLang="ko-KR" sz="2400"/>
          </a:p>
          <a:p>
            <a:pPr lvl="1"/>
            <a:r>
              <a:rPr lang="ko-KR" altLang="en-US" sz="1800"/>
              <a:t>컴포넌트들을 한 행</a:t>
            </a:r>
            <a:r>
              <a:rPr lang="en-US" altLang="ko-KR" sz="1800"/>
              <a:t>(row)</a:t>
            </a:r>
            <a:r>
              <a:rPr lang="ko-KR" altLang="en-US" sz="1800"/>
              <a:t>에 배치하고 그 행이 다하면 다음 행에 배치한다</a:t>
            </a:r>
            <a:endParaRPr lang="en-US" altLang="ko-KR" sz="1800"/>
          </a:p>
          <a:p>
            <a:pPr lvl="1"/>
            <a:r>
              <a:rPr lang="ko-KR" altLang="en-US" sz="1800"/>
              <a:t>컴포넌트들은 컨테이너에 더해진 순서대로 보여준다</a:t>
            </a:r>
            <a:r>
              <a:rPr lang="en-US" altLang="ko-KR" sz="1800"/>
              <a:t>. </a:t>
            </a:r>
          </a:p>
          <a:p>
            <a:pPr lvl="1"/>
            <a:r>
              <a:rPr lang="ko-KR" altLang="en-US" sz="1800"/>
              <a:t>컴포넌트는 윈도우 내에서 중앙정렬로 초기화되어 있다</a:t>
            </a:r>
            <a:r>
              <a:rPr lang="en-US" altLang="ko-KR" sz="1800"/>
              <a:t>. </a:t>
            </a:r>
          </a:p>
          <a:p>
            <a:pPr lvl="1"/>
            <a:r>
              <a:rPr lang="ko-KR" altLang="en-US" sz="1800"/>
              <a:t>필요하면 좌측정렬이나 우측정렬도 가능하다</a:t>
            </a:r>
            <a:r>
              <a:rPr lang="en-US" altLang="ko-KR" sz="1800"/>
              <a:t>. </a:t>
            </a:r>
          </a:p>
          <a:p>
            <a:pPr lvl="1"/>
            <a:endParaRPr lang="en-US" altLang="ko-KR" sz="1800"/>
          </a:p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━━━━━━━━━━━━━━━━━━━━━━━━━━━━━━━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 b="1"/>
              <a:t>Key Point</a:t>
            </a:r>
            <a:endParaRPr lang="ko-KR" altLang="en-US" sz="2000"/>
          </a:p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흐름 배치</a:t>
            </a:r>
            <a:r>
              <a:rPr lang="en-US" altLang="ko-KR" sz="2000"/>
              <a:t>(flow layout)</a:t>
            </a:r>
            <a:r>
              <a:rPr lang="ko-KR" altLang="en-US" sz="2000"/>
              <a:t>는 컴포넌트들을 한 행에 배치하고 그 행이 다하면 다음 행에 배치한다</a:t>
            </a:r>
            <a:r>
              <a:rPr lang="en-US" altLang="ko-KR" sz="2000"/>
              <a:t>. </a:t>
            </a:r>
          </a:p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━━━━━━━━━━━━━━━━━━━━━━━━━━━━━━━</a:t>
            </a:r>
          </a:p>
          <a:p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BA63B4-BDD0-94B8-FFAC-981FF6847CA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238046-02BA-AF65-E12B-A676ECEEB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A700115D-5367-4462-849A-A5DA0E37A019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14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>
            <a:extLst>
              <a:ext uri="{FF2B5EF4-FFF2-40B4-BE49-F238E27FC236}">
                <a16:creationId xmlns:a16="http://schemas.microsoft.com/office/drawing/2014/main" id="{BCCE9079-A259-71B0-0C8C-1C65051D8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7411" name="내용 개체 틀 2">
            <a:extLst>
              <a:ext uri="{FF2B5EF4-FFF2-40B4-BE49-F238E27FC236}">
                <a16:creationId xmlns:a16="http://schemas.microsoft.com/office/drawing/2014/main" id="{FCC698D4-EA93-C47C-84D8-6E7E68905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4400F3-8738-A320-F4DA-680374BEF8F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4D4F74-97A4-D16F-8BCA-5190BD2A8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04FC3CA6-9E31-4256-AE1B-D3CFDC3F469C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15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pic>
        <p:nvPicPr>
          <p:cNvPr id="17414" name="Picture 2">
            <a:extLst>
              <a:ext uri="{FF2B5EF4-FFF2-40B4-BE49-F238E27FC236}">
                <a16:creationId xmlns:a16="http://schemas.microsoft.com/office/drawing/2014/main" id="{17D02945-71B1-69C1-7553-CAF5B504F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0"/>
            <a:ext cx="5329237" cy="687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5" name="Rectangle 4">
            <a:extLst>
              <a:ext uri="{FF2B5EF4-FFF2-40B4-BE49-F238E27FC236}">
                <a16:creationId xmlns:a16="http://schemas.microsoft.com/office/drawing/2014/main" id="{5162A456-B19C-C40B-F001-645FAE942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17416" name="_x103221616" descr="EMB000017a408fa">
            <a:extLst>
              <a:ext uri="{FF2B5EF4-FFF2-40B4-BE49-F238E27FC236}">
                <a16:creationId xmlns:a16="http://schemas.microsoft.com/office/drawing/2014/main" id="{0B85C7BA-D21E-5EA7-0775-B6BACFEAA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4797425"/>
            <a:ext cx="2952750" cy="145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>
            <a:extLst>
              <a:ext uri="{FF2B5EF4-FFF2-40B4-BE49-F238E27FC236}">
                <a16:creationId xmlns:a16="http://schemas.microsoft.com/office/drawing/2014/main" id="{D9F125A5-4900-E6D4-33D8-07A28CF7A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영역 배치</a:t>
            </a:r>
            <a:endParaRPr lang="ko-KR" altLang="en-US"/>
          </a:p>
        </p:txBody>
      </p:sp>
      <p:sp>
        <p:nvSpPr>
          <p:cNvPr id="18435" name="내용 개체 틀 2">
            <a:extLst>
              <a:ext uri="{FF2B5EF4-FFF2-40B4-BE49-F238E27FC236}">
                <a16:creationId xmlns:a16="http://schemas.microsoft.com/office/drawing/2014/main" id="{068B3490-EDC1-DECF-202E-26DF67EB3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b="1"/>
              <a:t>영역 배치</a:t>
            </a:r>
            <a:r>
              <a:rPr lang="en-US" altLang="ko-KR" sz="2400" b="1"/>
              <a:t>(border layout)</a:t>
            </a:r>
          </a:p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━━━━━━━━━━━━━━━━━━━━━━━━━━━━━━━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 b="1"/>
              <a:t>Key Point</a:t>
            </a:r>
            <a:endParaRPr lang="ko-KR" altLang="en-US" sz="2000"/>
          </a:p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영역 배치</a:t>
            </a:r>
            <a:r>
              <a:rPr lang="en-US" altLang="ko-KR" sz="2000"/>
              <a:t>(border layout)</a:t>
            </a:r>
            <a:r>
              <a:rPr lang="ko-KR" altLang="en-US" sz="2000"/>
              <a:t>는 컴포넌트들을 필요에 따라 컨테이너 내의 </a:t>
            </a:r>
            <a:r>
              <a:rPr lang="en-US" altLang="ko-KR" sz="2000"/>
              <a:t>5</a:t>
            </a:r>
            <a:r>
              <a:rPr lang="ko-KR" altLang="en-US" sz="2000"/>
              <a:t>개의 영역</a:t>
            </a:r>
            <a:r>
              <a:rPr lang="en-US" altLang="ko-KR" sz="2000"/>
              <a:t>(</a:t>
            </a:r>
            <a:r>
              <a:rPr lang="ko-KR" altLang="en-US" sz="2000"/>
              <a:t>동</a:t>
            </a:r>
            <a:r>
              <a:rPr lang="en-US" altLang="ko-KR" sz="2000"/>
              <a:t>,</a:t>
            </a:r>
            <a:r>
              <a:rPr lang="ko-KR" altLang="en-US" sz="2000"/>
              <a:t>서</a:t>
            </a:r>
            <a:r>
              <a:rPr lang="en-US" altLang="ko-KR" sz="2000"/>
              <a:t>,</a:t>
            </a:r>
            <a:r>
              <a:rPr lang="ko-KR" altLang="en-US" sz="2000"/>
              <a:t>남</a:t>
            </a:r>
            <a:r>
              <a:rPr lang="en-US" altLang="ko-KR" sz="2000"/>
              <a:t>,</a:t>
            </a:r>
            <a:r>
              <a:rPr lang="ko-KR" altLang="en-US" sz="2000"/>
              <a:t>북</a:t>
            </a:r>
            <a:r>
              <a:rPr lang="en-US" altLang="ko-KR" sz="2000"/>
              <a:t>,</a:t>
            </a:r>
            <a:r>
              <a:rPr lang="ko-KR" altLang="en-US" sz="2000"/>
              <a:t>중앙</a:t>
            </a:r>
            <a:r>
              <a:rPr lang="en-US" altLang="ko-KR" sz="2000"/>
              <a:t>)</a:t>
            </a:r>
            <a:r>
              <a:rPr lang="ko-KR" altLang="en-US" sz="2000"/>
              <a:t>에 지정하여 배치할 수 있다</a:t>
            </a:r>
            <a:r>
              <a:rPr lang="en-US" altLang="ko-KR" sz="2000"/>
              <a:t>. </a:t>
            </a:r>
          </a:p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━━━━━━━━━━━━━━━━━━━━━━━━━━━━━━━</a:t>
            </a:r>
          </a:p>
          <a:p>
            <a:endParaRPr lang="ko-KR" altLang="en-US" sz="24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47DBBD-2194-B2D5-DF99-E50C7FBCB9C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40C1FA-CD70-8B0E-6657-B83D492D7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F8C3E388-E0F2-4A90-8633-91839181E375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16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sp>
        <p:nvSpPr>
          <p:cNvPr id="18438" name="Rectangle 2">
            <a:extLst>
              <a:ext uri="{FF2B5EF4-FFF2-40B4-BE49-F238E27FC236}">
                <a16:creationId xmlns:a16="http://schemas.microsoft.com/office/drawing/2014/main" id="{F1C73B1C-562B-2629-1CDB-0CA147F9C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18439" name="_x103222016" descr="EMB000017a40908">
            <a:extLst>
              <a:ext uri="{FF2B5EF4-FFF2-40B4-BE49-F238E27FC236}">
                <a16:creationId xmlns:a16="http://schemas.microsoft.com/office/drawing/2014/main" id="{19FB4C19-4165-1638-666E-CB5A8B556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3860800"/>
            <a:ext cx="3240087" cy="232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>
            <a:extLst>
              <a:ext uri="{FF2B5EF4-FFF2-40B4-BE49-F238E27FC236}">
                <a16:creationId xmlns:a16="http://schemas.microsoft.com/office/drawing/2014/main" id="{56CF68F5-5643-37C2-8198-7CC30C4D1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9459" name="내용 개체 틀 2">
            <a:extLst>
              <a:ext uri="{FF2B5EF4-FFF2-40B4-BE49-F238E27FC236}">
                <a16:creationId xmlns:a16="http://schemas.microsoft.com/office/drawing/2014/main" id="{EFDEC128-FE0D-7726-985B-54262DA0D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416555-D480-BB77-11B8-5EBB7B370FF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72B5C4-685C-99D8-5047-C850F4C3C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E0096A30-8759-4128-AB20-276A1C8A94CE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17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pic>
        <p:nvPicPr>
          <p:cNvPr id="19462" name="Picture 2">
            <a:extLst>
              <a:ext uri="{FF2B5EF4-FFF2-40B4-BE49-F238E27FC236}">
                <a16:creationId xmlns:a16="http://schemas.microsoft.com/office/drawing/2014/main" id="{8BA15AB7-A38C-5075-8276-512C9EC15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15888"/>
            <a:ext cx="5586412" cy="667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3" name="Rectangle 4">
            <a:extLst>
              <a:ext uri="{FF2B5EF4-FFF2-40B4-BE49-F238E27FC236}">
                <a16:creationId xmlns:a16="http://schemas.microsoft.com/office/drawing/2014/main" id="{FAE8C40D-884C-DADE-FEE9-5CD87F4D1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19464" name="_x103221536" descr="EMB000017a40909">
            <a:extLst>
              <a:ext uri="{FF2B5EF4-FFF2-40B4-BE49-F238E27FC236}">
                <a16:creationId xmlns:a16="http://schemas.microsoft.com/office/drawing/2014/main" id="{7167D29A-A935-71E2-127A-4AEC4FEB9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0" y="4292600"/>
            <a:ext cx="3024188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>
            <a:extLst>
              <a:ext uri="{FF2B5EF4-FFF2-40B4-BE49-F238E27FC236}">
                <a16:creationId xmlns:a16="http://schemas.microsoft.com/office/drawing/2014/main" id="{67958D42-D1F6-E107-E71F-1FBEF5F52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격자 배치</a:t>
            </a:r>
            <a:endParaRPr lang="ko-KR" altLang="en-US"/>
          </a:p>
        </p:txBody>
      </p:sp>
      <p:sp>
        <p:nvSpPr>
          <p:cNvPr id="20483" name="내용 개체 틀 2">
            <a:extLst>
              <a:ext uri="{FF2B5EF4-FFF2-40B4-BE49-F238E27FC236}">
                <a16:creationId xmlns:a16="http://schemas.microsoft.com/office/drawing/2014/main" id="{95BDA569-0432-979A-811E-9011E4B85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b="1"/>
              <a:t>격자 배치</a:t>
            </a:r>
            <a:r>
              <a:rPr lang="en-US" altLang="ko-KR" sz="2400" b="1"/>
              <a:t>(grid layout)</a:t>
            </a:r>
            <a:endParaRPr lang="en-US" altLang="ko-KR" sz="2400"/>
          </a:p>
          <a:p>
            <a:pPr lvl="1"/>
            <a:r>
              <a:rPr lang="ko-KR" altLang="en-US" sz="1800"/>
              <a:t>컨테이너의 컴포넌트들을 행과 열의 직사각형 격자에 배치한다</a:t>
            </a:r>
            <a:r>
              <a:rPr lang="en-US" altLang="ko-KR" sz="1800"/>
              <a:t>. </a:t>
            </a:r>
          </a:p>
          <a:p>
            <a:pPr lvl="1"/>
            <a:r>
              <a:rPr lang="ko-KR" altLang="en-US" sz="1800"/>
              <a:t>하나의 컴포넌트는 격자의 힌 칸</a:t>
            </a:r>
            <a:r>
              <a:rPr lang="en-US" altLang="ko-KR" sz="1800"/>
              <a:t>(cell)</a:t>
            </a:r>
            <a:r>
              <a:rPr lang="ko-KR" altLang="en-US" sz="1800"/>
              <a:t>에 놓여지며</a:t>
            </a:r>
            <a:r>
              <a:rPr lang="en-US" altLang="ko-KR" sz="1800"/>
              <a:t>, </a:t>
            </a:r>
          </a:p>
          <a:p>
            <a:pPr lvl="1"/>
            <a:r>
              <a:rPr lang="ko-KR" altLang="en-US" sz="1800"/>
              <a:t>모든 칸들은 동일한 크기를 갖는다</a:t>
            </a:r>
            <a:endParaRPr lang="en-US" altLang="ko-KR" sz="1800"/>
          </a:p>
          <a:p>
            <a:pPr lvl="1"/>
            <a:endParaRPr lang="en-US" altLang="ko-KR" sz="1800"/>
          </a:p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━━━━━━━━━━━━━━━━━━━━━━━━━━━━━━━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 b="1"/>
              <a:t>Key Point</a:t>
            </a:r>
            <a:endParaRPr lang="ko-KR" altLang="en-US" sz="2000"/>
          </a:p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격자 배치</a:t>
            </a:r>
            <a:r>
              <a:rPr lang="en-US" altLang="ko-KR" sz="2000"/>
              <a:t>(grid layout)</a:t>
            </a:r>
            <a:r>
              <a:rPr lang="ko-KR" altLang="en-US" sz="2000"/>
              <a:t>는 컨테이너의 컴포넌트들을 행과 열의 직사각형 격자에 배치한다</a:t>
            </a:r>
            <a:r>
              <a:rPr lang="en-US" altLang="ko-KR" sz="2000"/>
              <a:t>.</a:t>
            </a:r>
          </a:p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━━━━━━━━━━━━━━━━━━━━━━━━━━━━━━━</a:t>
            </a:r>
          </a:p>
          <a:p>
            <a:endParaRPr lang="ko-KR" altLang="en-US" sz="24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64F558-2A96-137D-664B-CEBCC5EA561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6C8967-2F06-5FAE-6D1B-B1929431E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D002C164-693E-4EFE-8A8D-B16F93EB0EF1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18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>
            <a:extLst>
              <a:ext uri="{FF2B5EF4-FFF2-40B4-BE49-F238E27FC236}">
                <a16:creationId xmlns:a16="http://schemas.microsoft.com/office/drawing/2014/main" id="{E29C41ED-AEA3-210B-3E53-E1F0FA7BA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1507" name="내용 개체 틀 2">
            <a:extLst>
              <a:ext uri="{FF2B5EF4-FFF2-40B4-BE49-F238E27FC236}">
                <a16:creationId xmlns:a16="http://schemas.microsoft.com/office/drawing/2014/main" id="{B3C3122F-0303-A793-EDD2-6EF2F8C67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A00AD5-EB8E-9353-0E2E-F8111DD30F3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ABB9A1-153A-72A0-3FCE-D11469B06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BA28968F-0A0C-4D0D-A4EE-EE19452279D2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19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pic>
        <p:nvPicPr>
          <p:cNvPr id="21510" name="Picture 1">
            <a:extLst>
              <a:ext uri="{FF2B5EF4-FFF2-40B4-BE49-F238E27FC236}">
                <a16:creationId xmlns:a16="http://schemas.microsoft.com/office/drawing/2014/main" id="{7A91E89E-8168-505B-0B63-1AA9D41CF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0"/>
            <a:ext cx="54006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1" name="Rectangle 3">
            <a:extLst>
              <a:ext uri="{FF2B5EF4-FFF2-40B4-BE49-F238E27FC236}">
                <a16:creationId xmlns:a16="http://schemas.microsoft.com/office/drawing/2014/main" id="{21D66366-5E30-B3B4-E761-15D324254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21512" name="_x103221536" descr="EMB000017a4090a">
            <a:extLst>
              <a:ext uri="{FF2B5EF4-FFF2-40B4-BE49-F238E27FC236}">
                <a16:creationId xmlns:a16="http://schemas.microsoft.com/office/drawing/2014/main" id="{4A7884E3-A494-50C2-92B1-FF8CA3D19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4292600"/>
            <a:ext cx="2879725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181631AD-6B07-D3CB-4749-096B52A29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상자 배치</a:t>
            </a:r>
          </a:p>
        </p:txBody>
      </p:sp>
      <p:sp>
        <p:nvSpPr>
          <p:cNvPr id="22531" name="내용 개체 틀 2">
            <a:extLst>
              <a:ext uri="{FF2B5EF4-FFF2-40B4-BE49-F238E27FC236}">
                <a16:creationId xmlns:a16="http://schemas.microsoft.com/office/drawing/2014/main" id="{C47BFCEA-9E9A-BC27-5516-75DF7A4A7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/>
              <a:t>상자 배치</a:t>
            </a:r>
            <a:r>
              <a:rPr lang="en-US" altLang="ko-KR" sz="2400"/>
              <a:t>(box layout)</a:t>
            </a:r>
            <a:endParaRPr lang="ko-KR" altLang="en-US" sz="2400"/>
          </a:p>
          <a:p>
            <a:pPr lvl="1"/>
            <a:r>
              <a:rPr lang="ko-KR" altLang="en-US" sz="1800"/>
              <a:t>컴포넌트들을 하나의 행 또는 하나의 열에 수평 또는 수직으로 배치</a:t>
            </a:r>
            <a:endParaRPr lang="en-US" altLang="ko-KR" sz="1800"/>
          </a:p>
          <a:p>
            <a:pPr lvl="1"/>
            <a:r>
              <a:rPr lang="ko-KR" altLang="en-US" sz="1800"/>
              <a:t>컴포넌트들은 컨테이너에 추가될 때 마다 위에서 아래로 혹은 왼쪽에서 오른쪽으로 순서대로 배치된다</a:t>
            </a:r>
            <a:r>
              <a:rPr lang="en-US" altLang="ko-KR" sz="1800"/>
              <a:t>. </a:t>
            </a:r>
          </a:p>
          <a:p>
            <a:pPr lvl="1"/>
            <a:endParaRPr lang="en-US" altLang="ko-KR" sz="1800"/>
          </a:p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━━━━━━━━━━━━━━━━━━━━━━━━━━━━━━━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 b="1"/>
              <a:t>Key Point</a:t>
            </a:r>
            <a:endParaRPr lang="ko-KR" altLang="en-US" sz="2000"/>
          </a:p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상자 배치</a:t>
            </a:r>
            <a:r>
              <a:rPr lang="en-US" altLang="ko-KR" sz="2000"/>
              <a:t>(box layout)</a:t>
            </a:r>
            <a:r>
              <a:rPr lang="ko-KR" altLang="en-US" sz="2000"/>
              <a:t>는 컨테이너의 컴포넌트들을 하나의 행 또는 하나의 열에 수평 또는 수직으로 배치한다</a:t>
            </a:r>
            <a:r>
              <a:rPr lang="en-US" altLang="ko-KR" sz="2000"/>
              <a:t>. </a:t>
            </a:r>
          </a:p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━━━━━━━━━━━━━━━━━━━━━━━━━━━━━━━</a:t>
            </a:r>
          </a:p>
          <a:p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F7D5BD-253F-EF0A-12B0-0A675102A9C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246054F-8B71-83A4-8085-2BBCAD9A4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70E9E948-531E-4B75-B2B4-98DB6683C944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20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제목 1">
            <a:extLst>
              <a:ext uri="{FF2B5EF4-FFF2-40B4-BE49-F238E27FC236}">
                <a16:creationId xmlns:a16="http://schemas.microsoft.com/office/drawing/2014/main" id="{87D5692B-7F41-90D4-E38F-53205FC4D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3555" name="내용 개체 틀 2">
            <a:extLst>
              <a:ext uri="{FF2B5EF4-FFF2-40B4-BE49-F238E27FC236}">
                <a16:creationId xmlns:a16="http://schemas.microsoft.com/office/drawing/2014/main" id="{4827D268-BEB3-C2B3-A0A8-1D1E7804D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21B1B4-7033-3132-8B0D-C66B38CA748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C8429E-D4C8-D21A-E097-07D679E89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DEB2D47E-5620-488C-8E55-4CFB00B19E7A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21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pic>
        <p:nvPicPr>
          <p:cNvPr id="23558" name="Picture 2">
            <a:extLst>
              <a:ext uri="{FF2B5EF4-FFF2-40B4-BE49-F238E27FC236}">
                <a16:creationId xmlns:a16="http://schemas.microsoft.com/office/drawing/2014/main" id="{47B64969-CEFF-E4AC-7561-53644CA86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88913"/>
            <a:ext cx="5049837" cy="640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9" name="Rectangle 4">
            <a:extLst>
              <a:ext uri="{FF2B5EF4-FFF2-40B4-BE49-F238E27FC236}">
                <a16:creationId xmlns:a16="http://schemas.microsoft.com/office/drawing/2014/main" id="{6AD8EE63-DA0D-D7EA-5A72-966F6BA87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23560" name="_x103500824" descr="EMB000017a4090b">
            <a:extLst>
              <a:ext uri="{FF2B5EF4-FFF2-40B4-BE49-F238E27FC236}">
                <a16:creationId xmlns:a16="http://schemas.microsoft.com/office/drawing/2014/main" id="{D6CB7D08-932B-2D3D-5B57-B542C7219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1700213"/>
            <a:ext cx="2519363" cy="161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1" name="Rectangle 6">
            <a:extLst>
              <a:ext uri="{FF2B5EF4-FFF2-40B4-BE49-F238E27FC236}">
                <a16:creationId xmlns:a16="http://schemas.microsoft.com/office/drawing/2014/main" id="{EFFBEE98-CD6F-0815-982C-5344D336C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23562" name="_x103501064" descr="EMB000017a4090c">
            <a:extLst>
              <a:ext uri="{FF2B5EF4-FFF2-40B4-BE49-F238E27FC236}">
                <a16:creationId xmlns:a16="http://schemas.microsoft.com/office/drawing/2014/main" id="{EB355F89-5712-DFF0-48D4-7F4079E27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7388" y="3933825"/>
            <a:ext cx="2735262" cy="203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>
            <a:extLst>
              <a:ext uri="{FF2B5EF4-FFF2-40B4-BE49-F238E27FC236}">
                <a16:creationId xmlns:a16="http://schemas.microsoft.com/office/drawing/2014/main" id="{D6E59C09-E3BB-E9D1-686D-78FB4D2EC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절대 위치</a:t>
            </a:r>
            <a:endParaRPr lang="ko-KR" altLang="en-US"/>
          </a:p>
        </p:txBody>
      </p:sp>
      <p:sp>
        <p:nvSpPr>
          <p:cNvPr id="24579" name="내용 개체 틀 2">
            <a:extLst>
              <a:ext uri="{FF2B5EF4-FFF2-40B4-BE49-F238E27FC236}">
                <a16:creationId xmlns:a16="http://schemas.microsoft.com/office/drawing/2014/main" id="{88CBB73B-729B-3FA7-0344-816EDA15B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b="1"/>
              <a:t>절대 위치</a:t>
            </a:r>
            <a:r>
              <a:rPr lang="en-US" altLang="ko-KR" sz="2400" b="1"/>
              <a:t>(absolute positioning)</a:t>
            </a:r>
            <a:endParaRPr lang="en-US" altLang="ko-KR" sz="2400"/>
          </a:p>
          <a:p>
            <a:pPr lvl="1"/>
            <a:r>
              <a:rPr lang="ko-KR" altLang="en-US" sz="2000"/>
              <a:t>배치 관리자를 사용하지 않고 절대 위치를 이용하여 배치</a:t>
            </a:r>
            <a:endParaRPr lang="en-US" altLang="ko-KR" sz="2000"/>
          </a:p>
          <a:p>
            <a:pPr lvl="1"/>
            <a:r>
              <a:rPr lang="en-US" altLang="ko-KR" sz="2000"/>
              <a:t>setBounds</a:t>
            </a:r>
            <a:r>
              <a:rPr lang="ko-KR" altLang="en-US" sz="2000"/>
              <a:t> 메소드를 이용하여 컴포넌트의 크기와 위치 결정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2000"/>
              <a:t>   </a:t>
            </a:r>
            <a:r>
              <a:rPr lang="en-US" altLang="ko-KR" sz="1800">
                <a:latin typeface="Lucida Console" panose="020B0609040504020204" pitchFamily="49" charset="0"/>
              </a:rPr>
              <a:t>setBounds(int</a:t>
            </a:r>
            <a:r>
              <a:rPr lang="ko-KR" altLang="en-US" sz="1800">
                <a:latin typeface="Lucida Console" panose="020B0609040504020204" pitchFamily="49" charset="0"/>
              </a:rPr>
              <a:t> </a:t>
            </a:r>
            <a:r>
              <a:rPr lang="en-US" altLang="ko-KR" sz="1800">
                <a:latin typeface="Lucida Console" panose="020B0609040504020204" pitchFamily="49" charset="0"/>
              </a:rPr>
              <a:t>x, int</a:t>
            </a:r>
            <a:r>
              <a:rPr lang="ko-KR" altLang="en-US" sz="1800">
                <a:latin typeface="Lucida Console" panose="020B0609040504020204" pitchFamily="49" charset="0"/>
              </a:rPr>
              <a:t> </a:t>
            </a:r>
            <a:r>
              <a:rPr lang="en-US" altLang="ko-KR" sz="1800">
                <a:latin typeface="Lucida Console" panose="020B0609040504020204" pitchFamily="49" charset="0"/>
              </a:rPr>
              <a:t>y, int</a:t>
            </a:r>
            <a:r>
              <a:rPr lang="ko-KR" altLang="en-US" sz="1800">
                <a:latin typeface="Lucida Console" panose="020B0609040504020204" pitchFamily="49" charset="0"/>
              </a:rPr>
              <a:t> </a:t>
            </a:r>
            <a:r>
              <a:rPr lang="en-US" altLang="ko-KR" sz="1800">
                <a:latin typeface="Lucida Console" panose="020B0609040504020204" pitchFamily="49" charset="0"/>
              </a:rPr>
              <a:t>width, int</a:t>
            </a:r>
            <a:r>
              <a:rPr lang="ko-KR" altLang="en-US" sz="1800">
                <a:latin typeface="Lucida Console" panose="020B0609040504020204" pitchFamily="49" charset="0"/>
              </a:rPr>
              <a:t> </a:t>
            </a:r>
            <a:r>
              <a:rPr lang="en-US" altLang="ko-KR" sz="1800">
                <a:latin typeface="Lucida Console" panose="020B0609040504020204" pitchFamily="49" charset="0"/>
              </a:rPr>
              <a:t>height) </a:t>
            </a:r>
            <a:endParaRPr lang="en-US" altLang="ko-KR" sz="2000">
              <a:latin typeface="Lucida Console" panose="020B06090405040202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endParaRPr lang="ko-KR" altLang="en-US" sz="2000"/>
          </a:p>
          <a:p>
            <a:r>
              <a:rPr lang="ko-KR" altLang="en-US" sz="2400"/>
              <a:t>코드 예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800">
                <a:latin typeface="Lucida Console" panose="020B0609040504020204" pitchFamily="49" charset="0"/>
              </a:rPr>
              <a:t>Container cp = getContentPane();</a:t>
            </a:r>
            <a:endParaRPr lang="ko-KR" altLang="en-US" sz="1800">
              <a:latin typeface="Lucida Console" panose="020B06090405040202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800">
                <a:latin typeface="Lucida Console" panose="020B0609040504020204" pitchFamily="49" charset="0"/>
              </a:rPr>
              <a:t>cp.setLayout(null);</a:t>
            </a:r>
            <a:endParaRPr lang="ko-KR" altLang="en-US" sz="1800">
              <a:latin typeface="Lucida Console" panose="020B06090405040202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800">
                <a:latin typeface="Lucida Console" panose="020B0609040504020204" pitchFamily="49" charset="0"/>
              </a:rPr>
              <a:t>JButton okButton = new</a:t>
            </a:r>
            <a:r>
              <a:rPr lang="ko-KR" altLang="en-US" sz="1800">
                <a:latin typeface="Lucida Console" panose="020B0609040504020204" pitchFamily="49" charset="0"/>
              </a:rPr>
              <a:t> </a:t>
            </a:r>
            <a:r>
              <a:rPr lang="en-US" altLang="ko-KR" sz="1800">
                <a:latin typeface="Lucida Console" panose="020B0609040504020204" pitchFamily="49" charset="0"/>
              </a:rPr>
              <a:t>JButton();</a:t>
            </a:r>
            <a:endParaRPr lang="ko-KR" altLang="en-US" sz="1800">
              <a:latin typeface="Lucida Console" panose="020B06090405040202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800">
                <a:latin typeface="Lucida Console" panose="020B0609040504020204" pitchFamily="49" charset="0"/>
              </a:rPr>
              <a:t>okButton.setBounds(50, 50, 60, 30);</a:t>
            </a:r>
            <a:endParaRPr lang="ko-KR" altLang="en-US" sz="1800">
              <a:latin typeface="Lucida Console" panose="020B06090405040202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800">
                <a:latin typeface="Lucida Console" panose="020B0609040504020204" pitchFamily="49" charset="0"/>
              </a:rPr>
              <a:t>cp.add(okButton);</a:t>
            </a:r>
            <a:endParaRPr lang="ko-KR" altLang="en-US" sz="1800">
              <a:latin typeface="Lucida Console" panose="020B06090405040202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EC9CF6-5D81-03B1-69DC-B58EE3AF727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C90C35-D94F-B1BE-F413-6CA1B4EC8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738C7D9D-692D-41E1-9FCD-9DB47AF829DD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22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>
            <a:extLst>
              <a:ext uri="{FF2B5EF4-FFF2-40B4-BE49-F238E27FC236}">
                <a16:creationId xmlns:a16="http://schemas.microsoft.com/office/drawing/2014/main" id="{599DE728-A5A3-4F08-8CF9-DA2CD311B9B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000">
                <a:latin typeface="Tahoma" panose="020B0604030504040204" pitchFamily="34" charset="0"/>
                <a:ea typeface="굴림" panose="020B0600000101010101" pitchFamily="50" charset="-127"/>
              </a:rPr>
              <a:t>© </a:t>
            </a:r>
            <a:r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t>창병모</a:t>
            </a:r>
            <a:r>
              <a:rPr kumimoji="0" lang="en-US" altLang="ko-KR" sz="1000">
                <a:latin typeface="Tahoma" panose="020B0604030504040204" pitchFamily="34" charset="0"/>
                <a:ea typeface="굴림" panose="020B0600000101010101" pitchFamily="50" charset="-127"/>
              </a:rPr>
              <a:t>,</a:t>
            </a:r>
            <a:r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t>우균</a:t>
            </a:r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5603" name="Rectangle 6">
            <a:extLst>
              <a:ext uri="{FF2B5EF4-FFF2-40B4-BE49-F238E27FC236}">
                <a16:creationId xmlns:a16="http://schemas.microsoft.com/office/drawing/2014/main" id="{5F8E08FB-C268-89C9-C1CE-42C1FB855D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78E70B89-6ECA-43D2-A613-B503321EB4C9}" type="slidenum"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2B0BB650-69AD-55E6-0EB1-6065F823DE0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4400"/>
              <a:t>9.3 </a:t>
            </a:r>
            <a:r>
              <a:rPr lang="ko-KR" altLang="en-US" sz="4400"/>
              <a:t>컴포넌트</a:t>
            </a:r>
            <a:r>
              <a:rPr lang="en-US" altLang="ko-KR" sz="4400"/>
              <a:t>, </a:t>
            </a:r>
            <a:r>
              <a:rPr lang="ko-KR" altLang="en-US" sz="4400"/>
              <a:t>이벤트</a:t>
            </a:r>
            <a:r>
              <a:rPr lang="en-US" altLang="ko-KR" sz="4400"/>
              <a:t>, </a:t>
            </a:r>
            <a:r>
              <a:rPr lang="ko-KR" altLang="en-US" sz="4400"/>
              <a:t>리스너</a:t>
            </a:r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612607F1-9856-BBE1-652F-960414DEF8F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제목 1">
            <a:extLst>
              <a:ext uri="{FF2B5EF4-FFF2-40B4-BE49-F238E27FC236}">
                <a16:creationId xmlns:a16="http://schemas.microsoft.com/office/drawing/2014/main" id="{7C855B7A-60EE-DBB9-404A-4924BFE99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/>
              <a:t>GUI </a:t>
            </a:r>
            <a:r>
              <a:rPr lang="ko-KR" altLang="en-US" sz="3600"/>
              <a:t>컴포넌트로부터 발생 가능 이벤트</a:t>
            </a:r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B2194671-071C-B58C-D3BA-1E4EB873A9F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00113" y="1341438"/>
          <a:ext cx="7524750" cy="5422900"/>
        </p:xfrm>
        <a:graphic>
          <a:graphicData uri="http://schemas.openxmlformats.org/drawingml/2006/table">
            <a:tbl>
              <a:tblPr/>
              <a:tblGrid>
                <a:gridCol w="1710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9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5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76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컴포넌트</a:t>
                      </a:r>
                      <a:endParaRPr lang="ko-KR" altLang="en-US" sz="1100" dirty="0">
                        <a:solidFill>
                          <a:srgbClr val="000000"/>
                        </a:solidFill>
                        <a:latin typeface="한컴바탕"/>
                      </a:endParaRP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사용자의 동작</a:t>
                      </a:r>
                      <a:endParaRPr lang="ko-KR" altLang="en-US" sz="1100">
                        <a:solidFill>
                          <a:srgbClr val="000000"/>
                        </a:solidFill>
                        <a:latin typeface="한컴바탕"/>
                      </a:endParaRP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발생 이벤트</a:t>
                      </a:r>
                      <a:endParaRPr lang="ko-KR" altLang="en-US" sz="1100">
                        <a:solidFill>
                          <a:srgbClr val="000000"/>
                        </a:solidFill>
                        <a:latin typeface="한컴바탕"/>
                      </a:endParaRP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355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JButton</a:t>
                      </a:r>
                      <a:endParaRPr lang="en-US" sz="10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latin typeface="굴림체"/>
                        </a:rPr>
                        <a:t>버튼 누름</a:t>
                      </a: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ActionEvent</a:t>
                      </a:r>
                      <a:endParaRPr lang="en-US" sz="10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355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JTextField</a:t>
                      </a:r>
                      <a:endParaRPr lang="en-US" sz="10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latin typeface="굴림체"/>
                        </a:rPr>
                        <a:t>텍스트 필드에 리턴키 누름</a:t>
                      </a: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ActionEvent</a:t>
                      </a:r>
                      <a:endParaRPr lang="en-US" sz="10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355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JCheckBox</a:t>
                      </a:r>
                      <a:endParaRPr lang="en-US" sz="10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latin typeface="굴림체"/>
                        </a:rPr>
                        <a:t>체크박스 선택</a:t>
                      </a: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ItemEvent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,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ActionEvent</a:t>
                      </a:r>
                      <a:endParaRPr lang="en-US" sz="10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355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JRadioButton</a:t>
                      </a:r>
                      <a:endParaRPr lang="en-US" sz="10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latin typeface="굴림체"/>
                        </a:rPr>
                        <a:t>라디오버튼 선택</a:t>
                      </a: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ItemEvent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,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ActionEvent</a:t>
                      </a:r>
                      <a:endParaRPr lang="en-US" sz="10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JComboBox</a:t>
                      </a:r>
                      <a:endParaRPr lang="en-US" sz="10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latin typeface="굴림체"/>
                        </a:rPr>
                        <a:t>새로운 항목 선택</a:t>
                      </a: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ItemEvent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,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ActionEvent</a:t>
                      </a:r>
                      <a:endParaRPr lang="en-US" sz="10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355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JList</a:t>
                      </a:r>
                      <a:endParaRPr lang="en-US" sz="10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latin typeface="굴림체"/>
                        </a:rPr>
                        <a:t>항목 선택</a:t>
                      </a: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ListSelectionEvent</a:t>
                      </a:r>
                      <a:endParaRPr lang="en-US" sz="10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355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JMenuItem</a:t>
                      </a:r>
                      <a:endParaRPr lang="en-US" sz="10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latin typeface="굴림체"/>
                        </a:rPr>
                        <a:t>메뉴 항목 선택</a:t>
                      </a: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ActionEvent</a:t>
                      </a:r>
                      <a:endParaRPr lang="en-US" sz="10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355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JScrollbar</a:t>
                      </a:r>
                      <a:endParaRPr lang="en-US" sz="10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latin typeface="굴림체"/>
                        </a:rPr>
                        <a:t>스크롤바 이동</a:t>
                      </a: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AdjustmentEvent</a:t>
                      </a:r>
                      <a:endParaRPr lang="en-US" sz="10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4480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Window</a:t>
                      </a:r>
                      <a:endParaRPr lang="en-US" sz="10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latin typeface="굴림체"/>
                        </a:rPr>
                        <a:t>원도우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latin typeface="굴림체"/>
                        </a:rPr>
                        <a:t> 열거나 닫음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굴림체"/>
                        </a:rPr>
                        <a:t>,</a:t>
                      </a:r>
                      <a:r>
                        <a:rPr lang="en-US" altLang="ko-KR" sz="1000" baseline="0" dirty="0">
                          <a:solidFill>
                            <a:srgbClr val="000000"/>
                          </a:solidFill>
                          <a:latin typeface="굴림체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latin typeface="굴림체"/>
                        </a:rPr>
                        <a:t>윈도우 아이콘화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굴림체"/>
                        </a:rPr>
                        <a:t>, </a:t>
                      </a:r>
                    </a:p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latin typeface="굴림체"/>
                        </a:rPr>
                        <a:t>아이콘화 된 윈도우 활성화</a:t>
                      </a: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WindowEvent</a:t>
                      </a:r>
                      <a:endParaRPr lang="en-US" sz="10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355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Container</a:t>
                      </a:r>
                      <a:endParaRPr lang="en-US" sz="10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latin typeface="굴림체"/>
                        </a:rPr>
                        <a:t>컨테이너에 컴포넌트 추가 혹은 삭제</a:t>
                      </a: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ContainerEvent</a:t>
                      </a:r>
                      <a:endParaRPr lang="en-US" sz="10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37508">
                <a:tc rowSpan="4"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Component</a:t>
                      </a:r>
                      <a:endParaRPr lang="en-US" sz="10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latin typeface="굴림체"/>
                        </a:rPr>
                        <a:t>컴포넌트 움직임</a:t>
                      </a:r>
                      <a:r>
                        <a:rPr lang="en-US" altLang="ko-KR" sz="1000">
                          <a:solidFill>
                            <a:srgbClr val="000000"/>
                          </a:solidFill>
                          <a:latin typeface="굴림체"/>
                        </a:rPr>
                        <a:t>, </a:t>
                      </a:r>
                      <a:r>
                        <a:rPr lang="ko-KR" altLang="en-US" sz="1000">
                          <a:solidFill>
                            <a:srgbClr val="000000"/>
                          </a:solidFill>
                          <a:latin typeface="굴림체"/>
                        </a:rPr>
                        <a:t>크기 조정</a:t>
                      </a:r>
                      <a:r>
                        <a:rPr lang="en-US" altLang="ko-KR" sz="1000">
                          <a:solidFill>
                            <a:srgbClr val="000000"/>
                          </a:solidFill>
                          <a:latin typeface="굴림체"/>
                        </a:rPr>
                        <a:t>, </a:t>
                      </a:r>
                    </a:p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latin typeface="굴림체"/>
                        </a:rPr>
                        <a:t>다른 윈도우 앞으로 혹은 뒤로</a:t>
                      </a: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ComponetEvent</a:t>
                      </a:r>
                      <a:endParaRPr lang="en-US" sz="10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15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latin typeface="굴림체"/>
                        </a:rPr>
                        <a:t>마우스의 포커스</a:t>
                      </a: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FocusEvent</a:t>
                      </a:r>
                      <a:endParaRPr lang="en-US" sz="10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15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latin typeface="굴림체"/>
                        </a:rPr>
                        <a:t>키의 누름 혹은 놓음</a:t>
                      </a: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KeyEvent</a:t>
                      </a:r>
                      <a:endParaRPr lang="en-US" sz="10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7297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latin typeface="굴림체"/>
                        </a:rPr>
                        <a:t>마우스 클릭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굴림체"/>
                        </a:rPr>
                        <a:t>,</a:t>
                      </a:r>
                      <a:r>
                        <a:rPr lang="en-US" altLang="ko-KR" sz="1000" baseline="0" dirty="0">
                          <a:solidFill>
                            <a:srgbClr val="000000"/>
                          </a:solidFill>
                          <a:latin typeface="굴림체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latin typeface="굴림체"/>
                        </a:rPr>
                        <a:t>컴포넌트 안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굴림체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latin typeface="굴림체"/>
                        </a:rPr>
                        <a:t>밖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굴림체"/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latin typeface="굴림체"/>
                        </a:rPr>
                        <a:t>으로 이동</a:t>
                      </a:r>
                    </a:p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latin typeface="굴림체"/>
                        </a:rPr>
                        <a:t>마우스 누름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굴림체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latin typeface="굴림체"/>
                        </a:rPr>
                        <a:t>놓음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굴림체"/>
                        </a:rPr>
                        <a:t>),</a:t>
                      </a:r>
                      <a:r>
                        <a:rPr lang="en-US" altLang="ko-KR" sz="1000" baseline="0" dirty="0">
                          <a:solidFill>
                            <a:srgbClr val="000000"/>
                          </a:solidFill>
                          <a:latin typeface="굴림체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latin typeface="굴림체"/>
                        </a:rPr>
                        <a:t>마우스 이동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굴림체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latin typeface="굴림체"/>
                        </a:rPr>
                        <a:t>마우스 드래그 </a:t>
                      </a: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MouseEvent</a:t>
                      </a:r>
                      <a:endParaRPr lang="en-US" sz="10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2788" marR="12788" marT="12784" marB="12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54A24D-7DE0-CDDA-B2DA-EA05A031F47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DDCBA2-60C7-3CE1-DEB2-54616DECE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14CBB0A3-44A8-4017-9956-C0C732C4D70E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24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sp>
        <p:nvSpPr>
          <p:cNvPr id="26692" name="Rectangle 1">
            <a:extLst>
              <a:ext uri="{FF2B5EF4-FFF2-40B4-BE49-F238E27FC236}">
                <a16:creationId xmlns:a16="http://schemas.microsoft.com/office/drawing/2014/main" id="{0956FEFF-9809-9C32-26B0-2EF6EB699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>
            <a:extLst>
              <a:ext uri="{FF2B5EF4-FFF2-40B4-BE49-F238E27FC236}">
                <a16:creationId xmlns:a16="http://schemas.microsoft.com/office/drawing/2014/main" id="{AC460BDE-D47B-4946-1A5A-4E675ADD0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리스너 정의 </a:t>
            </a:r>
          </a:p>
        </p:txBody>
      </p:sp>
      <p:sp>
        <p:nvSpPr>
          <p:cNvPr id="27651" name="내용 개체 틀 2">
            <a:extLst>
              <a:ext uri="{FF2B5EF4-FFF2-40B4-BE49-F238E27FC236}">
                <a16:creationId xmlns:a16="http://schemas.microsoft.com/office/drawing/2014/main" id="{E9CEBC48-4636-7E06-0516-58C602E57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/>
              <a:t>각 이벤트의 리스너 정의</a:t>
            </a:r>
            <a:endParaRPr lang="en-US" altLang="ko-KR" sz="2000"/>
          </a:p>
          <a:p>
            <a:pPr lvl="1"/>
            <a:r>
              <a:rPr lang="ko-KR" altLang="en-US" sz="1800"/>
              <a:t>리스너 인터페이스 구현</a:t>
            </a:r>
            <a:endParaRPr lang="en-US" altLang="ko-KR" sz="1800"/>
          </a:p>
          <a:p>
            <a:pPr lvl="1"/>
            <a:r>
              <a:rPr lang="ko-KR" altLang="en-US" sz="1800"/>
              <a:t>이벤트 발생 시 자동으로 수행되는 메소드</a:t>
            </a:r>
            <a:endParaRPr lang="en-US" altLang="ko-KR" sz="1800"/>
          </a:p>
          <a:p>
            <a:pPr lvl="1"/>
            <a:endParaRPr lang="en-US" altLang="ko-KR" sz="1800"/>
          </a:p>
          <a:p>
            <a:r>
              <a:rPr lang="ko-KR" altLang="en-US" sz="2000"/>
              <a:t>예</a:t>
            </a:r>
            <a:r>
              <a:rPr lang="en-US" altLang="ko-KR" sz="2000"/>
              <a:t>: ActionEvent</a:t>
            </a:r>
            <a:r>
              <a:rPr lang="ko-KR" altLang="en-US" sz="2000"/>
              <a:t>를 처리하기 위한 리스너 작성</a:t>
            </a:r>
            <a:endParaRPr lang="en-US" altLang="ko-KR" sz="2000"/>
          </a:p>
          <a:p>
            <a:pPr lvl="1"/>
            <a:r>
              <a:rPr lang="en-US" altLang="ko-KR" sz="1800"/>
              <a:t>ActionListener</a:t>
            </a:r>
            <a:r>
              <a:rPr lang="ko-KR" altLang="en-US" sz="1800"/>
              <a:t> 인터페이스에 선언된 </a:t>
            </a:r>
            <a:r>
              <a:rPr lang="en-US" altLang="ko-KR" sz="1800"/>
              <a:t>actionPerformed</a:t>
            </a:r>
            <a:r>
              <a:rPr lang="ko-KR" altLang="en-US" sz="1800"/>
              <a:t> 메소드를 구현</a:t>
            </a:r>
            <a:endParaRPr lang="en-US" altLang="ko-KR" sz="1800"/>
          </a:p>
          <a:p>
            <a:pPr lvl="1"/>
            <a:endParaRPr lang="en-US" altLang="ko-KR" sz="1800"/>
          </a:p>
          <a:p>
            <a:r>
              <a:rPr lang="ko-KR" altLang="en-US" sz="2000"/>
              <a:t>예</a:t>
            </a:r>
            <a:r>
              <a:rPr lang="en-US" altLang="ko-KR" sz="2000"/>
              <a:t>: MouseEvent</a:t>
            </a:r>
            <a:r>
              <a:rPr lang="ko-KR" altLang="en-US" sz="2000"/>
              <a:t>를 처리하기 위한 리스너 작성</a:t>
            </a:r>
            <a:endParaRPr lang="en-US" altLang="ko-KR" sz="2000"/>
          </a:p>
          <a:p>
            <a:pPr lvl="1"/>
            <a:r>
              <a:rPr lang="ko-KR" altLang="en-US" sz="1800"/>
              <a:t> </a:t>
            </a:r>
            <a:r>
              <a:rPr lang="en-US" altLang="ko-KR" sz="1800"/>
              <a:t>MouseListener</a:t>
            </a:r>
            <a:r>
              <a:rPr lang="ko-KR" altLang="en-US" sz="1800"/>
              <a:t> 인터페이스에 선언된 다음의 해당 메소드들을 구현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mouseClicked(MouseEvent e) </a:t>
            </a:r>
            <a:endParaRPr lang="ko-KR" altLang="en-US" sz="1600">
              <a:latin typeface="Lucida Console" panose="020B06090405040202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mouseEntered(MouseEvent e) </a:t>
            </a:r>
            <a:endParaRPr lang="ko-KR" altLang="en-US" sz="1600">
              <a:latin typeface="Lucida Console" panose="020B06090405040202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mouseExited(MouseEvent e) </a:t>
            </a:r>
            <a:endParaRPr lang="ko-KR" altLang="en-US" sz="1600">
              <a:latin typeface="Lucida Console" panose="020B06090405040202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mousePressed(MouseEvent e) </a:t>
            </a:r>
            <a:endParaRPr lang="ko-KR" altLang="en-US" sz="1600">
              <a:latin typeface="Lucida Console" panose="020B06090405040202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mouseReleased(MouseEvent e) </a:t>
            </a:r>
            <a:endParaRPr lang="ko-KR" altLang="en-US" sz="1600">
              <a:latin typeface="Lucida Console" panose="020B0609040504020204" pitchFamily="49" charset="0"/>
            </a:endParaRPr>
          </a:p>
          <a:p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DA6896-A7BF-BF01-7602-64C605902D0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F175A8-2B3C-E95D-7FEF-0CDC8D3B5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7BB770FF-88C3-4833-92A0-D91445E11303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25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제목 1">
            <a:extLst>
              <a:ext uri="{FF2B5EF4-FFF2-40B4-BE49-F238E27FC236}">
                <a16:creationId xmlns:a16="http://schemas.microsoft.com/office/drawing/2014/main" id="{215B9539-ED2B-B0DB-2DCF-3E74F1AF3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66D63642-3855-4ACC-41B5-84EB5154F9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55650" y="246063"/>
          <a:ext cx="8064500" cy="5991225"/>
        </p:xfrm>
        <a:graphic>
          <a:graphicData uri="http://schemas.openxmlformats.org/drawingml/2006/table">
            <a:tbl>
              <a:tblPr/>
              <a:tblGrid>
                <a:gridCol w="1900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1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22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4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Lucida Console" pitchFamily="49" charset="0"/>
                        </a:rPr>
                        <a:t>이벤트 클래스</a:t>
                      </a:r>
                      <a:endParaRPr lang="ko-KR" altLang="en-US" sz="14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"/>
                        </a:rPr>
                        <a:t>리스너 인터페이스</a:t>
                      </a:r>
                      <a:endParaRPr lang="ko-KR" altLang="en-US" sz="14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 err="1">
                          <a:solidFill>
                            <a:srgbClr val="000000"/>
                          </a:solidFill>
                          <a:latin typeface="Lucida Console" pitchFamily="49" charset="0"/>
                        </a:rPr>
                        <a:t>메소드</a:t>
                      </a:r>
                      <a:endParaRPr lang="ko-KR" altLang="en-US" sz="14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427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ActionEvent</a:t>
                      </a:r>
                      <a:endParaRPr lang="en-US" sz="12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ActionListener</a:t>
                      </a:r>
                      <a:endParaRPr lang="en-US" sz="12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actionPerformed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(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ActionEvent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e)</a:t>
                      </a:r>
                      <a:endParaRPr lang="en-US" sz="12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427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AdjustmentEvent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AdjustmentListener</a:t>
                      </a:r>
                      <a:endParaRPr lang="en-US" sz="12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adjustmentValueChanged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(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AdjustemntEvent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e)</a:t>
                      </a:r>
                      <a:endParaRPr lang="en-US" sz="12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7575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ComponentEvent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ComponentListener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componentHidden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(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ComponentEvent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e)</a:t>
                      </a:r>
                      <a:endParaRPr lang="en-US" sz="12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componentMoved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(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ComponentEvent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e)</a:t>
                      </a:r>
                      <a:endParaRPr lang="en-US" sz="12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componentResized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(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ComponentEvent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e)</a:t>
                      </a:r>
                      <a:endParaRPr lang="en-US" sz="12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componentShown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(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ComponentEvent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e)</a:t>
                      </a:r>
                      <a:endParaRPr lang="en-US" sz="12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640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ContainerEvent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ContainerListener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componentAdded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(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ContainerEvent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e)</a:t>
                      </a:r>
                      <a:endParaRPr lang="en-US" sz="12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componentRemoved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(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ContainerEvent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e)</a:t>
                      </a:r>
                      <a:endParaRPr lang="en-US" sz="12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640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FocusEvent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FocusListener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focusGained(FocusEvent e) 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focusLost(FocusEvent e) 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427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ItemEvent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ItemListener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itemStateChanged(ItemEvent e) 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8788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keyEvent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keyListener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keyPressed(KeyEvent e) 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keyReleased(KeyEvent e) 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keyTyped(KeyEvent e)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9427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ListSelectionEvent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ListSelectionListener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valueChanged(ListSelectionEvent e) 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66297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MouseEvent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MouseListener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mouseClicked(MouseEvent e) 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mouseEntered(MouseEvent e) 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mouseExited(MouseEvent e) 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mousePressed(MouseEvent e) 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mouseReleased(MouseEvent e) 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033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MouseEvent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MouseMotionListener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mouseDragged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(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MouseEvent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e) </a:t>
                      </a:r>
                      <a:endParaRPr lang="en-US" sz="12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mouseMoved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(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MouseEvent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e) </a:t>
                      </a:r>
                      <a:endParaRPr lang="en-US" sz="12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941064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WindowEvent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WindowListener</a:t>
                      </a:r>
                      <a:endParaRPr lang="en-US" sz="12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windowActivated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(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WindowEvent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e) </a:t>
                      </a:r>
                      <a:endParaRPr lang="en-US" sz="12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windowClosed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(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WindowEvent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e) </a:t>
                      </a:r>
                      <a:endParaRPr lang="en-US" sz="12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…</a:t>
                      </a:r>
                      <a:endParaRPr lang="en-US" sz="12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  <a:p>
                      <a:pPr marL="1270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windowOpened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(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WindowEvent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e) </a:t>
                      </a:r>
                      <a:endParaRPr lang="en-US" sz="12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10910" marR="10910" marT="10911" marB="1091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6364B9-AF8E-3515-D66B-E2FEE29E343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2DA02E-2904-5078-E584-6145B376F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DD01F2DF-6445-4010-BE7F-4D7170A00F52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26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sp>
        <p:nvSpPr>
          <p:cNvPr id="28731" name="Rectangle 1">
            <a:extLst>
              <a:ext uri="{FF2B5EF4-FFF2-40B4-BE49-F238E27FC236}">
                <a16:creationId xmlns:a16="http://schemas.microsoft.com/office/drawing/2014/main" id="{8B2AE05F-2707-B5B7-04E3-888CCC879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제목 1">
            <a:extLst>
              <a:ext uri="{FF2B5EF4-FFF2-40B4-BE49-F238E27FC236}">
                <a16:creationId xmlns:a16="http://schemas.microsoft.com/office/drawing/2014/main" id="{8642A307-0DB4-A043-1DA3-F8815C1CD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선택을 위한 컴포넌트</a:t>
            </a:r>
          </a:p>
        </p:txBody>
      </p:sp>
      <p:sp>
        <p:nvSpPr>
          <p:cNvPr id="29699" name="내용 개체 틀 2">
            <a:extLst>
              <a:ext uri="{FF2B5EF4-FFF2-40B4-BE49-F238E27FC236}">
                <a16:creationId xmlns:a16="http://schemas.microsoft.com/office/drawing/2014/main" id="{F4E948B7-84CE-16C8-A738-C526504B0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/>
              <a:t>선택을 위해 사용되는 컴포넌트</a:t>
            </a:r>
            <a:endParaRPr lang="en-US" altLang="ko-KR" sz="2400"/>
          </a:p>
          <a:p>
            <a:pPr lvl="1"/>
            <a:r>
              <a:rPr lang="ko-KR" altLang="en-US" sz="2000"/>
              <a:t>체크 박스</a:t>
            </a:r>
            <a:r>
              <a:rPr lang="en-US" altLang="ko-KR" sz="2000"/>
              <a:t>(check box), </a:t>
            </a:r>
          </a:p>
          <a:p>
            <a:pPr lvl="1"/>
            <a:r>
              <a:rPr lang="ko-KR" altLang="en-US" sz="2000"/>
              <a:t>라디오 버튼</a:t>
            </a:r>
            <a:r>
              <a:rPr lang="en-US" altLang="ko-KR" sz="2000"/>
              <a:t>(radio button), </a:t>
            </a:r>
          </a:p>
          <a:p>
            <a:pPr lvl="1"/>
            <a:r>
              <a:rPr lang="ko-KR" altLang="en-US" sz="2000"/>
              <a:t>콤보 박스</a:t>
            </a:r>
            <a:r>
              <a:rPr lang="en-US" altLang="ko-KR" sz="2000"/>
              <a:t>(combo box) </a:t>
            </a:r>
          </a:p>
          <a:p>
            <a:pPr lvl="1"/>
            <a:endParaRPr lang="en-US" altLang="ko-KR" sz="2000"/>
          </a:p>
          <a:p>
            <a:pPr lvl="1"/>
            <a:r>
              <a:rPr lang="ko-KR" altLang="en-US" sz="2000"/>
              <a:t>이들 컴포넌트는 아이템을 선택하거나 선택을 해제할 때마다 </a:t>
            </a:r>
            <a:r>
              <a:rPr lang="en-US" altLang="ko-KR" sz="2000"/>
              <a:t>ItemEvent</a:t>
            </a:r>
            <a:r>
              <a:rPr lang="ko-KR" altLang="en-US" sz="2000"/>
              <a:t>와 </a:t>
            </a:r>
            <a:r>
              <a:rPr lang="en-US" altLang="ko-KR" sz="2000"/>
              <a:t>ActionEvent</a:t>
            </a:r>
            <a:r>
              <a:rPr lang="ko-KR" altLang="en-US" sz="2000"/>
              <a:t>가 발생한다</a:t>
            </a:r>
            <a:r>
              <a:rPr lang="en-US" altLang="ko-KR" sz="2000"/>
              <a:t>. </a:t>
            </a:r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7A266E-EC54-014C-9908-3BC8D609446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5CCB2A8-71E8-B304-323A-389F62CA9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0C040A7E-32AE-4A36-960C-E46CF9BD29CF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27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제목 1">
            <a:extLst>
              <a:ext uri="{FF2B5EF4-FFF2-40B4-BE49-F238E27FC236}">
                <a16:creationId xmlns:a16="http://schemas.microsoft.com/office/drawing/2014/main" id="{2F7243F9-CF27-CCF5-75E3-CB570B346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체크</a:t>
            </a:r>
            <a:r>
              <a:rPr lang="en-US" altLang="ko-KR"/>
              <a:t> </a:t>
            </a:r>
            <a:r>
              <a:rPr lang="ko-KR" altLang="en-US"/>
              <a:t>박스</a:t>
            </a:r>
            <a:r>
              <a:rPr lang="en-US" altLang="ko-KR"/>
              <a:t>: </a:t>
            </a:r>
            <a:r>
              <a:rPr lang="ko-KR" altLang="en-US"/>
              <a:t>전공 선택 예제</a:t>
            </a:r>
          </a:p>
        </p:txBody>
      </p:sp>
      <p:sp>
        <p:nvSpPr>
          <p:cNvPr id="30723" name="내용 개체 틀 2">
            <a:extLst>
              <a:ext uri="{FF2B5EF4-FFF2-40B4-BE49-F238E27FC236}">
                <a16:creationId xmlns:a16="http://schemas.microsoft.com/office/drawing/2014/main" id="{C5FC1BBD-A62C-4327-419A-C5CC6F024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/>
              <a:t>체크 박스</a:t>
            </a:r>
            <a:endParaRPr lang="en-US" altLang="ko-KR" sz="2000"/>
          </a:p>
          <a:p>
            <a:pPr lvl="1"/>
            <a:r>
              <a:rPr lang="ko-KR" altLang="en-US" sz="1800"/>
              <a:t>선택을 체크할 수 있으며 여러 개를 체크도 가능</a:t>
            </a:r>
            <a:r>
              <a:rPr lang="en-US" altLang="ko-KR" sz="1800"/>
              <a:t> </a:t>
            </a:r>
          </a:p>
          <a:p>
            <a:pPr lvl="1"/>
            <a:endParaRPr lang="en-US" altLang="ko-KR" sz="1800"/>
          </a:p>
          <a:p>
            <a:r>
              <a:rPr lang="ko-KR" altLang="en-US" sz="2000"/>
              <a:t>전공 체크 예제 </a:t>
            </a:r>
            <a:r>
              <a:rPr lang="en-US" altLang="ko-KR" sz="2000"/>
              <a:t>MajorPanel</a:t>
            </a:r>
          </a:p>
          <a:p>
            <a:pPr lvl="1"/>
            <a:r>
              <a:rPr lang="en-US" altLang="ko-KR" sz="1800"/>
              <a:t>4</a:t>
            </a:r>
            <a:r>
              <a:rPr lang="ko-KR" altLang="en-US" sz="1800"/>
              <a:t>개의 전공을 표시하기 위한 </a:t>
            </a:r>
            <a:r>
              <a:rPr lang="en-US" altLang="ko-KR" sz="1800"/>
              <a:t>4</a:t>
            </a:r>
            <a:r>
              <a:rPr lang="ko-KR" altLang="en-US" sz="1800"/>
              <a:t>개의 체크 박스를 생성</a:t>
            </a:r>
            <a:endParaRPr lang="en-US" altLang="ko-KR" sz="1800"/>
          </a:p>
          <a:p>
            <a:pPr lvl="1"/>
            <a:r>
              <a:rPr lang="ko-KR" altLang="en-US" sz="1800"/>
              <a:t>스트링 배열 </a:t>
            </a:r>
            <a:r>
              <a:rPr lang="en-US" altLang="ko-KR" sz="1800"/>
              <a:t>majorText</a:t>
            </a:r>
            <a:r>
              <a:rPr lang="ko-KR" altLang="en-US" sz="1800"/>
              <a:t>에  전공 이름 저장</a:t>
            </a:r>
            <a:endParaRPr lang="en-US" altLang="ko-KR" sz="1800"/>
          </a:p>
          <a:p>
            <a:pPr lvl="1"/>
            <a:r>
              <a:rPr lang="en-US" altLang="ko-KR" sz="1800"/>
              <a:t>4</a:t>
            </a:r>
            <a:r>
              <a:rPr lang="ko-KR" altLang="en-US" sz="1800"/>
              <a:t>개의 체크 박스</a:t>
            </a:r>
            <a:r>
              <a:rPr lang="en-US" altLang="ko-KR" sz="1800"/>
              <a:t>(JCheckBox) </a:t>
            </a:r>
            <a:r>
              <a:rPr lang="ko-KR" altLang="en-US" sz="1800"/>
              <a:t>객체 생성 및  </a:t>
            </a:r>
            <a:r>
              <a:rPr lang="en-US" altLang="ko-KR" sz="1800"/>
              <a:t>MajorPanel</a:t>
            </a:r>
            <a:r>
              <a:rPr lang="ko-KR" altLang="en-US" sz="1800"/>
              <a:t>에 추가</a:t>
            </a:r>
            <a:endParaRPr lang="en-US" altLang="ko-KR" sz="1800"/>
          </a:p>
          <a:p>
            <a:pPr lvl="4"/>
            <a:endParaRPr lang="en-US" altLang="ko-KR" sz="12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800"/>
              <a:t>	</a:t>
            </a:r>
            <a:r>
              <a:rPr lang="en-US" altLang="ko-KR" sz="1800">
                <a:latin typeface="Lucida Console" panose="020B0609040504020204" pitchFamily="49" charset="0"/>
              </a:rPr>
              <a:t>checkBox[i] = new</a:t>
            </a:r>
            <a:r>
              <a:rPr lang="ko-KR" altLang="en-US" sz="1800">
                <a:latin typeface="Lucida Console" panose="020B0609040504020204" pitchFamily="49" charset="0"/>
              </a:rPr>
              <a:t> </a:t>
            </a:r>
            <a:r>
              <a:rPr lang="en-US" altLang="ko-KR" sz="1800">
                <a:latin typeface="Lucida Console" panose="020B0609040504020204" pitchFamily="49" charset="0"/>
              </a:rPr>
              <a:t>JCheckBox(majorText[i]);</a:t>
            </a:r>
            <a:endParaRPr lang="ko-KR" altLang="en-US" sz="1800">
              <a:latin typeface="Lucida Console" panose="020B06090405040202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800">
                <a:latin typeface="Lucida Console" panose="020B0609040504020204" pitchFamily="49" charset="0"/>
              </a:rPr>
              <a:t>	add(checkBox[i]);</a:t>
            </a:r>
          </a:p>
          <a:p>
            <a:pPr lvl="4"/>
            <a:endParaRPr lang="ko-KR" altLang="en-US" sz="1200">
              <a:latin typeface="Lucida Console" panose="020B0609040504020204" pitchFamily="49" charset="0"/>
            </a:endParaRPr>
          </a:p>
          <a:p>
            <a:pPr lvl="1"/>
            <a:r>
              <a:rPr lang="ko-KR" altLang="en-US" sz="1800"/>
              <a:t>각 체크 박스마다 액션 리스너 </a:t>
            </a:r>
            <a:r>
              <a:rPr lang="en-US" altLang="ko-KR" sz="1800"/>
              <a:t>MajorListener</a:t>
            </a:r>
            <a:r>
              <a:rPr lang="ko-KR" altLang="en-US" sz="1800"/>
              <a:t> 객체 등록</a:t>
            </a:r>
            <a:endParaRPr lang="en-US" altLang="ko-KR" sz="1800"/>
          </a:p>
          <a:p>
            <a:pPr lvl="4"/>
            <a:endParaRPr lang="en-US" altLang="ko-KR" sz="12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800">
                <a:latin typeface="Lucida Console" panose="020B0609040504020204" pitchFamily="49" charset="0"/>
              </a:rPr>
              <a:t>	checkBox[i].addActionListener(listener);</a:t>
            </a:r>
            <a:endParaRPr lang="ko-KR" altLang="en-US" sz="1600">
              <a:latin typeface="Lucida Console" panose="020B0609040504020204" pitchFamily="49" charset="0"/>
            </a:endParaRPr>
          </a:p>
          <a:p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F3CE47-CA33-44F5-0A50-DC6AC78CD84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© </a:t>
            </a:r>
            <a:r>
              <a:rPr lang="ko-KR" altLang="en-US" dirty="0" err="1"/>
              <a:t>창병모</a:t>
            </a:r>
            <a:r>
              <a:rPr lang="en-US" altLang="ko-KR" dirty="0"/>
              <a:t>,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969E54-9722-7989-8681-669B0D107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0DB5B3BA-46E0-4660-801B-629643C076EE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28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제목 1">
            <a:extLst>
              <a:ext uri="{FF2B5EF4-FFF2-40B4-BE49-F238E27FC236}">
                <a16:creationId xmlns:a16="http://schemas.microsoft.com/office/drawing/2014/main" id="{E392FFC3-59C0-E4EC-C874-7345A3291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체크</a:t>
            </a:r>
            <a:r>
              <a:rPr lang="en-US" altLang="ko-KR"/>
              <a:t> </a:t>
            </a:r>
            <a:r>
              <a:rPr lang="ko-KR" altLang="en-US"/>
              <a:t>박스</a:t>
            </a:r>
            <a:r>
              <a:rPr lang="en-US" altLang="ko-KR"/>
              <a:t>: </a:t>
            </a:r>
            <a:r>
              <a:rPr lang="ko-KR" altLang="en-US"/>
              <a:t>전공 선택 예제</a:t>
            </a:r>
          </a:p>
        </p:txBody>
      </p:sp>
      <p:sp>
        <p:nvSpPr>
          <p:cNvPr id="31747" name="내용 개체 틀 2">
            <a:extLst>
              <a:ext uri="{FF2B5EF4-FFF2-40B4-BE49-F238E27FC236}">
                <a16:creationId xmlns:a16="http://schemas.microsoft.com/office/drawing/2014/main" id="{9F90CED4-B7AD-83A0-C585-DA231619F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/>
              <a:t>실행 </a:t>
            </a:r>
            <a:endParaRPr lang="en-US" altLang="ko-KR" sz="2000"/>
          </a:p>
          <a:p>
            <a:pPr lvl="1"/>
            <a:r>
              <a:rPr lang="ko-KR" altLang="en-US" sz="1800"/>
              <a:t>전공 체크 박스 선택</a:t>
            </a:r>
            <a:r>
              <a:rPr lang="en-US" altLang="ko-KR" sz="1800"/>
              <a:t>/</a:t>
            </a:r>
            <a:r>
              <a:rPr lang="ko-KR" altLang="en-US" sz="1800"/>
              <a:t>해제 </a:t>
            </a:r>
            <a:r>
              <a:rPr lang="en-US" altLang="ko-KR" sz="1800">
                <a:sym typeface="Wingdings" panose="05000000000000000000" pitchFamily="2" charset="2"/>
              </a:rPr>
              <a:t></a:t>
            </a:r>
          </a:p>
          <a:p>
            <a:pPr lvl="1"/>
            <a:r>
              <a:rPr lang="ko-KR" altLang="en-US" sz="1800"/>
              <a:t> </a:t>
            </a:r>
            <a:r>
              <a:rPr lang="en-US" altLang="ko-KR" sz="1800"/>
              <a:t>ActionEvent</a:t>
            </a:r>
            <a:r>
              <a:rPr lang="ko-KR" altLang="en-US" sz="1800"/>
              <a:t> 발생 </a:t>
            </a:r>
            <a:r>
              <a:rPr lang="en-US" altLang="ko-KR" sz="1800">
                <a:sym typeface="Wingdings" panose="05000000000000000000" pitchFamily="2" charset="2"/>
              </a:rPr>
              <a:t> </a:t>
            </a:r>
            <a:r>
              <a:rPr lang="ko-KR" altLang="en-US" sz="1800"/>
              <a:t> </a:t>
            </a:r>
            <a:endParaRPr lang="en-US" altLang="ko-KR" sz="1800"/>
          </a:p>
          <a:p>
            <a:pPr lvl="1"/>
            <a:r>
              <a:rPr lang="ko-KR" altLang="en-US" sz="1800"/>
              <a:t>액션 리스너의 </a:t>
            </a:r>
            <a:r>
              <a:rPr lang="en-US" altLang="ko-KR" sz="1800"/>
              <a:t>actionPerformed</a:t>
            </a:r>
            <a:r>
              <a:rPr lang="ko-KR" altLang="en-US" sz="1800"/>
              <a:t> 메소드 자동 수행 </a:t>
            </a:r>
            <a:r>
              <a:rPr lang="en-US" altLang="ko-KR" sz="1800">
                <a:sym typeface="Wingdings" panose="05000000000000000000" pitchFamily="2" charset="2"/>
              </a:rPr>
              <a:t></a:t>
            </a:r>
            <a:r>
              <a:rPr lang="ko-KR" altLang="en-US" sz="1800"/>
              <a:t> </a:t>
            </a:r>
            <a:endParaRPr lang="en-US" altLang="ko-KR" sz="1800"/>
          </a:p>
          <a:p>
            <a:pPr lvl="1"/>
            <a:r>
              <a:rPr lang="ko-KR" altLang="en-US" sz="1800"/>
              <a:t>현재 선택된 전공들을 텍스트 필드에 표시</a:t>
            </a:r>
            <a:r>
              <a:rPr lang="en-US" altLang="ko-KR" sz="1800"/>
              <a:t>. </a:t>
            </a:r>
            <a:endParaRPr lang="ko-KR" altLang="en-US" sz="1800"/>
          </a:p>
          <a:p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547F42-CDA9-A3DD-F238-1315C92A093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© </a:t>
            </a:r>
            <a:r>
              <a:rPr lang="ko-KR" altLang="en-US" dirty="0" err="1"/>
              <a:t>창병모</a:t>
            </a:r>
            <a:r>
              <a:rPr lang="en-US" altLang="ko-KR" dirty="0"/>
              <a:t>,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755451-CB08-71BD-DCE8-B78FBDE35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70C175E3-AA38-436B-A75D-463111CF50CE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29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제목 1">
            <a:extLst>
              <a:ext uri="{FF2B5EF4-FFF2-40B4-BE49-F238E27FC236}">
                <a16:creationId xmlns:a16="http://schemas.microsoft.com/office/drawing/2014/main" id="{1FC120C8-1A2A-771F-F85A-CB5E823BA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2771" name="내용 개체 틀 2">
            <a:extLst>
              <a:ext uri="{FF2B5EF4-FFF2-40B4-BE49-F238E27FC236}">
                <a16:creationId xmlns:a16="http://schemas.microsoft.com/office/drawing/2014/main" id="{FAD35B79-8E69-50A5-6353-2CC49DA0C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57C2DD-4154-D06B-96E6-F057B316B44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F22745-9740-F96D-9C5C-92401BD8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0A48E87D-A386-43F3-B010-42F693BBEC06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30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pic>
        <p:nvPicPr>
          <p:cNvPr id="32774" name="Picture 2">
            <a:extLst>
              <a:ext uri="{FF2B5EF4-FFF2-40B4-BE49-F238E27FC236}">
                <a16:creationId xmlns:a16="http://schemas.microsoft.com/office/drawing/2014/main" id="{05464DA6-E4C2-2612-D2BD-C78AA2379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333375"/>
            <a:ext cx="6523037" cy="547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제목 1">
            <a:extLst>
              <a:ext uri="{FF2B5EF4-FFF2-40B4-BE49-F238E27FC236}">
                <a16:creationId xmlns:a16="http://schemas.microsoft.com/office/drawing/2014/main" id="{6F3BA0E9-0A37-FE4D-C276-C7A46E7E9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3795" name="내용 개체 틀 2">
            <a:extLst>
              <a:ext uri="{FF2B5EF4-FFF2-40B4-BE49-F238E27FC236}">
                <a16:creationId xmlns:a16="http://schemas.microsoft.com/office/drawing/2014/main" id="{8643D463-7F68-FED4-9823-8469537A7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AEC964-E8E2-6C6F-1818-D5D5E6289F0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B7A201D-2A34-CCEA-070D-A37745B81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9001DE6E-5214-46C9-821D-BD3EE36559B2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31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pic>
        <p:nvPicPr>
          <p:cNvPr id="33798" name="Picture 2">
            <a:extLst>
              <a:ext uri="{FF2B5EF4-FFF2-40B4-BE49-F238E27FC236}">
                <a16:creationId xmlns:a16="http://schemas.microsoft.com/office/drawing/2014/main" id="{13030B8C-AC0E-ADB5-02E4-03A573C02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476250"/>
            <a:ext cx="6138863" cy="554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제목 1">
            <a:extLst>
              <a:ext uri="{FF2B5EF4-FFF2-40B4-BE49-F238E27FC236}">
                <a16:creationId xmlns:a16="http://schemas.microsoft.com/office/drawing/2014/main" id="{E565C2F0-D2C7-DF00-D323-B052703C2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824F22-67A5-2EEE-1C48-59CF282ED53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2A6A590-61B5-2B5D-CE1A-F75E7DCD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D47A2B81-07AA-4666-AC14-30848355E65B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32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pic>
        <p:nvPicPr>
          <p:cNvPr id="34821" name="Picture 2">
            <a:extLst>
              <a:ext uri="{FF2B5EF4-FFF2-40B4-BE49-F238E27FC236}">
                <a16:creationId xmlns:a16="http://schemas.microsoft.com/office/drawing/2014/main" id="{737BF0AE-0161-2585-611F-2E2E89FD2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484313"/>
            <a:ext cx="6049962" cy="170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2" name="Picture 3">
            <a:extLst>
              <a:ext uri="{FF2B5EF4-FFF2-40B4-BE49-F238E27FC236}">
                <a16:creationId xmlns:a16="http://schemas.microsoft.com/office/drawing/2014/main" id="{CDEED205-1405-AB38-1117-FD6F0A2BBA3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2988" y="3141663"/>
            <a:ext cx="5832475" cy="2651125"/>
          </a:xfrm>
          <a:noFill/>
        </p:spPr>
      </p:pic>
      <p:sp>
        <p:nvSpPr>
          <p:cNvPr id="34823" name="Rectangle 5">
            <a:extLst>
              <a:ext uri="{FF2B5EF4-FFF2-40B4-BE49-F238E27FC236}">
                <a16:creationId xmlns:a16="http://schemas.microsoft.com/office/drawing/2014/main" id="{7A42C1AC-456B-9C86-F5C1-4626BE8FC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34824" name="_x103355840" descr="EMB000017a4091b">
            <a:extLst>
              <a:ext uri="{FF2B5EF4-FFF2-40B4-BE49-F238E27FC236}">
                <a16:creationId xmlns:a16="http://schemas.microsoft.com/office/drawing/2014/main" id="{C385FDAA-7D2F-B703-AE89-298754F83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5013325"/>
            <a:ext cx="3430588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제목 1">
            <a:extLst>
              <a:ext uri="{FF2B5EF4-FFF2-40B4-BE49-F238E27FC236}">
                <a16:creationId xmlns:a16="http://schemas.microsoft.com/office/drawing/2014/main" id="{DC3EFB33-853D-E0D2-4752-95590DAB1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라디오 버튼</a:t>
            </a:r>
            <a:r>
              <a:rPr lang="en-US" altLang="ko-KR"/>
              <a:t>: </a:t>
            </a:r>
            <a:r>
              <a:rPr lang="ko-KR" altLang="en-US"/>
              <a:t>학년 선택 예제</a:t>
            </a:r>
          </a:p>
        </p:txBody>
      </p:sp>
      <p:sp>
        <p:nvSpPr>
          <p:cNvPr id="35843" name="내용 개체 틀 2">
            <a:extLst>
              <a:ext uri="{FF2B5EF4-FFF2-40B4-BE49-F238E27FC236}">
                <a16:creationId xmlns:a16="http://schemas.microsoft.com/office/drawing/2014/main" id="{DD621374-0620-CD05-A01B-23C2552FA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/>
              <a:t>라디오 버튼</a:t>
            </a:r>
            <a:endParaRPr lang="en-US" altLang="ko-KR" sz="2400"/>
          </a:p>
          <a:p>
            <a:pPr lvl="1"/>
            <a:r>
              <a:rPr lang="ko-KR" altLang="en-US" sz="1800"/>
              <a:t>선택을 표시하는데 사용되며 같은 그룹의 라디오 버튼 중 하나만 선택 가능</a:t>
            </a:r>
            <a:r>
              <a:rPr lang="en-US" altLang="ko-KR" sz="1800"/>
              <a:t>.</a:t>
            </a:r>
          </a:p>
          <a:p>
            <a:pPr lvl="4"/>
            <a:endParaRPr lang="en-US" altLang="ko-KR" sz="1200"/>
          </a:p>
          <a:p>
            <a:r>
              <a:rPr lang="ko-KR" altLang="en-US" sz="2400"/>
              <a:t>학년 선택 예제 </a:t>
            </a:r>
            <a:r>
              <a:rPr lang="en-US" altLang="ko-KR" sz="2000"/>
              <a:t>YearPanel</a:t>
            </a:r>
            <a:r>
              <a:rPr lang="ko-KR" altLang="en-US" sz="2000"/>
              <a:t> 클래스</a:t>
            </a:r>
            <a:endParaRPr lang="en-US" altLang="ko-KR" sz="1800"/>
          </a:p>
          <a:p>
            <a:pPr lvl="1"/>
            <a:r>
              <a:rPr lang="ko-KR" altLang="en-US" sz="1800"/>
              <a:t>스트링 배열 </a:t>
            </a:r>
            <a:r>
              <a:rPr lang="en-US" altLang="ko-KR" sz="1800"/>
              <a:t>yearText</a:t>
            </a:r>
            <a:r>
              <a:rPr lang="ko-KR" altLang="en-US" sz="1800"/>
              <a:t>에 </a:t>
            </a:r>
            <a:r>
              <a:rPr lang="en-US" altLang="ko-KR" sz="1800"/>
              <a:t>4</a:t>
            </a:r>
            <a:r>
              <a:rPr lang="ko-KR" altLang="en-US" sz="1800"/>
              <a:t>개 학년 이름 저장</a:t>
            </a:r>
            <a:endParaRPr lang="en-US" altLang="ko-KR" sz="1800"/>
          </a:p>
          <a:p>
            <a:pPr lvl="1"/>
            <a:r>
              <a:rPr lang="en-US" altLang="ko-KR" sz="1800"/>
              <a:t>JRadioButton</a:t>
            </a:r>
            <a:r>
              <a:rPr lang="ko-KR" altLang="en-US" sz="1800"/>
              <a:t>을 이용하여 학년을 나타내는 라디오 버튼을 </a:t>
            </a:r>
            <a:r>
              <a:rPr lang="en-US" altLang="ko-KR" sz="1800"/>
              <a:t>4</a:t>
            </a:r>
            <a:r>
              <a:rPr lang="ko-KR" altLang="en-US" sz="1800"/>
              <a:t>개 생성</a:t>
            </a:r>
            <a:endParaRPr lang="en-US" altLang="ko-KR" sz="18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800"/>
              <a:t>		</a:t>
            </a:r>
            <a:r>
              <a:rPr lang="en-US" altLang="ko-KR" sz="1800">
                <a:latin typeface="Lucida Console" panose="020B0609040504020204" pitchFamily="49" charset="0"/>
              </a:rPr>
              <a:t>radioButton[i] = new</a:t>
            </a:r>
            <a:r>
              <a:rPr lang="ko-KR" altLang="en-US" sz="1800">
                <a:latin typeface="Lucida Console" panose="020B0609040504020204" pitchFamily="49" charset="0"/>
              </a:rPr>
              <a:t> </a:t>
            </a:r>
            <a:r>
              <a:rPr lang="en-US" altLang="ko-KR" sz="1800">
                <a:latin typeface="Lucida Console" panose="020B0609040504020204" pitchFamily="49" charset="0"/>
              </a:rPr>
              <a:t>JRadioButton(yearText[i]);</a:t>
            </a:r>
          </a:p>
          <a:p>
            <a:pPr lvl="1"/>
            <a:r>
              <a:rPr lang="ko-KR" altLang="en-US" sz="1800"/>
              <a:t>이들을 </a:t>
            </a:r>
            <a:r>
              <a:rPr lang="en-US" altLang="ko-KR" sz="1800"/>
              <a:t>ButtonGroup</a:t>
            </a:r>
            <a:r>
              <a:rPr lang="ko-KR" altLang="en-US" sz="1800"/>
              <a:t> 객체인 </a:t>
            </a:r>
            <a:r>
              <a:rPr lang="en-US" altLang="ko-KR" sz="1800"/>
              <a:t>buttons</a:t>
            </a:r>
            <a:r>
              <a:rPr lang="ko-KR" altLang="en-US" sz="1800"/>
              <a:t>에 추가</a:t>
            </a:r>
            <a:endParaRPr lang="en-US" altLang="ko-KR" sz="18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800"/>
              <a:t>		</a:t>
            </a:r>
            <a:r>
              <a:rPr lang="en-US" altLang="ko-KR" sz="1800">
                <a:latin typeface="Lucida Console" panose="020B0609040504020204" pitchFamily="49" charset="0"/>
              </a:rPr>
              <a:t>buttons.add(radioButton[i]);</a:t>
            </a:r>
            <a:endParaRPr lang="ko-KR" altLang="en-US" sz="1800">
              <a:latin typeface="Lucida Console" panose="020B0609040504020204" pitchFamily="49" charset="0"/>
            </a:endParaRPr>
          </a:p>
          <a:p>
            <a:pPr lvl="1"/>
            <a:r>
              <a:rPr lang="ko-KR" altLang="en-US" sz="1800"/>
              <a:t>이제 생성된 라디오 버튼을 </a:t>
            </a:r>
            <a:r>
              <a:rPr lang="en-US" altLang="ko-KR" sz="1800"/>
              <a:t>YearPanel</a:t>
            </a:r>
            <a:r>
              <a:rPr lang="ko-KR" altLang="en-US" sz="1800"/>
              <a:t>에 추가</a:t>
            </a:r>
            <a:endParaRPr lang="en-US" altLang="ko-KR" sz="18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800"/>
              <a:t>		</a:t>
            </a:r>
            <a:r>
              <a:rPr lang="en-US" altLang="ko-KR" sz="1800">
                <a:latin typeface="Lucida Console" panose="020B0609040504020204" pitchFamily="49" charset="0"/>
              </a:rPr>
              <a:t>add(radioButton[i]);</a:t>
            </a:r>
          </a:p>
          <a:p>
            <a:pPr lvl="1"/>
            <a:r>
              <a:rPr lang="ko-KR" altLang="en-US" sz="1800"/>
              <a:t>각 라디오 버튼마다 </a:t>
            </a:r>
            <a:r>
              <a:rPr lang="en-US" altLang="ko-KR" sz="1800"/>
              <a:t>ItemEvent</a:t>
            </a:r>
            <a:r>
              <a:rPr lang="ko-KR" altLang="en-US" sz="1800"/>
              <a:t> 리스너인 </a:t>
            </a:r>
            <a:r>
              <a:rPr lang="en-US" altLang="ko-KR" sz="1800"/>
              <a:t>YearListener</a:t>
            </a:r>
            <a:r>
              <a:rPr lang="ko-KR" altLang="en-US" sz="1800"/>
              <a:t> 객체를 등록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400"/>
              <a:t>		</a:t>
            </a:r>
            <a:r>
              <a:rPr lang="en-US" altLang="ko-KR" sz="1800">
                <a:latin typeface="Lucida Console" panose="020B0609040504020204" pitchFamily="49" charset="0"/>
              </a:rPr>
              <a:t>radioButton[i].addItemListener(listener);</a:t>
            </a:r>
            <a:endParaRPr lang="ko-KR" altLang="en-US" sz="2400">
              <a:latin typeface="Lucida Console" panose="020B0609040504020204" pitchFamily="49" charset="0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EE4273-6C99-4DB4-90BE-203DC73EFA8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© </a:t>
            </a:r>
            <a:r>
              <a:rPr lang="ko-KR" altLang="en-US" dirty="0" err="1"/>
              <a:t>창병모</a:t>
            </a:r>
            <a:r>
              <a:rPr lang="en-US" altLang="ko-KR" dirty="0"/>
              <a:t>,</a:t>
            </a:r>
            <a:r>
              <a:rPr lang="ko-KR" altLang="en-US" dirty="0"/>
              <a:t>우균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62F226-B968-20A8-03B1-6CD39613B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9EDE0521-32D4-444B-97CD-4A957553A9B7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33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제목 1">
            <a:extLst>
              <a:ext uri="{FF2B5EF4-FFF2-40B4-BE49-F238E27FC236}">
                <a16:creationId xmlns:a16="http://schemas.microsoft.com/office/drawing/2014/main" id="{6DF96298-3ADA-6A26-36E2-15D148EFA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라디오 버튼</a:t>
            </a:r>
            <a:r>
              <a:rPr lang="en-US" altLang="ko-KR"/>
              <a:t>: </a:t>
            </a:r>
            <a:r>
              <a:rPr lang="ko-KR" altLang="en-US"/>
              <a:t>학년 선택 예제</a:t>
            </a:r>
          </a:p>
        </p:txBody>
      </p:sp>
      <p:sp>
        <p:nvSpPr>
          <p:cNvPr id="36867" name="내용 개체 틀 2">
            <a:extLst>
              <a:ext uri="{FF2B5EF4-FFF2-40B4-BE49-F238E27FC236}">
                <a16:creationId xmlns:a16="http://schemas.microsoft.com/office/drawing/2014/main" id="{6050F3BA-04C5-5C04-6F8F-F18C3A98A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/>
              <a:t>실행</a:t>
            </a:r>
            <a:endParaRPr lang="en-US" altLang="ko-KR" sz="2400"/>
          </a:p>
          <a:p>
            <a:pPr lvl="1"/>
            <a:r>
              <a:rPr lang="ko-KR" altLang="en-US" sz="1800"/>
              <a:t>라디오 버튼 선택 </a:t>
            </a:r>
            <a:r>
              <a:rPr lang="en-US" altLang="ko-KR" sz="1800">
                <a:sym typeface="Wingdings" panose="05000000000000000000" pitchFamily="2" charset="2"/>
              </a:rPr>
              <a:t> </a:t>
            </a:r>
            <a:r>
              <a:rPr lang="ko-KR" altLang="en-US" sz="1800"/>
              <a:t> </a:t>
            </a:r>
            <a:endParaRPr lang="en-US" altLang="ko-KR" sz="1800"/>
          </a:p>
          <a:p>
            <a:pPr lvl="1"/>
            <a:r>
              <a:rPr lang="en-US" altLang="ko-KR" sz="1800"/>
              <a:t>ItemEvent</a:t>
            </a:r>
            <a:r>
              <a:rPr lang="ko-KR" altLang="en-US" sz="1800"/>
              <a:t> 발생 </a:t>
            </a:r>
            <a:r>
              <a:rPr lang="en-US" altLang="ko-KR" sz="1800">
                <a:sym typeface="Wingdings" panose="05000000000000000000" pitchFamily="2" charset="2"/>
              </a:rPr>
              <a:t> </a:t>
            </a:r>
          </a:p>
          <a:p>
            <a:pPr lvl="1"/>
            <a:r>
              <a:rPr lang="ko-KR" altLang="en-US" sz="1800"/>
              <a:t>등록된 </a:t>
            </a:r>
            <a:r>
              <a:rPr lang="en-US" altLang="ko-KR" sz="1800"/>
              <a:t>YearListener</a:t>
            </a:r>
            <a:r>
              <a:rPr lang="ko-KR" altLang="en-US" sz="1800"/>
              <a:t>의</a:t>
            </a:r>
            <a:r>
              <a:rPr lang="en-US" altLang="ko-KR" sz="1800"/>
              <a:t>itemStateChanged</a:t>
            </a:r>
            <a:r>
              <a:rPr lang="ko-KR" altLang="en-US" sz="1800"/>
              <a:t> 메소드 자동 수행 </a:t>
            </a:r>
            <a:r>
              <a:rPr lang="en-US" altLang="ko-KR" sz="1800">
                <a:sym typeface="Wingdings" panose="05000000000000000000" pitchFamily="2" charset="2"/>
              </a:rPr>
              <a:t> </a:t>
            </a:r>
            <a:r>
              <a:rPr lang="ko-KR" altLang="en-US" sz="1800"/>
              <a:t> </a:t>
            </a:r>
            <a:endParaRPr lang="en-US" altLang="ko-KR" sz="1800"/>
          </a:p>
          <a:p>
            <a:pPr lvl="1"/>
            <a:r>
              <a:rPr lang="ko-KR" altLang="en-US" sz="1800"/>
              <a:t>선택된 학년 텍스트 필드에 표시</a:t>
            </a:r>
            <a:endParaRPr lang="ko-KR" altLang="en-US" sz="28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D60115-92A4-D953-AF58-9F9E6A72D02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© </a:t>
            </a:r>
            <a:r>
              <a:rPr lang="ko-KR" altLang="en-US" dirty="0" err="1"/>
              <a:t>창병모</a:t>
            </a:r>
            <a:r>
              <a:rPr lang="en-US" altLang="ko-KR" dirty="0"/>
              <a:t>,</a:t>
            </a:r>
            <a:r>
              <a:rPr lang="ko-KR" altLang="en-US" dirty="0"/>
              <a:t>우균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609759-518D-8188-2749-338606913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D0DFACF1-C977-4C63-968F-D14983F41444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34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제목 1">
            <a:extLst>
              <a:ext uri="{FF2B5EF4-FFF2-40B4-BE49-F238E27FC236}">
                <a16:creationId xmlns:a16="http://schemas.microsoft.com/office/drawing/2014/main" id="{8BDDF26C-9B20-F087-03FB-2D732B27E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7891" name="내용 개체 틀 2">
            <a:extLst>
              <a:ext uri="{FF2B5EF4-FFF2-40B4-BE49-F238E27FC236}">
                <a16:creationId xmlns:a16="http://schemas.microsoft.com/office/drawing/2014/main" id="{0048D155-AD34-7D85-F6A7-E6DB29581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2F2D11-645E-0AF9-2707-46E0B8D635C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F26086-8224-2468-ADAD-1F2DB3938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1AC27773-F53D-4571-9D6E-8BF8FE07FB5E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35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pic>
        <p:nvPicPr>
          <p:cNvPr id="37894" name="Picture 2">
            <a:extLst>
              <a:ext uri="{FF2B5EF4-FFF2-40B4-BE49-F238E27FC236}">
                <a16:creationId xmlns:a16="http://schemas.microsoft.com/office/drawing/2014/main" id="{BCCFCF34-ABD3-A22B-328B-725DB2AC7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333375"/>
            <a:ext cx="6338887" cy="568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제목 1">
            <a:extLst>
              <a:ext uri="{FF2B5EF4-FFF2-40B4-BE49-F238E27FC236}">
                <a16:creationId xmlns:a16="http://schemas.microsoft.com/office/drawing/2014/main" id="{224D89C2-41EA-7111-DDEC-AF764D52A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8915" name="내용 개체 틀 2">
            <a:extLst>
              <a:ext uri="{FF2B5EF4-FFF2-40B4-BE49-F238E27FC236}">
                <a16:creationId xmlns:a16="http://schemas.microsoft.com/office/drawing/2014/main" id="{8EF38A3C-26C0-1434-019D-F897F4926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ECA1DF-8EDE-3AFC-72B2-F0A6A084F79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14469D0-426A-5AA3-A39F-F1E01CBAF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677B5087-51D4-40B7-A76D-ED6430D0A17A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36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pic>
        <p:nvPicPr>
          <p:cNvPr id="38918" name="Picture 2">
            <a:extLst>
              <a:ext uri="{FF2B5EF4-FFF2-40B4-BE49-F238E27FC236}">
                <a16:creationId xmlns:a16="http://schemas.microsoft.com/office/drawing/2014/main" id="{519A86EF-7DBF-922C-2136-664E2817B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188913"/>
            <a:ext cx="5705475" cy="6335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제목 1">
            <a:extLst>
              <a:ext uri="{FF2B5EF4-FFF2-40B4-BE49-F238E27FC236}">
                <a16:creationId xmlns:a16="http://schemas.microsoft.com/office/drawing/2014/main" id="{F183A15B-7D53-D375-138E-53597A72A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D8357F-262A-47A6-27FD-265FB997F4F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526968C-C586-476F-9664-C59105A1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B359E817-0274-476A-B3E1-EFC22E76A273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37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pic>
        <p:nvPicPr>
          <p:cNvPr id="39941" name="Picture 2">
            <a:extLst>
              <a:ext uri="{FF2B5EF4-FFF2-40B4-BE49-F238E27FC236}">
                <a16:creationId xmlns:a16="http://schemas.microsoft.com/office/drawing/2014/main" id="{99B47009-4108-5563-3450-43C90113F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1700213"/>
            <a:ext cx="5207000" cy="129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2" name="Picture 3">
            <a:extLst>
              <a:ext uri="{FF2B5EF4-FFF2-40B4-BE49-F238E27FC236}">
                <a16:creationId xmlns:a16="http://schemas.microsoft.com/office/drawing/2014/main" id="{80881674-2FFB-E47D-F8C5-F4DAE4C7DD1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58900" y="2835275"/>
            <a:ext cx="5894388" cy="2087563"/>
          </a:xfrm>
          <a:noFill/>
        </p:spPr>
      </p:pic>
      <p:sp>
        <p:nvSpPr>
          <p:cNvPr id="39943" name="Rectangle 8">
            <a:extLst>
              <a:ext uri="{FF2B5EF4-FFF2-40B4-BE49-F238E27FC236}">
                <a16:creationId xmlns:a16="http://schemas.microsoft.com/office/drawing/2014/main" id="{2A59F189-7CFC-8F21-C1C9-B448DBAE7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39944" name="_x101860520" descr="EMB000014541133">
            <a:extLst>
              <a:ext uri="{FF2B5EF4-FFF2-40B4-BE49-F238E27FC236}">
                <a16:creationId xmlns:a16="http://schemas.microsoft.com/office/drawing/2014/main" id="{21CFAAAD-FC25-A703-4A3D-E7BDC8F73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5084763"/>
            <a:ext cx="3833813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제목 1">
            <a:extLst>
              <a:ext uri="{FF2B5EF4-FFF2-40B4-BE49-F238E27FC236}">
                <a16:creationId xmlns:a16="http://schemas.microsoft.com/office/drawing/2014/main" id="{82C450DC-6A66-325C-81FC-DEAD381A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콤보 박스</a:t>
            </a:r>
            <a:r>
              <a:rPr lang="en-US" altLang="ko-KR"/>
              <a:t>: </a:t>
            </a:r>
            <a:r>
              <a:rPr lang="ko-KR" altLang="en-US"/>
              <a:t>학년 선택 예제</a:t>
            </a:r>
          </a:p>
        </p:txBody>
      </p:sp>
      <p:sp>
        <p:nvSpPr>
          <p:cNvPr id="40963" name="내용 개체 틀 2">
            <a:extLst>
              <a:ext uri="{FF2B5EF4-FFF2-40B4-BE49-F238E27FC236}">
                <a16:creationId xmlns:a16="http://schemas.microsoft.com/office/drawing/2014/main" id="{142931E2-438C-6448-5ABC-4E7258808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/>
              <a:t>콤보 박스</a:t>
            </a:r>
            <a:endParaRPr lang="en-US" altLang="ko-KR" sz="2000"/>
          </a:p>
          <a:p>
            <a:pPr lvl="1"/>
            <a:r>
              <a:rPr lang="ko-KR" altLang="en-US" sz="1800"/>
              <a:t>선택을 표시하는데 사용되며 아이템 중 하나를 선택할 수 있다</a:t>
            </a:r>
            <a:r>
              <a:rPr lang="en-US" altLang="ko-KR" sz="1800"/>
              <a:t>. </a:t>
            </a:r>
          </a:p>
          <a:p>
            <a:pPr lvl="1"/>
            <a:endParaRPr lang="en-US" altLang="ko-KR" sz="1800"/>
          </a:p>
          <a:p>
            <a:r>
              <a:rPr lang="ko-KR" altLang="en-US" sz="2000"/>
              <a:t>학년을 선택하는 예제 </a:t>
            </a:r>
            <a:r>
              <a:rPr lang="en-US" altLang="ko-KR" sz="2000"/>
              <a:t>ComboPanel</a:t>
            </a:r>
            <a:r>
              <a:rPr lang="ko-KR" altLang="en-US" sz="2000"/>
              <a:t> 클래스</a:t>
            </a:r>
            <a:endParaRPr lang="en-US" altLang="ko-KR" sz="2000"/>
          </a:p>
          <a:p>
            <a:pPr lvl="1"/>
            <a:r>
              <a:rPr lang="ko-KR" altLang="en-US" sz="1800"/>
              <a:t>스트링 배열 </a:t>
            </a:r>
            <a:r>
              <a:rPr lang="en-US" altLang="ko-KR" sz="1800"/>
              <a:t>comboBoxItem</a:t>
            </a:r>
            <a:r>
              <a:rPr lang="ko-KR" altLang="en-US" sz="1800"/>
              <a:t>에 </a:t>
            </a:r>
            <a:r>
              <a:rPr lang="en-US" altLang="ko-KR" sz="1800"/>
              <a:t>4</a:t>
            </a:r>
            <a:r>
              <a:rPr lang="ko-KR" altLang="en-US" sz="1800"/>
              <a:t>개의 학년 이름을 저장</a:t>
            </a:r>
            <a:endParaRPr lang="en-US" altLang="ko-KR" sz="1800"/>
          </a:p>
          <a:p>
            <a:pPr lvl="1"/>
            <a:r>
              <a:rPr lang="ko-KR" altLang="en-US" sz="1800"/>
              <a:t>학년을 선택하는 콤보 박스를 생성하고 이를 </a:t>
            </a:r>
            <a:r>
              <a:rPr lang="en-US" altLang="ko-KR" sz="1800"/>
              <a:t>ComboPanel</a:t>
            </a:r>
            <a:r>
              <a:rPr lang="ko-KR" altLang="en-US" sz="1800"/>
              <a:t>에 추가</a:t>
            </a:r>
            <a:endParaRPr lang="en-US" altLang="ko-KR" sz="1800"/>
          </a:p>
          <a:p>
            <a:pPr lvl="4"/>
            <a:endParaRPr lang="en-US" altLang="ko-KR" sz="1200"/>
          </a:p>
          <a:p>
            <a:pPr lvl="2">
              <a:buFont typeface="Wingdings" panose="05000000000000000000" pitchFamily="2" charset="2"/>
              <a:buNone/>
            </a:pPr>
            <a:r>
              <a:rPr lang="en-US" altLang="ko-KR" sz="1800">
                <a:latin typeface="Lucida Console" panose="020B0609040504020204" pitchFamily="49" charset="0"/>
              </a:rPr>
              <a:t>comboBox = new</a:t>
            </a:r>
            <a:r>
              <a:rPr lang="ko-KR" altLang="en-US" sz="1800">
                <a:latin typeface="Lucida Console" panose="020B0609040504020204" pitchFamily="49" charset="0"/>
              </a:rPr>
              <a:t> </a:t>
            </a:r>
            <a:r>
              <a:rPr lang="en-US" altLang="ko-KR" sz="1800">
                <a:latin typeface="Lucida Console" panose="020B0609040504020204" pitchFamily="49" charset="0"/>
              </a:rPr>
              <a:t>JComboBox(comboBoxItem);</a:t>
            </a:r>
            <a:endParaRPr lang="ko-KR" altLang="en-US" sz="1800">
              <a:latin typeface="Lucida Console" panose="020B0609040504020204" pitchFamily="49" charset="0"/>
            </a:endParaRPr>
          </a:p>
          <a:p>
            <a:pPr lvl="2">
              <a:buFont typeface="Wingdings" panose="05000000000000000000" pitchFamily="2" charset="2"/>
              <a:buNone/>
            </a:pPr>
            <a:r>
              <a:rPr lang="en-US" altLang="ko-KR" sz="1800">
                <a:latin typeface="Lucida Console" panose="020B0609040504020204" pitchFamily="49" charset="0"/>
              </a:rPr>
              <a:t>add(comboBox); 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ko-KR" sz="1800">
                <a:latin typeface="Lucida Console" panose="020B0609040504020204" pitchFamily="49" charset="0"/>
              </a:rPr>
              <a:t>	</a:t>
            </a:r>
            <a:endParaRPr lang="ko-KR" altLang="en-US" sz="1800">
              <a:latin typeface="Lucida Console" panose="020B0609040504020204" pitchFamily="49" charset="0"/>
            </a:endParaRPr>
          </a:p>
          <a:p>
            <a:pPr lvl="1"/>
            <a:r>
              <a:rPr lang="ko-KR" altLang="en-US" sz="1800"/>
              <a:t>아이템 리스너 </a:t>
            </a:r>
            <a:r>
              <a:rPr lang="en-US" altLang="ko-KR" sz="1800"/>
              <a:t>ComboListener</a:t>
            </a:r>
            <a:r>
              <a:rPr lang="ko-KR" altLang="en-US" sz="1800"/>
              <a:t> 객체를 생성한 후 콤보 박스에 등록</a:t>
            </a:r>
            <a:endParaRPr lang="en-US" altLang="ko-KR" sz="1800"/>
          </a:p>
          <a:p>
            <a:pPr lvl="4"/>
            <a:endParaRPr lang="en-US" altLang="ko-KR" sz="1200"/>
          </a:p>
          <a:p>
            <a:pPr lvl="2">
              <a:buFont typeface="Wingdings" panose="05000000000000000000" pitchFamily="2" charset="2"/>
              <a:buNone/>
            </a:pPr>
            <a:r>
              <a:rPr lang="en-US" altLang="ko-KR" sz="1800">
                <a:latin typeface="Lucida Console" panose="020B0609040504020204" pitchFamily="49" charset="0"/>
              </a:rPr>
              <a:t>ComboListener listener = new</a:t>
            </a:r>
            <a:r>
              <a:rPr lang="ko-KR" altLang="en-US" sz="1800">
                <a:latin typeface="Lucida Console" panose="020B0609040504020204" pitchFamily="49" charset="0"/>
              </a:rPr>
              <a:t> </a:t>
            </a:r>
            <a:r>
              <a:rPr lang="en-US" altLang="ko-KR" sz="1800">
                <a:latin typeface="Lucida Console" panose="020B0609040504020204" pitchFamily="49" charset="0"/>
              </a:rPr>
              <a:t>ComboListener( );</a:t>
            </a:r>
            <a:endParaRPr lang="ko-KR" altLang="en-US" sz="1800">
              <a:latin typeface="Lucida Console" panose="020B0609040504020204" pitchFamily="49" charset="0"/>
            </a:endParaRPr>
          </a:p>
          <a:p>
            <a:pPr lvl="2">
              <a:buFont typeface="Wingdings" panose="05000000000000000000" pitchFamily="2" charset="2"/>
              <a:buNone/>
            </a:pPr>
            <a:r>
              <a:rPr lang="en-US" altLang="ko-KR" sz="1800">
                <a:latin typeface="Lucida Console" panose="020B0609040504020204" pitchFamily="49" charset="0"/>
              </a:rPr>
              <a:t>comboBox.addItemListener(listener);</a:t>
            </a:r>
            <a:endParaRPr lang="ko-KR" altLang="en-US" sz="1800">
              <a:latin typeface="Lucida Console" panose="020B06090405040202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A6DD3D-BA60-1816-DD4F-C6B45AB4A4F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© </a:t>
            </a:r>
            <a:r>
              <a:rPr lang="ko-KR" altLang="en-US" dirty="0" err="1"/>
              <a:t>창병모</a:t>
            </a:r>
            <a:r>
              <a:rPr lang="en-US" altLang="ko-KR" dirty="0"/>
              <a:t>,</a:t>
            </a:r>
            <a:r>
              <a:rPr lang="ko-KR" altLang="en-US" dirty="0"/>
              <a:t>우균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743057-1446-098D-E64F-BE1856C1E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4AC6BC98-BA0A-40E9-8794-0E8A260D026B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38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제목 1">
            <a:extLst>
              <a:ext uri="{FF2B5EF4-FFF2-40B4-BE49-F238E27FC236}">
                <a16:creationId xmlns:a16="http://schemas.microsoft.com/office/drawing/2014/main" id="{491D87D3-9CCD-075F-B729-5DD2472EB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콤보 박스</a:t>
            </a:r>
            <a:r>
              <a:rPr lang="en-US" altLang="ko-KR"/>
              <a:t>: </a:t>
            </a:r>
            <a:r>
              <a:rPr lang="ko-KR" altLang="en-US"/>
              <a:t>학년 선택 예제</a:t>
            </a:r>
          </a:p>
        </p:txBody>
      </p:sp>
      <p:sp>
        <p:nvSpPr>
          <p:cNvPr id="41987" name="내용 개체 틀 2">
            <a:extLst>
              <a:ext uri="{FF2B5EF4-FFF2-40B4-BE49-F238E27FC236}">
                <a16:creationId xmlns:a16="http://schemas.microsoft.com/office/drawing/2014/main" id="{BD428ACC-1A11-792F-2B22-5C7503F0E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/>
              <a:t>실행</a:t>
            </a:r>
            <a:endParaRPr lang="en-US" altLang="ko-KR" sz="2000"/>
          </a:p>
          <a:p>
            <a:pPr lvl="1"/>
            <a:r>
              <a:rPr lang="ko-KR" altLang="en-US" sz="1800"/>
              <a:t>콤보 박스에서 아이템 선택</a:t>
            </a:r>
            <a:r>
              <a:rPr lang="en-US" altLang="ko-KR" sz="1800">
                <a:sym typeface="Wingdings" panose="05000000000000000000" pitchFamily="2" charset="2"/>
              </a:rPr>
              <a:t></a:t>
            </a:r>
            <a:r>
              <a:rPr lang="ko-KR" altLang="en-US" sz="1800"/>
              <a:t> </a:t>
            </a:r>
            <a:endParaRPr lang="en-US" altLang="ko-KR" sz="1800"/>
          </a:p>
          <a:p>
            <a:pPr lvl="1"/>
            <a:r>
              <a:rPr lang="en-US" altLang="ko-KR" sz="1800"/>
              <a:t>ItemEvent</a:t>
            </a:r>
            <a:r>
              <a:rPr lang="ko-KR" altLang="en-US" sz="1800"/>
              <a:t>가 발생 </a:t>
            </a:r>
            <a:r>
              <a:rPr lang="en-US" altLang="ko-KR" sz="1800">
                <a:sym typeface="Wingdings" panose="05000000000000000000" pitchFamily="2" charset="2"/>
              </a:rPr>
              <a:t> </a:t>
            </a:r>
            <a:r>
              <a:rPr lang="ko-KR" altLang="en-US" sz="1800"/>
              <a:t> </a:t>
            </a:r>
            <a:endParaRPr lang="en-US" altLang="ko-KR" sz="1800"/>
          </a:p>
          <a:p>
            <a:pPr lvl="1"/>
            <a:r>
              <a:rPr lang="ko-KR" altLang="en-US" sz="1800"/>
              <a:t>등록된 </a:t>
            </a:r>
            <a:r>
              <a:rPr lang="en-US" altLang="ko-KR" sz="1800"/>
              <a:t>ComboListener</a:t>
            </a:r>
            <a:r>
              <a:rPr lang="ko-KR" altLang="en-US" sz="1800"/>
              <a:t>의 </a:t>
            </a:r>
            <a:r>
              <a:rPr lang="en-US" altLang="ko-KR" sz="1800"/>
              <a:t>itemStateChanged</a:t>
            </a:r>
            <a:r>
              <a:rPr lang="ko-KR" altLang="en-US" sz="1800"/>
              <a:t> 메소드 자동 수행 </a:t>
            </a:r>
            <a:r>
              <a:rPr lang="en-US" altLang="ko-KR" sz="1800">
                <a:sym typeface="Wingdings" panose="05000000000000000000" pitchFamily="2" charset="2"/>
              </a:rPr>
              <a:t> </a:t>
            </a:r>
          </a:p>
          <a:p>
            <a:pPr lvl="1"/>
            <a:r>
              <a:rPr lang="ko-KR" altLang="en-US" sz="1800"/>
              <a:t> 선택된 학년을 텍스트 필드에 표시</a:t>
            </a:r>
          </a:p>
          <a:p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7456D4-89FF-06E1-B37F-20F8D83F037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© </a:t>
            </a:r>
            <a:r>
              <a:rPr lang="ko-KR" altLang="en-US" dirty="0" err="1"/>
              <a:t>창병모</a:t>
            </a:r>
            <a:r>
              <a:rPr lang="en-US" altLang="ko-KR" dirty="0"/>
              <a:t>,</a:t>
            </a:r>
            <a:r>
              <a:rPr lang="ko-KR" altLang="en-US" dirty="0"/>
              <a:t>우균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4FD99C-1E27-8749-CE97-DAB4BC1BD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7B7411D7-F19F-40DB-A4B9-8B2B76B855EE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39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제목 1">
            <a:extLst>
              <a:ext uri="{FF2B5EF4-FFF2-40B4-BE49-F238E27FC236}">
                <a16:creationId xmlns:a16="http://schemas.microsoft.com/office/drawing/2014/main" id="{D485168A-64BF-F09E-F82D-CA69E875D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3011" name="내용 개체 틀 2">
            <a:extLst>
              <a:ext uri="{FF2B5EF4-FFF2-40B4-BE49-F238E27FC236}">
                <a16:creationId xmlns:a16="http://schemas.microsoft.com/office/drawing/2014/main" id="{FC751D45-4025-EA18-17D3-A44F52A4B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9213F2-BDBB-FDF7-A1B1-DCE1F293E33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F1D212-166C-F38C-A20E-A11D052A5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BE7A494D-6212-4D83-9FED-0EF88EDB1786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40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pic>
        <p:nvPicPr>
          <p:cNvPr id="43014" name="Picture 6">
            <a:extLst>
              <a:ext uri="{FF2B5EF4-FFF2-40B4-BE49-F238E27FC236}">
                <a16:creationId xmlns:a16="http://schemas.microsoft.com/office/drawing/2014/main" id="{468D198B-E889-ACF0-E594-BB5C94568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333375"/>
            <a:ext cx="6273800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제목 1">
            <a:extLst>
              <a:ext uri="{FF2B5EF4-FFF2-40B4-BE49-F238E27FC236}">
                <a16:creationId xmlns:a16="http://schemas.microsoft.com/office/drawing/2014/main" id="{0AE3B43C-50C9-7C11-237C-5FE1A57F5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4035" name="내용 개체 틀 2">
            <a:extLst>
              <a:ext uri="{FF2B5EF4-FFF2-40B4-BE49-F238E27FC236}">
                <a16:creationId xmlns:a16="http://schemas.microsoft.com/office/drawing/2014/main" id="{47922F8B-1057-30EF-5CCC-070161AA4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C936EC-A975-5A3B-2F5A-78F2F0C3B05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536EA0-E566-EFF1-7053-65713427A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68C19831-5014-4AE8-9B8D-2B626C5D1C1F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41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pic>
        <p:nvPicPr>
          <p:cNvPr id="44038" name="Picture 6">
            <a:extLst>
              <a:ext uri="{FF2B5EF4-FFF2-40B4-BE49-F238E27FC236}">
                <a16:creationId xmlns:a16="http://schemas.microsoft.com/office/drawing/2014/main" id="{13F9144B-3946-5605-58A1-C3B15F2F8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549275"/>
            <a:ext cx="6573838" cy="518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제목 1">
            <a:extLst>
              <a:ext uri="{FF2B5EF4-FFF2-40B4-BE49-F238E27FC236}">
                <a16:creationId xmlns:a16="http://schemas.microsoft.com/office/drawing/2014/main" id="{CEF3B818-4656-C348-D421-0595D95D0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5059" name="내용 개체 틀 2">
            <a:extLst>
              <a:ext uri="{FF2B5EF4-FFF2-40B4-BE49-F238E27FC236}">
                <a16:creationId xmlns:a16="http://schemas.microsoft.com/office/drawing/2014/main" id="{7EEE4076-DA68-F3DD-DE99-BEF522C4E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33FFE9-2684-A47E-BED9-88B1EAC58F0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A495A3-5924-78A1-ECDC-A1DD70C5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B1A13CE7-08AD-4D06-BFA8-B5021E03834F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42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pic>
        <p:nvPicPr>
          <p:cNvPr id="45062" name="Picture 6">
            <a:extLst>
              <a:ext uri="{FF2B5EF4-FFF2-40B4-BE49-F238E27FC236}">
                <a16:creationId xmlns:a16="http://schemas.microsoft.com/office/drawing/2014/main" id="{4F11AE03-06AD-3D5F-F44D-FF374B38D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700213"/>
            <a:ext cx="5903912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3" name="Picture 7">
            <a:extLst>
              <a:ext uri="{FF2B5EF4-FFF2-40B4-BE49-F238E27FC236}">
                <a16:creationId xmlns:a16="http://schemas.microsoft.com/office/drawing/2014/main" id="{3EC0976F-3C6A-C473-0D46-37FE2A222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938" y="4164013"/>
            <a:ext cx="3414712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4" name="Rectangle 9">
            <a:extLst>
              <a:ext uri="{FF2B5EF4-FFF2-40B4-BE49-F238E27FC236}">
                <a16:creationId xmlns:a16="http://schemas.microsoft.com/office/drawing/2014/main" id="{08F2D5AE-B25D-3E16-D36A-FB9E512A9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45065" name="_x102216656" descr="EMB000014541132">
            <a:extLst>
              <a:ext uri="{FF2B5EF4-FFF2-40B4-BE49-F238E27FC236}">
                <a16:creationId xmlns:a16="http://schemas.microsoft.com/office/drawing/2014/main" id="{D1DBF296-1751-7F27-2E26-489781737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5013325"/>
            <a:ext cx="3671888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제목 1">
            <a:extLst>
              <a:ext uri="{FF2B5EF4-FFF2-40B4-BE49-F238E27FC236}">
                <a16:creationId xmlns:a16="http://schemas.microsoft.com/office/drawing/2014/main" id="{B0C230BA-3C10-98EF-6567-60F41A1D6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333375"/>
            <a:ext cx="8229600" cy="1139825"/>
          </a:xfrm>
        </p:spPr>
        <p:txBody>
          <a:bodyPr/>
          <a:lstStyle/>
          <a:p>
            <a:r>
              <a:rPr lang="ko-KR" altLang="en-US"/>
              <a:t>마우스 이벤트</a:t>
            </a:r>
            <a:r>
              <a:rPr lang="en-US" altLang="ko-KR"/>
              <a:t> </a:t>
            </a:r>
            <a:r>
              <a:rPr lang="ko-KR" altLang="en-US"/>
              <a:t>예제</a:t>
            </a:r>
          </a:p>
        </p:txBody>
      </p:sp>
      <p:sp>
        <p:nvSpPr>
          <p:cNvPr id="46083" name="내용 개체 틀 2">
            <a:extLst>
              <a:ext uri="{FF2B5EF4-FFF2-40B4-BE49-F238E27FC236}">
                <a16:creationId xmlns:a16="http://schemas.microsoft.com/office/drawing/2014/main" id="{D8587D22-189A-EF1C-16B0-6F5CEFD6B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/>
              <a:t>예제 프로그램 </a:t>
            </a:r>
            <a:r>
              <a:rPr lang="en-US" altLang="ko-KR" sz="2000"/>
              <a:t>Position</a:t>
            </a:r>
          </a:p>
          <a:p>
            <a:pPr lvl="1"/>
            <a:r>
              <a:rPr lang="ko-KR" altLang="en-US" sz="1600"/>
              <a:t>마우스 버튼이 클릭되면 원점으로부터 클릭된 지점까지 선과 좌표 표시</a:t>
            </a:r>
            <a:endParaRPr lang="en-US" altLang="ko-KR" sz="1600"/>
          </a:p>
          <a:p>
            <a:pPr lvl="1"/>
            <a:r>
              <a:rPr lang="en-US" altLang="ko-KR" sz="1600"/>
              <a:t>Position</a:t>
            </a:r>
            <a:r>
              <a:rPr lang="ko-KR" altLang="en-US" sz="1600"/>
              <a:t> 클래스와 패널을 정의하는 </a:t>
            </a:r>
            <a:r>
              <a:rPr lang="en-US" altLang="ko-KR" sz="1600"/>
              <a:t>PositionPanel</a:t>
            </a:r>
            <a:r>
              <a:rPr lang="ko-KR" altLang="en-US" sz="1600"/>
              <a:t> 클래스로 구성</a:t>
            </a:r>
          </a:p>
          <a:p>
            <a:r>
              <a:rPr lang="en-US" altLang="ko-KR" sz="2000"/>
              <a:t>Position </a:t>
            </a:r>
            <a:r>
              <a:rPr lang="ko-KR" altLang="en-US" sz="2000"/>
              <a:t>클래스 </a:t>
            </a:r>
            <a:r>
              <a:rPr lang="en-US" altLang="ko-KR" sz="2000"/>
              <a:t>main</a:t>
            </a:r>
            <a:r>
              <a:rPr lang="ko-KR" altLang="en-US" sz="2000"/>
              <a:t> 메소드 </a:t>
            </a:r>
            <a:endParaRPr lang="en-US" altLang="ko-KR" sz="2000"/>
          </a:p>
          <a:p>
            <a:pPr lvl="1"/>
            <a:r>
              <a:rPr lang="ko-KR" altLang="en-US" sz="1600"/>
              <a:t>프레임을 생성하고 </a:t>
            </a:r>
            <a:r>
              <a:rPr lang="en-US" altLang="ko-KR" sz="1600"/>
              <a:t>PositionPanel</a:t>
            </a:r>
            <a:r>
              <a:rPr lang="ko-KR" altLang="en-US" sz="1600"/>
              <a:t>를 생성하여 프레임에 추가한 후에 보여준다</a:t>
            </a:r>
            <a:endParaRPr lang="en-US" altLang="ko-KR" sz="1600"/>
          </a:p>
          <a:p>
            <a:r>
              <a:rPr lang="en-US" altLang="ko-KR" sz="2000"/>
              <a:t>PositionPanel</a:t>
            </a:r>
            <a:r>
              <a:rPr lang="ko-KR" altLang="en-US" sz="2000"/>
              <a:t>의 생성자</a:t>
            </a:r>
            <a:endParaRPr lang="en-US" altLang="ko-KR" sz="2000"/>
          </a:p>
          <a:p>
            <a:pPr lvl="1"/>
            <a:r>
              <a:rPr lang="ko-KR" altLang="en-US" sz="1600"/>
              <a:t>이 패널의 리스너를 </a:t>
            </a:r>
            <a:r>
              <a:rPr lang="en-US" altLang="ko-KR" sz="1600"/>
              <a:t>PositionListener</a:t>
            </a:r>
            <a:r>
              <a:rPr lang="ko-KR" altLang="en-US" sz="1600"/>
              <a:t>로 등록하고 크기와 색상을 설정</a:t>
            </a:r>
            <a:endParaRPr lang="en-US" altLang="ko-KR" sz="1600"/>
          </a:p>
          <a:p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7E4587-DFA4-144F-D973-904A4E75CEA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© </a:t>
            </a:r>
            <a:r>
              <a:rPr lang="ko-KR" altLang="en-US" dirty="0" err="1"/>
              <a:t>창병모</a:t>
            </a:r>
            <a:r>
              <a:rPr lang="en-US" altLang="ko-KR" dirty="0"/>
              <a:t>,</a:t>
            </a:r>
            <a:r>
              <a:rPr lang="ko-KR" altLang="en-US" dirty="0"/>
              <a:t>우균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DF53E1-793A-8F1A-82A6-DD4BE0C7D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C4D3EF14-6BDF-44F6-82AE-19B6282E50E7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43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제목 1">
            <a:extLst>
              <a:ext uri="{FF2B5EF4-FFF2-40B4-BE49-F238E27FC236}">
                <a16:creationId xmlns:a16="http://schemas.microsoft.com/office/drawing/2014/main" id="{33FC38B3-476B-C257-C290-C8E6CFF9A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마우스 이벤트</a:t>
            </a:r>
          </a:p>
        </p:txBody>
      </p:sp>
      <p:sp>
        <p:nvSpPr>
          <p:cNvPr id="47107" name="내용 개체 틀 2">
            <a:extLst>
              <a:ext uri="{FF2B5EF4-FFF2-40B4-BE49-F238E27FC236}">
                <a16:creationId xmlns:a16="http://schemas.microsoft.com/office/drawing/2014/main" id="{E8C9A5FE-FD3B-9CBB-643B-B3DA15261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/>
              <a:t>PositionListener</a:t>
            </a:r>
          </a:p>
          <a:p>
            <a:pPr lvl="1"/>
            <a:r>
              <a:rPr lang="en-US" altLang="ko-KR" sz="1600"/>
              <a:t>PositionPanel</a:t>
            </a:r>
            <a:r>
              <a:rPr lang="ko-KR" altLang="en-US" sz="1600"/>
              <a:t> 내의 내부 클래스</a:t>
            </a:r>
            <a:endParaRPr lang="en-US" altLang="ko-KR" sz="1600"/>
          </a:p>
          <a:p>
            <a:pPr lvl="1"/>
            <a:r>
              <a:rPr lang="ko-KR" altLang="en-US" sz="1600"/>
              <a:t>마우스 버튼이 클릭되면  마우스 이벤트로부터 클릭된 점</a:t>
            </a:r>
            <a:r>
              <a:rPr lang="en-US" altLang="ko-KR" sz="1600"/>
              <a:t>(Point)</a:t>
            </a:r>
            <a:r>
              <a:rPr lang="ko-KR" altLang="en-US" sz="1600"/>
              <a:t>을 가져온 후</a:t>
            </a:r>
            <a:r>
              <a:rPr lang="en-US" altLang="ko-KR" sz="1600"/>
              <a:t>repaint</a:t>
            </a:r>
            <a:r>
              <a:rPr lang="ko-KR" altLang="en-US" sz="1600"/>
              <a:t> 메소드를 호출한다</a:t>
            </a:r>
            <a:r>
              <a:rPr lang="en-US" altLang="ko-KR" sz="1600"/>
              <a:t>. </a:t>
            </a:r>
            <a:endParaRPr lang="ko-KR" altLang="en-US" sz="16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/>
              <a:t>	current = event.getPoint();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/>
              <a:t>	repaint();  // paintComponent </a:t>
            </a:r>
            <a:r>
              <a:rPr lang="ko-KR" altLang="en-US" sz="1600"/>
              <a:t>호출</a:t>
            </a:r>
            <a:endParaRPr lang="en-US" altLang="ko-KR" sz="1600"/>
          </a:p>
          <a:p>
            <a:pPr lvl="1">
              <a:buFont typeface="Wingdings" panose="05000000000000000000" pitchFamily="2" charset="2"/>
              <a:buNone/>
            </a:pPr>
            <a:endParaRPr lang="ko-KR" altLang="en-US" sz="1600"/>
          </a:p>
          <a:p>
            <a:r>
              <a:rPr lang="en-US" altLang="ko-KR" sz="2000"/>
              <a:t>paintComponent</a:t>
            </a:r>
            <a:r>
              <a:rPr lang="ko-KR" altLang="en-US" sz="2000"/>
              <a:t> 메소드</a:t>
            </a:r>
            <a:endParaRPr lang="en-US" altLang="ko-KR" sz="2000"/>
          </a:p>
          <a:p>
            <a:pPr lvl="1"/>
            <a:r>
              <a:rPr lang="ko-KR" altLang="en-US" sz="1600"/>
              <a:t> 원점에서 클릭된 지점까지 선을 그리고 좌표 값을 보여준다</a:t>
            </a:r>
            <a:r>
              <a:rPr lang="en-US" altLang="ko-KR" sz="1600"/>
              <a:t>. </a:t>
            </a:r>
            <a:endParaRPr lang="ko-KR" altLang="en-US" sz="16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/>
              <a:t>	page.drawLine (current.x, current.y, 0, 0);</a:t>
            </a:r>
            <a:endParaRPr lang="ko-KR" altLang="en-US" sz="16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/>
              <a:t>	page.drawString("("+current.x+","+current.y+")", current.x, current.y); </a:t>
            </a:r>
            <a:endParaRPr lang="ko-KR" altLang="en-US" sz="1600"/>
          </a:p>
          <a:p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3A1663-390A-E516-AC5D-35E21E5372E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© </a:t>
            </a:r>
            <a:r>
              <a:rPr lang="ko-KR" altLang="en-US" dirty="0" err="1"/>
              <a:t>창병모</a:t>
            </a:r>
            <a:r>
              <a:rPr lang="en-US" altLang="ko-KR" dirty="0"/>
              <a:t>,</a:t>
            </a:r>
            <a:r>
              <a:rPr lang="ko-KR" altLang="en-US" dirty="0"/>
              <a:t>우균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9AF5DC-4981-766B-5941-09620E8ED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0D3AA4B1-0DC8-4532-A919-272C2F2AF56D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44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제목 1">
            <a:extLst>
              <a:ext uri="{FF2B5EF4-FFF2-40B4-BE49-F238E27FC236}">
                <a16:creationId xmlns:a16="http://schemas.microsoft.com/office/drawing/2014/main" id="{04494CAE-93BF-9BAE-15E5-36CFB4159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8131" name="내용 개체 틀 2">
            <a:extLst>
              <a:ext uri="{FF2B5EF4-FFF2-40B4-BE49-F238E27FC236}">
                <a16:creationId xmlns:a16="http://schemas.microsoft.com/office/drawing/2014/main" id="{502ED1ED-629B-45C8-8FE6-3ED276CC0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194D08-0895-F00F-0D14-1EF00880A9B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77C8821-24A7-7B3A-D2FD-7649F2B28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F1698292-022A-42C8-BBCA-D827D5C00D33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45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pic>
        <p:nvPicPr>
          <p:cNvPr id="48134" name="Picture 2">
            <a:extLst>
              <a:ext uri="{FF2B5EF4-FFF2-40B4-BE49-F238E27FC236}">
                <a16:creationId xmlns:a16="http://schemas.microsoft.com/office/drawing/2014/main" id="{DF595AEB-A6C8-B86E-9ABD-DEA95B601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404813"/>
            <a:ext cx="6488113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제목 1">
            <a:extLst>
              <a:ext uri="{FF2B5EF4-FFF2-40B4-BE49-F238E27FC236}">
                <a16:creationId xmlns:a16="http://schemas.microsoft.com/office/drawing/2014/main" id="{970487F3-EF73-9264-C674-669274E30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9155" name="내용 개체 틀 2">
            <a:extLst>
              <a:ext uri="{FF2B5EF4-FFF2-40B4-BE49-F238E27FC236}">
                <a16:creationId xmlns:a16="http://schemas.microsoft.com/office/drawing/2014/main" id="{F7A4259D-B91D-9BE0-0C67-B9611914E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45BD9A-9D2B-FE5B-E898-B1CD9F21744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1A42EA-70EC-D63E-BC43-28AFA97DC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03857BC4-8940-4B51-B082-B90F6484528D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46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pic>
        <p:nvPicPr>
          <p:cNvPr id="49158" name="Picture 2">
            <a:extLst>
              <a:ext uri="{FF2B5EF4-FFF2-40B4-BE49-F238E27FC236}">
                <a16:creationId xmlns:a16="http://schemas.microsoft.com/office/drawing/2014/main" id="{C42ECFE4-C3A2-2FFB-A34E-8383F9DB7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188913"/>
            <a:ext cx="5429250" cy="576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제목 1">
            <a:extLst>
              <a:ext uri="{FF2B5EF4-FFF2-40B4-BE49-F238E27FC236}">
                <a16:creationId xmlns:a16="http://schemas.microsoft.com/office/drawing/2014/main" id="{CE0479AD-3E8A-A88C-AF26-3ED8DE856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0179" name="내용 개체 틀 2">
            <a:extLst>
              <a:ext uri="{FF2B5EF4-FFF2-40B4-BE49-F238E27FC236}">
                <a16:creationId xmlns:a16="http://schemas.microsoft.com/office/drawing/2014/main" id="{C3FFFFF7-38F6-04A0-027E-340C7E031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231E8E-2C49-B52B-22B0-4CAEE84E71E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E5A970-C4F5-10BF-9F7E-E9BF6347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2A8C29BD-1B1B-487B-90D2-590620A489D3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47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pic>
        <p:nvPicPr>
          <p:cNvPr id="50182" name="Picture 2">
            <a:extLst>
              <a:ext uri="{FF2B5EF4-FFF2-40B4-BE49-F238E27FC236}">
                <a16:creationId xmlns:a16="http://schemas.microsoft.com/office/drawing/2014/main" id="{D9F3D024-1C3F-53B2-4725-C8855D525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773238"/>
            <a:ext cx="7343775" cy="297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제목 1">
            <a:extLst>
              <a:ext uri="{FF2B5EF4-FFF2-40B4-BE49-F238E27FC236}">
                <a16:creationId xmlns:a16="http://schemas.microsoft.com/office/drawing/2014/main" id="{0E2F12A0-8914-76AC-6452-8FD2C5844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1203" name="내용 개체 틀 2">
            <a:extLst>
              <a:ext uri="{FF2B5EF4-FFF2-40B4-BE49-F238E27FC236}">
                <a16:creationId xmlns:a16="http://schemas.microsoft.com/office/drawing/2014/main" id="{085F3F68-D815-7234-6328-52C4433E1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B7F731-0D15-B13D-8E55-6B14D35F08F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A648EC-0623-1FA5-CF2F-68F407B6A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9EB46C6A-4CE2-4539-A1D4-9610A75AF0E2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48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pic>
        <p:nvPicPr>
          <p:cNvPr id="51206" name="Picture 2">
            <a:extLst>
              <a:ext uri="{FF2B5EF4-FFF2-40B4-BE49-F238E27FC236}">
                <a16:creationId xmlns:a16="http://schemas.microsoft.com/office/drawing/2014/main" id="{2A618242-5A14-0509-8078-B155F844B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404813"/>
            <a:ext cx="5961062" cy="388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7" name="Picture 3">
            <a:extLst>
              <a:ext uri="{FF2B5EF4-FFF2-40B4-BE49-F238E27FC236}">
                <a16:creationId xmlns:a16="http://schemas.microsoft.com/office/drawing/2014/main" id="{E1550455-0ADC-7D27-6E6B-6D8074826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950" y="4278313"/>
            <a:ext cx="5040313" cy="202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8" name="Rectangle 5">
            <a:extLst>
              <a:ext uri="{FF2B5EF4-FFF2-40B4-BE49-F238E27FC236}">
                <a16:creationId xmlns:a16="http://schemas.microsoft.com/office/drawing/2014/main" id="{D0B13D1E-27DA-6CF5-FA1C-F977275DB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51209" name="_x102216656" descr="EMB000014541131">
            <a:extLst>
              <a:ext uri="{FF2B5EF4-FFF2-40B4-BE49-F238E27FC236}">
                <a16:creationId xmlns:a16="http://schemas.microsoft.com/office/drawing/2014/main" id="{FABE2275-F51E-15ED-FB0A-7272E3F7D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3" y="2133600"/>
            <a:ext cx="2689225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제목 1">
            <a:extLst>
              <a:ext uri="{FF2B5EF4-FFF2-40B4-BE49-F238E27FC236}">
                <a16:creationId xmlns:a16="http://schemas.microsoft.com/office/drawing/2014/main" id="{7D04664D-22BB-FF69-0EA2-D593D1CD0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이벤트 어댑터 클래스</a:t>
            </a:r>
            <a:endParaRPr lang="ko-KR" altLang="en-US"/>
          </a:p>
        </p:txBody>
      </p:sp>
      <p:sp>
        <p:nvSpPr>
          <p:cNvPr id="52227" name="내용 개체 틀 2">
            <a:extLst>
              <a:ext uri="{FF2B5EF4-FFF2-40B4-BE49-F238E27FC236}">
                <a16:creationId xmlns:a16="http://schemas.microsoft.com/office/drawing/2014/main" id="{2888D712-4167-649C-1C87-857F8215B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/>
              <a:t>리스너를 작성하는 또 하나의 방법</a:t>
            </a:r>
            <a:endParaRPr lang="en-US" altLang="ko-KR" sz="2000"/>
          </a:p>
          <a:p>
            <a:pPr lvl="1"/>
            <a:r>
              <a:rPr lang="ko-KR" altLang="en-US" sz="1800" b="1"/>
              <a:t>이벤트 어댑터 클래스</a:t>
            </a:r>
            <a:r>
              <a:rPr lang="en-US" altLang="ko-KR" sz="1800" b="1"/>
              <a:t>(Event Adapter Class)</a:t>
            </a:r>
            <a:r>
              <a:rPr lang="ko-KR" altLang="en-US" sz="1800"/>
              <a:t>를 상속해서 구현</a:t>
            </a:r>
            <a:endParaRPr lang="en-US" altLang="ko-KR" sz="1800"/>
          </a:p>
          <a:p>
            <a:pPr lvl="1"/>
            <a:r>
              <a:rPr lang="ko-KR" altLang="en-US" sz="1800"/>
              <a:t>리스너 작성시 관련된 메소드만 재정의하면 된다</a:t>
            </a:r>
            <a:endParaRPr lang="en-US" altLang="ko-KR" sz="1800"/>
          </a:p>
          <a:p>
            <a:pPr lvl="1"/>
            <a:endParaRPr lang="en-US" altLang="ko-KR" sz="1800"/>
          </a:p>
          <a:p>
            <a:r>
              <a:rPr lang="ko-KR" altLang="en-US" sz="2200"/>
              <a:t>이벤트 어댑터 클래스</a:t>
            </a:r>
            <a:endParaRPr lang="en-US" altLang="ko-KR" sz="2200"/>
          </a:p>
          <a:p>
            <a:pPr lvl="1"/>
            <a:r>
              <a:rPr lang="ko-KR" altLang="en-US" sz="1800"/>
              <a:t>각 리스너 인터페이스에 상응하는 이벤트 어댑터 클래스가 존재</a:t>
            </a:r>
            <a:endParaRPr lang="en-US" altLang="ko-KR" sz="1800"/>
          </a:p>
          <a:p>
            <a:pPr lvl="1"/>
            <a:r>
              <a:rPr lang="en-US" altLang="ko-KR" sz="1800"/>
              <a:t>OOOListener</a:t>
            </a:r>
            <a:r>
              <a:rPr lang="ko-KR" altLang="en-US" sz="1800"/>
              <a:t> </a:t>
            </a:r>
            <a:r>
              <a:rPr lang="en-US" altLang="ko-KR" sz="1800">
                <a:sym typeface="Wingdings" panose="05000000000000000000" pitchFamily="2" charset="2"/>
              </a:rPr>
              <a:t></a:t>
            </a:r>
            <a:r>
              <a:rPr lang="ko-KR" altLang="en-US" sz="1800"/>
              <a:t> </a:t>
            </a:r>
            <a:r>
              <a:rPr lang="en-US" altLang="ko-KR" sz="1800"/>
              <a:t>OOOAdapter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800"/>
              <a:t>	MouseListener</a:t>
            </a:r>
            <a:r>
              <a:rPr lang="ko-KR" altLang="en-US" sz="1800"/>
              <a:t> 인터페이스 </a:t>
            </a:r>
            <a:r>
              <a:rPr lang="en-US" altLang="ko-KR" sz="1800">
                <a:sym typeface="Wingdings" panose="05000000000000000000" pitchFamily="2" charset="2"/>
              </a:rPr>
              <a:t> </a:t>
            </a:r>
            <a:r>
              <a:rPr lang="en-US" altLang="ko-KR" sz="1800"/>
              <a:t>MouseAdapter</a:t>
            </a:r>
            <a:r>
              <a:rPr lang="ko-KR" altLang="en-US" sz="1800"/>
              <a:t> 클래스</a:t>
            </a:r>
            <a:endParaRPr lang="en-US" altLang="ko-KR" sz="1600"/>
          </a:p>
          <a:p>
            <a:pPr lvl="1"/>
            <a:r>
              <a:rPr lang="ko-KR" altLang="en-US" sz="1800"/>
              <a:t>인터페이스에서 정의된 메소드들을 모두 빈 메소드로 구현하고 있다</a:t>
            </a:r>
            <a:endParaRPr lang="en-US" altLang="ko-KR" sz="18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800"/>
              <a:t>	</a:t>
            </a:r>
            <a:endParaRPr lang="ko-KR" altLang="en-US" sz="1800"/>
          </a:p>
          <a:p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0636C5-A0F5-AF80-D65F-8CC2EB57D1E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560D4B3-AE43-0834-2E5D-5EDDA2FA0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7DB50964-F832-4659-B8AF-979E291A33BB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49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제목 1">
            <a:extLst>
              <a:ext uri="{FF2B5EF4-FFF2-40B4-BE49-F238E27FC236}">
                <a16:creationId xmlns:a16="http://schemas.microsoft.com/office/drawing/2014/main" id="{F3DF7C8B-E2A6-5B69-18AA-8327D1C7B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이벤트 어댑터 클래스</a:t>
            </a:r>
            <a:endParaRPr lang="ko-KR" altLang="en-US"/>
          </a:p>
        </p:txBody>
      </p:sp>
      <p:sp>
        <p:nvSpPr>
          <p:cNvPr id="53251" name="내용 개체 틀 2">
            <a:extLst>
              <a:ext uri="{FF2B5EF4-FFF2-40B4-BE49-F238E27FC236}">
                <a16:creationId xmlns:a16="http://schemas.microsoft.com/office/drawing/2014/main" id="{D64A261F-F7E6-8E6C-9BE8-CFB566EBD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/>
              <a:t>예</a:t>
            </a:r>
            <a:r>
              <a:rPr lang="en-US" altLang="ko-KR" sz="2000"/>
              <a:t>: PositionListener</a:t>
            </a:r>
          </a:p>
          <a:p>
            <a:pPr lvl="1"/>
            <a:r>
              <a:rPr lang="en-US" altLang="ko-KR" sz="1800"/>
              <a:t>MouseListener</a:t>
            </a:r>
            <a:r>
              <a:rPr lang="ko-KR" altLang="en-US" sz="1800"/>
              <a:t>를 구현하여 작성한 리스너는 </a:t>
            </a:r>
            <a:r>
              <a:rPr lang="en-US" altLang="ko-KR" sz="1800"/>
              <a:t>mouseClicked()</a:t>
            </a:r>
            <a:r>
              <a:rPr lang="ko-KR" altLang="en-US" sz="1800"/>
              <a:t> 외에 사용되지 않는 </a:t>
            </a:r>
            <a:r>
              <a:rPr lang="en-US" altLang="ko-KR" sz="1800"/>
              <a:t>4</a:t>
            </a:r>
            <a:r>
              <a:rPr lang="ko-KR" altLang="en-US" sz="1800"/>
              <a:t>개의 메소드도 빈 메소드로 구현하고 있다</a:t>
            </a:r>
            <a:r>
              <a:rPr lang="en-US" altLang="ko-KR" sz="1800"/>
              <a:t>. </a:t>
            </a:r>
          </a:p>
          <a:p>
            <a:pPr lvl="1"/>
            <a:r>
              <a:rPr lang="en-US" altLang="ko-KR" sz="1800"/>
              <a:t>MouseAdapter</a:t>
            </a:r>
            <a:r>
              <a:rPr lang="ko-KR" altLang="en-US" sz="1800"/>
              <a:t> 클래스를 확장하여 구현</a:t>
            </a:r>
            <a:endParaRPr lang="en-US" altLang="ko-KR" sz="1800"/>
          </a:p>
          <a:p>
            <a:pPr lvl="4"/>
            <a:endParaRPr lang="ko-KR" altLang="en-US" sz="12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private class</a:t>
            </a:r>
            <a:r>
              <a:rPr lang="ko-KR" altLang="en-US" sz="1600">
                <a:latin typeface="Lucida Console" panose="020B0609040504020204" pitchFamily="49" charset="0"/>
              </a:rPr>
              <a:t> </a:t>
            </a:r>
            <a:r>
              <a:rPr lang="en-US" altLang="ko-KR" sz="1600">
                <a:latin typeface="Lucida Console" panose="020B0609040504020204" pitchFamily="49" charset="0"/>
              </a:rPr>
              <a:t>PositionListener extends</a:t>
            </a:r>
            <a:r>
              <a:rPr lang="ko-KR" altLang="en-US" sz="1600">
                <a:latin typeface="Lucida Console" panose="020B0609040504020204" pitchFamily="49" charset="0"/>
              </a:rPr>
              <a:t> </a:t>
            </a:r>
            <a:r>
              <a:rPr lang="en-US" altLang="ko-KR" sz="1600">
                <a:latin typeface="Lucida Console" panose="020B0609040504020204" pitchFamily="49" charset="0"/>
              </a:rPr>
              <a:t>MouseAdapter</a:t>
            </a:r>
            <a:endParaRPr lang="ko-KR" altLang="en-US" sz="1600">
              <a:latin typeface="Lucida Console" panose="020B06090405040202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{</a:t>
            </a:r>
            <a:endParaRPr lang="ko-KR" altLang="en-US" sz="1600">
              <a:latin typeface="Lucida Console" panose="020B06090405040202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  /**</a:t>
            </a:r>
            <a:endParaRPr lang="ko-KR" altLang="en-US" sz="1600">
              <a:latin typeface="Lucida Console" panose="020B06090405040202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ko-KR" altLang="en-US" sz="1600">
                <a:latin typeface="Lucida Console" panose="020B0609040504020204" pitchFamily="49" charset="0"/>
              </a:rPr>
              <a:t>   * 마우스 클릭으로 선택된 점을 저장하고 다시 그리도록 한다</a:t>
            </a:r>
            <a:r>
              <a:rPr lang="en-US" altLang="ko-KR" sz="1600">
                <a:latin typeface="Lucida Console" panose="020B0609040504020204" pitchFamily="49" charset="0"/>
              </a:rPr>
              <a:t>.</a:t>
            </a:r>
            <a:endParaRPr lang="ko-KR" altLang="en-US" sz="1600">
              <a:latin typeface="Lucida Console" panose="020B06090405040202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ko-KR" altLang="en-US" sz="1600">
                <a:latin typeface="Lucida Console" panose="020B0609040504020204" pitchFamily="49" charset="0"/>
              </a:rPr>
              <a:t>   *</a:t>
            </a:r>
            <a:r>
              <a:rPr lang="en-US" altLang="ko-KR" sz="1600">
                <a:latin typeface="Lucida Console" panose="020B0609040504020204" pitchFamily="49" charset="0"/>
              </a:rPr>
              <a:t>/</a:t>
            </a:r>
            <a:endParaRPr lang="ko-KR" altLang="en-US" sz="1600">
              <a:latin typeface="Lucida Console" panose="020B06090405040202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   </a:t>
            </a:r>
            <a:r>
              <a:rPr lang="en-US" altLang="ko-KR" sz="1600">
                <a:solidFill>
                  <a:srgbClr val="3333FF"/>
                </a:solidFill>
                <a:latin typeface="Lucida Console" panose="020B0609040504020204" pitchFamily="49" charset="0"/>
              </a:rPr>
              <a:t>public void</a:t>
            </a:r>
            <a:r>
              <a:rPr lang="ko-KR" altLang="en-US" sz="1600">
                <a:solidFill>
                  <a:srgbClr val="3333FF"/>
                </a:solidFill>
                <a:latin typeface="Lucida Console" panose="020B0609040504020204" pitchFamily="49" charset="0"/>
              </a:rPr>
              <a:t> </a:t>
            </a:r>
            <a:r>
              <a:rPr lang="en-US" altLang="ko-KR" sz="1600">
                <a:latin typeface="Lucida Console" panose="020B0609040504020204" pitchFamily="49" charset="0"/>
              </a:rPr>
              <a:t>mouseClicked (MouseEvent event)</a:t>
            </a:r>
            <a:endParaRPr lang="ko-KR" altLang="en-US" sz="1600">
              <a:latin typeface="Lucida Console" panose="020B06090405040202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   {</a:t>
            </a:r>
            <a:endParaRPr lang="ko-KR" altLang="en-US" sz="1600">
              <a:latin typeface="Lucida Console" panose="020B06090405040202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      current = event.getPoint();</a:t>
            </a:r>
            <a:endParaRPr lang="ko-KR" altLang="en-US" sz="1600">
              <a:latin typeface="Lucida Console" panose="020B06090405040202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      repaint();</a:t>
            </a:r>
            <a:endParaRPr lang="ko-KR" altLang="en-US" sz="1600">
              <a:latin typeface="Lucida Console" panose="020B06090405040202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   }</a:t>
            </a:r>
            <a:endParaRPr lang="ko-KR" altLang="en-US" sz="1600">
              <a:latin typeface="Lucida Console" panose="020B06090405040202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600">
                <a:latin typeface="Lucida Console" panose="020B0609040504020204" pitchFamily="49" charset="0"/>
              </a:rPr>
              <a:t>}</a:t>
            </a:r>
            <a:endParaRPr lang="ko-KR" altLang="en-US" sz="1600">
              <a:latin typeface="Lucida Console" panose="020B0609040504020204" pitchFamily="49" charset="0"/>
            </a:endParaRPr>
          </a:p>
          <a:p>
            <a:endParaRPr lang="ko-KR" altLang="en-US" sz="2000">
              <a:latin typeface="Lucida Console" panose="020B0609040504020204" pitchFamily="49" charset="0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12C06B-21A6-C48B-1929-94C0EFE8D93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B285C16-82E9-DDD0-903B-E1B647640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A2344EE3-C275-4F94-855C-1B067F5C459E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50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제목 1">
            <a:extLst>
              <a:ext uri="{FF2B5EF4-FFF2-40B4-BE49-F238E27FC236}">
                <a16:creationId xmlns:a16="http://schemas.microsoft.com/office/drawing/2014/main" id="{F105124F-45BB-0579-BF80-170EC2335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Timer</a:t>
            </a:r>
            <a:endParaRPr lang="ko-KR" altLang="en-US"/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2375E537-8EE5-1309-C7DD-079D8D1152D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4213" y="1628775"/>
          <a:ext cx="7848600" cy="4910138"/>
        </p:xfrm>
        <a:graphic>
          <a:graphicData uri="http://schemas.openxmlformats.org/drawingml/2006/table">
            <a:tbl>
              <a:tblPr/>
              <a:tblGrid>
                <a:gridCol w="355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3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42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dirty="0" err="1">
                          <a:solidFill>
                            <a:srgbClr val="000000"/>
                          </a:solidFill>
                          <a:latin typeface="굴림체"/>
                        </a:rPr>
                        <a:t>생성자</a:t>
                      </a:r>
                      <a:r>
                        <a:rPr lang="ko-KR" altLang="en-US" sz="1600" b="1" dirty="0">
                          <a:solidFill>
                            <a:srgbClr val="000000"/>
                          </a:solidFill>
                          <a:latin typeface="굴림체"/>
                        </a:rPr>
                        <a:t> 및 </a:t>
                      </a:r>
                      <a:r>
                        <a:rPr lang="ko-KR" altLang="en-US" sz="1600" b="1" dirty="0" err="1">
                          <a:solidFill>
                            <a:srgbClr val="000000"/>
                          </a:solidFill>
                          <a:latin typeface="굴림체"/>
                        </a:rPr>
                        <a:t>메소드</a:t>
                      </a:r>
                      <a:r>
                        <a:rPr lang="ko-KR" altLang="en-US" sz="1600" b="1" dirty="0">
                          <a:solidFill>
                            <a:srgbClr val="000000"/>
                          </a:solidFill>
                          <a:latin typeface="굴림체"/>
                        </a:rPr>
                        <a:t> </a:t>
                      </a:r>
                      <a:endParaRPr lang="ko-KR" altLang="en-US" sz="1600" dirty="0">
                        <a:solidFill>
                          <a:srgbClr val="000000"/>
                        </a:solidFill>
                        <a:latin typeface="한컴바탕"/>
                      </a:endParaRPr>
                    </a:p>
                  </a:txBody>
                  <a:tcPr marL="72007" marR="72007" marT="72017" marB="7201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dirty="0">
                          <a:solidFill>
                            <a:srgbClr val="000000"/>
                          </a:solidFill>
                          <a:latin typeface="굴림체"/>
                        </a:rPr>
                        <a:t>설명</a:t>
                      </a:r>
                      <a:endParaRPr lang="ko-KR" altLang="en-US" sz="1600" dirty="0">
                        <a:solidFill>
                          <a:srgbClr val="000000"/>
                        </a:solidFill>
                        <a:latin typeface="한컴바탕"/>
                      </a:endParaRPr>
                    </a:p>
                  </a:txBody>
                  <a:tcPr marL="72007" marR="72007" marT="72017" marB="7201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4414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Timer (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int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delay, </a:t>
                      </a:r>
                    </a:p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ActionListener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listener)</a:t>
                      </a:r>
                      <a:endParaRPr lang="en-US" sz="16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72007" marR="72007" marT="72017" marB="7201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delay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에 의해 지정된 일정한 간격으로 액션 이벤트를 발생시키는 타이머를 생성한다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72007" marR="72007" marT="72017" marB="7201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4414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latin typeface="Lucida Console" pitchFamily="49" charset="0"/>
                          <a:ea typeface="굴림체"/>
                        </a:rPr>
                        <a:t>void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addActionListener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</a:t>
                      </a:r>
                    </a:p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(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ActionListener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listener)</a:t>
                      </a:r>
                      <a:endParaRPr lang="en-US" sz="16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72007" marR="72007" marT="72017" marB="7201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이 타이머에 액션 </a:t>
                      </a:r>
                      <a:r>
                        <a:rPr lang="ko-KR" altLang="en-US" sz="160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리스너를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더한다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72007" marR="72007" marT="72017" marB="7201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224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0000FF"/>
                          </a:solidFill>
                          <a:latin typeface="Lucida Console" pitchFamily="49" charset="0"/>
                          <a:ea typeface="굴림체"/>
                        </a:rPr>
                        <a:t>boolean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isRunning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()</a:t>
                      </a:r>
                      <a:endParaRPr lang="en-US" sz="16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72007" marR="72007" marT="72017" marB="7201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만약 타이머가 </a:t>
                      </a:r>
                      <a:r>
                        <a:rPr lang="ko-KR" altLang="en-US" sz="160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실행중이면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true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를 반환한다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72007" marR="72007" marT="72017" marB="7201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224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latin typeface="Lucida Console" pitchFamily="49" charset="0"/>
                          <a:ea typeface="굴림체"/>
                        </a:rPr>
                        <a:t>void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setDelay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(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int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delay)</a:t>
                      </a:r>
                      <a:endParaRPr lang="en-US" sz="16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72007" marR="72007" marT="72017" marB="7201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타이머의 간격을 설정한다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72007" marR="72007" marT="72017" marB="7201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4414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latin typeface="Lucida Console" pitchFamily="49" charset="0"/>
                          <a:ea typeface="굴림체"/>
                        </a:rPr>
                        <a:t>void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start()</a:t>
                      </a:r>
                      <a:endParaRPr lang="en-US" sz="16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72007" marR="72007" marT="72017" marB="7201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타이머를 시작시켜 정해진 간격에 따라 액션 이벤트를 발생시키도록 한다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72007" marR="72007" marT="72017" marB="7201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224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latin typeface="Lucida Console" pitchFamily="49" charset="0"/>
                          <a:ea typeface="굴림체"/>
                        </a:rPr>
                        <a:t>void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stop()</a:t>
                      </a:r>
                      <a:endParaRPr lang="en-US" sz="16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72007" marR="72007" marT="72017" marB="7201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타이머를 정지시킨다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72007" marR="72007" marT="72017" marB="7201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1BE4E2-8819-7AE8-A693-29E8F9BB16D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302E96-7183-FDD2-93F7-D11AEC75F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644FD932-1CE6-4ED1-808E-E2AE0F465E38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51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sp>
        <p:nvSpPr>
          <p:cNvPr id="54303" name="Rectangle 1">
            <a:extLst>
              <a:ext uri="{FF2B5EF4-FFF2-40B4-BE49-F238E27FC236}">
                <a16:creationId xmlns:a16="http://schemas.microsoft.com/office/drawing/2014/main" id="{6F6CCF13-01E8-7B27-1001-1510FF18D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제목 1">
            <a:extLst>
              <a:ext uri="{FF2B5EF4-FFF2-40B4-BE49-F238E27FC236}">
                <a16:creationId xmlns:a16="http://schemas.microsoft.com/office/drawing/2014/main" id="{97091EE5-C179-9126-66EC-EDAFC455A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디지털 시계</a:t>
            </a:r>
          </a:p>
        </p:txBody>
      </p:sp>
      <p:sp>
        <p:nvSpPr>
          <p:cNvPr id="55299" name="내용 개체 틀 2">
            <a:extLst>
              <a:ext uri="{FF2B5EF4-FFF2-40B4-BE49-F238E27FC236}">
                <a16:creationId xmlns:a16="http://schemas.microsoft.com/office/drawing/2014/main" id="{BCB9FB5F-4A59-8485-5729-E2B58CC61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/>
              <a:t>타이머 생성</a:t>
            </a:r>
            <a:endParaRPr lang="en-US" altLang="ko-KR" sz="2000"/>
          </a:p>
          <a:p>
            <a:pPr lvl="1"/>
            <a:r>
              <a:rPr lang="en-US" altLang="ko-KR" sz="1800"/>
              <a:t>1000 </a:t>
            </a:r>
            <a:r>
              <a:rPr lang="ko-KR" altLang="en-US" sz="1800"/>
              <a:t>밀리초</a:t>
            </a:r>
            <a:r>
              <a:rPr lang="en-US" altLang="ko-KR" sz="1800"/>
              <a:t>(milisecond) </a:t>
            </a:r>
            <a:r>
              <a:rPr lang="ko-KR" altLang="en-US" sz="1800"/>
              <a:t>즉 </a:t>
            </a:r>
            <a:r>
              <a:rPr lang="en-US" altLang="ko-KR" sz="1800"/>
              <a:t>1</a:t>
            </a:r>
            <a:r>
              <a:rPr lang="ko-KR" altLang="en-US" sz="1800"/>
              <a:t>초 간격으로 액션 이벤트를 발생시키는 타이머를 생성</a:t>
            </a:r>
            <a:endParaRPr lang="en-US" altLang="ko-KR" sz="1800"/>
          </a:p>
          <a:p>
            <a:pPr lvl="1"/>
            <a:r>
              <a:rPr lang="en-US" altLang="ko-KR" sz="1800"/>
              <a:t> </a:t>
            </a:r>
            <a:r>
              <a:rPr lang="ko-KR" altLang="en-US" sz="1800"/>
              <a:t>이 타이머는 액션 이벤트가 발생될 때마다 이벤트 리스너인 </a:t>
            </a:r>
            <a:r>
              <a:rPr lang="en-US" altLang="ko-KR" sz="1800"/>
              <a:t>ClockListener</a:t>
            </a:r>
            <a:r>
              <a:rPr lang="ko-KR" altLang="en-US" sz="1800"/>
              <a:t>가 자동으로 수행되도록 하였다</a:t>
            </a:r>
            <a:r>
              <a:rPr lang="en-US" altLang="ko-KR" sz="1800"/>
              <a:t>. </a:t>
            </a:r>
            <a:r>
              <a:rPr lang="ko-KR" altLang="en-US" sz="1800"/>
              <a:t> </a:t>
            </a:r>
            <a:endParaRPr lang="en-US" altLang="ko-KR" sz="1800"/>
          </a:p>
          <a:p>
            <a:pPr lvl="4"/>
            <a:endParaRPr lang="en-US" altLang="ko-KR" sz="12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800">
                <a:latin typeface="Lucida Console" panose="020B0609040504020204" pitchFamily="49" charset="0"/>
              </a:rPr>
              <a:t>  Timer t = new</a:t>
            </a:r>
            <a:r>
              <a:rPr lang="ko-KR" altLang="en-US" sz="1800">
                <a:latin typeface="Lucida Console" panose="020B0609040504020204" pitchFamily="49" charset="0"/>
              </a:rPr>
              <a:t> </a:t>
            </a:r>
            <a:r>
              <a:rPr lang="en-US" altLang="ko-KR" sz="1800">
                <a:latin typeface="Lucida Console" panose="020B0609040504020204" pitchFamily="49" charset="0"/>
              </a:rPr>
              <a:t>Timer(1000, new</a:t>
            </a:r>
            <a:r>
              <a:rPr lang="ko-KR" altLang="en-US" sz="1800">
                <a:latin typeface="Lucida Console" panose="020B0609040504020204" pitchFamily="49" charset="0"/>
              </a:rPr>
              <a:t> </a:t>
            </a:r>
            <a:r>
              <a:rPr lang="en-US" altLang="ko-KR" sz="1800">
                <a:latin typeface="Lucida Console" panose="020B0609040504020204" pitchFamily="49" charset="0"/>
              </a:rPr>
              <a:t>ClockListener());</a:t>
            </a:r>
            <a:endParaRPr lang="ko-KR" altLang="en-US" sz="1800">
              <a:latin typeface="Lucida Console" panose="020B06090405040202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800">
                <a:latin typeface="Lucida Console" panose="020B0609040504020204" pitchFamily="49" charset="0"/>
              </a:rPr>
              <a:t>  t.start();</a:t>
            </a:r>
          </a:p>
          <a:p>
            <a:pPr lvl="4"/>
            <a:endParaRPr lang="ko-KR" altLang="en-US" sz="1200">
              <a:latin typeface="Lucida Console" panose="020B0609040504020204" pitchFamily="49" charset="0"/>
            </a:endParaRPr>
          </a:p>
          <a:p>
            <a:r>
              <a:rPr lang="en-US" altLang="ko-KR" sz="2000"/>
              <a:t>ClockListener</a:t>
            </a:r>
          </a:p>
          <a:p>
            <a:pPr lvl="1"/>
            <a:r>
              <a:rPr lang="ko-KR" altLang="en-US" sz="1800"/>
              <a:t>타이머로부터 액션 이벤트가 발생되어 수행될 때마다 </a:t>
            </a:r>
            <a:r>
              <a:rPr lang="en-US" altLang="ko-KR" sz="1800"/>
              <a:t>Calendar</a:t>
            </a:r>
            <a:r>
              <a:rPr lang="ko-KR" altLang="en-US" sz="1800"/>
              <a:t>로부터 새로운 시간을 가져와서 이를 텍스트 필드에 보여준다</a:t>
            </a:r>
            <a:r>
              <a:rPr lang="en-US" altLang="ko-KR" sz="1800"/>
              <a:t>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	</a:t>
            </a:r>
            <a:r>
              <a:rPr lang="en-US" altLang="ko-KR" sz="1800">
                <a:latin typeface="Lucida Console" panose="020B0609040504020204" pitchFamily="49" charset="0"/>
              </a:rPr>
              <a:t>Calendar time = Calendar.getInstance();</a:t>
            </a:r>
            <a:endParaRPr lang="ko-KR" altLang="en-US" sz="1800">
              <a:latin typeface="Lucida Console" panose="020B06090405040202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>
                <a:latin typeface="Lucida Console" panose="020B0609040504020204" pitchFamily="49" charset="0"/>
              </a:rPr>
              <a:t>	timeField.setText("" + (hour &lt; 10 ? "0"+hour : hour) +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>
                <a:latin typeface="Lucida Console" panose="020B0609040504020204" pitchFamily="49" charset="0"/>
              </a:rPr>
              <a:t>                   ":" + (min &lt; 10 ? "0"+min : min) +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>
                <a:latin typeface="Lucida Console" panose="020B0609040504020204" pitchFamily="49" charset="0"/>
              </a:rPr>
              <a:t>                   ":" + (sec &lt; 10 ? "0"+sec : sec));</a:t>
            </a:r>
            <a:endParaRPr lang="ko-KR" altLang="en-US" sz="1800">
              <a:latin typeface="Lucida Console" panose="020B0609040504020204" pitchFamily="49" charset="0"/>
            </a:endParaRPr>
          </a:p>
          <a:p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0C4768-6F52-E8DC-CF61-9B95823FF37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B6F035F-5AB1-F59D-EC37-B6206756E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56504BE9-CE2B-47BB-8156-BC50D4CDEFE7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52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제목 1">
            <a:extLst>
              <a:ext uri="{FF2B5EF4-FFF2-40B4-BE49-F238E27FC236}">
                <a16:creationId xmlns:a16="http://schemas.microsoft.com/office/drawing/2014/main" id="{2BD5B647-A25D-3322-6685-67D0DB17B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6323" name="내용 개체 틀 2">
            <a:extLst>
              <a:ext uri="{FF2B5EF4-FFF2-40B4-BE49-F238E27FC236}">
                <a16:creationId xmlns:a16="http://schemas.microsoft.com/office/drawing/2014/main" id="{F97CF135-B497-E08F-AE3C-B03D1EF69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8B437A-16FF-0BE4-445F-129995D8B79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BF62E52-3A64-CB96-8835-10F9EC9E9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DADC80F2-6D3A-4B27-9243-3E4AC4C03E06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53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pic>
        <p:nvPicPr>
          <p:cNvPr id="56326" name="Picture 2">
            <a:extLst>
              <a:ext uri="{FF2B5EF4-FFF2-40B4-BE49-F238E27FC236}">
                <a16:creationId xmlns:a16="http://schemas.microsoft.com/office/drawing/2014/main" id="{D276B0A8-CE13-FDEF-CA46-174E93B6E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333375"/>
            <a:ext cx="6665913" cy="575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제목 1">
            <a:extLst>
              <a:ext uri="{FF2B5EF4-FFF2-40B4-BE49-F238E27FC236}">
                <a16:creationId xmlns:a16="http://schemas.microsoft.com/office/drawing/2014/main" id="{775E39B6-E519-AB7F-9765-152C56E83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7347" name="내용 개체 틀 2">
            <a:extLst>
              <a:ext uri="{FF2B5EF4-FFF2-40B4-BE49-F238E27FC236}">
                <a16:creationId xmlns:a16="http://schemas.microsoft.com/office/drawing/2014/main" id="{5424A362-C046-C2A0-8558-20668995D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B05429-3FB5-D8E4-89E3-316729A004B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A6744C-9249-DBAC-C8AD-24373FEDF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19EE24AA-F434-43B5-90A2-2E633711B581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54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pic>
        <p:nvPicPr>
          <p:cNvPr id="57350" name="Picture 3">
            <a:extLst>
              <a:ext uri="{FF2B5EF4-FFF2-40B4-BE49-F238E27FC236}">
                <a16:creationId xmlns:a16="http://schemas.microsoft.com/office/drawing/2014/main" id="{9CFC9944-97BF-BC45-87FF-82A85A1C9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1700213"/>
            <a:ext cx="6511925" cy="41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제목 1">
            <a:extLst>
              <a:ext uri="{FF2B5EF4-FFF2-40B4-BE49-F238E27FC236}">
                <a16:creationId xmlns:a16="http://schemas.microsoft.com/office/drawing/2014/main" id="{6A3C7A9F-F0D3-548E-39DD-2E8B38933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8371" name="내용 개체 틀 2">
            <a:extLst>
              <a:ext uri="{FF2B5EF4-FFF2-40B4-BE49-F238E27FC236}">
                <a16:creationId xmlns:a16="http://schemas.microsoft.com/office/drawing/2014/main" id="{1B09734E-395A-A802-ED7F-80BC3133E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613BCA-FD1E-0389-7F60-3C8F78D2EED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3735A43-BF6E-243E-65AE-69E2672F4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489B496F-1FC5-43D5-8D2F-6AE7C2DA16C0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55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pic>
        <p:nvPicPr>
          <p:cNvPr id="58374" name="Picture 3">
            <a:extLst>
              <a:ext uri="{FF2B5EF4-FFF2-40B4-BE49-F238E27FC236}">
                <a16:creationId xmlns:a16="http://schemas.microsoft.com/office/drawing/2014/main" id="{A0375F04-D29E-13B3-B916-20B3B8986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844675"/>
            <a:ext cx="6446837" cy="309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5" name="Picture 4">
            <a:extLst>
              <a:ext uri="{FF2B5EF4-FFF2-40B4-BE49-F238E27FC236}">
                <a16:creationId xmlns:a16="http://schemas.microsoft.com/office/drawing/2014/main" id="{C23746D9-4304-1B09-3A50-278DBC1CE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4868863"/>
            <a:ext cx="19446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제목 1">
            <a:extLst>
              <a:ext uri="{FF2B5EF4-FFF2-40B4-BE49-F238E27FC236}">
                <a16:creationId xmlns:a16="http://schemas.microsoft.com/office/drawing/2014/main" id="{067C476D-4E52-2C13-1622-AA379AFEF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신호등 애니메이션</a:t>
            </a:r>
          </a:p>
        </p:txBody>
      </p:sp>
      <p:sp>
        <p:nvSpPr>
          <p:cNvPr id="59395" name="내용 개체 틀 2">
            <a:extLst>
              <a:ext uri="{FF2B5EF4-FFF2-40B4-BE49-F238E27FC236}">
                <a16:creationId xmlns:a16="http://schemas.microsoft.com/office/drawing/2014/main" id="{E2607B31-56B5-5755-873C-AA383CF7F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484313"/>
            <a:ext cx="8229600" cy="4530725"/>
          </a:xfrm>
        </p:spPr>
        <p:txBody>
          <a:bodyPr/>
          <a:lstStyle/>
          <a:p>
            <a:r>
              <a:rPr lang="ko-KR" altLang="en-US" sz="2000"/>
              <a:t>애니메이션 효과</a:t>
            </a:r>
            <a:endParaRPr lang="en-US" altLang="ko-KR" sz="2000"/>
          </a:p>
          <a:p>
            <a:pPr lvl="1"/>
            <a:r>
              <a:rPr lang="ko-KR" altLang="en-US" sz="1800"/>
              <a:t>타이머를 이용하여 일정 시간 간격으로 액션 이벤트를 발생시키고 그때마다 </a:t>
            </a:r>
            <a:r>
              <a:rPr lang="en-US" altLang="ko-KR" sz="1800"/>
              <a:t>paintComponent</a:t>
            </a:r>
            <a:r>
              <a:rPr lang="ko-KR" altLang="en-US" sz="1800"/>
              <a:t> 메소드를 재호출한다</a:t>
            </a:r>
            <a:r>
              <a:rPr lang="en-US" altLang="ko-KR" sz="1800"/>
              <a:t>. </a:t>
            </a:r>
          </a:p>
          <a:p>
            <a:pPr lvl="1"/>
            <a:r>
              <a:rPr lang="ko-KR" altLang="en-US" sz="1800"/>
              <a:t>이를 위해 타이머의 이벤트 리스너 내에서 </a:t>
            </a:r>
            <a:r>
              <a:rPr lang="en-US" altLang="ko-KR" sz="1800"/>
              <a:t>repaint()</a:t>
            </a:r>
            <a:r>
              <a:rPr lang="ko-KR" altLang="en-US" sz="1800"/>
              <a:t>를 호출하면 된다</a:t>
            </a:r>
            <a:r>
              <a:rPr lang="en-US" altLang="ko-KR" sz="1800"/>
              <a:t>. </a:t>
            </a:r>
          </a:p>
          <a:p>
            <a:pPr lvl="4"/>
            <a:endParaRPr lang="ko-KR" altLang="en-US" sz="1200"/>
          </a:p>
          <a:p>
            <a:r>
              <a:rPr lang="ko-KR" altLang="en-US" sz="2000"/>
              <a:t>교통신호등 애니메이션 </a:t>
            </a:r>
            <a:endParaRPr lang="en-US" altLang="ko-KR" sz="2000"/>
          </a:p>
          <a:p>
            <a:pPr lvl="1"/>
            <a:r>
              <a:rPr lang="en-US" altLang="ko-KR" sz="1800"/>
              <a:t>LightChangePanel:   </a:t>
            </a:r>
            <a:r>
              <a:rPr lang="ko-KR" altLang="en-US" sz="1800"/>
              <a:t>빨강</a:t>
            </a:r>
            <a:r>
              <a:rPr lang="en-US" altLang="ko-KR" sz="1800"/>
              <a:t>, </a:t>
            </a:r>
            <a:r>
              <a:rPr lang="ko-KR" altLang="en-US" sz="1800"/>
              <a:t>녹색</a:t>
            </a:r>
            <a:r>
              <a:rPr lang="en-US" altLang="ko-KR" sz="1800"/>
              <a:t>, </a:t>
            </a:r>
            <a:r>
              <a:rPr lang="ko-KR" altLang="en-US" sz="1800"/>
              <a:t>노랑색 점멸 여부 저장 위한 세 개의 부울 변수</a:t>
            </a:r>
            <a:endParaRPr lang="en-US" altLang="ko-KR" sz="1800"/>
          </a:p>
          <a:p>
            <a:pPr lvl="1"/>
            <a:r>
              <a:rPr lang="en-US" altLang="ko-KR" sz="1800"/>
              <a:t>paintComponent</a:t>
            </a:r>
            <a:r>
              <a:rPr lang="ko-KR" altLang="en-US" sz="1800"/>
              <a:t> 메소드</a:t>
            </a:r>
            <a:r>
              <a:rPr lang="en-US" altLang="ko-KR" sz="1800"/>
              <a:t>: </a:t>
            </a:r>
            <a:r>
              <a:rPr lang="ko-KR" altLang="en-US" sz="1800"/>
              <a:t> 이 변수의 값에 따라 해당 색의 신호등을 보여준다</a:t>
            </a:r>
            <a:r>
              <a:rPr lang="en-US" altLang="ko-KR" sz="1800"/>
              <a:t>. </a:t>
            </a:r>
          </a:p>
          <a:p>
            <a:pPr lvl="1"/>
            <a:r>
              <a:rPr lang="en-US" altLang="ko-KR" sz="1800"/>
              <a:t>ClockListener : </a:t>
            </a:r>
            <a:r>
              <a:rPr lang="ko-KR" altLang="en-US" sz="1800"/>
              <a:t>타이머를 위한 이벤트 리스너로 </a:t>
            </a:r>
            <a:r>
              <a:rPr lang="en-US" altLang="ko-KR" sz="1800"/>
              <a:t>actionPerformed</a:t>
            </a:r>
            <a:r>
              <a:rPr lang="ko-KR" altLang="en-US" sz="1800"/>
              <a:t> 메소드는 호출될 때마다 신호등 색을 변경하고 </a:t>
            </a:r>
            <a:r>
              <a:rPr lang="en-US" altLang="ko-KR" sz="1800"/>
              <a:t>repaint()</a:t>
            </a:r>
            <a:r>
              <a:rPr lang="ko-KR" altLang="en-US" sz="1800"/>
              <a:t>를 통해 </a:t>
            </a:r>
            <a:r>
              <a:rPr lang="en-US" altLang="ko-KR" sz="1800"/>
              <a:t>paintComponent</a:t>
            </a:r>
            <a:r>
              <a:rPr lang="ko-KR" altLang="en-US" sz="1800"/>
              <a:t> 메소드를 재호출</a:t>
            </a:r>
          </a:p>
          <a:p>
            <a:pPr>
              <a:buFont typeface="Wingdings" panose="05000000000000000000" pitchFamily="2" charset="2"/>
              <a:buNone/>
            </a:pPr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A97EE3-7D6D-7BF3-1B83-D2DF8CC7232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3406A6-E2B3-0AF1-7D2A-62ECCB837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56F00D5A-CA74-47FF-AFC3-08ADC66B8CB7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56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제목 1">
            <a:extLst>
              <a:ext uri="{FF2B5EF4-FFF2-40B4-BE49-F238E27FC236}">
                <a16:creationId xmlns:a16="http://schemas.microsoft.com/office/drawing/2014/main" id="{C086C8DB-252D-BDF4-3B54-0EDD98438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신호등 애니메이션</a:t>
            </a:r>
          </a:p>
        </p:txBody>
      </p:sp>
      <p:sp>
        <p:nvSpPr>
          <p:cNvPr id="60419" name="내용 개체 틀 2">
            <a:extLst>
              <a:ext uri="{FF2B5EF4-FFF2-40B4-BE49-F238E27FC236}">
                <a16:creationId xmlns:a16="http://schemas.microsoft.com/office/drawing/2014/main" id="{1A8B5004-E3F9-85C8-6502-6FCC69EEA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/>
              <a:t>프로그램의 실행 과정</a:t>
            </a:r>
            <a:endParaRPr lang="en-US" altLang="ko-KR" sz="2000"/>
          </a:p>
          <a:p>
            <a:pPr lvl="1"/>
            <a:r>
              <a:rPr lang="ko-KR" altLang="en-US" sz="1800"/>
              <a:t>패널이 생성되면 타이머가 시작 </a:t>
            </a:r>
            <a:r>
              <a:rPr lang="en-US" altLang="ko-KR" sz="1800">
                <a:sym typeface="Wingdings" panose="05000000000000000000" pitchFamily="2" charset="2"/>
              </a:rPr>
              <a:t> </a:t>
            </a:r>
            <a:r>
              <a:rPr lang="ko-KR" altLang="en-US" sz="1800"/>
              <a:t> </a:t>
            </a:r>
            <a:endParaRPr lang="en-US" altLang="ko-KR" sz="1800"/>
          </a:p>
          <a:p>
            <a:pPr lvl="1"/>
            <a:r>
              <a:rPr lang="ko-KR" altLang="en-US" sz="1800"/>
              <a:t>정해진 시간 간격으로 액션 이벤트 발생 </a:t>
            </a:r>
            <a:r>
              <a:rPr lang="en-US" altLang="ko-KR" sz="1800">
                <a:sym typeface="Wingdings" panose="05000000000000000000" pitchFamily="2" charset="2"/>
              </a:rPr>
              <a:t></a:t>
            </a:r>
            <a:r>
              <a:rPr lang="ko-KR" altLang="en-US" sz="1800">
                <a:sym typeface="Wingdings" panose="05000000000000000000" pitchFamily="2" charset="2"/>
              </a:rPr>
              <a:t> </a:t>
            </a:r>
            <a:endParaRPr lang="en-US" altLang="ko-KR" sz="1800">
              <a:sym typeface="Wingdings" panose="05000000000000000000" pitchFamily="2" charset="2"/>
            </a:endParaRPr>
          </a:p>
          <a:p>
            <a:pPr lvl="1"/>
            <a:r>
              <a:rPr lang="en-US" altLang="ko-KR" sz="1800"/>
              <a:t>ClockListener</a:t>
            </a:r>
            <a:r>
              <a:rPr lang="ko-KR" altLang="en-US" sz="1800"/>
              <a:t> 내의 </a:t>
            </a:r>
            <a:r>
              <a:rPr lang="en-US" altLang="ko-KR" sz="1800"/>
              <a:t>actionPerformed</a:t>
            </a:r>
            <a:r>
              <a:rPr lang="ko-KR" altLang="en-US" sz="1800"/>
              <a:t> 메소드 호출 </a:t>
            </a:r>
            <a:r>
              <a:rPr lang="en-US" altLang="ko-KR" sz="1800">
                <a:sym typeface="Wingdings" panose="05000000000000000000" pitchFamily="2" charset="2"/>
              </a:rPr>
              <a:t> </a:t>
            </a:r>
          </a:p>
          <a:p>
            <a:pPr lvl="1"/>
            <a:r>
              <a:rPr lang="en-US" altLang="ko-KR" sz="1800"/>
              <a:t>repaint()</a:t>
            </a:r>
            <a:r>
              <a:rPr lang="ko-KR" altLang="en-US" sz="1800"/>
              <a:t>를 통해 다른 색의 신호등을 보여준다</a:t>
            </a:r>
            <a:r>
              <a:rPr lang="en-US" altLang="ko-KR" sz="1600"/>
              <a:t>. </a:t>
            </a:r>
            <a:endParaRPr lang="ko-KR" altLang="en-US" sz="1600"/>
          </a:p>
          <a:p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ECB791-4782-3001-395B-4D5479562EB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2254DD-35A8-9980-FAC7-8914F5208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52E7304A-184E-4919-8CD7-80B88E8E841F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57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제목 1">
            <a:extLst>
              <a:ext uri="{FF2B5EF4-FFF2-40B4-BE49-F238E27FC236}">
                <a16:creationId xmlns:a16="http://schemas.microsoft.com/office/drawing/2014/main" id="{4F3B9305-FD6E-4771-1164-FE5874D26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1443" name="내용 개체 틀 2">
            <a:extLst>
              <a:ext uri="{FF2B5EF4-FFF2-40B4-BE49-F238E27FC236}">
                <a16:creationId xmlns:a16="http://schemas.microsoft.com/office/drawing/2014/main" id="{E6A62D90-8E52-BFD6-FCAF-6CB5A758C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EB5C33-2FDD-871F-63EB-984192141B6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77EB82-8019-D2B0-A472-3AA9263AE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E8396AF3-81C9-4F74-A3BE-6D329B2D2AFB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58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pic>
        <p:nvPicPr>
          <p:cNvPr id="61446" name="Picture 2">
            <a:extLst>
              <a:ext uri="{FF2B5EF4-FFF2-40B4-BE49-F238E27FC236}">
                <a16:creationId xmlns:a16="http://schemas.microsoft.com/office/drawing/2014/main" id="{2DAD2F6E-E6EB-AAAF-9076-C8095D652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333375"/>
            <a:ext cx="6853237" cy="554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>
            <a:extLst>
              <a:ext uri="{FF2B5EF4-FFF2-40B4-BE49-F238E27FC236}">
                <a16:creationId xmlns:a16="http://schemas.microsoft.com/office/drawing/2014/main" id="{BEB4EBE0-0DB8-1791-3D6E-22491F3EA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2467" name="내용 개체 틀 2">
            <a:extLst>
              <a:ext uri="{FF2B5EF4-FFF2-40B4-BE49-F238E27FC236}">
                <a16:creationId xmlns:a16="http://schemas.microsoft.com/office/drawing/2014/main" id="{E13CA262-51E4-9DAD-470F-D6315F2A7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D6FB79-F504-78B0-46EB-78AA664AF44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9A5083-81F7-BC79-3956-99B5990FA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309801FB-F005-41D5-8906-D684637D8B4C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59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pic>
        <p:nvPicPr>
          <p:cNvPr id="62470" name="Picture 2">
            <a:extLst>
              <a:ext uri="{FF2B5EF4-FFF2-40B4-BE49-F238E27FC236}">
                <a16:creationId xmlns:a16="http://schemas.microsoft.com/office/drawing/2014/main" id="{86E5037D-4C51-15D5-97DB-1048B5F84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1700213"/>
            <a:ext cx="6091237" cy="396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제목 1">
            <a:extLst>
              <a:ext uri="{FF2B5EF4-FFF2-40B4-BE49-F238E27FC236}">
                <a16:creationId xmlns:a16="http://schemas.microsoft.com/office/drawing/2014/main" id="{0D69BCFA-9637-E548-A393-1248A2D5C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3491" name="내용 개체 틀 2">
            <a:extLst>
              <a:ext uri="{FF2B5EF4-FFF2-40B4-BE49-F238E27FC236}">
                <a16:creationId xmlns:a16="http://schemas.microsoft.com/office/drawing/2014/main" id="{C419DB42-D2B7-8DFA-07E0-7F3E867AE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C47600-785E-3EF2-C8B8-8EDD3BE7620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FD0A939-FDD3-1BE6-0C3C-8190A5E36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FCCAEB74-98D3-4CA6-97D2-DDA5B1E938C2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60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pic>
        <p:nvPicPr>
          <p:cNvPr id="63494" name="Picture 2">
            <a:extLst>
              <a:ext uri="{FF2B5EF4-FFF2-40B4-BE49-F238E27FC236}">
                <a16:creationId xmlns:a16="http://schemas.microsoft.com/office/drawing/2014/main" id="{D430FA7C-E62D-E438-D37D-3FFBB9560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1628775"/>
            <a:ext cx="4935538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5" name="Picture 3">
            <a:extLst>
              <a:ext uri="{FF2B5EF4-FFF2-40B4-BE49-F238E27FC236}">
                <a16:creationId xmlns:a16="http://schemas.microsoft.com/office/drawing/2014/main" id="{CB2B2300-76CB-B9B8-235A-AB20CB1DF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675" y="5084763"/>
            <a:ext cx="4421188" cy="66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제목 1">
            <a:extLst>
              <a:ext uri="{FF2B5EF4-FFF2-40B4-BE49-F238E27FC236}">
                <a16:creationId xmlns:a16="http://schemas.microsoft.com/office/drawing/2014/main" id="{8FB5BB07-CF48-E9F9-072D-0EA14D7ED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4515" name="내용 개체 틀 2">
            <a:extLst>
              <a:ext uri="{FF2B5EF4-FFF2-40B4-BE49-F238E27FC236}">
                <a16:creationId xmlns:a16="http://schemas.microsoft.com/office/drawing/2014/main" id="{2E7F6374-C0F8-0534-BA47-DD411A88F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58496A-E7F1-BE92-1802-1E47E05C95D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E4309C-EE19-D84B-8DA5-FB8F9CD8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78416015-A67D-4082-8684-DC501BAFEE68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61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pic>
        <p:nvPicPr>
          <p:cNvPr id="64518" name="Picture 2">
            <a:extLst>
              <a:ext uri="{FF2B5EF4-FFF2-40B4-BE49-F238E27FC236}">
                <a16:creationId xmlns:a16="http://schemas.microsoft.com/office/drawing/2014/main" id="{D0176F3D-A725-E918-3B20-860B7DEA54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1557338"/>
            <a:ext cx="5903912" cy="477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4">
            <a:extLst>
              <a:ext uri="{FF2B5EF4-FFF2-40B4-BE49-F238E27FC236}">
                <a16:creationId xmlns:a16="http://schemas.microsoft.com/office/drawing/2014/main" id="{FB90C2D0-0590-6F63-C1DA-DC7A7D7DFE0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000">
                <a:latin typeface="Tahoma" panose="020B0604030504040204" pitchFamily="34" charset="0"/>
                <a:ea typeface="굴림" panose="020B0600000101010101" pitchFamily="50" charset="-127"/>
              </a:rPr>
              <a:t>© </a:t>
            </a:r>
            <a:r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t>창병모</a:t>
            </a:r>
            <a:r>
              <a:rPr kumimoji="0" lang="en-US" altLang="ko-KR" sz="1000">
                <a:latin typeface="Tahoma" panose="020B0604030504040204" pitchFamily="34" charset="0"/>
                <a:ea typeface="굴림" panose="020B0600000101010101" pitchFamily="50" charset="-127"/>
              </a:rPr>
              <a:t>,</a:t>
            </a:r>
            <a:r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t>우균</a:t>
            </a:r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5539" name="Rectangle 6">
            <a:extLst>
              <a:ext uri="{FF2B5EF4-FFF2-40B4-BE49-F238E27FC236}">
                <a16:creationId xmlns:a16="http://schemas.microsoft.com/office/drawing/2014/main" id="{C802152C-ACF6-FE51-D757-A8847536BC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6E111DA8-2DC4-4520-A92B-8B6B3DEE2515}" type="slidenum"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A42E92E6-3253-ED36-50E9-2FBBD5AC7B0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Key Point </a:t>
            </a:r>
            <a:endParaRPr lang="ko-KR" altLang="en-US"/>
          </a:p>
        </p:txBody>
      </p:sp>
      <p:sp>
        <p:nvSpPr>
          <p:cNvPr id="65541" name="Rectangle 4">
            <a:extLst>
              <a:ext uri="{FF2B5EF4-FFF2-40B4-BE49-F238E27FC236}">
                <a16:creationId xmlns:a16="http://schemas.microsoft.com/office/drawing/2014/main" id="{2C7D6A12-99E4-4161-CEBB-54972FE8A3A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E2B3D6-2183-AD38-ED16-0F71F6347DA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272152-B2D6-4C6D-7A95-CF601AA3F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38B21325-BCED-41B3-9858-3E541BE0F461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63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sp>
        <p:nvSpPr>
          <p:cNvPr id="66564" name="Rectangle 2">
            <a:extLst>
              <a:ext uri="{FF2B5EF4-FFF2-40B4-BE49-F238E27FC236}">
                <a16:creationId xmlns:a16="http://schemas.microsoft.com/office/drawing/2014/main" id="{2C1DDFDF-587A-8AC9-7372-F51F6697AC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solidFill>
                  <a:schemeClr val="tx1"/>
                </a:solidFill>
              </a:rPr>
              <a:t>Key Point </a:t>
            </a:r>
          </a:p>
        </p:txBody>
      </p:sp>
      <p:sp>
        <p:nvSpPr>
          <p:cNvPr id="66565" name="Rectangle 3">
            <a:extLst>
              <a:ext uri="{FF2B5EF4-FFF2-40B4-BE49-F238E27FC236}">
                <a16:creationId xmlns:a16="http://schemas.microsoft.com/office/drawing/2014/main" id="{C3AF7E56-D4E1-2699-AFFF-27F63DE15F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/>
              <a:t>흐름 배치</a:t>
            </a:r>
            <a:r>
              <a:rPr lang="en-US" altLang="ko-KR" sz="2000"/>
              <a:t>(flow layout)</a:t>
            </a:r>
            <a:r>
              <a:rPr lang="ko-KR" altLang="en-US" sz="2000"/>
              <a:t>는 컴포넌트들을 한 행에 배치하고 그 행이 다하면 다음 행에 배치한다</a:t>
            </a:r>
            <a:r>
              <a:rPr lang="en-US" altLang="ko-KR" sz="2000"/>
              <a:t>. </a:t>
            </a:r>
          </a:p>
          <a:p>
            <a:r>
              <a:rPr lang="ko-KR" altLang="en-US" sz="2000"/>
              <a:t>영역 배치</a:t>
            </a:r>
            <a:r>
              <a:rPr lang="en-US" altLang="ko-KR" sz="2000"/>
              <a:t>(border layout)</a:t>
            </a:r>
            <a:r>
              <a:rPr lang="ko-KR" altLang="en-US" sz="2000"/>
              <a:t>는 컴포넌트들을 필요에 따라 컨테이너 내의 </a:t>
            </a:r>
            <a:r>
              <a:rPr lang="en-US" altLang="ko-KR" sz="2000"/>
              <a:t>5</a:t>
            </a:r>
            <a:r>
              <a:rPr lang="ko-KR" altLang="en-US" sz="2000"/>
              <a:t>개의 영역</a:t>
            </a:r>
            <a:r>
              <a:rPr lang="en-US" altLang="ko-KR" sz="2000"/>
              <a:t>(</a:t>
            </a:r>
            <a:r>
              <a:rPr lang="ko-KR" altLang="en-US" sz="2000"/>
              <a:t>동</a:t>
            </a:r>
            <a:r>
              <a:rPr lang="en-US" altLang="ko-KR" sz="2000"/>
              <a:t>,</a:t>
            </a:r>
            <a:r>
              <a:rPr lang="ko-KR" altLang="en-US" sz="2000"/>
              <a:t>서</a:t>
            </a:r>
            <a:r>
              <a:rPr lang="en-US" altLang="ko-KR" sz="2000"/>
              <a:t>,</a:t>
            </a:r>
            <a:r>
              <a:rPr lang="ko-KR" altLang="en-US" sz="2000"/>
              <a:t>남</a:t>
            </a:r>
            <a:r>
              <a:rPr lang="en-US" altLang="ko-KR" sz="2000"/>
              <a:t>,</a:t>
            </a:r>
            <a:r>
              <a:rPr lang="ko-KR" altLang="en-US" sz="2000"/>
              <a:t>북</a:t>
            </a:r>
            <a:r>
              <a:rPr lang="en-US" altLang="ko-KR" sz="2000"/>
              <a:t>,</a:t>
            </a:r>
            <a:r>
              <a:rPr lang="ko-KR" altLang="en-US" sz="2000"/>
              <a:t>중앙</a:t>
            </a:r>
            <a:r>
              <a:rPr lang="en-US" altLang="ko-KR" sz="2000"/>
              <a:t>)</a:t>
            </a:r>
            <a:r>
              <a:rPr lang="ko-KR" altLang="en-US" sz="2000"/>
              <a:t>에 지정하여 배치할 수 있다</a:t>
            </a:r>
            <a:r>
              <a:rPr lang="en-US" altLang="ko-KR" sz="2000"/>
              <a:t>. </a:t>
            </a:r>
          </a:p>
          <a:p>
            <a:r>
              <a:rPr lang="ko-KR" altLang="en-US" sz="2000"/>
              <a:t>격자 배치</a:t>
            </a:r>
            <a:r>
              <a:rPr lang="en-US" altLang="ko-KR" sz="2000"/>
              <a:t>(grid layout)</a:t>
            </a:r>
            <a:r>
              <a:rPr lang="ko-KR" altLang="en-US" sz="2000"/>
              <a:t>는 컨테이너의 컴포넌트들을 행과 열의 직사각형 격자에 배치한다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상자 배치</a:t>
            </a:r>
            <a:r>
              <a:rPr lang="en-US" altLang="ko-KR" sz="2000"/>
              <a:t>(box layout)</a:t>
            </a:r>
            <a:r>
              <a:rPr lang="ko-KR" altLang="en-US" sz="2000"/>
              <a:t>는 컨테이너의 컴포넌트들을 하나의 행 또는 하나의 열에 수평 또는 수직으로 배치한다</a:t>
            </a:r>
            <a:r>
              <a:rPr lang="en-US" altLang="ko-KR" sz="2000"/>
              <a:t>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4">
            <a:extLst>
              <a:ext uri="{FF2B5EF4-FFF2-40B4-BE49-F238E27FC236}">
                <a16:creationId xmlns:a16="http://schemas.microsoft.com/office/drawing/2014/main" id="{A76EEA30-CA4B-5FD0-4130-D8928EFF4D1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000">
                <a:latin typeface="Tahoma" panose="020B0604030504040204" pitchFamily="34" charset="0"/>
                <a:ea typeface="굴림" panose="020B0600000101010101" pitchFamily="50" charset="-127"/>
              </a:rPr>
              <a:t>© </a:t>
            </a:r>
            <a:r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t>창병모</a:t>
            </a:r>
            <a:r>
              <a:rPr kumimoji="0" lang="en-US" altLang="ko-KR" sz="1000">
                <a:latin typeface="Tahoma" panose="020B0604030504040204" pitchFamily="34" charset="0"/>
                <a:ea typeface="굴림" panose="020B0600000101010101" pitchFamily="50" charset="-127"/>
              </a:rPr>
              <a:t>,</a:t>
            </a:r>
            <a:r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t>우균</a:t>
            </a:r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7587" name="Rectangle 6">
            <a:extLst>
              <a:ext uri="{FF2B5EF4-FFF2-40B4-BE49-F238E27FC236}">
                <a16:creationId xmlns:a16="http://schemas.microsoft.com/office/drawing/2014/main" id="{18FD3ECD-82E8-571A-8E38-905C71856A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8325B0F4-4F8F-469E-89A9-C0D2793DA1BA}" type="slidenum"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B34DD2C1-58A3-A15B-DDA5-CE43A3330F4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프로그래밍 실습</a:t>
            </a:r>
          </a:p>
        </p:txBody>
      </p:sp>
      <p:sp>
        <p:nvSpPr>
          <p:cNvPr id="67589" name="Rectangle 4">
            <a:extLst>
              <a:ext uri="{FF2B5EF4-FFF2-40B4-BE49-F238E27FC236}">
                <a16:creationId xmlns:a16="http://schemas.microsoft.com/office/drawing/2014/main" id="{902491DF-E5EB-4237-C6E5-3317AB7020C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A34FC0-BD59-F95E-47AC-1BED9014781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962143-12A9-5FC3-25DE-ABA0D7940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9C870403-BAA1-49A5-A4BA-19E95D8A78B6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65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7CF1E2F0-7703-7D9F-C877-297C68A5FA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solidFill>
                  <a:schemeClr val="tx1"/>
                </a:solidFill>
              </a:rPr>
              <a:t>▶ 프로그래밍 실습 </a:t>
            </a:r>
            <a:r>
              <a:rPr lang="en-US" altLang="ko-KR">
                <a:solidFill>
                  <a:schemeClr val="tx1"/>
                </a:solidFill>
              </a:rPr>
              <a:t>1 </a:t>
            </a:r>
          </a:p>
        </p:txBody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id="{0ABF06DF-967B-E352-249B-A5B62D3EBB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ko-KR" altLang="en-US" sz="900" b="1"/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1.</a:t>
            </a:r>
            <a:r>
              <a:rPr lang="ko-KR" altLang="en-US" sz="2000" b="1"/>
              <a:t>체질량지수 </a:t>
            </a:r>
            <a:r>
              <a:rPr lang="en-US" altLang="ko-KR" sz="2000" b="1"/>
              <a:t>GUI</a:t>
            </a:r>
            <a:endParaRPr lang="ko-KR" altLang="en-US" sz="2000"/>
          </a:p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    체질량지수</a:t>
            </a:r>
            <a:r>
              <a:rPr lang="en-US" altLang="ko-KR" sz="2000"/>
              <a:t>(BMI: body mass index)</a:t>
            </a:r>
            <a:r>
              <a:rPr lang="ko-KR" altLang="en-US" sz="2000"/>
              <a:t>를 계산하여 이에 따라 비만 여부를 판별하는 </a:t>
            </a:r>
            <a:r>
              <a:rPr lang="en-US" altLang="ko-KR" sz="2000"/>
              <a:t>GUI </a:t>
            </a:r>
            <a:r>
              <a:rPr lang="ko-KR" altLang="en-US" sz="2000"/>
              <a:t>프로그램을 작성하라</a:t>
            </a:r>
            <a:r>
              <a:rPr lang="en-US" altLang="ko-KR" sz="2000"/>
              <a:t>. </a:t>
            </a:r>
            <a:r>
              <a:rPr lang="ko-KR" altLang="en-US" sz="2000"/>
              <a:t>체질량 지수는 다음 공식에 의해 계산한다</a:t>
            </a:r>
            <a:r>
              <a:rPr lang="en-US" altLang="ko-KR" sz="2000"/>
              <a:t>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    BMI(</a:t>
            </a:r>
            <a:r>
              <a:rPr lang="ko-KR" altLang="en-US" sz="2000"/>
              <a:t>몸무게</a:t>
            </a:r>
            <a:r>
              <a:rPr lang="en-US" altLang="ko-KR" sz="2000"/>
              <a:t>, </a:t>
            </a:r>
            <a:r>
              <a:rPr lang="ko-KR" altLang="en-US" sz="2000"/>
              <a:t>키</a:t>
            </a:r>
            <a:r>
              <a:rPr lang="en-US" altLang="ko-KR" sz="2000"/>
              <a:t>) = </a:t>
            </a:r>
            <a:r>
              <a:rPr lang="ko-KR" altLang="en-US" sz="2000"/>
              <a:t>몸무게 </a:t>
            </a:r>
            <a:r>
              <a:rPr lang="en-US" altLang="ko-KR" sz="2000"/>
              <a:t>/ </a:t>
            </a:r>
            <a:r>
              <a:rPr lang="ko-KR" altLang="en-US" sz="2000"/>
              <a:t>키</a:t>
            </a:r>
            <a:r>
              <a:rPr lang="en-US" altLang="ko-KR" sz="1800" baseline="30000"/>
              <a:t>2</a:t>
            </a:r>
            <a:endParaRPr lang="ko-KR" altLang="en-US" sz="2000" baseline="30000"/>
          </a:p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    위 공식에 의해 계산된 </a:t>
            </a:r>
            <a:r>
              <a:rPr lang="en-US" altLang="ko-KR" sz="2000"/>
              <a:t>BMI</a:t>
            </a:r>
            <a:r>
              <a:rPr lang="ko-KR" altLang="en-US" sz="2000"/>
              <a:t>에 따라 비만 여부를 판정한다</a:t>
            </a:r>
            <a:r>
              <a:rPr lang="en-US" altLang="ko-KR" sz="2000"/>
              <a:t>.</a:t>
            </a:r>
            <a:endParaRPr lang="ko-KR" altLang="en-US" sz="20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br>
              <a:rPr lang="ko-KR" altLang="en-US" sz="2000"/>
            </a:br>
            <a:endParaRPr lang="ko-KR" altLang="en-US" sz="2000" b="1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A87E1A2-D375-CA95-4BCC-DD6DD08CC38E}"/>
              </a:ext>
            </a:extLst>
          </p:cNvPr>
          <p:cNvGraphicFramePr>
            <a:graphicFrameLocks noGrp="1"/>
          </p:cNvGraphicFramePr>
          <p:nvPr/>
        </p:nvGraphicFramePr>
        <p:xfrm>
          <a:off x="2051050" y="4076700"/>
          <a:ext cx="4608513" cy="2460625"/>
        </p:xfrm>
        <a:graphic>
          <a:graphicData uri="http://schemas.openxmlformats.org/drawingml/2006/table">
            <a:tbl>
              <a:tblPr/>
              <a:tblGrid>
                <a:gridCol w="1793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4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09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BMI</a:t>
                      </a:r>
                    </a:p>
                  </a:txBody>
                  <a:tcPr marL="17907" marR="17907" marT="17902" marB="179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>
                          <a:solidFill>
                            <a:srgbClr val="000000"/>
                          </a:solidFill>
                          <a:latin typeface="한컴바탕"/>
                        </a:rPr>
                        <a:t>판정</a:t>
                      </a:r>
                    </a:p>
                  </a:txBody>
                  <a:tcPr marL="17907" marR="17907" marT="17902" marB="179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353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15.0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미만</a:t>
                      </a:r>
                    </a:p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15.0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이상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18.5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미만</a:t>
                      </a:r>
                    </a:p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18.5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이상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23.0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미만</a:t>
                      </a:r>
                    </a:p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23.0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이상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27.5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이하</a:t>
                      </a:r>
                    </a:p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27.5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초과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40.0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이하</a:t>
                      </a:r>
                    </a:p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40.0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초과</a:t>
                      </a:r>
                    </a:p>
                  </a:txBody>
                  <a:tcPr marL="17907" marR="17907" marT="17902" marB="179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한컴바탕"/>
                        </a:rPr>
                        <a:t>병적인 </a:t>
                      </a:r>
                      <a:r>
                        <a:rPr lang="ko-KR" altLang="en-US" sz="1400" dirty="0" err="1">
                          <a:solidFill>
                            <a:srgbClr val="000000"/>
                          </a:solidFill>
                          <a:latin typeface="한컴바탕"/>
                        </a:rPr>
                        <a:t>저체중</a:t>
                      </a:r>
                      <a:endParaRPr lang="ko-KR" altLang="en-US" sz="1400" dirty="0">
                        <a:solidFill>
                          <a:srgbClr val="000000"/>
                        </a:solidFill>
                        <a:latin typeface="한컴바탕"/>
                      </a:endParaRPr>
                    </a:p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 err="1">
                          <a:solidFill>
                            <a:srgbClr val="000000"/>
                          </a:solidFill>
                          <a:latin typeface="한컴바탕"/>
                        </a:rPr>
                        <a:t>저체중</a:t>
                      </a:r>
                      <a:endParaRPr lang="ko-KR" altLang="en-US" sz="1400" dirty="0">
                        <a:solidFill>
                          <a:srgbClr val="000000"/>
                        </a:solidFill>
                        <a:latin typeface="한컴바탕"/>
                      </a:endParaRPr>
                    </a:p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한컴바탕"/>
                        </a:rPr>
                        <a:t>정상</a:t>
                      </a:r>
                    </a:p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 err="1">
                          <a:solidFill>
                            <a:srgbClr val="000000"/>
                          </a:solidFill>
                          <a:latin typeface="한컴바탕"/>
                        </a:rPr>
                        <a:t>과체중</a:t>
                      </a:r>
                      <a:endParaRPr lang="ko-KR" altLang="en-US" sz="1400" dirty="0">
                        <a:solidFill>
                          <a:srgbClr val="000000"/>
                        </a:solidFill>
                        <a:latin typeface="한컴바탕"/>
                      </a:endParaRPr>
                    </a:p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한컴바탕"/>
                        </a:rPr>
                        <a:t>비만</a:t>
                      </a:r>
                    </a:p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한컴바탕"/>
                        </a:rPr>
                        <a:t>병적인 비만</a:t>
                      </a:r>
                    </a:p>
                  </a:txBody>
                  <a:tcPr marL="17907" marR="17907" marT="17902" marB="179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8625" name="Rectangle 7">
            <a:extLst>
              <a:ext uri="{FF2B5EF4-FFF2-40B4-BE49-F238E27FC236}">
                <a16:creationId xmlns:a16="http://schemas.microsoft.com/office/drawing/2014/main" id="{3A4BAC73-0A2E-281A-1DC7-A7685E8BF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CF0CCE-298F-A545-5A83-B27B13A66DF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92116F-5B04-40AA-4AA2-F60CA4C29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4C340D0D-3E47-40D3-BE8B-59D6A3FA617C}" type="slidenum">
              <a:rPr kumimoji="0" lang="ko-KR" altLang="en-US">
                <a:latin typeface="HY동녘B" pitchFamily="18" charset="-127"/>
                <a:ea typeface="HY동녘B" pitchFamily="18" charset="-127"/>
              </a:rPr>
              <a:pPr eaLnBrk="1" hangingPunct="1"/>
              <a:t>66</a:t>
            </a:fld>
            <a:endParaRPr kumimoji="0" lang="en-US" altLang="ko-KR">
              <a:latin typeface="HY동녘B" pitchFamily="18" charset="-127"/>
              <a:ea typeface="HY동녘B" pitchFamily="18" charset="-127"/>
            </a:endParaRPr>
          </a:p>
        </p:txBody>
      </p:sp>
      <p:sp>
        <p:nvSpPr>
          <p:cNvPr id="69636" name="Rectangle 2">
            <a:extLst>
              <a:ext uri="{FF2B5EF4-FFF2-40B4-BE49-F238E27FC236}">
                <a16:creationId xmlns:a16="http://schemas.microsoft.com/office/drawing/2014/main" id="{1A5A63A5-4B69-4C10-30AD-0DE3403F61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solidFill>
                  <a:schemeClr val="tx1"/>
                </a:solidFill>
              </a:rPr>
              <a:t>▶ 프로그래밍 실습 </a:t>
            </a:r>
            <a:r>
              <a:rPr lang="en-US" altLang="ko-KR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9637" name="Rectangle 3">
            <a:extLst>
              <a:ext uri="{FF2B5EF4-FFF2-40B4-BE49-F238E27FC236}">
                <a16:creationId xmlns:a16="http://schemas.microsoft.com/office/drawing/2014/main" id="{766CB44A-9B8E-B623-45A7-DECD94E1F4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endParaRPr lang="ko-KR" altLang="en-US" sz="900" b="1"/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2.</a:t>
            </a:r>
            <a:r>
              <a:rPr lang="ko-KR" altLang="en-US" sz="2000" b="1"/>
              <a:t>디지털 시계</a:t>
            </a:r>
            <a:endParaRPr lang="ko-KR" altLang="en-US" sz="2000"/>
          </a:p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    디지털 시계 프로그램을 오전</a:t>
            </a:r>
            <a:r>
              <a:rPr lang="en-US" altLang="ko-KR" sz="2000"/>
              <a:t>, </a:t>
            </a:r>
            <a:r>
              <a:rPr lang="ko-KR" altLang="en-US" sz="2000"/>
              <a:t>오후를 구분하도록 수정하시오</a:t>
            </a:r>
            <a:r>
              <a:rPr lang="en-US" altLang="ko-KR" sz="2000"/>
              <a:t>. </a:t>
            </a:r>
            <a:r>
              <a:rPr lang="ko-KR" altLang="en-US" sz="2000"/>
              <a:t>오전이면 </a:t>
            </a:r>
            <a:r>
              <a:rPr lang="en-US" altLang="ko-KR" sz="2000"/>
              <a:t>AM </a:t>
            </a:r>
            <a:r>
              <a:rPr lang="ko-KR" altLang="en-US" sz="2000"/>
              <a:t>오후이면 </a:t>
            </a:r>
            <a:r>
              <a:rPr lang="en-US" altLang="ko-KR" sz="2000"/>
              <a:t>PM</a:t>
            </a:r>
            <a:r>
              <a:rPr lang="ko-KR" altLang="en-US" sz="2000"/>
              <a:t>으로 표시하고 대신에 시간은 </a:t>
            </a:r>
            <a:r>
              <a:rPr lang="en-US" altLang="ko-KR" sz="2000"/>
              <a:t>00:00:00</a:t>
            </a:r>
            <a:r>
              <a:rPr lang="ko-KR" altLang="en-US" sz="2000"/>
              <a:t>부터 </a:t>
            </a:r>
            <a:r>
              <a:rPr lang="en-US" altLang="ko-KR" sz="2000"/>
              <a:t>12:59:59</a:t>
            </a:r>
            <a:r>
              <a:rPr lang="ko-KR" altLang="en-US" sz="2000"/>
              <a:t>까지 표시하도록 한다</a:t>
            </a:r>
            <a:r>
              <a:rPr lang="en-US" altLang="ko-KR" sz="2000"/>
              <a:t>. </a:t>
            </a:r>
            <a:r>
              <a:rPr lang="ko-KR" altLang="en-US" sz="2000"/>
              <a:t>예를 들어 </a:t>
            </a:r>
            <a:r>
              <a:rPr lang="en-US" altLang="ko-KR" sz="2000"/>
              <a:t>13:12:05</a:t>
            </a:r>
            <a:r>
              <a:rPr lang="ko-KR" altLang="en-US" sz="2000"/>
              <a:t>는 </a:t>
            </a:r>
            <a:r>
              <a:rPr lang="en-US" altLang="ko-KR" sz="2000"/>
              <a:t>PM 1:12:05</a:t>
            </a:r>
            <a:r>
              <a:rPr lang="ko-KR" altLang="en-US" sz="2000"/>
              <a:t>로 표시한다</a:t>
            </a:r>
            <a:r>
              <a:rPr lang="en-US" altLang="ko-KR" sz="200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vel design template">
  <a:themeElements>
    <a:clrScheme name="Level design template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 design template">
      <a:majorFont>
        <a:latin typeface="HY동녘B"/>
        <a:ea typeface="HY동녘B"/>
        <a:cs typeface="Tahoma"/>
      </a:majorFont>
      <a:minorFont>
        <a:latin typeface="HY동녘B"/>
        <a:ea typeface="HY동녘B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굴림" pitchFamily="50" charset="-127"/>
            <a:cs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굴림" pitchFamily="50" charset="-127"/>
            <a:cs typeface="Tahoma" pitchFamily="34" charset="0"/>
          </a:defRPr>
        </a:defPPr>
      </a:lstStyle>
    </a:lnDef>
  </a:objectDefaults>
  <a:extraClrSchemeLst>
    <a:extraClrScheme>
      <a:clrScheme name="Level design template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design template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design template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design template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design template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design template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design template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design template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RnE</Template>
  <TotalTime>1986</TotalTime>
  <Words>2774</Words>
  <Application>Microsoft Office PowerPoint</Application>
  <PresentationFormat>화면 슬라이드 쇼(4:3)</PresentationFormat>
  <Paragraphs>616</Paragraphs>
  <Slides>66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66</vt:i4>
      </vt:variant>
    </vt:vector>
  </HeadingPairs>
  <TitlesOfParts>
    <vt:vector size="76" baseType="lpstr">
      <vt:lpstr>Tahoma</vt:lpstr>
      <vt:lpstr>굴림</vt:lpstr>
      <vt:lpstr>Arial</vt:lpstr>
      <vt:lpstr>HY동녘B</vt:lpstr>
      <vt:lpstr>Wingdings</vt:lpstr>
      <vt:lpstr>Times New Roman</vt:lpstr>
      <vt:lpstr>Lucida Console</vt:lpstr>
      <vt:lpstr>한컴바탕</vt:lpstr>
      <vt:lpstr>굴림체</vt:lpstr>
      <vt:lpstr>Level design template</vt:lpstr>
      <vt:lpstr>   Part 09 그래픽 사용자 인터페이스  </vt:lpstr>
      <vt:lpstr>이 장의 내용 </vt:lpstr>
      <vt:lpstr>9.1 컴포넌트와 컨테이너</vt:lpstr>
      <vt:lpstr>GUI 컴포넌트</vt:lpstr>
      <vt:lpstr>GUI 컨테이너</vt:lpstr>
      <vt:lpstr>GUI 컨테이너</vt:lpstr>
      <vt:lpstr>Swing GUI 컴포넌트</vt:lpstr>
      <vt:lpstr>애플릿</vt:lpstr>
      <vt:lpstr>애플릿</vt:lpstr>
      <vt:lpstr>9.2 배치 관리자</vt:lpstr>
      <vt:lpstr>사용자 인터페이스</vt:lpstr>
      <vt:lpstr>배치 관리자</vt:lpstr>
      <vt:lpstr>배치 관리자 변경</vt:lpstr>
      <vt:lpstr>흐름 배치</vt:lpstr>
      <vt:lpstr>PowerPoint 프레젠테이션</vt:lpstr>
      <vt:lpstr>영역 배치</vt:lpstr>
      <vt:lpstr>PowerPoint 프레젠테이션</vt:lpstr>
      <vt:lpstr>격자 배치</vt:lpstr>
      <vt:lpstr>PowerPoint 프레젠테이션</vt:lpstr>
      <vt:lpstr>상자 배치</vt:lpstr>
      <vt:lpstr>PowerPoint 프레젠테이션</vt:lpstr>
      <vt:lpstr>절대 위치</vt:lpstr>
      <vt:lpstr>9.3 컴포넌트, 이벤트, 리스너</vt:lpstr>
      <vt:lpstr>GUI 컴포넌트로부터 발생 가능 이벤트</vt:lpstr>
      <vt:lpstr>리스너 정의 </vt:lpstr>
      <vt:lpstr>PowerPoint 프레젠테이션</vt:lpstr>
      <vt:lpstr>선택을 위한 컴포넌트</vt:lpstr>
      <vt:lpstr>체크 박스: 전공 선택 예제</vt:lpstr>
      <vt:lpstr>체크 박스: 전공 선택 예제</vt:lpstr>
      <vt:lpstr>PowerPoint 프레젠테이션</vt:lpstr>
      <vt:lpstr>PowerPoint 프레젠테이션</vt:lpstr>
      <vt:lpstr>PowerPoint 프레젠테이션</vt:lpstr>
      <vt:lpstr>라디오 버튼: 학년 선택 예제</vt:lpstr>
      <vt:lpstr>라디오 버튼: 학년 선택 예제</vt:lpstr>
      <vt:lpstr>PowerPoint 프레젠테이션</vt:lpstr>
      <vt:lpstr>PowerPoint 프레젠테이션</vt:lpstr>
      <vt:lpstr>PowerPoint 프레젠테이션</vt:lpstr>
      <vt:lpstr>콤보 박스: 학년 선택 예제</vt:lpstr>
      <vt:lpstr>콤보 박스: 학년 선택 예제</vt:lpstr>
      <vt:lpstr>PowerPoint 프레젠테이션</vt:lpstr>
      <vt:lpstr>PowerPoint 프레젠테이션</vt:lpstr>
      <vt:lpstr>PowerPoint 프레젠테이션</vt:lpstr>
      <vt:lpstr>마우스 이벤트 예제</vt:lpstr>
      <vt:lpstr>마우스 이벤트</vt:lpstr>
      <vt:lpstr>PowerPoint 프레젠테이션</vt:lpstr>
      <vt:lpstr>PowerPoint 프레젠테이션</vt:lpstr>
      <vt:lpstr>PowerPoint 프레젠테이션</vt:lpstr>
      <vt:lpstr>PowerPoint 프레젠테이션</vt:lpstr>
      <vt:lpstr>이벤트 어댑터 클래스</vt:lpstr>
      <vt:lpstr>이벤트 어댑터 클래스</vt:lpstr>
      <vt:lpstr>Timer</vt:lpstr>
      <vt:lpstr>디지털 시계</vt:lpstr>
      <vt:lpstr>PowerPoint 프레젠테이션</vt:lpstr>
      <vt:lpstr>PowerPoint 프레젠테이션</vt:lpstr>
      <vt:lpstr>PowerPoint 프레젠테이션</vt:lpstr>
      <vt:lpstr>신호등 애니메이션</vt:lpstr>
      <vt:lpstr>신호등 애니메이션</vt:lpstr>
      <vt:lpstr>PowerPoint 프레젠테이션</vt:lpstr>
      <vt:lpstr>PowerPoint 프레젠테이션</vt:lpstr>
      <vt:lpstr>PowerPoint 프레젠테이션</vt:lpstr>
      <vt:lpstr>PowerPoint 프레젠테이션</vt:lpstr>
      <vt:lpstr>Key Point </vt:lpstr>
      <vt:lpstr>Key Point </vt:lpstr>
      <vt:lpstr>프로그래밍 실습</vt:lpstr>
      <vt:lpstr>▶ 프로그래밍 실습 1 </vt:lpstr>
      <vt:lpstr>▶ 프로그래밍 실습 2</vt:lpstr>
    </vt:vector>
  </TitlesOfParts>
  <Company>숙명여자대학교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 서론</dc:title>
  <dc:creator>창병모</dc:creator>
  <cp:lastModifiedBy>한정희 AI융합ICT전공(교수)</cp:lastModifiedBy>
  <cp:revision>339</cp:revision>
  <cp:lastPrinted>1995-10-08T01:49:42Z</cp:lastPrinted>
  <dcterms:created xsi:type="dcterms:W3CDTF">1995-11-01T10:23:08Z</dcterms:created>
  <dcterms:modified xsi:type="dcterms:W3CDTF">2026-05-07T12:23:23Z</dcterms:modified>
</cp:coreProperties>
</file>