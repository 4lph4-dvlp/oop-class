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1" r:id="rId1"/>
  </p:sldMasterIdLst>
  <p:notesMasterIdLst>
    <p:notesMasterId r:id="rId68"/>
  </p:notesMasterIdLst>
  <p:handoutMasterIdLst>
    <p:handoutMasterId r:id="rId69"/>
  </p:handoutMasterIdLst>
  <p:sldIdLst>
    <p:sldId id="291" r:id="rId2"/>
    <p:sldId id="298" r:id="rId3"/>
    <p:sldId id="381" r:id="rId4"/>
    <p:sldId id="432" r:id="rId5"/>
    <p:sldId id="433" r:id="rId6"/>
    <p:sldId id="494" r:id="rId7"/>
    <p:sldId id="434" r:id="rId8"/>
    <p:sldId id="436" r:id="rId9"/>
    <p:sldId id="437" r:id="rId10"/>
    <p:sldId id="439" r:id="rId11"/>
    <p:sldId id="440" r:id="rId12"/>
    <p:sldId id="441" r:id="rId13"/>
    <p:sldId id="444" r:id="rId14"/>
    <p:sldId id="442" r:id="rId15"/>
    <p:sldId id="443" r:id="rId16"/>
    <p:sldId id="445" r:id="rId17"/>
    <p:sldId id="447" r:id="rId18"/>
    <p:sldId id="448" r:id="rId19"/>
    <p:sldId id="450" r:id="rId20"/>
    <p:sldId id="420" r:id="rId21"/>
    <p:sldId id="451" r:id="rId22"/>
    <p:sldId id="452" r:id="rId23"/>
    <p:sldId id="453" r:id="rId24"/>
    <p:sldId id="454" r:id="rId25"/>
    <p:sldId id="455" r:id="rId26"/>
    <p:sldId id="464" r:id="rId27"/>
    <p:sldId id="456" r:id="rId28"/>
    <p:sldId id="457" r:id="rId29"/>
    <p:sldId id="458" r:id="rId30"/>
    <p:sldId id="459" r:id="rId31"/>
    <p:sldId id="460" r:id="rId32"/>
    <p:sldId id="461" r:id="rId33"/>
    <p:sldId id="463" r:id="rId34"/>
    <p:sldId id="465" r:id="rId35"/>
    <p:sldId id="466" r:id="rId36"/>
    <p:sldId id="469" r:id="rId37"/>
    <p:sldId id="467" r:id="rId38"/>
    <p:sldId id="468" r:id="rId39"/>
    <p:sldId id="470" r:id="rId40"/>
    <p:sldId id="471" r:id="rId41"/>
    <p:sldId id="472" r:id="rId42"/>
    <p:sldId id="421" r:id="rId43"/>
    <p:sldId id="422" r:id="rId44"/>
    <p:sldId id="473" r:id="rId45"/>
    <p:sldId id="474" r:id="rId46"/>
    <p:sldId id="475" r:id="rId47"/>
    <p:sldId id="476" r:id="rId48"/>
    <p:sldId id="477" r:id="rId49"/>
    <p:sldId id="478" r:id="rId50"/>
    <p:sldId id="479" r:id="rId51"/>
    <p:sldId id="480" r:id="rId52"/>
    <p:sldId id="484" r:id="rId53"/>
    <p:sldId id="481" r:id="rId54"/>
    <p:sldId id="482" r:id="rId55"/>
    <p:sldId id="493" r:id="rId56"/>
    <p:sldId id="483" r:id="rId57"/>
    <p:sldId id="486" r:id="rId58"/>
    <p:sldId id="487" r:id="rId59"/>
    <p:sldId id="488" r:id="rId60"/>
    <p:sldId id="489" r:id="rId61"/>
    <p:sldId id="490" r:id="rId62"/>
    <p:sldId id="491" r:id="rId63"/>
    <p:sldId id="492" r:id="rId64"/>
    <p:sldId id="495" r:id="rId65"/>
    <p:sldId id="496" r:id="rId66"/>
    <p:sldId id="374" r:id="rId6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5">
          <p15:clr>
            <a:srgbClr val="A4A3A4"/>
          </p15:clr>
        </p15:guide>
        <p15:guide id="2" pos="144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FF"/>
    <a:srgbClr val="3333FF"/>
    <a:srgbClr val="6666FF"/>
    <a:srgbClr val="FF6600"/>
    <a:srgbClr val="FF5050"/>
    <a:srgbClr val="990000"/>
    <a:srgbClr val="FFFF00"/>
    <a:srgbClr val="D60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7" autoAdjust="0"/>
    <p:restoredTop sz="94637" autoAdjust="0"/>
  </p:normalViewPr>
  <p:slideViewPr>
    <p:cSldViewPr>
      <p:cViewPr varScale="1">
        <p:scale>
          <a:sx n="117" d="100"/>
          <a:sy n="117" d="100"/>
        </p:scale>
        <p:origin x="1434" y="108"/>
      </p:cViewPr>
      <p:guideLst>
        <p:guide orient="horz" pos="2285"/>
        <p:guide pos="14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3108"/>
    </p:cViewPr>
  </p:sorterViewPr>
  <p:notesViewPr>
    <p:cSldViewPr>
      <p:cViewPr varScale="1">
        <p:scale>
          <a:sx n="83" d="100"/>
          <a:sy n="83" d="100"/>
        </p:scale>
        <p:origin x="-169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55DF300-C255-67F8-7587-9EDB08543C3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Times New Roman" pitchFamily="18" charset="0"/>
                <a:cs typeface="Tahoma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7FEEE35-0E56-2502-4E76-9AFE01BA112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Times New Roman" pitchFamily="18" charset="0"/>
                <a:cs typeface="Tahoma" pitchFamily="34" charset="0"/>
              </a:defRPr>
            </a:lvl1pPr>
          </a:lstStyle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5DD6FB45-F4C1-0E90-53C3-A0D62075E89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Times New Roman" pitchFamily="18" charset="0"/>
                <a:cs typeface="Tahoma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4423E1EA-4372-C550-F4FA-7A7E4934284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ED4B09C9-292B-4C45-B088-A3007A3F81B8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EA702A5-C928-AD1B-8C25-431999F1033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Times New Roman" pitchFamily="18" charset="0"/>
                <a:cs typeface="Tahoma" pitchFamily="34" charset="0"/>
              </a:defRPr>
            </a:lvl1pPr>
          </a:lstStyle>
          <a:p>
            <a:pPr>
              <a:defRPr/>
            </a:pPr>
            <a:endParaRPr lang="ko-KR" altLang="ko-KR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AD74CE6-E185-B1E3-E033-E3D32B4FCEC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Times New Roman" pitchFamily="18" charset="0"/>
                <a:cs typeface="Tahoma" pitchFamily="34" charset="0"/>
              </a:defRPr>
            </a:lvl1pPr>
          </a:lstStyle>
          <a:p>
            <a:pPr>
              <a:defRPr/>
            </a:pPr>
            <a:r>
              <a:rPr lang="ko-KR" altLang="en-US"/>
              <a:t>© 우균, 창병모</a:t>
            </a:r>
            <a:endParaRPr lang="ko-KR" altLang="ko-K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E7675CB-92F5-09D4-305A-2FD34477133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AF49F76F-C066-46C0-DCE7-25AB7F4C32D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ko-KR" noProof="0"/>
              <a:t>마스터 문자열 유형 편집</a:t>
            </a:r>
          </a:p>
          <a:p>
            <a:pPr lvl="1"/>
            <a:r>
              <a:rPr lang="ko-KR" altLang="ko-KR" noProof="0"/>
              <a:t>둘째 수준</a:t>
            </a:r>
          </a:p>
          <a:p>
            <a:pPr lvl="2"/>
            <a:r>
              <a:rPr lang="ko-KR" altLang="ko-KR" noProof="0"/>
              <a:t>셋째 수준</a:t>
            </a:r>
          </a:p>
          <a:p>
            <a:pPr lvl="3"/>
            <a:r>
              <a:rPr lang="ko-KR" altLang="ko-KR" noProof="0"/>
              <a:t>넷째 수준</a:t>
            </a:r>
          </a:p>
          <a:p>
            <a:pPr lvl="4"/>
            <a:r>
              <a:rPr lang="ko-KR" altLang="ko-KR" noProof="0"/>
              <a:t>다섯째 수준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F33C3E42-D43A-A2FD-0156-B475BBFDE82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Times New Roman" pitchFamily="18" charset="0"/>
                <a:cs typeface="Tahoma" pitchFamily="34" charset="0"/>
              </a:defRPr>
            </a:lvl1pPr>
          </a:lstStyle>
          <a:p>
            <a:pPr>
              <a:defRPr/>
            </a:pPr>
            <a:endParaRPr lang="ko-KR" altLang="ko-KR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ABA2A6DB-2A58-75CA-F538-43C7C2BE3A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2A22BDA7-B728-4FA6-B3BB-5CE02150C07A}" type="slidenum">
              <a:rPr lang="ko-KR" altLang="ko-KR"/>
              <a:pPr/>
              <a:t>‹#›</a:t>
            </a:fld>
            <a:endParaRPr lang="ko-KR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extLst>
              <a:ext uri="{FF2B5EF4-FFF2-40B4-BE49-F238E27FC236}">
                <a16:creationId xmlns:a16="http://schemas.microsoft.com/office/drawing/2014/main" id="{440CDCA8-E229-6F5D-E537-92A77B0ED44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r>
              <a:rPr lang="ko-KR" altLang="en-US">
                <a:latin typeface="Times New Roman" panose="02020603050405020304" pitchFamily="18" charset="0"/>
              </a:rPr>
              <a:t>© 우균, 창병모</a:t>
            </a:r>
            <a:endParaRPr lang="ko-KR" altLang="ko-KR">
              <a:latin typeface="Times New Roman" panose="02020603050405020304" pitchFamily="18" charset="0"/>
            </a:endParaRPr>
          </a:p>
        </p:txBody>
      </p:sp>
      <p:sp>
        <p:nvSpPr>
          <p:cNvPr id="6147" name="Rectangle 7">
            <a:extLst>
              <a:ext uri="{FF2B5EF4-FFF2-40B4-BE49-F238E27FC236}">
                <a16:creationId xmlns:a16="http://schemas.microsoft.com/office/drawing/2014/main" id="{9DC6FCD7-0A15-A2BE-5E6B-F8AA30981F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10BC8ADA-9C4D-444A-8B67-6055B2084552}" type="slidenum">
              <a:rPr lang="ko-KR" altLang="ko-KR">
                <a:latin typeface="Times New Roman" panose="02020603050405020304" pitchFamily="18" charset="0"/>
                <a:cs typeface="Tahoma" panose="020B0604030504040204" pitchFamily="34" charset="0"/>
              </a:rPr>
              <a:pPr>
                <a:spcBef>
                  <a:spcPct val="0"/>
                </a:spcBef>
              </a:pPr>
              <a:t>1</a:t>
            </a:fld>
            <a:endParaRPr lang="ko-KR" altLang="ko-KR">
              <a:latin typeface="Times New Roman" panose="02020603050405020304" pitchFamily="18" charset="0"/>
              <a:cs typeface="Tahoma" panose="020B0604030504040204" pitchFamily="34" charset="0"/>
            </a:endParaRPr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86BAD468-C518-0F19-ACE9-3230D0E0E2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D159F2EE-FAAA-76DA-40C7-BD65BD2DEA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38170203-E460-7B3A-280D-B9BCE90BC61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r>
              <a:rPr lang="ko-KR" altLang="en-US">
                <a:latin typeface="Times New Roman" panose="02020603050405020304" pitchFamily="18" charset="0"/>
              </a:rPr>
              <a:t>© 우균, 창병모</a:t>
            </a:r>
            <a:endParaRPr lang="ko-KR" altLang="ko-KR">
              <a:latin typeface="Times New Roman" panose="02020603050405020304" pitchFamily="18" charset="0"/>
            </a:endParaRP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ABD6960D-3E31-E17C-9AE2-DF40EE13A7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2FE59D4-6D4F-4033-A071-31B901E7E173}" type="slidenum">
              <a:rPr lang="ko-KR" altLang="ko-KR">
                <a:latin typeface="Times New Roman" panose="02020603050405020304" pitchFamily="18" charset="0"/>
                <a:cs typeface="Tahoma" panose="020B0604030504040204" pitchFamily="34" charset="0"/>
              </a:rPr>
              <a:pPr>
                <a:spcBef>
                  <a:spcPct val="0"/>
                </a:spcBef>
              </a:pPr>
              <a:t>2</a:t>
            </a:fld>
            <a:endParaRPr lang="ko-KR" altLang="ko-KR">
              <a:latin typeface="Times New Roman" panose="02020603050405020304" pitchFamily="18" charset="0"/>
              <a:cs typeface="Tahoma" panose="020B0604030504040204" pitchFamily="34" charset="0"/>
            </a:endParaRPr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BE1A90DA-8226-40D7-9FE1-B19548ED2B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0A182506-A120-3958-86DF-5F323BC9B6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4FA9F0C7-9DBF-2E32-7321-610B10410C1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r>
              <a:rPr lang="ko-KR" altLang="en-US">
                <a:latin typeface="Times New Roman" panose="02020603050405020304" pitchFamily="18" charset="0"/>
              </a:rPr>
              <a:t>© 우균, 창병모</a:t>
            </a:r>
            <a:endParaRPr lang="ko-KR" altLang="ko-KR">
              <a:latin typeface="Times New Roman" panose="02020603050405020304" pitchFamily="18" charset="0"/>
            </a:endParaRPr>
          </a:p>
        </p:txBody>
      </p:sp>
      <p:sp>
        <p:nvSpPr>
          <p:cNvPr id="10243" name="Rectangle 7">
            <a:extLst>
              <a:ext uri="{FF2B5EF4-FFF2-40B4-BE49-F238E27FC236}">
                <a16:creationId xmlns:a16="http://schemas.microsoft.com/office/drawing/2014/main" id="{0B18BEBD-3C64-49CB-E797-2BC13552D0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671729D-776D-4631-AE0C-62D09DFCC897}" type="slidenum">
              <a:rPr lang="ko-KR" altLang="ko-KR">
                <a:latin typeface="Times New Roman" panose="02020603050405020304" pitchFamily="18" charset="0"/>
                <a:cs typeface="Tahoma" panose="020B0604030504040204" pitchFamily="34" charset="0"/>
              </a:rPr>
              <a:pPr>
                <a:spcBef>
                  <a:spcPct val="0"/>
                </a:spcBef>
              </a:pPr>
              <a:t>3</a:t>
            </a:fld>
            <a:endParaRPr lang="ko-KR" altLang="ko-KR">
              <a:latin typeface="Times New Roman" panose="02020603050405020304" pitchFamily="18" charset="0"/>
              <a:cs typeface="Tahoma" panose="020B0604030504040204" pitchFamily="34" charset="0"/>
            </a:endParaRPr>
          </a:p>
        </p:txBody>
      </p:sp>
      <p:sp>
        <p:nvSpPr>
          <p:cNvPr id="10244" name="Rectangle 2">
            <a:extLst>
              <a:ext uri="{FF2B5EF4-FFF2-40B4-BE49-F238E27FC236}">
                <a16:creationId xmlns:a16="http://schemas.microsoft.com/office/drawing/2014/main" id="{96E08732-6D47-845D-ECDA-5A4171BA54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5" name="Rectangle 3">
            <a:extLst>
              <a:ext uri="{FF2B5EF4-FFF2-40B4-BE49-F238E27FC236}">
                <a16:creationId xmlns:a16="http://schemas.microsoft.com/office/drawing/2014/main" id="{5136973A-F2FD-EEA6-D900-9BC0F013D5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>
            <a:extLst>
              <a:ext uri="{FF2B5EF4-FFF2-40B4-BE49-F238E27FC236}">
                <a16:creationId xmlns:a16="http://schemas.microsoft.com/office/drawing/2014/main" id="{4700CDDC-87FF-2ADD-D4B8-311679246D0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r>
              <a:rPr lang="ko-KR" altLang="en-US">
                <a:latin typeface="Times New Roman" panose="02020603050405020304" pitchFamily="18" charset="0"/>
              </a:rPr>
              <a:t>© 우균, 창병모</a:t>
            </a:r>
            <a:endParaRPr lang="ko-KR" altLang="ko-KR">
              <a:latin typeface="Times New Roman" panose="02020603050405020304" pitchFamily="18" charset="0"/>
            </a:endParaRPr>
          </a:p>
        </p:txBody>
      </p:sp>
      <p:sp>
        <p:nvSpPr>
          <p:cNvPr id="14339" name="Rectangle 7">
            <a:extLst>
              <a:ext uri="{FF2B5EF4-FFF2-40B4-BE49-F238E27FC236}">
                <a16:creationId xmlns:a16="http://schemas.microsoft.com/office/drawing/2014/main" id="{3028F7F3-5899-8060-DF7B-81C7A05440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5E1E08-C4AA-4B13-A401-F7053ADDA05F}" type="slidenum">
              <a:rPr lang="ko-KR" altLang="ko-KR">
                <a:latin typeface="Times New Roman" panose="02020603050405020304" pitchFamily="18" charset="0"/>
                <a:cs typeface="Tahoma" panose="020B0604030504040204" pitchFamily="34" charset="0"/>
              </a:rPr>
              <a:pPr>
                <a:spcBef>
                  <a:spcPct val="0"/>
                </a:spcBef>
              </a:pPr>
              <a:t>6</a:t>
            </a:fld>
            <a:endParaRPr lang="ko-KR" altLang="ko-KR">
              <a:latin typeface="Times New Roman" panose="02020603050405020304" pitchFamily="18" charset="0"/>
              <a:cs typeface="Tahoma" panose="020B0604030504040204" pitchFamily="34" charset="0"/>
            </a:endParaRPr>
          </a:p>
        </p:txBody>
      </p:sp>
      <p:sp>
        <p:nvSpPr>
          <p:cNvPr id="14340" name="Rectangle 2">
            <a:extLst>
              <a:ext uri="{FF2B5EF4-FFF2-40B4-BE49-F238E27FC236}">
                <a16:creationId xmlns:a16="http://schemas.microsoft.com/office/drawing/2014/main" id="{3916D807-3709-4802-1C27-B188ECACC0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1" name="Rectangle 3">
            <a:extLst>
              <a:ext uri="{FF2B5EF4-FFF2-40B4-BE49-F238E27FC236}">
                <a16:creationId xmlns:a16="http://schemas.microsoft.com/office/drawing/2014/main" id="{A8920A61-8A7D-2FDF-8BB4-14EAF22C16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>
            <a:extLst>
              <a:ext uri="{FF2B5EF4-FFF2-40B4-BE49-F238E27FC236}">
                <a16:creationId xmlns:a16="http://schemas.microsoft.com/office/drawing/2014/main" id="{A1C17DF4-3168-AEAD-AF45-984040474C9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r>
              <a:rPr lang="ko-KR" altLang="en-US">
                <a:latin typeface="Times New Roman" panose="02020603050405020304" pitchFamily="18" charset="0"/>
              </a:rPr>
              <a:t>© 우균, 창병모</a:t>
            </a:r>
            <a:endParaRPr lang="ko-KR" altLang="ko-KR">
              <a:latin typeface="Times New Roman" panose="02020603050405020304" pitchFamily="18" charset="0"/>
            </a:endParaRPr>
          </a:p>
        </p:txBody>
      </p:sp>
      <p:sp>
        <p:nvSpPr>
          <p:cNvPr id="29699" name="Rectangle 7">
            <a:extLst>
              <a:ext uri="{FF2B5EF4-FFF2-40B4-BE49-F238E27FC236}">
                <a16:creationId xmlns:a16="http://schemas.microsoft.com/office/drawing/2014/main" id="{89D80632-A847-F626-6B56-89288D8344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C63E795-89DB-42B8-A2FC-0C0E7E60EE7E}" type="slidenum">
              <a:rPr lang="ko-KR" altLang="ko-KR">
                <a:latin typeface="Times New Roman" panose="02020603050405020304" pitchFamily="18" charset="0"/>
                <a:cs typeface="Tahoma" panose="020B0604030504040204" pitchFamily="34" charset="0"/>
              </a:rPr>
              <a:pPr>
                <a:spcBef>
                  <a:spcPct val="0"/>
                </a:spcBef>
              </a:pPr>
              <a:t>20</a:t>
            </a:fld>
            <a:endParaRPr lang="ko-KR" altLang="ko-KR">
              <a:latin typeface="Times New Roman" panose="02020603050405020304" pitchFamily="18" charset="0"/>
              <a:cs typeface="Tahoma" panose="020B0604030504040204" pitchFamily="34" charset="0"/>
            </a:endParaRPr>
          </a:p>
        </p:txBody>
      </p:sp>
      <p:sp>
        <p:nvSpPr>
          <p:cNvPr id="29700" name="Rectangle 2">
            <a:extLst>
              <a:ext uri="{FF2B5EF4-FFF2-40B4-BE49-F238E27FC236}">
                <a16:creationId xmlns:a16="http://schemas.microsoft.com/office/drawing/2014/main" id="{3C108836-CA2A-1679-F9D6-7020A6926C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1" name="Rectangle 3">
            <a:extLst>
              <a:ext uri="{FF2B5EF4-FFF2-40B4-BE49-F238E27FC236}">
                <a16:creationId xmlns:a16="http://schemas.microsoft.com/office/drawing/2014/main" id="{696448BF-E747-D8C0-DD0B-2469FFCE1B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>
            <a:extLst>
              <a:ext uri="{FF2B5EF4-FFF2-40B4-BE49-F238E27FC236}">
                <a16:creationId xmlns:a16="http://schemas.microsoft.com/office/drawing/2014/main" id="{2FC5B78F-FD51-2E60-00CD-F1C52271636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r>
              <a:rPr lang="ko-KR" altLang="en-US">
                <a:latin typeface="Times New Roman" panose="02020603050405020304" pitchFamily="18" charset="0"/>
              </a:rPr>
              <a:t>© 우균, 창병모</a:t>
            </a:r>
            <a:endParaRPr lang="ko-KR" altLang="ko-KR">
              <a:latin typeface="Times New Roman" panose="02020603050405020304" pitchFamily="18" charset="0"/>
            </a:endParaRPr>
          </a:p>
        </p:txBody>
      </p:sp>
      <p:sp>
        <p:nvSpPr>
          <p:cNvPr id="36867" name="Rectangle 7">
            <a:extLst>
              <a:ext uri="{FF2B5EF4-FFF2-40B4-BE49-F238E27FC236}">
                <a16:creationId xmlns:a16="http://schemas.microsoft.com/office/drawing/2014/main" id="{D9DF75B4-E3C0-F765-3BE2-BDC5553090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FEAC3A4-49C0-4FD1-9716-B8CACB60D44C}" type="slidenum">
              <a:rPr lang="ko-KR" altLang="ko-KR">
                <a:latin typeface="Times New Roman" panose="02020603050405020304" pitchFamily="18" charset="0"/>
                <a:cs typeface="Tahoma" panose="020B0604030504040204" pitchFamily="34" charset="0"/>
              </a:rPr>
              <a:pPr>
                <a:spcBef>
                  <a:spcPct val="0"/>
                </a:spcBef>
              </a:pPr>
              <a:t>26</a:t>
            </a:fld>
            <a:endParaRPr lang="ko-KR" altLang="ko-KR">
              <a:latin typeface="Times New Roman" panose="02020603050405020304" pitchFamily="18" charset="0"/>
              <a:cs typeface="Tahoma" panose="020B0604030504040204" pitchFamily="34" charset="0"/>
            </a:endParaRPr>
          </a:p>
        </p:txBody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82C3FFC1-3D52-33EE-6FB2-485FBD8D4F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>
            <a:extLst>
              <a:ext uri="{FF2B5EF4-FFF2-40B4-BE49-F238E27FC236}">
                <a16:creationId xmlns:a16="http://schemas.microsoft.com/office/drawing/2014/main" id="{F069FC9A-83B0-DDC1-8C48-7B599C8169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>
            <a:extLst>
              <a:ext uri="{FF2B5EF4-FFF2-40B4-BE49-F238E27FC236}">
                <a16:creationId xmlns:a16="http://schemas.microsoft.com/office/drawing/2014/main" id="{7DBF97C0-9309-62CB-34F3-9DBFA6C63E4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r>
              <a:rPr lang="ko-KR" altLang="en-US">
                <a:latin typeface="Times New Roman" panose="02020603050405020304" pitchFamily="18" charset="0"/>
              </a:rPr>
              <a:t>© 우균, 창병모</a:t>
            </a:r>
            <a:endParaRPr lang="ko-KR" altLang="ko-KR">
              <a:latin typeface="Times New Roman" panose="02020603050405020304" pitchFamily="18" charset="0"/>
            </a:endParaRPr>
          </a:p>
        </p:txBody>
      </p:sp>
      <p:sp>
        <p:nvSpPr>
          <p:cNvPr id="45059" name="Rectangle 7">
            <a:extLst>
              <a:ext uri="{FF2B5EF4-FFF2-40B4-BE49-F238E27FC236}">
                <a16:creationId xmlns:a16="http://schemas.microsoft.com/office/drawing/2014/main" id="{7DBFA7D4-44C0-FEB7-243F-432E4CE850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8D48357-88AC-4CB3-B790-9EDF3D26ED7D}" type="slidenum">
              <a:rPr lang="ko-KR" altLang="ko-KR">
                <a:latin typeface="Times New Roman" panose="02020603050405020304" pitchFamily="18" charset="0"/>
                <a:cs typeface="Tahoma" panose="020B0604030504040204" pitchFamily="34" charset="0"/>
              </a:rPr>
              <a:pPr>
                <a:spcBef>
                  <a:spcPct val="0"/>
                </a:spcBef>
              </a:pPr>
              <a:t>33</a:t>
            </a:fld>
            <a:endParaRPr lang="ko-KR" altLang="ko-KR">
              <a:latin typeface="Times New Roman" panose="02020603050405020304" pitchFamily="18" charset="0"/>
              <a:cs typeface="Tahoma" panose="020B0604030504040204" pitchFamily="34" charset="0"/>
            </a:endParaRPr>
          </a:p>
        </p:txBody>
      </p:sp>
      <p:sp>
        <p:nvSpPr>
          <p:cNvPr id="45060" name="Rectangle 2">
            <a:extLst>
              <a:ext uri="{FF2B5EF4-FFF2-40B4-BE49-F238E27FC236}">
                <a16:creationId xmlns:a16="http://schemas.microsoft.com/office/drawing/2014/main" id="{18C1A030-F595-3AEE-47D0-63A0040B43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1" name="Rectangle 3">
            <a:extLst>
              <a:ext uri="{FF2B5EF4-FFF2-40B4-BE49-F238E27FC236}">
                <a16:creationId xmlns:a16="http://schemas.microsoft.com/office/drawing/2014/main" id="{18A8B1C6-5E48-24E9-91A4-B823EEDB4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>
            <a:extLst>
              <a:ext uri="{FF2B5EF4-FFF2-40B4-BE49-F238E27FC236}">
                <a16:creationId xmlns:a16="http://schemas.microsoft.com/office/drawing/2014/main" id="{72D64DD3-4D10-81D0-0DA4-99B555A4BA2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r>
              <a:rPr lang="ko-KR" altLang="en-US">
                <a:latin typeface="Times New Roman" panose="02020603050405020304" pitchFamily="18" charset="0"/>
              </a:rPr>
              <a:t>© 우균, 창병모</a:t>
            </a:r>
            <a:endParaRPr lang="ko-KR" altLang="ko-KR">
              <a:latin typeface="Times New Roman" panose="02020603050405020304" pitchFamily="18" charset="0"/>
            </a:endParaRPr>
          </a:p>
        </p:txBody>
      </p:sp>
      <p:sp>
        <p:nvSpPr>
          <p:cNvPr id="57347" name="Rectangle 7">
            <a:extLst>
              <a:ext uri="{FF2B5EF4-FFF2-40B4-BE49-F238E27FC236}">
                <a16:creationId xmlns:a16="http://schemas.microsoft.com/office/drawing/2014/main" id="{D7B88D9D-9477-8E36-63A0-E600967155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45014E3-C5F3-4BB8-AE80-DA23CA9C01A7}" type="slidenum">
              <a:rPr lang="ko-KR" altLang="ko-KR">
                <a:latin typeface="Times New Roman" panose="02020603050405020304" pitchFamily="18" charset="0"/>
                <a:cs typeface="Tahoma" panose="020B0604030504040204" pitchFamily="34" charset="0"/>
              </a:rPr>
              <a:pPr>
                <a:spcBef>
                  <a:spcPct val="0"/>
                </a:spcBef>
              </a:pPr>
              <a:t>44</a:t>
            </a:fld>
            <a:endParaRPr lang="ko-KR" altLang="ko-KR">
              <a:latin typeface="Times New Roman" panose="02020603050405020304" pitchFamily="18" charset="0"/>
              <a:cs typeface="Tahoma" panose="020B0604030504040204" pitchFamily="34" charset="0"/>
            </a:endParaRPr>
          </a:p>
        </p:txBody>
      </p:sp>
      <p:sp>
        <p:nvSpPr>
          <p:cNvPr id="57348" name="Rectangle 2">
            <a:extLst>
              <a:ext uri="{FF2B5EF4-FFF2-40B4-BE49-F238E27FC236}">
                <a16:creationId xmlns:a16="http://schemas.microsoft.com/office/drawing/2014/main" id="{C38E3FC4-65FF-A22C-F35A-806454D5AB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9" name="Rectangle 3">
            <a:extLst>
              <a:ext uri="{FF2B5EF4-FFF2-40B4-BE49-F238E27FC236}">
                <a16:creationId xmlns:a16="http://schemas.microsoft.com/office/drawing/2014/main" id="{33689961-B326-3489-B0DA-4D6A922CEF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3">
            <a:extLst>
              <a:ext uri="{FF2B5EF4-FFF2-40B4-BE49-F238E27FC236}">
                <a16:creationId xmlns:a16="http://schemas.microsoft.com/office/drawing/2014/main" id="{A33C4D8D-A3E6-0019-C680-8F6AA3545C5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r>
              <a:rPr lang="ko-KR" altLang="en-US">
                <a:latin typeface="Times New Roman" panose="02020603050405020304" pitchFamily="18" charset="0"/>
              </a:rPr>
              <a:t>© 우균, 창병모</a:t>
            </a:r>
            <a:endParaRPr lang="ko-KR" altLang="ko-KR">
              <a:latin typeface="Times New Roman" panose="02020603050405020304" pitchFamily="18" charset="0"/>
            </a:endParaRPr>
          </a:p>
        </p:txBody>
      </p:sp>
      <p:sp>
        <p:nvSpPr>
          <p:cNvPr id="62467" name="Rectangle 7">
            <a:extLst>
              <a:ext uri="{FF2B5EF4-FFF2-40B4-BE49-F238E27FC236}">
                <a16:creationId xmlns:a16="http://schemas.microsoft.com/office/drawing/2014/main" id="{14738FBF-6FDB-FBE4-15B5-DD92DCC9CC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402FBB3A-C06E-4F22-9CEC-A2B6C8D2A14C}" type="slidenum">
              <a:rPr lang="ko-KR" altLang="ko-KR">
                <a:latin typeface="Times New Roman" panose="02020603050405020304" pitchFamily="18" charset="0"/>
                <a:cs typeface="Tahoma" panose="020B0604030504040204" pitchFamily="34" charset="0"/>
              </a:rPr>
              <a:pPr>
                <a:spcBef>
                  <a:spcPct val="0"/>
                </a:spcBef>
              </a:pPr>
              <a:t>48</a:t>
            </a:fld>
            <a:endParaRPr lang="ko-KR" altLang="ko-KR">
              <a:latin typeface="Times New Roman" panose="02020603050405020304" pitchFamily="18" charset="0"/>
              <a:cs typeface="Tahoma" panose="020B0604030504040204" pitchFamily="34" charset="0"/>
            </a:endParaRPr>
          </a:p>
        </p:txBody>
      </p:sp>
      <p:sp>
        <p:nvSpPr>
          <p:cNvPr id="62468" name="Rectangle 2">
            <a:extLst>
              <a:ext uri="{FF2B5EF4-FFF2-40B4-BE49-F238E27FC236}">
                <a16:creationId xmlns:a16="http://schemas.microsoft.com/office/drawing/2014/main" id="{65DDF4DC-0729-B0FB-F830-F432A0B7D9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9" name="Rectangle 3">
            <a:extLst>
              <a:ext uri="{FF2B5EF4-FFF2-40B4-BE49-F238E27FC236}">
                <a16:creationId xmlns:a16="http://schemas.microsoft.com/office/drawing/2014/main" id="{A40F2315-A076-B73C-E0C6-BD12A26AB9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3">
            <a:extLst>
              <a:ext uri="{FF2B5EF4-FFF2-40B4-BE49-F238E27FC236}">
                <a16:creationId xmlns:a16="http://schemas.microsoft.com/office/drawing/2014/main" id="{51E7768D-65BC-B440-2312-7F76C58A677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r>
              <a:rPr lang="ko-KR" altLang="en-US">
                <a:latin typeface="Times New Roman" panose="02020603050405020304" pitchFamily="18" charset="0"/>
              </a:rPr>
              <a:t>© 우균, 창병모</a:t>
            </a:r>
            <a:endParaRPr lang="ko-KR" altLang="ko-KR">
              <a:latin typeface="Times New Roman" panose="02020603050405020304" pitchFamily="18" charset="0"/>
            </a:endParaRPr>
          </a:p>
        </p:txBody>
      </p:sp>
      <p:sp>
        <p:nvSpPr>
          <p:cNvPr id="79875" name="Rectangle 7">
            <a:extLst>
              <a:ext uri="{FF2B5EF4-FFF2-40B4-BE49-F238E27FC236}">
                <a16:creationId xmlns:a16="http://schemas.microsoft.com/office/drawing/2014/main" id="{6B7B4D8D-2B3B-EDA8-AC0C-15A0D4B6FC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67063D6-7B89-4995-A943-AE32097FFEAA}" type="slidenum">
              <a:rPr lang="ko-KR" altLang="ko-KR">
                <a:latin typeface="Times New Roman" panose="02020603050405020304" pitchFamily="18" charset="0"/>
                <a:cs typeface="Tahoma" panose="020B0604030504040204" pitchFamily="34" charset="0"/>
              </a:rPr>
              <a:pPr>
                <a:spcBef>
                  <a:spcPct val="0"/>
                </a:spcBef>
              </a:pPr>
              <a:t>64</a:t>
            </a:fld>
            <a:endParaRPr lang="ko-KR" altLang="ko-KR">
              <a:latin typeface="Times New Roman" panose="02020603050405020304" pitchFamily="18" charset="0"/>
              <a:cs typeface="Tahoma" panose="020B0604030504040204" pitchFamily="34" charset="0"/>
            </a:endParaRPr>
          </a:p>
        </p:txBody>
      </p:sp>
      <p:sp>
        <p:nvSpPr>
          <p:cNvPr id="79876" name="Rectangle 2">
            <a:extLst>
              <a:ext uri="{FF2B5EF4-FFF2-40B4-BE49-F238E27FC236}">
                <a16:creationId xmlns:a16="http://schemas.microsoft.com/office/drawing/2014/main" id="{15E020FA-8710-43B9-50EB-1A2FC79B6C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7" name="Rectangle 3">
            <a:extLst>
              <a:ext uri="{FF2B5EF4-FFF2-40B4-BE49-F238E27FC236}">
                <a16:creationId xmlns:a16="http://schemas.microsoft.com/office/drawing/2014/main" id="{0CB1C450-FD31-FC10-527C-1C686FB901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3">
            <a:extLst>
              <a:ext uri="{FF2B5EF4-FFF2-40B4-BE49-F238E27FC236}">
                <a16:creationId xmlns:a16="http://schemas.microsoft.com/office/drawing/2014/main" id="{630633CC-3C33-1123-5EF0-F97C65EC3EC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r>
              <a:rPr lang="ko-KR" altLang="en-US">
                <a:latin typeface="Times New Roman" panose="02020603050405020304" pitchFamily="18" charset="0"/>
              </a:rPr>
              <a:t>© 우균, 창병모</a:t>
            </a:r>
            <a:endParaRPr lang="ko-KR" altLang="ko-KR">
              <a:latin typeface="Times New Roman" panose="02020603050405020304" pitchFamily="18" charset="0"/>
            </a:endParaRPr>
          </a:p>
        </p:txBody>
      </p:sp>
      <p:sp>
        <p:nvSpPr>
          <p:cNvPr id="81923" name="Rectangle 7">
            <a:extLst>
              <a:ext uri="{FF2B5EF4-FFF2-40B4-BE49-F238E27FC236}">
                <a16:creationId xmlns:a16="http://schemas.microsoft.com/office/drawing/2014/main" id="{BE37ECCC-ADDE-01D1-5EAD-6FF9F99C42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92F8D3D5-FAD4-40F6-8EA9-C570D7D1A863}" type="slidenum">
              <a:rPr lang="ko-KR" altLang="ko-KR">
                <a:latin typeface="Times New Roman" panose="02020603050405020304" pitchFamily="18" charset="0"/>
                <a:cs typeface="Tahoma" panose="020B0604030504040204" pitchFamily="34" charset="0"/>
              </a:rPr>
              <a:pPr>
                <a:spcBef>
                  <a:spcPct val="0"/>
                </a:spcBef>
              </a:pPr>
              <a:t>65</a:t>
            </a:fld>
            <a:endParaRPr lang="ko-KR" altLang="ko-KR">
              <a:latin typeface="Times New Roman" panose="02020603050405020304" pitchFamily="18" charset="0"/>
              <a:cs typeface="Tahoma" panose="020B0604030504040204" pitchFamily="34" charset="0"/>
            </a:endParaRPr>
          </a:p>
        </p:txBody>
      </p:sp>
      <p:sp>
        <p:nvSpPr>
          <p:cNvPr id="81924" name="Rectangle 2">
            <a:extLst>
              <a:ext uri="{FF2B5EF4-FFF2-40B4-BE49-F238E27FC236}">
                <a16:creationId xmlns:a16="http://schemas.microsoft.com/office/drawing/2014/main" id="{2C1FF23D-0CC0-31E2-67F7-CB8ECA4F69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5" name="Rectangle 3">
            <a:extLst>
              <a:ext uri="{FF2B5EF4-FFF2-40B4-BE49-F238E27FC236}">
                <a16:creationId xmlns:a16="http://schemas.microsoft.com/office/drawing/2014/main" id="{7BE7F347-AA0C-1CE7-6DEF-67D356C674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3">
            <a:extLst>
              <a:ext uri="{FF2B5EF4-FFF2-40B4-BE49-F238E27FC236}">
                <a16:creationId xmlns:a16="http://schemas.microsoft.com/office/drawing/2014/main" id="{A14C977D-F955-1530-C401-4F73FDC984E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r>
              <a:rPr lang="ko-KR" altLang="en-US">
                <a:latin typeface="Times New Roman" panose="02020603050405020304" pitchFamily="18" charset="0"/>
              </a:rPr>
              <a:t>© 우균, 창병모</a:t>
            </a:r>
            <a:endParaRPr lang="ko-KR" altLang="ko-KR">
              <a:latin typeface="Times New Roman" panose="02020603050405020304" pitchFamily="18" charset="0"/>
            </a:endParaRPr>
          </a:p>
        </p:txBody>
      </p:sp>
      <p:sp>
        <p:nvSpPr>
          <p:cNvPr id="83971" name="Rectangle 7">
            <a:extLst>
              <a:ext uri="{FF2B5EF4-FFF2-40B4-BE49-F238E27FC236}">
                <a16:creationId xmlns:a16="http://schemas.microsoft.com/office/drawing/2014/main" id="{5A7F9B64-AD17-B0A3-7D2C-2ADCC662B1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293AAC61-DFEB-4909-89AF-899DBD9C258E}" type="slidenum">
              <a:rPr lang="ko-KR" altLang="ko-KR">
                <a:latin typeface="Times New Roman" panose="02020603050405020304" pitchFamily="18" charset="0"/>
                <a:cs typeface="Tahoma" panose="020B0604030504040204" pitchFamily="34" charset="0"/>
              </a:rPr>
              <a:pPr>
                <a:spcBef>
                  <a:spcPct val="0"/>
                </a:spcBef>
              </a:pPr>
              <a:t>66</a:t>
            </a:fld>
            <a:endParaRPr lang="ko-KR" altLang="ko-KR">
              <a:latin typeface="Times New Roman" panose="02020603050405020304" pitchFamily="18" charset="0"/>
              <a:cs typeface="Tahoma" panose="020B0604030504040204" pitchFamily="34" charset="0"/>
            </a:endParaRPr>
          </a:p>
        </p:txBody>
      </p:sp>
      <p:sp>
        <p:nvSpPr>
          <p:cNvPr id="83972" name="Rectangle 2">
            <a:extLst>
              <a:ext uri="{FF2B5EF4-FFF2-40B4-BE49-F238E27FC236}">
                <a16:creationId xmlns:a16="http://schemas.microsoft.com/office/drawing/2014/main" id="{7F07FFA3-B4D5-F06E-6A6B-98783BB8D3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3" name="Rectangle 3">
            <a:extLst>
              <a:ext uri="{FF2B5EF4-FFF2-40B4-BE49-F238E27FC236}">
                <a16:creationId xmlns:a16="http://schemas.microsoft.com/office/drawing/2014/main" id="{91D9B630-5159-D32F-9DC6-64FF47F23F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D0380689-1D68-97A2-985B-0649CD93085B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2889250"/>
            <a:ext cx="8610600" cy="201613"/>
            <a:chOff x="144" y="1680"/>
            <a:chExt cx="5424" cy="144"/>
          </a:xfrm>
        </p:grpSpPr>
        <p:sp>
          <p:nvSpPr>
            <p:cNvPr id="3" name="Rectangle 8">
              <a:extLst>
                <a:ext uri="{FF2B5EF4-FFF2-40B4-BE49-F238E27FC236}">
                  <a16:creationId xmlns:a16="http://schemas.microsoft.com/office/drawing/2014/main" id="{6D14B156-91EF-3196-2C2A-964B89E546F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>
                <a:defRPr/>
              </a:pPr>
              <a:endParaRPr lang="ko-KR" altLang="en-US"/>
            </a:p>
          </p:txBody>
        </p:sp>
        <p:sp>
          <p:nvSpPr>
            <p:cNvPr id="4" name="Rectangle 9">
              <a:extLst>
                <a:ext uri="{FF2B5EF4-FFF2-40B4-BE49-F238E27FC236}">
                  <a16:creationId xmlns:a16="http://schemas.microsoft.com/office/drawing/2014/main" id="{D04D0FA6-FD18-B2B2-8703-9DE6A05CC1B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>
                <a:defRPr/>
              </a:pPr>
              <a:endParaRPr lang="ko-KR" altLang="en-US"/>
            </a:p>
          </p:txBody>
        </p:sp>
        <p:sp>
          <p:nvSpPr>
            <p:cNvPr id="5" name="Rectangle 10">
              <a:extLst>
                <a:ext uri="{FF2B5EF4-FFF2-40B4-BE49-F238E27FC236}">
                  <a16:creationId xmlns:a16="http://schemas.microsoft.com/office/drawing/2014/main" id="{B969D0F0-845C-A000-A27D-3648798E3C9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>
                <a:defRPr/>
              </a:pPr>
              <a:endParaRPr lang="ko-KR" altLang="en-US"/>
            </a:p>
          </p:txBody>
        </p:sp>
      </p:grpSp>
      <p:sp>
        <p:nvSpPr>
          <p:cNvPr id="4218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 anchor="b"/>
          <a:lstStyle>
            <a:lvl1pPr algn="ctr">
              <a:defRPr sz="5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218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000"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9BD327A-4A04-1357-F472-FC6CB2DE10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ahoma" pitchFamily="34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0A1D979-DF0B-EF50-534F-8FCE3AF6DD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ahoma" pitchFamily="34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344D716-084D-0D54-9470-161EF778E6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ahoma" panose="020B0604030504040204" pitchFamily="34" charset="0"/>
                <a:ea typeface="굴림" panose="020B0600000101010101" pitchFamily="50" charset="-127"/>
              </a:defRPr>
            </a:lvl1pPr>
          </a:lstStyle>
          <a:p>
            <a:fld id="{16A2CD9E-ABB5-49DD-8B9C-53337ADBAC35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8172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98964C4-4C21-4514-4136-2998255297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E3B7BE7-8BBD-A0A6-A18B-B2F6D6AA6F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B921379-7E9E-4E88-63B2-2289E01ADD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9E3524-CAAC-4CE2-A04A-C694A3FEEB50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38319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6A196D8-A1F0-4381-E572-5729E57EB3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EDCD411-064D-47C0-9CED-FA6D52ACDB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8F61A26-4DDC-9FAB-FB6D-F50C60CB73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8B7767-D8AA-4E77-AFFD-72339DD2929D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89730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CD35AA-D656-E693-D4D2-2663E3EDF2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8CE01A-132E-1FF4-7AA2-EC5BC4F654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F8146C-AB30-49D0-D169-1F0145F6C8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10EB0F-678F-4852-8D74-8B4DE9E8AA4F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3632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E4FF3B9-45BA-04F0-5C87-BF593CEEF1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D479B08-1762-D820-279D-4AD84B1125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69D36E8-8B2D-D45D-BB8E-8A0383A7BA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00A4CC-8662-4889-B668-43FDE3058C37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23669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B9FA518-8BEF-157A-0A38-55ADC71A6C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FDFAFA8-269E-966B-0A86-86B9EBF750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A18D831-F199-A5AB-BCE8-60390EF4D3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5C30D4-04BF-406D-87DC-51E418B32FB8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52762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FC477F8-36EB-3AA4-1EBD-3A17A83282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0E3D2B0-6E33-3F1B-3142-D92728FE3B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62C514B-1AFC-6528-7955-81127EFE91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ED39C7-2311-4519-96FB-BE1550F5007A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54939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C36F61-EAC3-1B46-0133-3ECB11CEAD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0071F6-741F-2754-8B35-F1459F994F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E2F141-285C-0AA6-0814-B9145AF885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34F170-5154-4FEC-8A78-45CB1001E35B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08960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CD5ED4-154C-AAC4-585F-82D5AB37C3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7B93D3-70B4-D646-FCA8-4A24A7660D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21132C-985C-467C-23A8-20E3036253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78D2C2-0FF7-4347-B3A4-E16AA7C92232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71463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72C96E9-02B1-9F34-5578-7638739776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2DF1C98-9603-3E1E-ED0A-D7E30FCE63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DC5B3D5-DCE6-E087-FD13-C8113F7399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1893CA-5F1F-445D-8CC3-85EBD60F42C7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60381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E2C5207-963E-C4C1-702C-5E5AC12767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11FADEC-A22F-C73F-D11E-EFA8CE67C4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9FCF209-D8A4-2906-BC80-9816DD1594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690762-50DA-4F1F-80D9-74B9A174E3AB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37410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F08B1CE-5EE7-66C9-CDBA-059B6B279C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3A981BC-153E-C162-371D-9998C4F5AA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20868" name="Rectangle 4">
            <a:extLst>
              <a:ext uri="{FF2B5EF4-FFF2-40B4-BE49-F238E27FC236}">
                <a16:creationId xmlns:a16="http://schemas.microsoft.com/office/drawing/2014/main" id="{97D9F153-2B54-440D-8A28-38AFEB5AE5C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kumimoji="0" sz="100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420869" name="Rectangle 5">
            <a:extLst>
              <a:ext uri="{FF2B5EF4-FFF2-40B4-BE49-F238E27FC236}">
                <a16:creationId xmlns:a16="http://schemas.microsoft.com/office/drawing/2014/main" id="{ABA881ED-056D-F247-89D6-64943BF9F1C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kumimoji="0" sz="10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20870" name="Rectangle 6">
            <a:extLst>
              <a:ext uri="{FF2B5EF4-FFF2-40B4-BE49-F238E27FC236}">
                <a16:creationId xmlns:a16="http://schemas.microsoft.com/office/drawing/2014/main" id="{CFE1C332-BF9C-66D2-D07A-82D909F7080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000">
                <a:latin typeface="HY동녘B" pitchFamily="18" charset="-127"/>
                <a:ea typeface="HY동녘B" pitchFamily="18" charset="-127"/>
              </a:defRPr>
            </a:lvl1pPr>
          </a:lstStyle>
          <a:p>
            <a:fld id="{9FAFDDBC-7132-481C-869E-6C43E8B29481}" type="slidenum">
              <a:rPr lang="ko-KR" altLang="en-US"/>
              <a:pPr/>
              <a:t>‹#›</a:t>
            </a:fld>
            <a:endParaRPr lang="en-US" altLang="ko-KR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51733E55-A41F-028B-9081-857194442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kumimoji="0" lang="ko-KR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Line 8">
            <a:extLst>
              <a:ext uri="{FF2B5EF4-FFF2-40B4-BE49-F238E27FC236}">
                <a16:creationId xmlns:a16="http://schemas.microsoft.com/office/drawing/2014/main" id="{38C5F74E-F02B-8818-779B-4DB6958C27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44780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7D0F1E95-73E2-5EF3-48AE-05434635A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kumimoji="0" lang="ko-KR" altLang="en-US" sz="2400">
              <a:latin typeface="Times New Roman" panose="02020603050405020304" pitchFamily="18" charset="0"/>
            </a:endParaRP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B437ACFA-F8F1-7641-6F7B-875796579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kumimoji="0" lang="ko-KR" altLang="en-US" sz="240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64" r:id="rId2"/>
    <p:sldLayoutId id="2147483865" r:id="rId3"/>
    <p:sldLayoutId id="2147483866" r:id="rId4"/>
    <p:sldLayoutId id="2147483867" r:id="rId5"/>
    <p:sldLayoutId id="2147483868" r:id="rId6"/>
    <p:sldLayoutId id="2147483869" r:id="rId7"/>
    <p:sldLayoutId id="2147483870" r:id="rId8"/>
    <p:sldLayoutId id="2147483871" r:id="rId9"/>
    <p:sldLayoutId id="2147483872" r:id="rId10"/>
    <p:sldLayoutId id="2147483873" r:id="rId11"/>
  </p:sldLayoutIdLst>
  <p:hf hdr="0" ftr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Y동녘B" pitchFamily="18" charset="-127"/>
          <a:ea typeface="HY동녘B" pitchFamily="18" charset="-127"/>
          <a:cs typeface="Tahoma" pitchFamily="34" charset="0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Y동녘B" pitchFamily="18" charset="-127"/>
          <a:ea typeface="HY동녘B" pitchFamily="18" charset="-127"/>
          <a:cs typeface="Tahoma" pitchFamily="34" charset="0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Y동녘B" pitchFamily="18" charset="-127"/>
          <a:ea typeface="HY동녘B" pitchFamily="18" charset="-127"/>
          <a:cs typeface="Tahoma" pitchFamily="34" charset="0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Y동녘B" pitchFamily="18" charset="-127"/>
          <a:ea typeface="HY동녘B" pitchFamily="18" charset="-127"/>
          <a:cs typeface="Tahoma" pitchFamily="34" charset="0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Y동녘B" pitchFamily="18" charset="-127"/>
          <a:ea typeface="HY동녘B" pitchFamily="18" charset="-127"/>
          <a:cs typeface="Tahoma" pitchFamily="34" charset="0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Y동녘B" pitchFamily="18" charset="-127"/>
          <a:ea typeface="HY동녘B" pitchFamily="18" charset="-127"/>
          <a:cs typeface="Tahoma" pitchFamily="34" charset="0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Y동녘B" pitchFamily="18" charset="-127"/>
          <a:ea typeface="HY동녘B" pitchFamily="18" charset="-127"/>
          <a:cs typeface="Tahoma" pitchFamily="34" charset="0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Y동녘B" pitchFamily="18" charset="-127"/>
          <a:ea typeface="HY동녘B" pitchFamily="18" charset="-127"/>
          <a:cs typeface="Tahoma" pitchFamily="34" charset="0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kumimoji="1"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6C668F43-1C76-B707-32E9-2F323C658D9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t>© 우균, 창병모</a:t>
            </a:r>
            <a:endParaRPr kumimoji="0" lang="en-US" altLang="ko-KR" sz="10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123" name="Rectangle 6">
            <a:extLst>
              <a:ext uri="{FF2B5EF4-FFF2-40B4-BE49-F238E27FC236}">
                <a16:creationId xmlns:a16="http://schemas.microsoft.com/office/drawing/2014/main" id="{EFA0C216-35D9-A06E-D13A-6EB077F5ED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A2BD0B8-4F54-494A-AFEA-2DD82366C547}" type="slidenum"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kumimoji="0" lang="en-US" altLang="ko-KR" sz="10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124" name="Rectangle 9">
            <a:extLst>
              <a:ext uri="{FF2B5EF4-FFF2-40B4-BE49-F238E27FC236}">
                <a16:creationId xmlns:a16="http://schemas.microsoft.com/office/drawing/2014/main" id="{975171BC-D7E2-A4F5-A658-5A4FB7A44D6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ko-KR" b="1"/>
              <a:t>PART 7 </a:t>
            </a:r>
            <a:r>
              <a:rPr lang="ko-KR" altLang="en-US" b="1"/>
              <a:t>배열</a:t>
            </a:r>
            <a:endParaRPr lang="ko-KR" altLang="en-US"/>
          </a:p>
        </p:txBody>
      </p:sp>
      <p:sp>
        <p:nvSpPr>
          <p:cNvPr id="5125" name="Rectangle 10">
            <a:extLst>
              <a:ext uri="{FF2B5EF4-FFF2-40B4-BE49-F238E27FC236}">
                <a16:creationId xmlns:a16="http://schemas.microsoft.com/office/drawing/2014/main" id="{D27DDB08-43CF-06DA-3C6E-CB59AD660ED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latin typeface="Tahoma" panose="020B0604030504040204" pitchFamily="34" charset="0"/>
              </a:rPr>
              <a:t>©</a:t>
            </a:r>
            <a:r>
              <a:rPr lang="ko-KR" altLang="en-US"/>
              <a:t>창병모</a:t>
            </a:r>
            <a:r>
              <a:rPr lang="en-US" altLang="ko-KR"/>
              <a:t>, </a:t>
            </a:r>
            <a:r>
              <a:rPr lang="ko-KR" altLang="en-US"/>
              <a:t>우균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718755-373E-67CE-F906-B6FC4D9E3F3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7171" name="슬라이드 번호 개체 틀 5">
            <a:extLst>
              <a:ext uri="{FF2B5EF4-FFF2-40B4-BE49-F238E27FC236}">
                <a16:creationId xmlns:a16="http://schemas.microsoft.com/office/drawing/2014/main" id="{8AE0E9F8-DE86-7FF6-F35A-6BED7788F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A0DC043-0FB9-4BBF-9449-3450E34BB983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kumimoji="0" lang="en-US" altLang="ko-KR" sz="1000"/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0F321B75-EB3C-18DE-07FB-178A55378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solidFill>
                  <a:schemeClr val="tx1"/>
                </a:solidFill>
              </a:rPr>
              <a:t>이 장의 내용</a:t>
            </a:r>
            <a:r>
              <a:rPr lang="ko-KR" altLang="en-US"/>
              <a:t> </a:t>
            </a:r>
            <a:endParaRPr lang="en-US" altLang="ko-KR"/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6354E683-A3CD-D6F7-6C0D-074899B256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배열 선언과 사용법</a:t>
            </a:r>
          </a:p>
          <a:p>
            <a:r>
              <a:rPr lang="ko-KR" altLang="en-US"/>
              <a:t>객체들의 배열 이해 및 사용</a:t>
            </a:r>
          </a:p>
          <a:p>
            <a:r>
              <a:rPr lang="ko-KR" altLang="en-US"/>
              <a:t>가변 길이 매개변수 리스트</a:t>
            </a:r>
          </a:p>
          <a:p>
            <a:r>
              <a:rPr lang="ko-KR" altLang="en-US"/>
              <a:t>다차원 배열</a:t>
            </a:r>
          </a:p>
          <a:p>
            <a:r>
              <a:rPr lang="ko-KR" altLang="en-US"/>
              <a:t>동적인 배열 </a:t>
            </a:r>
            <a:r>
              <a:rPr lang="en-US" altLang="ko-KR"/>
              <a:t>ArrayList</a:t>
            </a:r>
            <a:endParaRPr lang="ko-KR" altLang="en-US"/>
          </a:p>
          <a:p>
            <a:r>
              <a:rPr lang="ko-KR" altLang="en-US"/>
              <a:t>이벤트 구동 </a:t>
            </a:r>
            <a:r>
              <a:rPr lang="en-US" altLang="ko-KR"/>
              <a:t>GUI </a:t>
            </a:r>
            <a:r>
              <a:rPr lang="ko-KR" altLang="en-US"/>
              <a:t>프로그램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>
            <a:extLst>
              <a:ext uri="{FF2B5EF4-FFF2-40B4-BE49-F238E27FC236}">
                <a16:creationId xmlns:a16="http://schemas.microsoft.com/office/drawing/2014/main" id="{C38BFD59-BF8D-B042-9616-7C4CF944131D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t>© 우균, 창병모</a:t>
            </a:r>
            <a:endParaRPr kumimoji="0" lang="en-US" altLang="ko-KR" sz="10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9219" name="Rectangle 6">
            <a:extLst>
              <a:ext uri="{FF2B5EF4-FFF2-40B4-BE49-F238E27FC236}">
                <a16:creationId xmlns:a16="http://schemas.microsoft.com/office/drawing/2014/main" id="{6E628BF6-D1EA-E77B-1658-7669607B39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61F8A4B-40C1-4A82-93AD-713046B9E825}" type="slidenum"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kumimoji="0" lang="en-US" altLang="ko-KR" sz="10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310E6ED7-AFFF-A05A-8EA8-404AC13DF69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4800"/>
              <a:t>7.1 </a:t>
            </a:r>
            <a:r>
              <a:rPr lang="ko-KR" altLang="en-US" sz="4800"/>
              <a:t>배열 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22BC57C8-8701-151E-8D04-60EF210A1D9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2B110146-F633-2680-7AB9-04EFBA1D0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배열의 사용</a:t>
            </a:r>
          </a:p>
        </p:txBody>
      </p:sp>
      <p:sp>
        <p:nvSpPr>
          <p:cNvPr id="11267" name="내용 개체 틀 2">
            <a:extLst>
              <a:ext uri="{FF2B5EF4-FFF2-40B4-BE49-F238E27FC236}">
                <a16:creationId xmlns:a16="http://schemas.microsoft.com/office/drawing/2014/main" id="{45DA2B7D-262D-22B2-AD9D-4A76A3017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/>
              <a:t>배열이 필요한 경우 </a:t>
            </a:r>
            <a:endParaRPr lang="en-US" altLang="ko-KR" sz="2400"/>
          </a:p>
          <a:p>
            <a:pPr lvl="1"/>
            <a:r>
              <a:rPr lang="ko-KR" altLang="en-US" sz="1800"/>
              <a:t>대용량의 데이터를 처리하는 프로그램을 작성</a:t>
            </a:r>
            <a:endParaRPr lang="en-US" altLang="ko-KR" sz="1800"/>
          </a:p>
          <a:p>
            <a:pPr lvl="1"/>
            <a:r>
              <a:rPr lang="ko-KR" altLang="en-US" sz="1800"/>
              <a:t>같은 타입의 값들을 여러 개 저장해야 하는 경우</a:t>
            </a:r>
            <a:endParaRPr lang="en-US" altLang="ko-KR" sz="1800"/>
          </a:p>
          <a:p>
            <a:pPr lvl="1"/>
            <a:r>
              <a:rPr lang="ko-KR" altLang="en-US" sz="1800"/>
              <a:t>예를 들어 학과 학생들의 점수</a:t>
            </a:r>
            <a:r>
              <a:rPr lang="en-US" altLang="ko-KR" sz="1800"/>
              <a:t>, </a:t>
            </a:r>
            <a:r>
              <a:rPr lang="ko-KR" altLang="en-US" sz="1800"/>
              <a:t>회사 근로자들의 급여액 </a:t>
            </a:r>
          </a:p>
          <a:p>
            <a:r>
              <a:rPr lang="ko-KR" altLang="en-US" sz="2400"/>
              <a:t>배열은 같은 타입의 값들의 리스트</a:t>
            </a:r>
            <a:endParaRPr lang="en-US" altLang="ko-KR" sz="2400"/>
          </a:p>
          <a:p>
            <a:pPr lvl="1"/>
            <a:r>
              <a:rPr lang="ko-KR" altLang="en-US" sz="1800" b="1"/>
              <a:t>각 값들은 배열 원소</a:t>
            </a:r>
            <a:r>
              <a:rPr lang="en-US" altLang="ko-KR" sz="1800" b="1"/>
              <a:t>(array element)</a:t>
            </a:r>
            <a:r>
              <a:rPr lang="ko-KR" altLang="en-US" sz="1800"/>
              <a:t> </a:t>
            </a:r>
            <a:endParaRPr lang="en-US" altLang="ko-KR" sz="1800"/>
          </a:p>
          <a:p>
            <a:pPr lvl="1"/>
            <a:r>
              <a:rPr lang="ko-KR" altLang="en-US" sz="1800"/>
              <a:t>각 원소는 </a:t>
            </a:r>
            <a:r>
              <a:rPr lang="ko-KR" altLang="en-US" sz="1800" b="1"/>
              <a:t>인덱스</a:t>
            </a:r>
            <a:r>
              <a:rPr lang="en-US" altLang="ko-KR" sz="1800" b="1"/>
              <a:t>(index)</a:t>
            </a:r>
            <a:r>
              <a:rPr lang="ko-KR" altLang="en-US" sz="1800"/>
              <a:t>가 부여된다</a:t>
            </a:r>
            <a:r>
              <a:rPr lang="en-US" altLang="ko-KR" sz="1800"/>
              <a:t>.</a:t>
            </a:r>
            <a:endParaRPr lang="ko-KR" altLang="en-US" sz="1800"/>
          </a:p>
          <a:p>
            <a:endParaRPr lang="ko-KR" altLang="en-US" sz="24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A1AE5-D21E-159D-F79B-E927B280431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11269" name="슬라이드 번호 개체 틀 4">
            <a:extLst>
              <a:ext uri="{FF2B5EF4-FFF2-40B4-BE49-F238E27FC236}">
                <a16:creationId xmlns:a16="http://schemas.microsoft.com/office/drawing/2014/main" id="{050C0D0A-D0E4-5DAE-2A16-339658E91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04620CF-8E55-4D22-857D-896AD2A39DF1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kumimoji="0" lang="en-US" altLang="ko-KR" sz="1000"/>
          </a:p>
        </p:txBody>
      </p:sp>
      <p:sp>
        <p:nvSpPr>
          <p:cNvPr id="11270" name="Rectangle 2">
            <a:extLst>
              <a:ext uri="{FF2B5EF4-FFF2-40B4-BE49-F238E27FC236}">
                <a16:creationId xmlns:a16="http://schemas.microsoft.com/office/drawing/2014/main" id="{AA156D8D-8417-921B-968C-C7B0547A8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11271" name="_x95101720" descr="EMB0000161099f2">
            <a:extLst>
              <a:ext uri="{FF2B5EF4-FFF2-40B4-BE49-F238E27FC236}">
                <a16:creationId xmlns:a16="http://schemas.microsoft.com/office/drawing/2014/main" id="{189BDF35-FB02-7E51-CB40-20F588AFF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4292600"/>
            <a:ext cx="5764212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제목 1">
            <a:extLst>
              <a:ext uri="{FF2B5EF4-FFF2-40B4-BE49-F238E27FC236}">
                <a16:creationId xmlns:a16="http://schemas.microsoft.com/office/drawing/2014/main" id="{82FCC4A8-BC84-C404-342C-B9F649336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배열의 원소</a:t>
            </a:r>
          </a:p>
        </p:txBody>
      </p:sp>
      <p:sp>
        <p:nvSpPr>
          <p:cNvPr id="12291" name="내용 개체 틀 2">
            <a:extLst>
              <a:ext uri="{FF2B5EF4-FFF2-40B4-BE49-F238E27FC236}">
                <a16:creationId xmlns:a16="http://schemas.microsoft.com/office/drawing/2014/main" id="{D326CD6B-21DB-C7CF-BDC6-99117DABB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ko-KR" altLang="en-US" sz="2000"/>
              <a:t>━━━━━━━━━━━━━━━━━━━━━━━━━━━━━━━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 b="1"/>
              <a:t>Key Point</a:t>
            </a:r>
            <a:endParaRPr lang="ko-KR" altLang="en-US" sz="2000"/>
          </a:p>
          <a:p>
            <a:pPr>
              <a:buFont typeface="Wingdings" panose="05000000000000000000" pitchFamily="2" charset="2"/>
              <a:buNone/>
            </a:pPr>
            <a:r>
              <a:rPr lang="ko-KR" altLang="en-US" sz="2000"/>
              <a:t>크기가 </a:t>
            </a:r>
            <a:r>
              <a:rPr lang="en-US" altLang="ko-KR" sz="2000"/>
              <a:t>N</a:t>
            </a:r>
            <a:r>
              <a:rPr lang="ko-KR" altLang="en-US" sz="2000"/>
              <a:t>인 배열의 인덱스는 </a:t>
            </a:r>
            <a:r>
              <a:rPr lang="en-US" altLang="ko-KR" sz="2000"/>
              <a:t>0</a:t>
            </a:r>
            <a:r>
              <a:rPr lang="ko-KR" altLang="en-US" sz="2000"/>
              <a:t>부터 </a:t>
            </a:r>
            <a:r>
              <a:rPr lang="en-US" altLang="ko-KR" sz="2000"/>
              <a:t>N-1</a:t>
            </a:r>
            <a:r>
              <a:rPr lang="ko-KR" altLang="en-US" sz="2000"/>
              <a:t>까지이다</a:t>
            </a:r>
            <a:r>
              <a:rPr lang="en-US" altLang="ko-KR" sz="2000"/>
              <a:t>.</a:t>
            </a:r>
          </a:p>
          <a:p>
            <a:pPr>
              <a:buFont typeface="Wingdings" panose="05000000000000000000" pitchFamily="2" charset="2"/>
              <a:buNone/>
            </a:pPr>
            <a:r>
              <a:rPr lang="ko-KR" altLang="en-US" sz="2000"/>
              <a:t>━━━━━━━━━━━━━━━━━━━━━━━━━━━━━━━</a:t>
            </a:r>
            <a:endParaRPr lang="ko-KR" altLang="en-US"/>
          </a:p>
          <a:p>
            <a:r>
              <a:rPr lang="ko-KR" altLang="en-US"/>
              <a:t>배열의 원소</a:t>
            </a:r>
          </a:p>
          <a:p>
            <a:pPr lvl="1"/>
            <a:r>
              <a:rPr lang="en-US" altLang="ko-KR" sz="2000"/>
              <a:t>scores[2]</a:t>
            </a:r>
            <a:r>
              <a:rPr lang="ko-KR" altLang="en-US" sz="2000"/>
              <a:t> </a:t>
            </a:r>
            <a:r>
              <a:rPr lang="en-US" altLang="ko-KR" sz="2000"/>
              <a:t>// </a:t>
            </a:r>
            <a:r>
              <a:rPr lang="ko-KR" altLang="en-US" sz="2000"/>
              <a:t>세번째 원소</a:t>
            </a:r>
            <a:r>
              <a:rPr lang="en-US" altLang="ko-KR" sz="2000"/>
              <a:t>, </a:t>
            </a:r>
            <a:r>
              <a:rPr lang="ko-KR" altLang="en-US" sz="2000"/>
              <a:t>하나의 정수 변수처럼 사용될 수 있다</a:t>
            </a:r>
            <a:endParaRPr lang="en-US" altLang="ko-KR" sz="2000"/>
          </a:p>
          <a:p>
            <a:pPr lvl="1"/>
            <a:r>
              <a:rPr lang="en-US" altLang="ko-KR" sz="2000"/>
              <a:t>scores[2] = 89;</a:t>
            </a:r>
            <a:endParaRPr lang="ko-KR" altLang="en-US" sz="2000"/>
          </a:p>
          <a:p>
            <a:pPr lvl="1"/>
            <a:r>
              <a:rPr lang="en-US" altLang="ko-KR" sz="2000"/>
              <a:t>scores[1] = scores[1] + 2;</a:t>
            </a:r>
            <a:endParaRPr lang="ko-KR" altLang="en-US" sz="2000"/>
          </a:p>
          <a:p>
            <a:pPr lvl="1"/>
            <a:r>
              <a:rPr lang="en-US" altLang="ko-KR" sz="2000"/>
              <a:t>mean = (scores[0] + scores[1])/2;</a:t>
            </a:r>
            <a:endParaRPr lang="ko-KR" altLang="en-US" sz="2000"/>
          </a:p>
          <a:p>
            <a:pPr lvl="1"/>
            <a:r>
              <a:rPr lang="en-US" altLang="ko-KR" sz="2000"/>
              <a:t>System.out.println ("</a:t>
            </a:r>
            <a:r>
              <a:rPr lang="ko-KR" altLang="en-US" sz="2000"/>
              <a:t>최저점 </a:t>
            </a:r>
            <a:r>
              <a:rPr lang="en-US" altLang="ko-KR" sz="2000"/>
              <a:t>= " + scores[5]);</a:t>
            </a:r>
            <a:endParaRPr lang="ko-KR" altLang="en-US" sz="2000"/>
          </a:p>
          <a:p>
            <a:pPr lvl="1">
              <a:buFont typeface="Wingdings" panose="05000000000000000000" pitchFamily="2" charset="2"/>
              <a:buNone/>
            </a:pPr>
            <a:endParaRPr lang="ko-KR" altLang="en-US" sz="20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9DD59C-8AEC-5842-C7C1-8AB37DA2928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12293" name="슬라이드 번호 개체 틀 4">
            <a:extLst>
              <a:ext uri="{FF2B5EF4-FFF2-40B4-BE49-F238E27FC236}">
                <a16:creationId xmlns:a16="http://schemas.microsoft.com/office/drawing/2014/main" id="{8C366736-90F6-55C1-0E50-9E04AB6DC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841E17C-FDA8-4581-8179-8C0B878E0313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kumimoji="0" lang="en-US" altLang="ko-KR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>
            <a:extLst>
              <a:ext uri="{FF2B5EF4-FFF2-40B4-BE49-F238E27FC236}">
                <a16:creationId xmlns:a16="http://schemas.microsoft.com/office/drawing/2014/main" id="{3EA3EACC-F4C6-46C4-FC8C-36CF01AB057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t>© 우균, 창병모</a:t>
            </a:r>
            <a:endParaRPr kumimoji="0" lang="en-US" altLang="ko-KR" sz="10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3315" name="Rectangle 6">
            <a:extLst>
              <a:ext uri="{FF2B5EF4-FFF2-40B4-BE49-F238E27FC236}">
                <a16:creationId xmlns:a16="http://schemas.microsoft.com/office/drawing/2014/main" id="{0C037FBC-AE1D-4DFA-0AC9-0341163A00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A7AB690-2B7D-4740-B379-A953DA65AA83}" type="slidenum"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kumimoji="0" lang="en-US" altLang="ko-KR" sz="10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9000E310-2A5E-3A7B-B3E1-EBAB37C3879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4800"/>
              <a:t>7.2 </a:t>
            </a:r>
            <a:r>
              <a:rPr lang="ko-KR" altLang="en-US" sz="4800"/>
              <a:t>배열 선언과 사용</a:t>
            </a:r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CB885136-2F5E-162C-AE3A-A9341F0E56A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>
            <a:extLst>
              <a:ext uri="{FF2B5EF4-FFF2-40B4-BE49-F238E27FC236}">
                <a16:creationId xmlns:a16="http://schemas.microsoft.com/office/drawing/2014/main" id="{C23F6245-F3FB-6DB8-2FA5-B34E0235C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배열 선언</a:t>
            </a:r>
          </a:p>
        </p:txBody>
      </p:sp>
      <p:sp>
        <p:nvSpPr>
          <p:cNvPr id="15363" name="내용 개체 틀 2">
            <a:extLst>
              <a:ext uri="{FF2B5EF4-FFF2-40B4-BE49-F238E27FC236}">
                <a16:creationId xmlns:a16="http://schemas.microsoft.com/office/drawing/2014/main" id="{9D22F036-BAD6-6315-0B7F-37A64E25D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/>
              <a:t>배열 선언</a:t>
            </a:r>
            <a:endParaRPr lang="en-US" altLang="ko-KR" sz="2400"/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	</a:t>
            </a:r>
            <a:r>
              <a:rPr lang="ko-KR" altLang="en-US" sz="2000"/>
              <a:t>배열원소타입</a:t>
            </a:r>
            <a:r>
              <a:rPr lang="en-US" altLang="ko-KR" sz="2000"/>
              <a:t>[] </a:t>
            </a:r>
            <a:r>
              <a:rPr lang="ko-KR" altLang="en-US" sz="2000"/>
              <a:t>배열이름</a:t>
            </a:r>
            <a:r>
              <a:rPr lang="en-US" altLang="ko-KR" sz="2000"/>
              <a:t>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	int[] scores;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    scores = new int[10];</a:t>
            </a:r>
          </a:p>
          <a:p>
            <a:pPr>
              <a:buFont typeface="Wingdings" panose="05000000000000000000" pitchFamily="2" charset="2"/>
              <a:buNone/>
            </a:pPr>
            <a:r>
              <a:rPr lang="ko-KR" altLang="en-US" sz="2000"/>
              <a:t>━━━━━━━━━━━━━━━━━━━━━━━━━━━━━━━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 b="1"/>
              <a:t>Key Point</a:t>
            </a:r>
            <a:endParaRPr lang="ko-KR" altLang="en-US" sz="2000"/>
          </a:p>
          <a:p>
            <a:pPr>
              <a:buFont typeface="Wingdings" panose="05000000000000000000" pitchFamily="2" charset="2"/>
              <a:buNone/>
            </a:pPr>
            <a:r>
              <a:rPr lang="ko-KR" altLang="en-US" sz="2000"/>
              <a:t>배열도 다른 객체처럼 </a:t>
            </a:r>
            <a:r>
              <a:rPr lang="en-US" altLang="ko-KR" sz="2000"/>
              <a:t>new</a:t>
            </a:r>
            <a:r>
              <a:rPr lang="ko-KR" altLang="en-US" sz="2000"/>
              <a:t> 연산자를 이용해서 반드시 실체화되어야 함</a:t>
            </a:r>
            <a:endParaRPr lang="en-US" altLang="ko-KR" sz="2000"/>
          </a:p>
          <a:p>
            <a:pPr>
              <a:buFont typeface="Wingdings" panose="05000000000000000000" pitchFamily="2" charset="2"/>
              <a:buNone/>
            </a:pPr>
            <a:r>
              <a:rPr lang="ko-KR" altLang="en-US" sz="2000"/>
              <a:t>━━━━━━━━━━━━━━━━━━━━━━━━━━━━━━━</a:t>
            </a:r>
          </a:p>
          <a:p>
            <a:r>
              <a:rPr lang="ko-KR" altLang="en-US" sz="2400"/>
              <a:t>배열 선언 및 초기화 </a:t>
            </a:r>
            <a:endParaRPr lang="en-US" altLang="ko-KR" sz="2400"/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	</a:t>
            </a:r>
            <a:r>
              <a:rPr lang="ko-KR" altLang="en-US" sz="2000"/>
              <a:t>배열원소타입</a:t>
            </a:r>
            <a:r>
              <a:rPr lang="en-US" altLang="ko-KR" sz="2000"/>
              <a:t>[] </a:t>
            </a:r>
            <a:r>
              <a:rPr lang="ko-KR" altLang="en-US" sz="2000"/>
              <a:t>배열이름 </a:t>
            </a:r>
            <a:r>
              <a:rPr lang="en-US" altLang="ko-KR" sz="2000"/>
              <a:t>= new</a:t>
            </a:r>
            <a:r>
              <a:rPr lang="ko-KR" altLang="en-US" sz="2000"/>
              <a:t> 배열원소타입</a:t>
            </a:r>
            <a:r>
              <a:rPr lang="en-US" altLang="ko-KR" sz="2000"/>
              <a:t>[</a:t>
            </a:r>
            <a:r>
              <a:rPr lang="ko-KR" altLang="en-US" sz="2000"/>
              <a:t>크기</a:t>
            </a:r>
            <a:r>
              <a:rPr lang="en-US" altLang="ko-KR" sz="2000"/>
              <a:t>];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    int[] scores = new</a:t>
            </a:r>
            <a:r>
              <a:rPr lang="ko-KR" altLang="en-US" sz="2000"/>
              <a:t> </a:t>
            </a:r>
            <a:r>
              <a:rPr lang="en-US" altLang="ko-KR" sz="2000"/>
              <a:t>int[10];</a:t>
            </a:r>
            <a:endParaRPr lang="ko-KR" altLang="en-US" sz="2000"/>
          </a:p>
          <a:p>
            <a:pPr>
              <a:buFont typeface="Wingdings" panose="05000000000000000000" pitchFamily="2" charset="2"/>
              <a:buNone/>
            </a:pPr>
            <a:endParaRPr lang="ko-KR" altLang="en-US" sz="20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0E32F5-C578-A19A-9D44-BBF3A4D620F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15365" name="슬라이드 번호 개체 틀 4">
            <a:extLst>
              <a:ext uri="{FF2B5EF4-FFF2-40B4-BE49-F238E27FC236}">
                <a16:creationId xmlns:a16="http://schemas.microsoft.com/office/drawing/2014/main" id="{6BC60DE5-4DA2-0CE7-DF56-8D9789EF0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DE79EDA-F203-458A-9015-1F1989977870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kumimoji="0" lang="en-US" altLang="ko-KR" sz="1000"/>
          </a:p>
        </p:txBody>
      </p:sp>
      <p:pic>
        <p:nvPicPr>
          <p:cNvPr id="15366" name="_x95101720" descr="EMB0000161099f1">
            <a:extLst>
              <a:ext uri="{FF2B5EF4-FFF2-40B4-BE49-F238E27FC236}">
                <a16:creationId xmlns:a16="http://schemas.microsoft.com/office/drawing/2014/main" id="{54FBE9B2-A913-C06E-0255-5CD897129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738" y="1916113"/>
            <a:ext cx="4897437" cy="105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>
            <a:extLst>
              <a:ext uri="{FF2B5EF4-FFF2-40B4-BE49-F238E27FC236}">
                <a16:creationId xmlns:a16="http://schemas.microsoft.com/office/drawing/2014/main" id="{6B76B8D9-7F23-55ED-2F8E-EDE595A8D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배열 선언 예</a:t>
            </a:r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8983C05B-462D-2186-0118-FE9439ADA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int[] prices = new int[100]; // int </a:t>
            </a:r>
            <a:r>
              <a:rPr lang="ko-KR" altLang="en-US" sz="2400"/>
              <a:t>배열 선언 및 생성</a:t>
            </a:r>
          </a:p>
          <a:p>
            <a:r>
              <a:rPr lang="en-US" altLang="ko-KR" sz="2400"/>
              <a:t>char[] grades;                    // char </a:t>
            </a:r>
            <a:r>
              <a:rPr lang="ko-KR" altLang="en-US" sz="2400"/>
              <a:t>배열 선언 </a:t>
            </a:r>
          </a:p>
          <a:p>
            <a:r>
              <a:rPr lang="en-US" altLang="ko-KR" sz="2400"/>
              <a:t>grades = new char[40];      // char </a:t>
            </a:r>
            <a:r>
              <a:rPr lang="ko-KR" altLang="en-US" sz="2400"/>
              <a:t>배열 생성</a:t>
            </a:r>
          </a:p>
          <a:p>
            <a:r>
              <a:rPr lang="en-US" altLang="ko-KR" sz="2400"/>
              <a:t>String[] members = new String[10];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400"/>
              <a:t>					      // String </a:t>
            </a:r>
            <a:r>
              <a:rPr lang="ko-KR" altLang="en-US" sz="2400"/>
              <a:t>배열 선언 및 생성</a:t>
            </a:r>
          </a:p>
          <a:p>
            <a:r>
              <a:rPr lang="en-US" altLang="ko-KR" sz="2400"/>
              <a:t>Student[] students;            // Student </a:t>
            </a:r>
            <a:r>
              <a:rPr lang="ko-KR" altLang="en-US" sz="2400"/>
              <a:t>배열 선언</a:t>
            </a:r>
          </a:p>
          <a:p>
            <a:r>
              <a:rPr lang="en-US" altLang="ko-KR" sz="2400"/>
              <a:t>students = new Student[100];   // Student </a:t>
            </a:r>
            <a:r>
              <a:rPr lang="ko-KR" altLang="en-US" sz="2400"/>
              <a:t>배열 생성 </a:t>
            </a:r>
          </a:p>
          <a:p>
            <a:endParaRPr lang="ko-KR" altLang="en-US" sz="24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BF9FE8-6D7C-9075-28FF-95A07003D2D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16389" name="슬라이드 번호 개체 틀 4">
            <a:extLst>
              <a:ext uri="{FF2B5EF4-FFF2-40B4-BE49-F238E27FC236}">
                <a16:creationId xmlns:a16="http://schemas.microsoft.com/office/drawing/2014/main" id="{F06298B2-2D60-46CB-D038-FF8552B03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BCF491B-C442-4B4B-B87D-F842B93BBC42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kumimoji="0" lang="en-US" altLang="ko-KR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>
            <a:extLst>
              <a:ext uri="{FF2B5EF4-FFF2-40B4-BE49-F238E27FC236}">
                <a16:creationId xmlns:a16="http://schemas.microsoft.com/office/drawing/2014/main" id="{BE7EFFA8-240E-97F3-02A7-6F227B543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배열의 사용</a:t>
            </a:r>
          </a:p>
        </p:txBody>
      </p:sp>
      <p:sp>
        <p:nvSpPr>
          <p:cNvPr id="17411" name="내용 개체 틀 2">
            <a:extLst>
              <a:ext uri="{FF2B5EF4-FFF2-40B4-BE49-F238E27FC236}">
                <a16:creationId xmlns:a16="http://schemas.microsoft.com/office/drawing/2014/main" id="{6EE65C25-3D78-C9EF-73B9-5DF283DDA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b="1"/>
              <a:t>경계 검사</a:t>
            </a:r>
            <a:r>
              <a:rPr lang="en-US" altLang="ko-KR" sz="2400" b="1"/>
              <a:t>(bound checking) </a:t>
            </a:r>
          </a:p>
          <a:p>
            <a:pPr lvl="1"/>
            <a:r>
              <a:rPr lang="ko-KR" altLang="en-US" sz="2000"/>
              <a:t>배열 원소를 참조할 때마다 </a:t>
            </a:r>
            <a:r>
              <a:rPr lang="en-US" altLang="ko-KR" sz="2000"/>
              <a:t>Java </a:t>
            </a:r>
            <a:r>
              <a:rPr lang="ko-KR" altLang="en-US" sz="2000"/>
              <a:t>인터프리터는 그 인덱스가 유효 범위</a:t>
            </a:r>
            <a:r>
              <a:rPr lang="en-US" altLang="ko-KR" sz="2000"/>
              <a:t>(</a:t>
            </a:r>
            <a:r>
              <a:rPr lang="ko-KR" altLang="en-US" sz="2000"/>
              <a:t>경계</a:t>
            </a:r>
            <a:r>
              <a:rPr lang="en-US" altLang="ko-KR" sz="2000"/>
              <a:t>) </a:t>
            </a:r>
            <a:r>
              <a:rPr lang="ko-KR" altLang="en-US" sz="2000"/>
              <a:t>내에 있는지 검사한다</a:t>
            </a:r>
            <a:r>
              <a:rPr lang="en-US" altLang="ko-KR" sz="2000"/>
              <a:t>. </a:t>
            </a:r>
          </a:p>
          <a:p>
            <a:pPr>
              <a:buFont typeface="Wingdings" panose="05000000000000000000" pitchFamily="2" charset="2"/>
              <a:buNone/>
            </a:pPr>
            <a:r>
              <a:rPr lang="ko-KR" altLang="en-US" sz="2000"/>
              <a:t>━━━━━━━━━━━━━━━━━━━━━━━━━━━━━━━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 b="1"/>
              <a:t>Key Point</a:t>
            </a:r>
            <a:r>
              <a:rPr lang="ko-KR" altLang="en-US" sz="2000"/>
              <a:t>    배열 인덱스가 유효 범위를 벗어나면</a:t>
            </a:r>
            <a:r>
              <a:rPr lang="en-US" altLang="ko-KR" sz="2000"/>
              <a:t>, </a:t>
            </a:r>
            <a:r>
              <a:rPr lang="ko-KR" altLang="en-US" sz="2000"/>
              <a:t>자동적으로</a:t>
            </a:r>
            <a:r>
              <a:rPr lang="en-US" altLang="ko-KR" sz="2000"/>
              <a:t>ArrayIndexOutOfBoundsException</a:t>
            </a:r>
            <a:r>
              <a:rPr lang="ko-KR" altLang="en-US" sz="2000"/>
              <a:t>이 발생된다</a:t>
            </a:r>
            <a:r>
              <a:rPr lang="en-US" altLang="ko-KR" sz="2000"/>
              <a:t>. </a:t>
            </a:r>
          </a:p>
          <a:p>
            <a:pPr>
              <a:buFont typeface="Wingdings" panose="05000000000000000000" pitchFamily="2" charset="2"/>
              <a:buNone/>
            </a:pPr>
            <a:r>
              <a:rPr lang="ko-KR" altLang="en-US" sz="2000"/>
              <a:t>━━━━━━━━━━━━━━━━━━━━━━━━━━━━━━━</a:t>
            </a:r>
          </a:p>
          <a:p>
            <a:r>
              <a:rPr lang="ko-KR" altLang="en-US" sz="2400"/>
              <a:t>예</a:t>
            </a:r>
            <a:r>
              <a:rPr lang="en-US" altLang="ko-KR" sz="2400"/>
              <a:t>: </a:t>
            </a:r>
            <a:r>
              <a:rPr lang="ko-KR" altLang="en-US" sz="2400" b="1"/>
              <a:t>인덱스 </a:t>
            </a:r>
            <a:r>
              <a:rPr lang="en-US" altLang="ko-KR" sz="2400" b="1"/>
              <a:t>1 </a:t>
            </a:r>
            <a:r>
              <a:rPr lang="ko-KR" altLang="en-US" sz="2400" b="1"/>
              <a:t>차이 오류</a:t>
            </a:r>
            <a:r>
              <a:rPr lang="en-US" altLang="ko-KR" sz="2400" b="1"/>
              <a:t>(off-by-one error)</a:t>
            </a:r>
            <a:endParaRPr lang="en-US" altLang="ko-KR" sz="2400"/>
          </a:p>
          <a:p>
            <a:pPr lvl="1"/>
            <a:r>
              <a:rPr lang="en-US" altLang="ko-KR" sz="1600"/>
              <a:t>count = 10;</a:t>
            </a:r>
            <a:endParaRPr lang="ko-KR" altLang="en-US" sz="1600"/>
          </a:p>
          <a:p>
            <a:pPr lvl="1"/>
            <a:r>
              <a:rPr lang="en-US" altLang="ko-KR" sz="1600"/>
              <a:t>System.out.println(scores[count]);</a:t>
            </a:r>
            <a:endParaRPr lang="ko-KR" altLang="en-US" sz="1600"/>
          </a:p>
          <a:p>
            <a:pPr>
              <a:buFont typeface="Wingdings" panose="05000000000000000000" pitchFamily="2" charset="2"/>
              <a:buNone/>
            </a:pPr>
            <a:endParaRPr lang="ko-KR" altLang="en-US" sz="20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E7BD49-95C7-F9E9-E510-19F431C9544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© 우균, </a:t>
            </a:r>
            <a:r>
              <a:rPr lang="ko-KR" altLang="en-US" dirty="0" err="1"/>
              <a:t>창병모</a:t>
            </a:r>
            <a:endParaRPr lang="en-US" altLang="ko-KR" dirty="0"/>
          </a:p>
        </p:txBody>
      </p:sp>
      <p:sp>
        <p:nvSpPr>
          <p:cNvPr id="17413" name="슬라이드 번호 개체 틀 4">
            <a:extLst>
              <a:ext uri="{FF2B5EF4-FFF2-40B4-BE49-F238E27FC236}">
                <a16:creationId xmlns:a16="http://schemas.microsoft.com/office/drawing/2014/main" id="{92F9DCDF-9A80-929E-73AA-880979E52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D554E5C-F9F1-4BC4-8D47-38B5C40C0A9D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kumimoji="0" lang="en-US" altLang="ko-KR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>
            <a:extLst>
              <a:ext uri="{FF2B5EF4-FFF2-40B4-BE49-F238E27FC236}">
                <a16:creationId xmlns:a16="http://schemas.microsoft.com/office/drawing/2014/main" id="{DE9B8463-358C-FBF5-03C8-CF6A8B572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배열 선언 및 초기화 리스트</a:t>
            </a:r>
          </a:p>
        </p:txBody>
      </p:sp>
      <p:sp>
        <p:nvSpPr>
          <p:cNvPr id="18435" name="내용 개체 틀 2">
            <a:extLst>
              <a:ext uri="{FF2B5EF4-FFF2-40B4-BE49-F238E27FC236}">
                <a16:creationId xmlns:a16="http://schemas.microsoft.com/office/drawing/2014/main" id="{3DD5A665-2B3A-57A1-B34A-0A59ADFEF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/>
              <a:t>초기화 리스트</a:t>
            </a:r>
            <a:endParaRPr lang="en-US" altLang="ko-KR" sz="2400"/>
          </a:p>
          <a:p>
            <a:pPr lvl="1"/>
            <a:r>
              <a:rPr lang="ko-KR" altLang="en-US" sz="2000"/>
              <a:t>배열을 선언 시 배열 초기화 리스트를 이용하면 배열을 초기화 할 수 있다</a:t>
            </a:r>
            <a:r>
              <a:rPr lang="en-US" altLang="ko-KR" sz="2000"/>
              <a:t>. </a:t>
            </a:r>
          </a:p>
          <a:p>
            <a:pPr lvl="1"/>
            <a:r>
              <a:rPr lang="ko-KR" altLang="en-US" sz="2000"/>
              <a:t>배열 크기는 초기화 리스트 안의 값의 개수에 의해 정해진다</a:t>
            </a:r>
            <a:r>
              <a:rPr lang="en-US" altLang="ko-KR" sz="2000"/>
              <a:t>.</a:t>
            </a:r>
          </a:p>
          <a:p>
            <a:pPr lvl="1"/>
            <a:r>
              <a:rPr lang="ko-KR" altLang="en-US" sz="2000"/>
              <a:t>주의</a:t>
            </a:r>
            <a:r>
              <a:rPr lang="en-US" altLang="ko-KR" sz="2000"/>
              <a:t>: new</a:t>
            </a:r>
            <a:r>
              <a:rPr lang="ko-KR" altLang="en-US" sz="2000"/>
              <a:t> 연산자를 사용하지 않는다</a:t>
            </a:r>
            <a:endParaRPr lang="fr-FR" altLang="ko-KR" sz="2000"/>
          </a:p>
          <a:p>
            <a:pPr lvl="1"/>
            <a:r>
              <a:rPr lang="fr-FR" altLang="ko-KR" sz="2000"/>
              <a:t>int[] scores = {71, 80, 64, 92, 97, 88, 83, 71, 84, 81}</a:t>
            </a:r>
          </a:p>
          <a:p>
            <a:endParaRPr lang="ko-KR" altLang="en-US" sz="24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73BFE6-34CF-82A0-70CC-A4117705196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18437" name="슬라이드 번호 개체 틀 4">
            <a:extLst>
              <a:ext uri="{FF2B5EF4-FFF2-40B4-BE49-F238E27FC236}">
                <a16:creationId xmlns:a16="http://schemas.microsoft.com/office/drawing/2014/main" id="{40F20B32-785F-6D24-A06C-84AC19A9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D0B6094-56B4-4A88-9333-405B99226F79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kumimoji="0" lang="en-US" altLang="ko-KR" sz="1000"/>
          </a:p>
        </p:txBody>
      </p:sp>
      <p:sp>
        <p:nvSpPr>
          <p:cNvPr id="18438" name="Rectangle 2">
            <a:extLst>
              <a:ext uri="{FF2B5EF4-FFF2-40B4-BE49-F238E27FC236}">
                <a16:creationId xmlns:a16="http://schemas.microsoft.com/office/drawing/2014/main" id="{EBD2FC35-2BE8-A2BD-C5E3-49E510258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18439" name="_x95103720" descr="EMB0000161099f0">
            <a:extLst>
              <a:ext uri="{FF2B5EF4-FFF2-40B4-BE49-F238E27FC236}">
                <a16:creationId xmlns:a16="http://schemas.microsoft.com/office/drawing/2014/main" id="{53988350-58B8-E78B-3FE5-754F1063C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4149725"/>
            <a:ext cx="5905500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>
            <a:extLst>
              <a:ext uri="{FF2B5EF4-FFF2-40B4-BE49-F238E27FC236}">
                <a16:creationId xmlns:a16="http://schemas.microsoft.com/office/drawing/2014/main" id="{C0B08584-4F81-F348-661D-5BBE5EEAA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9459" name="내용 개체 틀 2">
            <a:extLst>
              <a:ext uri="{FF2B5EF4-FFF2-40B4-BE49-F238E27FC236}">
                <a16:creationId xmlns:a16="http://schemas.microsoft.com/office/drawing/2014/main" id="{67A6D8B0-2CC7-1C4D-C68C-43DA94E4D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BF6F2B-0B5A-2B32-0107-3693ADF88DB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19461" name="슬라이드 번호 개체 틀 4">
            <a:extLst>
              <a:ext uri="{FF2B5EF4-FFF2-40B4-BE49-F238E27FC236}">
                <a16:creationId xmlns:a16="http://schemas.microsoft.com/office/drawing/2014/main" id="{4CBD6E25-B4CA-FAB9-8AE2-FE9451236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A8C9E7A-F571-4EE1-A86F-BF111018EB37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kumimoji="0" lang="en-US" altLang="ko-KR" sz="1000"/>
          </a:p>
        </p:txBody>
      </p:sp>
      <p:pic>
        <p:nvPicPr>
          <p:cNvPr id="19462" name="Picture 2">
            <a:extLst>
              <a:ext uri="{FF2B5EF4-FFF2-40B4-BE49-F238E27FC236}">
                <a16:creationId xmlns:a16="http://schemas.microsoft.com/office/drawing/2014/main" id="{CBF214A6-8A73-5F40-3E75-2D1D055E5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0"/>
            <a:ext cx="63579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>
            <a:extLst>
              <a:ext uri="{FF2B5EF4-FFF2-40B4-BE49-F238E27FC236}">
                <a16:creationId xmlns:a16="http://schemas.microsoft.com/office/drawing/2014/main" id="{5ADF257D-C09F-A20D-5663-A7ECB7868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향상된 </a:t>
            </a:r>
            <a:r>
              <a:rPr lang="en-US" altLang="ko-KR" b="1"/>
              <a:t>for</a:t>
            </a:r>
            <a:r>
              <a:rPr lang="ko-KR" altLang="en-US" b="1"/>
              <a:t> 루프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6C67CE-0884-4287-9184-9FE0C1B6F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000" dirty="0"/>
              <a:t>배열</a:t>
            </a:r>
            <a:r>
              <a:rPr lang="en-US" altLang="ko-KR" sz="2000" dirty="0"/>
              <a:t>/</a:t>
            </a:r>
            <a:r>
              <a:rPr lang="ko-KR" altLang="en-US" sz="2000" dirty="0"/>
              <a:t>컬렉션 내의 각 원소에 대해서 간단하게 반복 </a:t>
            </a:r>
            <a:r>
              <a:rPr lang="en-US" altLang="ko-KR" sz="2000" dirty="0"/>
              <a:t>(Java 1.5 </a:t>
            </a:r>
            <a:r>
              <a:rPr lang="ko-KR" altLang="en-US" sz="2000" dirty="0"/>
              <a:t>이상</a:t>
            </a:r>
            <a:r>
              <a:rPr lang="en-US" altLang="ko-KR" sz="2000" dirty="0"/>
              <a:t>)</a:t>
            </a:r>
            <a:endParaRPr lang="ko-KR" altLang="en-US" sz="2000" dirty="0"/>
          </a:p>
          <a:p>
            <a:pPr lvl="1">
              <a:buFont typeface="Wingdings" panose="05000000000000000000" pitchFamily="2" charset="2"/>
              <a:buNone/>
              <a:defRPr/>
            </a:pPr>
            <a:r>
              <a:rPr lang="en-US" altLang="ko-KR" sz="2000" dirty="0"/>
              <a:t>for</a:t>
            </a:r>
            <a:r>
              <a:rPr lang="ko-KR" altLang="en-US" sz="2000" dirty="0"/>
              <a:t> </a:t>
            </a:r>
            <a:r>
              <a:rPr lang="en-US" altLang="ko-KR" sz="2000" dirty="0"/>
              <a:t>(</a:t>
            </a:r>
            <a:r>
              <a:rPr lang="ko-KR" altLang="en-US" sz="2000" dirty="0"/>
              <a:t>타입 변수 </a:t>
            </a:r>
            <a:r>
              <a:rPr lang="en-US" altLang="ko-KR" sz="2000" dirty="0"/>
              <a:t>: </a:t>
            </a:r>
            <a:r>
              <a:rPr lang="ko-KR" altLang="en-US" sz="2000" dirty="0"/>
              <a:t>배열</a:t>
            </a:r>
            <a:r>
              <a:rPr lang="en-US" altLang="ko-KR" sz="2000" dirty="0"/>
              <a:t>) {</a:t>
            </a:r>
            <a:endParaRPr lang="ko-KR" altLang="en-US" sz="2000" dirty="0"/>
          </a:p>
          <a:p>
            <a:pPr lvl="1">
              <a:buFont typeface="Wingdings" panose="05000000000000000000" pitchFamily="2" charset="2"/>
              <a:buNone/>
              <a:defRPr/>
            </a:pPr>
            <a:r>
              <a:rPr lang="ko-KR" altLang="en-US" sz="2000" dirty="0"/>
              <a:t>  루프의 본체</a:t>
            </a:r>
          </a:p>
          <a:p>
            <a:pPr lvl="1">
              <a:buFont typeface="Wingdings" panose="05000000000000000000" pitchFamily="2" charset="2"/>
              <a:buNone/>
              <a:defRPr/>
            </a:pPr>
            <a:r>
              <a:rPr lang="en-US" altLang="ko-KR" sz="2000" dirty="0"/>
              <a:t>} </a:t>
            </a:r>
            <a:endParaRPr lang="ko-KR" altLang="en-US" sz="2000" dirty="0"/>
          </a:p>
          <a:p>
            <a:pPr>
              <a:defRPr/>
            </a:pPr>
            <a:r>
              <a:rPr lang="ko-KR" altLang="en-US" sz="2000" dirty="0"/>
              <a:t>기존의 </a:t>
            </a:r>
            <a:r>
              <a:rPr lang="en-US" altLang="ko-KR" sz="2000" dirty="0"/>
              <a:t>for</a:t>
            </a:r>
            <a:r>
              <a:rPr lang="ko-KR" altLang="en-US" sz="2000" dirty="0"/>
              <a:t> 루프를 이용하여 </a:t>
            </a:r>
            <a:r>
              <a:rPr lang="ko-KR" altLang="en-US" sz="2000" dirty="0" err="1"/>
              <a:t>재작성</a:t>
            </a:r>
            <a:endParaRPr lang="ko-KR" altLang="en-US" sz="2000" dirty="0"/>
          </a:p>
          <a:p>
            <a:pPr marL="857250" lvl="1" indent="-457200">
              <a:buFont typeface="Wingdings" panose="05000000000000000000" pitchFamily="2" charset="2"/>
              <a:buNone/>
              <a:defRPr/>
            </a:pPr>
            <a:r>
              <a:rPr lang="en-US" altLang="ko-KR" sz="2000" dirty="0"/>
              <a:t>for</a:t>
            </a:r>
            <a:r>
              <a:rPr lang="ko-KR" altLang="en-US" sz="2000" dirty="0"/>
              <a:t> </a:t>
            </a:r>
            <a:r>
              <a:rPr lang="en-US" altLang="ko-KR" sz="2000" dirty="0"/>
              <a:t>(</a:t>
            </a:r>
            <a:r>
              <a:rPr lang="en-US" altLang="ko-KR" sz="2000" dirty="0" err="1"/>
              <a:t>int</a:t>
            </a:r>
            <a:r>
              <a:rPr lang="ko-KR" altLang="en-US" sz="2000" dirty="0"/>
              <a:t> </a:t>
            </a:r>
            <a:r>
              <a:rPr lang="en-US" altLang="ko-KR" sz="2000" dirty="0" err="1"/>
              <a:t>i</a:t>
            </a:r>
            <a:r>
              <a:rPr lang="en-US" altLang="ko-KR" sz="2000" dirty="0"/>
              <a:t> = 0; </a:t>
            </a:r>
            <a:r>
              <a:rPr lang="en-US" altLang="ko-KR" sz="2000" dirty="0" err="1"/>
              <a:t>i</a:t>
            </a:r>
            <a:r>
              <a:rPr lang="en-US" altLang="ko-KR" sz="2000" dirty="0"/>
              <a:t> &lt; </a:t>
            </a:r>
            <a:r>
              <a:rPr lang="ko-KR" altLang="en-US" sz="2000" dirty="0"/>
              <a:t>배열</a:t>
            </a:r>
            <a:r>
              <a:rPr lang="en-US" altLang="ko-KR" sz="2000" dirty="0"/>
              <a:t>.length; </a:t>
            </a:r>
            <a:r>
              <a:rPr lang="en-US" altLang="ko-KR" sz="2000" dirty="0" err="1"/>
              <a:t>i</a:t>
            </a:r>
            <a:r>
              <a:rPr lang="en-US" altLang="ko-KR" sz="2000" dirty="0"/>
              <a:t>++) { </a:t>
            </a:r>
            <a:endParaRPr lang="ko-KR" altLang="en-US" sz="2000" dirty="0"/>
          </a:p>
          <a:p>
            <a:pPr marL="857250" lvl="1" indent="-457200">
              <a:buFont typeface="Wingdings" panose="05000000000000000000" pitchFamily="2" charset="2"/>
              <a:buNone/>
              <a:defRPr/>
            </a:pPr>
            <a:r>
              <a:rPr lang="ko-KR" altLang="en-US" sz="2000" dirty="0"/>
              <a:t>  타입 변수 </a:t>
            </a:r>
            <a:r>
              <a:rPr lang="en-US" altLang="ko-KR" sz="2000" dirty="0"/>
              <a:t>= </a:t>
            </a:r>
            <a:r>
              <a:rPr lang="ko-KR" altLang="en-US" sz="2000" dirty="0"/>
              <a:t>배열</a:t>
            </a:r>
            <a:r>
              <a:rPr lang="en-US" altLang="ko-KR" sz="2000" dirty="0"/>
              <a:t>[</a:t>
            </a:r>
            <a:r>
              <a:rPr lang="en-US" altLang="ko-KR" sz="2000" dirty="0" err="1"/>
              <a:t>i</a:t>
            </a:r>
            <a:r>
              <a:rPr lang="en-US" altLang="ko-KR" sz="2000" dirty="0"/>
              <a:t>];</a:t>
            </a:r>
            <a:endParaRPr lang="ko-KR" altLang="en-US" sz="2000" dirty="0"/>
          </a:p>
          <a:p>
            <a:pPr marL="857250" lvl="1" indent="-457200">
              <a:buFont typeface="Wingdings" panose="05000000000000000000" pitchFamily="2" charset="2"/>
              <a:buNone/>
              <a:defRPr/>
            </a:pPr>
            <a:r>
              <a:rPr lang="ko-KR" altLang="en-US" sz="2000" dirty="0"/>
              <a:t>  루프의 본체</a:t>
            </a:r>
          </a:p>
          <a:p>
            <a:pPr marL="857250" lvl="1" indent="-457200">
              <a:buFont typeface="Wingdings" panose="05000000000000000000" pitchFamily="2" charset="2"/>
              <a:buNone/>
              <a:defRPr/>
            </a:pPr>
            <a:r>
              <a:rPr lang="en-US" altLang="ko-KR" sz="2000" dirty="0"/>
              <a:t>} </a:t>
            </a:r>
            <a:endParaRPr lang="ko-KR" altLang="en-US" sz="2000" dirty="0"/>
          </a:p>
          <a:p>
            <a:pPr>
              <a:defRPr/>
            </a:pPr>
            <a:r>
              <a:rPr lang="ko-KR" altLang="en-US" sz="2000" dirty="0"/>
              <a:t>예</a:t>
            </a:r>
            <a:endParaRPr lang="en-US" altLang="ko-KR" sz="2000" dirty="0"/>
          </a:p>
          <a:p>
            <a:pPr lvl="1">
              <a:buFont typeface="Wingdings" panose="05000000000000000000" pitchFamily="2" charset="2"/>
              <a:buNone/>
              <a:defRPr/>
            </a:pPr>
            <a:r>
              <a:rPr lang="en-US" altLang="ko-KR" sz="2000" dirty="0"/>
              <a:t>for</a:t>
            </a:r>
            <a:r>
              <a:rPr lang="ko-KR" altLang="en-US" sz="2000" dirty="0"/>
              <a:t> </a:t>
            </a:r>
            <a:r>
              <a:rPr lang="en-US" altLang="ko-KR" sz="2000" dirty="0"/>
              <a:t>(</a:t>
            </a:r>
            <a:r>
              <a:rPr lang="en-US" altLang="ko-KR" sz="2000" dirty="0" err="1"/>
              <a:t>int</a:t>
            </a:r>
            <a:r>
              <a:rPr lang="ko-KR" altLang="en-US" sz="2000" dirty="0"/>
              <a:t> </a:t>
            </a:r>
            <a:r>
              <a:rPr lang="en-US" altLang="ko-KR" sz="2000" dirty="0"/>
              <a:t>score : scores)</a:t>
            </a:r>
            <a:endParaRPr lang="ko-KR" altLang="en-US" sz="2000" dirty="0"/>
          </a:p>
          <a:p>
            <a:pPr lvl="1">
              <a:buFont typeface="Wingdings" panose="05000000000000000000" pitchFamily="2" charset="2"/>
              <a:buNone/>
              <a:defRPr/>
            </a:pPr>
            <a:r>
              <a:rPr lang="en-US" altLang="ko-KR" sz="2000" dirty="0"/>
              <a:t>   </a:t>
            </a:r>
            <a:r>
              <a:rPr lang="en-US" altLang="ko-KR" sz="2000" dirty="0" err="1"/>
              <a:t>System.out.println</a:t>
            </a:r>
            <a:r>
              <a:rPr lang="en-US" altLang="ko-KR" sz="2000" dirty="0"/>
              <a:t> (score);</a:t>
            </a:r>
            <a:endParaRPr lang="ko-KR" altLang="en-US" sz="2000" dirty="0"/>
          </a:p>
          <a:p>
            <a:pPr>
              <a:defRPr/>
            </a:pPr>
            <a:endParaRPr lang="ko-KR" altLang="en-US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493938-0C56-E16A-0BC8-2D7E0A75EB0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20485" name="슬라이드 번호 개체 틀 4">
            <a:extLst>
              <a:ext uri="{FF2B5EF4-FFF2-40B4-BE49-F238E27FC236}">
                <a16:creationId xmlns:a16="http://schemas.microsoft.com/office/drawing/2014/main" id="{793DCE05-FF97-7F0F-9C7F-1275ECF67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AA735D0-F183-4F03-A698-3905F2AE4E8C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kumimoji="0" lang="en-US" altLang="ko-KR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제목 1">
            <a:extLst>
              <a:ext uri="{FF2B5EF4-FFF2-40B4-BE49-F238E27FC236}">
                <a16:creationId xmlns:a16="http://schemas.microsoft.com/office/drawing/2014/main" id="{0B393F7B-956A-F336-91A0-2DCB68C64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매개변수로 배열 전달</a:t>
            </a:r>
          </a:p>
        </p:txBody>
      </p:sp>
      <p:sp>
        <p:nvSpPr>
          <p:cNvPr id="21507" name="내용 개체 틀 2">
            <a:extLst>
              <a:ext uri="{FF2B5EF4-FFF2-40B4-BE49-F238E27FC236}">
                <a16:creationId xmlns:a16="http://schemas.microsoft.com/office/drawing/2014/main" id="{4EC397F9-B21E-A166-1949-940475408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/>
              <a:t>배열 전체를 메소드에 매개변수로 전달할 수 있다</a:t>
            </a:r>
            <a:r>
              <a:rPr lang="en-US" altLang="ko-KR" sz="2400"/>
              <a:t>. </a:t>
            </a:r>
          </a:p>
          <a:p>
            <a:r>
              <a:rPr lang="ko-KR" altLang="en-US" sz="2400"/>
              <a:t>다른 객체의 경우와 마찬가지로 배열 참조가 전달되며</a:t>
            </a:r>
            <a:r>
              <a:rPr lang="en-US" altLang="ko-KR" sz="2400"/>
              <a:t>, </a:t>
            </a:r>
          </a:p>
          <a:p>
            <a:r>
              <a:rPr lang="ko-KR" altLang="en-US" sz="2400"/>
              <a:t>형식 매개변수와 실 매개변수가 서로 별명</a:t>
            </a:r>
            <a:r>
              <a:rPr lang="en-US" altLang="ko-KR" sz="2400"/>
              <a:t>(alias)</a:t>
            </a:r>
            <a:r>
              <a:rPr lang="ko-KR" altLang="en-US" sz="2400"/>
              <a:t>이 되어 </a:t>
            </a:r>
            <a:endParaRPr lang="en-US" altLang="ko-KR" sz="2400"/>
          </a:p>
          <a:p>
            <a:r>
              <a:rPr lang="ko-KR" altLang="en-US" sz="2400"/>
              <a:t>호출된 메소드 안에서 배열 원소를 변경하면 실 매개변수 배열도 변경된다</a:t>
            </a:r>
            <a:r>
              <a:rPr lang="en-US" altLang="ko-KR" sz="2400"/>
              <a:t>. </a:t>
            </a:r>
          </a:p>
          <a:p>
            <a:endParaRPr lang="ko-KR" altLang="en-US" sz="24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E55274-946A-A5F8-1C3B-81C2399133E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21509" name="슬라이드 번호 개체 틀 4">
            <a:extLst>
              <a:ext uri="{FF2B5EF4-FFF2-40B4-BE49-F238E27FC236}">
                <a16:creationId xmlns:a16="http://schemas.microsoft.com/office/drawing/2014/main" id="{08EE99F8-C28C-8062-6BA4-AAF6427F3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937AB2B-30BB-4565-AAA0-CCD8418BF491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kumimoji="0" lang="en-US" altLang="ko-KR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498FE25B-A634-AC26-F0CD-0F1059C24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2531" name="내용 개체 틀 2">
            <a:extLst>
              <a:ext uri="{FF2B5EF4-FFF2-40B4-BE49-F238E27FC236}">
                <a16:creationId xmlns:a16="http://schemas.microsoft.com/office/drawing/2014/main" id="{987FEEBE-64BD-8CC1-E69F-9EFC2A8E8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EE5CC4-8EEB-D27F-2280-2980FBEB570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22533" name="슬라이드 번호 개체 틀 4">
            <a:extLst>
              <a:ext uri="{FF2B5EF4-FFF2-40B4-BE49-F238E27FC236}">
                <a16:creationId xmlns:a16="http://schemas.microsoft.com/office/drawing/2014/main" id="{42EB45DC-92DA-9F75-3588-48AC12722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534AE2B-D35B-4059-BB6D-165EA701DEC0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kumimoji="0" lang="en-US" altLang="ko-KR" sz="1000"/>
          </a:p>
        </p:txBody>
      </p:sp>
      <p:pic>
        <p:nvPicPr>
          <p:cNvPr id="22534" name="Picture 2">
            <a:extLst>
              <a:ext uri="{FF2B5EF4-FFF2-40B4-BE49-F238E27FC236}">
                <a16:creationId xmlns:a16="http://schemas.microsoft.com/office/drawing/2014/main" id="{5DCEF382-360C-ABB7-AB56-D7E8899A0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0"/>
            <a:ext cx="5113337" cy="689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제목 1">
            <a:extLst>
              <a:ext uri="{FF2B5EF4-FFF2-40B4-BE49-F238E27FC236}">
                <a16:creationId xmlns:a16="http://schemas.microsoft.com/office/drawing/2014/main" id="{314B4280-5B85-5869-E169-E89CD4D84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3555" name="내용 개체 틀 2">
            <a:extLst>
              <a:ext uri="{FF2B5EF4-FFF2-40B4-BE49-F238E27FC236}">
                <a16:creationId xmlns:a16="http://schemas.microsoft.com/office/drawing/2014/main" id="{005FB6A2-CAD1-3960-30F7-55A80CD48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145A68-729A-2C00-8BFD-16B93903C3F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23557" name="슬라이드 번호 개체 틀 4">
            <a:extLst>
              <a:ext uri="{FF2B5EF4-FFF2-40B4-BE49-F238E27FC236}">
                <a16:creationId xmlns:a16="http://schemas.microsoft.com/office/drawing/2014/main" id="{D7622F94-8839-49E7-B3B8-AD500E054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01D8539-1997-4D8D-B49C-6AFC7A8690E3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kumimoji="0" lang="en-US" altLang="ko-KR" sz="1000"/>
          </a:p>
        </p:txBody>
      </p:sp>
      <p:pic>
        <p:nvPicPr>
          <p:cNvPr id="23558" name="Picture 2">
            <a:extLst>
              <a:ext uri="{FF2B5EF4-FFF2-40B4-BE49-F238E27FC236}">
                <a16:creationId xmlns:a16="http://schemas.microsoft.com/office/drawing/2014/main" id="{F60FB705-516D-BB71-8F8C-7B6CE41D3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1700213"/>
            <a:ext cx="5903913" cy="397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제목 1">
            <a:extLst>
              <a:ext uri="{FF2B5EF4-FFF2-40B4-BE49-F238E27FC236}">
                <a16:creationId xmlns:a16="http://schemas.microsoft.com/office/drawing/2014/main" id="{92BAE506-115F-7169-3961-F93ED2B36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명령줄 인수</a:t>
            </a:r>
            <a:endParaRPr lang="ko-KR" altLang="en-US"/>
          </a:p>
        </p:txBody>
      </p:sp>
      <p:sp>
        <p:nvSpPr>
          <p:cNvPr id="24579" name="내용 개체 틀 2">
            <a:extLst>
              <a:ext uri="{FF2B5EF4-FFF2-40B4-BE49-F238E27FC236}">
                <a16:creationId xmlns:a16="http://schemas.microsoft.com/office/drawing/2014/main" id="{47783BC0-6C38-106E-F4E7-40B61DAA4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/>
              <a:t>명령줄 인수</a:t>
            </a:r>
            <a:r>
              <a:rPr lang="en-US" altLang="ko-KR" sz="2400" b="1"/>
              <a:t>(command-line arguments)</a:t>
            </a:r>
            <a:endParaRPr lang="en-US" altLang="ko-KR" sz="2400"/>
          </a:p>
          <a:p>
            <a:pPr lvl="1"/>
            <a:r>
              <a:rPr lang="ko-KR" altLang="en-US" sz="2000"/>
              <a:t>프로그램을 실행시킬 때 명령줄에서 실행 프로그램 이름 뒤에 쓰는 정보들</a:t>
            </a:r>
            <a:endParaRPr lang="en-US" altLang="ko-KR" sz="2000"/>
          </a:p>
          <a:p>
            <a:pPr lvl="1"/>
            <a:r>
              <a:rPr lang="ko-KR" altLang="en-US" sz="2000"/>
              <a:t>프로그램에서 처리할 정보</a:t>
            </a:r>
            <a:r>
              <a:rPr lang="en-US" altLang="ko-KR" sz="2000"/>
              <a:t>(</a:t>
            </a:r>
            <a:r>
              <a:rPr lang="ko-KR" altLang="en-US" sz="2000"/>
              <a:t>예를 들어 파일 이름들</a:t>
            </a:r>
            <a:r>
              <a:rPr lang="en-US" altLang="ko-KR" sz="2000"/>
              <a:t>)</a:t>
            </a:r>
            <a:r>
              <a:rPr lang="ko-KR" altLang="en-US" sz="2000"/>
              <a:t>를 전달</a:t>
            </a:r>
            <a:endParaRPr lang="en-US" altLang="ko-KR" sz="2000"/>
          </a:p>
          <a:p>
            <a:pPr lvl="1"/>
            <a:r>
              <a:rPr lang="ko-KR" altLang="en-US" sz="2000"/>
              <a:t>이 이름들은 </a:t>
            </a:r>
            <a:r>
              <a:rPr lang="en-US" altLang="ko-KR" sz="2000"/>
              <a:t>main</a:t>
            </a:r>
            <a:r>
              <a:rPr lang="ko-KR" altLang="en-US" sz="2000"/>
              <a:t> 메소드에 </a:t>
            </a:r>
            <a:r>
              <a:rPr lang="en-US" altLang="ko-KR" sz="2000"/>
              <a:t>String</a:t>
            </a:r>
            <a:r>
              <a:rPr lang="ko-KR" altLang="en-US" sz="2000"/>
              <a:t> 배열 형태로 전달된다</a:t>
            </a:r>
            <a:r>
              <a:rPr lang="en-US" altLang="ko-KR" sz="2000"/>
              <a:t>. </a:t>
            </a:r>
            <a:endParaRPr lang="ko-KR" altLang="en-US" sz="2000"/>
          </a:p>
          <a:p>
            <a:pPr lvl="1"/>
            <a:r>
              <a:rPr lang="en-US" altLang="ko-KR" sz="2000"/>
              <a:t>public static void</a:t>
            </a:r>
            <a:r>
              <a:rPr lang="ko-KR" altLang="en-US" sz="2000"/>
              <a:t> </a:t>
            </a:r>
            <a:r>
              <a:rPr lang="en-US" altLang="ko-KR" sz="2000"/>
              <a:t>main(String[] args)</a:t>
            </a:r>
            <a:endParaRPr lang="ko-KR" altLang="en-US" sz="2000"/>
          </a:p>
          <a:p>
            <a:endParaRPr lang="ko-KR" altLang="en-US" sz="24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A0812E-760E-53FB-51F3-54C49A8DDC0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© 우균, </a:t>
            </a:r>
            <a:r>
              <a:rPr lang="ko-KR" altLang="en-US" dirty="0" err="1"/>
              <a:t>창병모</a:t>
            </a:r>
            <a:endParaRPr lang="en-US" altLang="ko-KR" dirty="0"/>
          </a:p>
        </p:txBody>
      </p:sp>
      <p:sp>
        <p:nvSpPr>
          <p:cNvPr id="24581" name="슬라이드 번호 개체 틀 4">
            <a:extLst>
              <a:ext uri="{FF2B5EF4-FFF2-40B4-BE49-F238E27FC236}">
                <a16:creationId xmlns:a16="http://schemas.microsoft.com/office/drawing/2014/main" id="{C6637510-8275-717E-43DE-3C30F1B79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6507C75-61C6-497F-94E3-2E804720D1C2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kumimoji="0" lang="en-US" altLang="ko-KR"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제목 1">
            <a:extLst>
              <a:ext uri="{FF2B5EF4-FFF2-40B4-BE49-F238E27FC236}">
                <a16:creationId xmlns:a16="http://schemas.microsoft.com/office/drawing/2014/main" id="{C590D537-BEE3-9CA1-D669-815093D70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5603" name="내용 개체 틀 2">
            <a:extLst>
              <a:ext uri="{FF2B5EF4-FFF2-40B4-BE49-F238E27FC236}">
                <a16:creationId xmlns:a16="http://schemas.microsoft.com/office/drawing/2014/main" id="{D6979BB3-7E80-F7E3-3FBA-36B00B293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pPr>
              <a:buFont typeface="Wingdings" panose="05000000000000000000" pitchFamily="2" charset="2"/>
              <a:buNone/>
            </a:pPr>
            <a:endParaRPr lang="en-US" altLang="ko-KR" sz="2000"/>
          </a:p>
          <a:p>
            <a:pPr>
              <a:buFont typeface="Wingdings" panose="05000000000000000000" pitchFamily="2" charset="2"/>
              <a:buNone/>
            </a:pPr>
            <a:endParaRPr lang="en-US" altLang="ko-KR" sz="2000"/>
          </a:p>
          <a:p>
            <a:pPr>
              <a:buFont typeface="Wingdings" panose="05000000000000000000" pitchFamily="2" charset="2"/>
              <a:buNone/>
            </a:pPr>
            <a:endParaRPr lang="en-US" altLang="ko-KR" sz="2000"/>
          </a:p>
          <a:p>
            <a:r>
              <a:rPr lang="en-US" altLang="ko-KR" sz="2000"/>
              <a:t>&gt; java Nations </a:t>
            </a:r>
            <a:r>
              <a:rPr lang="ko-KR" altLang="en-US" sz="2000"/>
              <a:t>대한민국 미국 일본</a:t>
            </a:r>
          </a:p>
          <a:p>
            <a:endParaRPr lang="ko-KR" altLang="en-US" sz="20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1C2B3E-3CCB-DADC-FDE4-8C7D04E8908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25605" name="슬라이드 번호 개체 틀 4">
            <a:extLst>
              <a:ext uri="{FF2B5EF4-FFF2-40B4-BE49-F238E27FC236}">
                <a16:creationId xmlns:a16="http://schemas.microsoft.com/office/drawing/2014/main" id="{745AEB18-DFC6-7872-FF91-D4BE1E6F2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834013B-CEA8-4001-AF3D-990EDF782AD4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kumimoji="0" lang="en-US" altLang="ko-KR" sz="1000"/>
          </a:p>
        </p:txBody>
      </p:sp>
      <p:pic>
        <p:nvPicPr>
          <p:cNvPr id="25606" name="_x95102760" descr="EMB0000161099ef">
            <a:extLst>
              <a:ext uri="{FF2B5EF4-FFF2-40B4-BE49-F238E27FC236}">
                <a16:creationId xmlns:a16="http://schemas.microsoft.com/office/drawing/2014/main" id="{D92B1DE4-730D-66B7-225D-B1C9B78AB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4652963"/>
            <a:ext cx="4535487" cy="169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7" name="Picture 2">
            <a:extLst>
              <a:ext uri="{FF2B5EF4-FFF2-40B4-BE49-F238E27FC236}">
                <a16:creationId xmlns:a16="http://schemas.microsoft.com/office/drawing/2014/main" id="{6B416C75-00D2-1463-3D81-34587A01B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88913"/>
            <a:ext cx="7308850" cy="396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제목 1">
            <a:extLst>
              <a:ext uri="{FF2B5EF4-FFF2-40B4-BE49-F238E27FC236}">
                <a16:creationId xmlns:a16="http://schemas.microsoft.com/office/drawing/2014/main" id="{E152AFD4-4BB7-16E3-A167-1BAA9F6A4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가변 길이 매개변수 리스트</a:t>
            </a:r>
            <a:endParaRPr lang="ko-KR" altLang="en-US"/>
          </a:p>
        </p:txBody>
      </p:sp>
      <p:sp>
        <p:nvSpPr>
          <p:cNvPr id="26627" name="내용 개체 틀 2">
            <a:extLst>
              <a:ext uri="{FF2B5EF4-FFF2-40B4-BE49-F238E27FC236}">
                <a16:creationId xmlns:a16="http://schemas.microsoft.com/office/drawing/2014/main" id="{E7522FB5-5BD8-1292-5543-400AEC478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/>
              <a:t>호출할 때마다 처리할 데이터 개수가 달라지는 메소드를 생각해보자 </a:t>
            </a:r>
            <a:endParaRPr lang="en-US" altLang="ko-KR" sz="2000"/>
          </a:p>
          <a:p>
            <a:r>
              <a:rPr lang="ko-KR" altLang="en-US" sz="2000"/>
              <a:t>예</a:t>
            </a:r>
            <a:r>
              <a:rPr lang="en-US" altLang="ko-KR" sz="2000"/>
              <a:t>: </a:t>
            </a:r>
            <a:r>
              <a:rPr lang="ko-KR" altLang="en-US" sz="2000"/>
              <a:t>정수 매개변수들의 평균을 반환하는 </a:t>
            </a:r>
            <a:r>
              <a:rPr lang="en-US" altLang="ko-KR" sz="2000"/>
              <a:t>average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	// 3</a:t>
            </a:r>
            <a:r>
              <a:rPr lang="ko-KR" altLang="en-US" sz="2000"/>
              <a:t>개의 값의 평균 계산을 위한 호출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	mean1 = average(82, 79, 67);</a:t>
            </a:r>
            <a:endParaRPr lang="ko-KR" altLang="en-US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	// 7</a:t>
            </a:r>
            <a:r>
              <a:rPr lang="ko-KR" altLang="en-US" sz="2000"/>
              <a:t>개의 값의 평균 계산을 위한 호출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	mean2 = average(65, 49, 93, 88, 77, 56, 95);</a:t>
            </a:r>
            <a:endParaRPr lang="ko-KR" altLang="en-US" sz="2000"/>
          </a:p>
          <a:p>
            <a:pPr>
              <a:buFont typeface="Wingdings" panose="05000000000000000000" pitchFamily="2" charset="2"/>
              <a:buNone/>
            </a:pPr>
            <a:endParaRPr lang="ko-KR" altLang="en-US" sz="20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2A927A-1939-BA84-FD63-C19627F3560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© 우균, </a:t>
            </a:r>
            <a:r>
              <a:rPr lang="ko-KR" altLang="en-US" dirty="0" err="1"/>
              <a:t>창병모</a:t>
            </a:r>
            <a:endParaRPr lang="en-US" altLang="ko-KR" dirty="0"/>
          </a:p>
        </p:txBody>
      </p:sp>
      <p:sp>
        <p:nvSpPr>
          <p:cNvPr id="26629" name="슬라이드 번호 개체 틀 4">
            <a:extLst>
              <a:ext uri="{FF2B5EF4-FFF2-40B4-BE49-F238E27FC236}">
                <a16:creationId xmlns:a16="http://schemas.microsoft.com/office/drawing/2014/main" id="{54241CBB-231F-80FE-0471-8628ACF46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1F6F4C3-4EC8-4118-8DBB-10369E2044EB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kumimoji="0" lang="en-US" altLang="ko-KR" sz="1000"/>
          </a:p>
        </p:txBody>
      </p:sp>
      <p:sp>
        <p:nvSpPr>
          <p:cNvPr id="26630" name="Rectangle 2">
            <a:extLst>
              <a:ext uri="{FF2B5EF4-FFF2-40B4-BE49-F238E27FC236}">
                <a16:creationId xmlns:a16="http://schemas.microsoft.com/office/drawing/2014/main" id="{F3157604-2180-C56D-6185-981BC834B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제목 1">
            <a:extLst>
              <a:ext uri="{FF2B5EF4-FFF2-40B4-BE49-F238E27FC236}">
                <a16:creationId xmlns:a16="http://schemas.microsoft.com/office/drawing/2014/main" id="{2313ED81-F758-574D-3718-2D42E28F3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가변 길이 매개변수 리스트</a:t>
            </a:r>
            <a:endParaRPr lang="ko-KR" altLang="en-US"/>
          </a:p>
        </p:txBody>
      </p:sp>
      <p:sp>
        <p:nvSpPr>
          <p:cNvPr id="27651" name="내용 개체 틀 2">
            <a:extLst>
              <a:ext uri="{FF2B5EF4-FFF2-40B4-BE49-F238E27FC236}">
                <a16:creationId xmlns:a16="http://schemas.microsoft.com/office/drawing/2014/main" id="{E2D8525B-D18A-8A16-DB78-597884347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(1) </a:t>
            </a:r>
            <a:r>
              <a:rPr lang="ko-KR" altLang="en-US" sz="2000"/>
              <a:t>중복정의</a:t>
            </a:r>
            <a:r>
              <a:rPr lang="en-US" altLang="ko-KR" sz="2000"/>
              <a:t>(overloading)</a:t>
            </a:r>
            <a:r>
              <a:rPr lang="ko-KR" altLang="en-US" sz="2000"/>
              <a:t>를 사용하여 여러 개의 메소드를 정의</a:t>
            </a:r>
          </a:p>
          <a:p>
            <a:pPr lvl="1"/>
            <a:r>
              <a:rPr lang="ko-KR" altLang="en-US" sz="1800"/>
              <a:t>단점</a:t>
            </a:r>
            <a:r>
              <a:rPr lang="en-US" altLang="ko-KR" sz="1800"/>
              <a:t>: </a:t>
            </a:r>
            <a:r>
              <a:rPr lang="ko-KR" altLang="en-US" sz="1800"/>
              <a:t>매개변수 개수에 대해 별도의 메소드 정의가 필요하다</a:t>
            </a:r>
            <a:r>
              <a:rPr lang="en-US" altLang="ko-KR" sz="1800"/>
              <a:t>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(2) </a:t>
            </a:r>
            <a:r>
              <a:rPr lang="ko-KR" altLang="en-US" sz="2000"/>
              <a:t>정수 배열을 받아들이는 메소드를 정의한다</a:t>
            </a:r>
            <a:r>
              <a:rPr lang="en-US" altLang="ko-KR" sz="2000"/>
              <a:t>.</a:t>
            </a:r>
            <a:endParaRPr lang="ko-KR" altLang="en-US" sz="2000"/>
          </a:p>
          <a:p>
            <a:pPr lvl="1"/>
            <a:r>
              <a:rPr lang="ko-KR" altLang="en-US" sz="1800"/>
              <a:t>단점</a:t>
            </a:r>
            <a:r>
              <a:rPr lang="en-US" altLang="ko-KR" sz="1800"/>
              <a:t>:  </a:t>
            </a:r>
            <a:r>
              <a:rPr lang="ko-KR" altLang="en-US" sz="1800"/>
              <a:t>메소드 호출 전에 매번 배열을 생성하고 정수 값들을 배열에 저장한 후에 매개변수로 전달해야 한다</a:t>
            </a:r>
            <a:r>
              <a:rPr lang="en-US" altLang="ko-KR" sz="1800"/>
              <a:t>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(3) </a:t>
            </a:r>
            <a:r>
              <a:rPr lang="ko-KR" altLang="en-US" sz="2000" b="1"/>
              <a:t>가변 길이 매개변수 리스트</a:t>
            </a:r>
            <a:r>
              <a:rPr lang="en-US" altLang="ko-KR" sz="2000" b="1"/>
              <a:t>(variable length parameter list)</a:t>
            </a:r>
            <a:endParaRPr lang="en-US" altLang="ko-KR" sz="2000"/>
          </a:p>
          <a:p>
            <a:pPr lvl="1"/>
            <a:r>
              <a:rPr lang="ko-KR" altLang="en-US" sz="2000">
                <a:solidFill>
                  <a:srgbClr val="FF00FF"/>
                </a:solidFill>
              </a:rPr>
              <a:t>동일 타입의 임의의 개수의 매개변수를 받는 메소드 정의</a:t>
            </a:r>
            <a:endParaRPr lang="en-US" altLang="ko-KR" sz="2000">
              <a:solidFill>
                <a:srgbClr val="FF00FF"/>
              </a:solidFill>
            </a:endParaRPr>
          </a:p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89583B-7767-9C77-22B1-B8EC887E889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27653" name="슬라이드 번호 개체 틀 4">
            <a:extLst>
              <a:ext uri="{FF2B5EF4-FFF2-40B4-BE49-F238E27FC236}">
                <a16:creationId xmlns:a16="http://schemas.microsoft.com/office/drawing/2014/main" id="{607E8A3B-5FC6-D4CF-8964-1E087A7AC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C1BD67A-429C-4BE8-9360-1E6071371664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kumimoji="0" lang="en-US" altLang="ko-KR" sz="1000"/>
          </a:p>
        </p:txBody>
      </p:sp>
      <p:sp>
        <p:nvSpPr>
          <p:cNvPr id="27654" name="Rectangle 2">
            <a:extLst>
              <a:ext uri="{FF2B5EF4-FFF2-40B4-BE49-F238E27FC236}">
                <a16:creationId xmlns:a16="http://schemas.microsoft.com/office/drawing/2014/main" id="{160AC19C-7495-9973-7D3F-3B7035202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27655" name="_x95102440" descr="EMB0000161099ee">
            <a:extLst>
              <a:ext uri="{FF2B5EF4-FFF2-40B4-BE49-F238E27FC236}">
                <a16:creationId xmlns:a16="http://schemas.microsoft.com/office/drawing/2014/main" id="{5256F7F7-2FEA-4632-D918-96DB56A0C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4076700"/>
            <a:ext cx="5434012" cy="237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>
            <a:extLst>
              <a:ext uri="{FF2B5EF4-FFF2-40B4-BE49-F238E27FC236}">
                <a16:creationId xmlns:a16="http://schemas.microsoft.com/office/drawing/2014/main" id="{0406CEDE-2E4D-04EC-A2E2-B8F11EA78EE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t>© 우균, 창병모</a:t>
            </a:r>
            <a:endParaRPr kumimoji="0" lang="en-US" altLang="ko-KR" sz="10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8675" name="Rectangle 6">
            <a:extLst>
              <a:ext uri="{FF2B5EF4-FFF2-40B4-BE49-F238E27FC236}">
                <a16:creationId xmlns:a16="http://schemas.microsoft.com/office/drawing/2014/main" id="{1F581DEB-D1F3-C0FF-7554-2F98A81A97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10F3CEB-A8D5-40AD-96E6-5592D50872B0}" type="slidenum"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kumimoji="0" lang="en-US" altLang="ko-KR" sz="10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8676" name="Rectangle 4">
            <a:extLst>
              <a:ext uri="{FF2B5EF4-FFF2-40B4-BE49-F238E27FC236}">
                <a16:creationId xmlns:a16="http://schemas.microsoft.com/office/drawing/2014/main" id="{9B0E9E8E-5C38-38D4-FD75-CE26F004C61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4800"/>
              <a:t>7.3 </a:t>
            </a:r>
            <a:r>
              <a:rPr lang="ko-KR" altLang="en-US" sz="4800"/>
              <a:t>객체들의 배열 </a:t>
            </a:r>
          </a:p>
        </p:txBody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140D3600-DF38-870F-E27D-9E8CFFFEBBC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제목 1">
            <a:extLst>
              <a:ext uri="{FF2B5EF4-FFF2-40B4-BE49-F238E27FC236}">
                <a16:creationId xmlns:a16="http://schemas.microsoft.com/office/drawing/2014/main" id="{1D16B41B-6FC1-DE88-C2D4-0421A39C4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객체들의 배열</a:t>
            </a:r>
          </a:p>
        </p:txBody>
      </p:sp>
      <p:sp>
        <p:nvSpPr>
          <p:cNvPr id="30723" name="내용 개체 틀 2">
            <a:extLst>
              <a:ext uri="{FF2B5EF4-FFF2-40B4-BE49-F238E27FC236}">
                <a16:creationId xmlns:a16="http://schemas.microsoft.com/office/drawing/2014/main" id="{66ABE556-2A2B-C8EA-FE05-7BF4C90F4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ko-KR" altLang="en-US" sz="2000"/>
              <a:t>━━━━━━━━━━━━━━━━━━━━━━━━━━━━━━━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 b="1"/>
              <a:t>Key Point</a:t>
            </a:r>
            <a:endParaRPr lang="ko-KR" altLang="en-US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Java</a:t>
            </a:r>
            <a:r>
              <a:rPr lang="ko-KR" altLang="en-US" sz="2000"/>
              <a:t>는 기본 값들의 배열뿐만 아니라 객체들의 배열을 제공한다</a:t>
            </a:r>
            <a:r>
              <a:rPr lang="en-US" altLang="ko-KR" sz="2000"/>
              <a:t>. </a:t>
            </a:r>
            <a:endParaRPr lang="ko-KR" altLang="en-US" sz="2000"/>
          </a:p>
          <a:p>
            <a:pPr>
              <a:buFont typeface="Wingdings" panose="05000000000000000000" pitchFamily="2" charset="2"/>
              <a:buNone/>
            </a:pPr>
            <a:r>
              <a:rPr lang="ko-KR" altLang="en-US" sz="2000"/>
              <a:t>━━━━━━━━━━━━━━━━━━━━━━━━━━━━━━━</a:t>
            </a:r>
          </a:p>
          <a:p>
            <a:r>
              <a:rPr lang="ko-KR" altLang="en-US" sz="2000"/>
              <a:t>예</a:t>
            </a:r>
            <a:endParaRPr lang="en-US" altLang="ko-KR" sz="2000"/>
          </a:p>
          <a:p>
            <a:pPr lvl="1"/>
            <a:r>
              <a:rPr lang="ko-KR" altLang="en-US" sz="1800"/>
              <a:t>학생들의 배열</a:t>
            </a:r>
            <a:r>
              <a:rPr lang="en-US" altLang="ko-KR" sz="1800"/>
              <a:t>, </a:t>
            </a:r>
            <a:r>
              <a:rPr lang="ko-KR" altLang="en-US" sz="1800"/>
              <a:t>은행계좌들의 배열</a:t>
            </a:r>
            <a:r>
              <a:rPr lang="en-US" altLang="ko-KR" sz="1800"/>
              <a:t>, </a:t>
            </a:r>
            <a:r>
              <a:rPr lang="ko-KR" altLang="en-US" sz="1800"/>
              <a:t>이름들의 배열 등</a:t>
            </a:r>
            <a:endParaRPr lang="en-US" altLang="ko-KR" sz="1800"/>
          </a:p>
          <a:p>
            <a:pPr lvl="1">
              <a:buFont typeface="Wingdings" panose="05000000000000000000" pitchFamily="2" charset="2"/>
              <a:buNone/>
            </a:pPr>
            <a:endParaRPr lang="en-US" altLang="ko-KR" sz="1600"/>
          </a:p>
          <a:p>
            <a:r>
              <a:rPr lang="en-US" altLang="ko-KR" sz="2000"/>
              <a:t>String[] cities = new String[5];</a:t>
            </a:r>
          </a:p>
          <a:p>
            <a:endParaRPr lang="ko-KR" altLang="en-US" sz="2000"/>
          </a:p>
          <a:p>
            <a:endParaRPr lang="ko-KR" altLang="en-US" sz="20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ACB4B3-D4EB-624E-E7FB-BC4EB680872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30725" name="슬라이드 번호 개체 틀 4">
            <a:extLst>
              <a:ext uri="{FF2B5EF4-FFF2-40B4-BE49-F238E27FC236}">
                <a16:creationId xmlns:a16="http://schemas.microsoft.com/office/drawing/2014/main" id="{E8070752-7F70-9D0B-188C-24796F615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65D6A0F-632C-4770-AE70-D663C5325C62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kumimoji="0" lang="en-US" altLang="ko-KR" sz="1000"/>
          </a:p>
        </p:txBody>
      </p:sp>
      <p:sp>
        <p:nvSpPr>
          <p:cNvPr id="30726" name="Rectangle 2">
            <a:extLst>
              <a:ext uri="{FF2B5EF4-FFF2-40B4-BE49-F238E27FC236}">
                <a16:creationId xmlns:a16="http://schemas.microsoft.com/office/drawing/2014/main" id="{6503779E-6F35-4039-71C3-997E80A04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30727" name="_x95391904" descr="EMB0000161099e7">
            <a:extLst>
              <a:ext uri="{FF2B5EF4-FFF2-40B4-BE49-F238E27FC236}">
                <a16:creationId xmlns:a16="http://schemas.microsoft.com/office/drawing/2014/main" id="{57B9B9D5-409B-DCFB-0E2D-B3747D47D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4149725"/>
            <a:ext cx="2947987" cy="215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제목 1">
            <a:extLst>
              <a:ext uri="{FF2B5EF4-FFF2-40B4-BE49-F238E27FC236}">
                <a16:creationId xmlns:a16="http://schemas.microsoft.com/office/drawing/2014/main" id="{04AE52C7-67A9-0226-67B6-27206F3B3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객체들의 배열</a:t>
            </a:r>
            <a:r>
              <a:rPr lang="en-US" altLang="ko-KR"/>
              <a:t>: </a:t>
            </a:r>
            <a:r>
              <a:rPr lang="ko-KR" altLang="en-US"/>
              <a:t>예</a:t>
            </a:r>
          </a:p>
        </p:txBody>
      </p:sp>
      <p:sp>
        <p:nvSpPr>
          <p:cNvPr id="31747" name="내용 개체 틀 2">
            <a:extLst>
              <a:ext uri="{FF2B5EF4-FFF2-40B4-BE49-F238E27FC236}">
                <a16:creationId xmlns:a16="http://schemas.microsoft.com/office/drawing/2014/main" id="{3D026922-60C6-30AD-F362-F9D28153A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String[] cities = {"</a:t>
            </a:r>
            <a:r>
              <a:rPr lang="ko-KR" altLang="en-US" sz="2000"/>
              <a:t>서울“</a:t>
            </a:r>
            <a:r>
              <a:rPr lang="en-US" altLang="ko-KR" sz="2000"/>
              <a:t>, ”</a:t>
            </a:r>
            <a:r>
              <a:rPr lang="ko-KR" altLang="en-US" sz="2000"/>
              <a:t>대전“</a:t>
            </a:r>
            <a:r>
              <a:rPr lang="en-US" altLang="ko-KR" sz="2000"/>
              <a:t>, ”</a:t>
            </a:r>
            <a:r>
              <a:rPr lang="ko-KR" altLang="en-US" sz="2000"/>
              <a:t>대구“</a:t>
            </a:r>
            <a:r>
              <a:rPr lang="en-US" altLang="ko-KR" sz="2000"/>
              <a:t>, ”</a:t>
            </a:r>
            <a:r>
              <a:rPr lang="ko-KR" altLang="en-US" sz="2000"/>
              <a:t>부산“</a:t>
            </a:r>
            <a:r>
              <a:rPr lang="en-US" altLang="ko-KR" sz="2000"/>
              <a:t>, ”</a:t>
            </a:r>
            <a:r>
              <a:rPr lang="ko-KR" altLang="en-US" sz="2000"/>
              <a:t>광주“</a:t>
            </a:r>
            <a:r>
              <a:rPr lang="en-US" altLang="ko-KR" sz="2000"/>
              <a:t>};</a:t>
            </a:r>
            <a:endParaRPr lang="ko-KR" altLang="en-US" sz="2000"/>
          </a:p>
          <a:p>
            <a:endParaRPr lang="ko-KR" altLang="en-US" sz="20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5215C6-DE2B-5D8D-762C-F76F77B83DC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31749" name="슬라이드 번호 개체 틀 4">
            <a:extLst>
              <a:ext uri="{FF2B5EF4-FFF2-40B4-BE49-F238E27FC236}">
                <a16:creationId xmlns:a16="http://schemas.microsoft.com/office/drawing/2014/main" id="{369115C6-131C-1AE5-3F02-13AD2A6D5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D9B37FC-FDB0-4C9D-8FA2-8B04369F9C1F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kumimoji="0" lang="en-US" altLang="ko-KR" sz="1000"/>
          </a:p>
        </p:txBody>
      </p:sp>
      <p:sp>
        <p:nvSpPr>
          <p:cNvPr id="31750" name="Rectangle 2">
            <a:extLst>
              <a:ext uri="{FF2B5EF4-FFF2-40B4-BE49-F238E27FC236}">
                <a16:creationId xmlns:a16="http://schemas.microsoft.com/office/drawing/2014/main" id="{6EC41D37-3721-3487-B4AA-CD58B908B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31751" name="_x95391904" descr="EMB0000161099e8">
            <a:extLst>
              <a:ext uri="{FF2B5EF4-FFF2-40B4-BE49-F238E27FC236}">
                <a16:creationId xmlns:a16="http://schemas.microsoft.com/office/drawing/2014/main" id="{789A4120-F860-63B5-E482-191DC303F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2997200"/>
            <a:ext cx="4224338" cy="273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제목 1">
            <a:extLst>
              <a:ext uri="{FF2B5EF4-FFF2-40B4-BE49-F238E27FC236}">
                <a16:creationId xmlns:a16="http://schemas.microsoft.com/office/drawing/2014/main" id="{84755BD0-C9A6-B5A2-E3B9-99B349062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2771" name="내용 개체 틀 2">
            <a:extLst>
              <a:ext uri="{FF2B5EF4-FFF2-40B4-BE49-F238E27FC236}">
                <a16:creationId xmlns:a16="http://schemas.microsoft.com/office/drawing/2014/main" id="{182ADF3D-E3FC-9628-364C-18757ACF8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81EE8B-9B6D-F5DF-2FD3-CD43091CA71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32773" name="슬라이드 번호 개체 틀 4">
            <a:extLst>
              <a:ext uri="{FF2B5EF4-FFF2-40B4-BE49-F238E27FC236}">
                <a16:creationId xmlns:a16="http://schemas.microsoft.com/office/drawing/2014/main" id="{F975B022-024C-21E9-85C2-6EA67283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363C008-BFA2-44AC-A648-3E5A9A23DB04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kumimoji="0" lang="en-US" altLang="ko-KR" sz="1000"/>
          </a:p>
        </p:txBody>
      </p:sp>
      <p:pic>
        <p:nvPicPr>
          <p:cNvPr id="32774" name="Picture 2">
            <a:extLst>
              <a:ext uri="{FF2B5EF4-FFF2-40B4-BE49-F238E27FC236}">
                <a16:creationId xmlns:a16="http://schemas.microsoft.com/office/drawing/2014/main" id="{204EEA31-0805-99DF-E533-564F04BD6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66688"/>
            <a:ext cx="6486525" cy="6357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5" name="Rectangle 4">
            <a:extLst>
              <a:ext uri="{FF2B5EF4-FFF2-40B4-BE49-F238E27FC236}">
                <a16:creationId xmlns:a16="http://schemas.microsoft.com/office/drawing/2014/main" id="{E19AD338-C3EB-6235-E352-0B14419AD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32776" name="_x95453432" descr="EMB0000161099f5">
            <a:extLst>
              <a:ext uri="{FF2B5EF4-FFF2-40B4-BE49-F238E27FC236}">
                <a16:creationId xmlns:a16="http://schemas.microsoft.com/office/drawing/2014/main" id="{CA02E766-8154-782E-34C0-4DF1ED75D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100" y="1557338"/>
            <a:ext cx="4291013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제목 1">
            <a:extLst>
              <a:ext uri="{FF2B5EF4-FFF2-40B4-BE49-F238E27FC236}">
                <a16:creationId xmlns:a16="http://schemas.microsoft.com/office/drawing/2014/main" id="{3AD92A3D-E30A-5A4E-8871-638C8638C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3795" name="내용 개체 틀 2">
            <a:extLst>
              <a:ext uri="{FF2B5EF4-FFF2-40B4-BE49-F238E27FC236}">
                <a16:creationId xmlns:a16="http://schemas.microsoft.com/office/drawing/2014/main" id="{76390B5A-51B9-4607-4B8F-7A7D6E10A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46BFFE-3D5D-EFED-099D-46A5B98422B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33797" name="슬라이드 번호 개체 틀 4">
            <a:extLst>
              <a:ext uri="{FF2B5EF4-FFF2-40B4-BE49-F238E27FC236}">
                <a16:creationId xmlns:a16="http://schemas.microsoft.com/office/drawing/2014/main" id="{38CA1A28-F570-DC61-4C72-3FAF2C866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8BD2CC9-E6D5-4AD8-A02D-4F598DAD6DFF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kumimoji="0" lang="en-US" altLang="ko-KR" sz="1000"/>
          </a:p>
        </p:txBody>
      </p:sp>
      <p:pic>
        <p:nvPicPr>
          <p:cNvPr id="33798" name="Picture 2">
            <a:extLst>
              <a:ext uri="{FF2B5EF4-FFF2-40B4-BE49-F238E27FC236}">
                <a16:creationId xmlns:a16="http://schemas.microsoft.com/office/drawing/2014/main" id="{5D81229C-B33F-64DF-31BE-63C2530EBC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144463"/>
            <a:ext cx="5481638" cy="666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제목 1">
            <a:extLst>
              <a:ext uri="{FF2B5EF4-FFF2-40B4-BE49-F238E27FC236}">
                <a16:creationId xmlns:a16="http://schemas.microsoft.com/office/drawing/2014/main" id="{EAD65AC1-1A0B-46FD-766D-013F83AFE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4819" name="내용 개체 틀 2">
            <a:extLst>
              <a:ext uri="{FF2B5EF4-FFF2-40B4-BE49-F238E27FC236}">
                <a16:creationId xmlns:a16="http://schemas.microsoft.com/office/drawing/2014/main" id="{BF756A93-4B88-81D6-5749-70CADCE6A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09825C-48C8-5846-C923-EA1BD7D8DD6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34821" name="슬라이드 번호 개체 틀 4">
            <a:extLst>
              <a:ext uri="{FF2B5EF4-FFF2-40B4-BE49-F238E27FC236}">
                <a16:creationId xmlns:a16="http://schemas.microsoft.com/office/drawing/2014/main" id="{9AEF5CC3-2FAC-D053-8625-42572D1B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8B4C359-90C9-466D-B523-05533E04E516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kumimoji="0" lang="en-US" altLang="ko-KR" sz="1000"/>
          </a:p>
        </p:txBody>
      </p:sp>
      <p:pic>
        <p:nvPicPr>
          <p:cNvPr id="34822" name="Picture 2">
            <a:extLst>
              <a:ext uri="{FF2B5EF4-FFF2-40B4-BE49-F238E27FC236}">
                <a16:creationId xmlns:a16="http://schemas.microsoft.com/office/drawing/2014/main" id="{212223F5-B205-1D01-C526-10F51D775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549275"/>
            <a:ext cx="5324475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4">
            <a:extLst>
              <a:ext uri="{FF2B5EF4-FFF2-40B4-BE49-F238E27FC236}">
                <a16:creationId xmlns:a16="http://schemas.microsoft.com/office/drawing/2014/main" id="{42E17939-F77A-17D2-0B7A-3694F9083E6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t>© 우균, 창병모</a:t>
            </a:r>
            <a:endParaRPr kumimoji="0" lang="en-US" altLang="ko-KR" sz="10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5843" name="Rectangle 6">
            <a:extLst>
              <a:ext uri="{FF2B5EF4-FFF2-40B4-BE49-F238E27FC236}">
                <a16:creationId xmlns:a16="http://schemas.microsoft.com/office/drawing/2014/main" id="{41AAF325-789E-DC58-EBCA-2701BC306F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E8D4C9F-B8C1-44C6-834B-571540DCF230}" type="slidenum"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kumimoji="0" lang="en-US" altLang="ko-KR" sz="10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CEDD5319-4803-0940-E6D0-8FA5BF9A570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4800"/>
              <a:t>7.4 </a:t>
            </a:r>
            <a:r>
              <a:rPr lang="ko-KR" altLang="en-US" sz="4800"/>
              <a:t>다차원 배열 </a:t>
            </a:r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C432B9DB-9164-6945-7D64-DADF1C0521B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제목 1">
            <a:extLst>
              <a:ext uri="{FF2B5EF4-FFF2-40B4-BE49-F238E27FC236}">
                <a16:creationId xmlns:a16="http://schemas.microsoft.com/office/drawing/2014/main" id="{33581147-D705-D4B8-A023-9BA1F40F9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다차원 배열</a:t>
            </a:r>
            <a:endParaRPr lang="ko-KR" altLang="en-US"/>
          </a:p>
        </p:txBody>
      </p:sp>
      <p:sp>
        <p:nvSpPr>
          <p:cNvPr id="37891" name="내용 개체 틀 2">
            <a:extLst>
              <a:ext uri="{FF2B5EF4-FFF2-40B4-BE49-F238E27FC236}">
                <a16:creationId xmlns:a16="http://schemas.microsoft.com/office/drawing/2014/main" id="{6EC3332A-F3B7-C733-DFB6-48B67AA65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/>
              <a:t>지금까지 일차원 배열</a:t>
            </a:r>
            <a:r>
              <a:rPr lang="en-US" altLang="ko-KR" sz="2400"/>
              <a:t>(one-dimensional array)</a:t>
            </a:r>
          </a:p>
          <a:p>
            <a:r>
              <a:rPr lang="ko-KR" altLang="en-US" sz="2400"/>
              <a:t>다차원 배열</a:t>
            </a:r>
            <a:r>
              <a:rPr lang="en-US" altLang="ko-KR" sz="2400"/>
              <a:t>(multi-dimensional array)</a:t>
            </a:r>
            <a:r>
              <a:rPr lang="ko-KR" altLang="en-US" sz="2400"/>
              <a:t> 제공</a:t>
            </a:r>
            <a:endParaRPr lang="en-US" altLang="ko-KR" sz="2400"/>
          </a:p>
          <a:p>
            <a:r>
              <a:rPr lang="ko-KR" altLang="en-US" sz="2400"/>
              <a:t>이차원 배열</a:t>
            </a:r>
            <a:r>
              <a:rPr lang="en-US" altLang="ko-KR" sz="2400"/>
              <a:t>(two-dimensional array)</a:t>
            </a:r>
          </a:p>
          <a:p>
            <a:pPr lvl="1"/>
            <a:r>
              <a:rPr lang="ko-KR" altLang="en-US" sz="2000"/>
              <a:t>행</a:t>
            </a:r>
            <a:r>
              <a:rPr lang="en-US" altLang="ko-KR" sz="2000"/>
              <a:t>(rows)</a:t>
            </a:r>
            <a:r>
              <a:rPr lang="ko-KR" altLang="en-US" sz="2000"/>
              <a:t>과 열</a:t>
            </a:r>
            <a:r>
              <a:rPr lang="en-US" altLang="ko-KR" sz="2000"/>
              <a:t>(columns)</a:t>
            </a:r>
            <a:r>
              <a:rPr lang="ko-KR" altLang="en-US" sz="2000"/>
              <a:t>로 이루어진 배열</a:t>
            </a:r>
            <a:endParaRPr lang="en-US" altLang="ko-KR" sz="2000"/>
          </a:p>
          <a:p>
            <a:endParaRPr lang="ko-KR" altLang="en-US" sz="24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22C3B6-C304-B5A4-2B2C-DF5124AB3CB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37893" name="슬라이드 번호 개체 틀 4">
            <a:extLst>
              <a:ext uri="{FF2B5EF4-FFF2-40B4-BE49-F238E27FC236}">
                <a16:creationId xmlns:a16="http://schemas.microsoft.com/office/drawing/2014/main" id="{8FEFE2A8-588C-022B-B048-296E11144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C22F8A1-7109-413B-885C-6430EA846669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kumimoji="0" lang="en-US" altLang="ko-KR" sz="1000"/>
          </a:p>
        </p:txBody>
      </p:sp>
      <p:sp>
        <p:nvSpPr>
          <p:cNvPr id="37894" name="Rectangle 2">
            <a:extLst>
              <a:ext uri="{FF2B5EF4-FFF2-40B4-BE49-F238E27FC236}">
                <a16:creationId xmlns:a16="http://schemas.microsoft.com/office/drawing/2014/main" id="{370A96E9-0C19-D0A4-D9C1-EF70BD768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37895" name="_x95391904" descr="EMB0000161099f6">
            <a:extLst>
              <a:ext uri="{FF2B5EF4-FFF2-40B4-BE49-F238E27FC236}">
                <a16:creationId xmlns:a16="http://schemas.microsoft.com/office/drawing/2014/main" id="{F8DB79F6-07F2-6DBE-05EE-C81FC4AFB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3716338"/>
            <a:ext cx="5689600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제목 1">
            <a:extLst>
              <a:ext uri="{FF2B5EF4-FFF2-40B4-BE49-F238E27FC236}">
                <a16:creationId xmlns:a16="http://schemas.microsoft.com/office/drawing/2014/main" id="{D787115F-08C0-D362-035F-EE729E9E1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이차원 배열</a:t>
            </a:r>
          </a:p>
        </p:txBody>
      </p:sp>
      <p:sp>
        <p:nvSpPr>
          <p:cNvPr id="38915" name="내용 개체 틀 2">
            <a:extLst>
              <a:ext uri="{FF2B5EF4-FFF2-40B4-BE49-F238E27FC236}">
                <a16:creationId xmlns:a16="http://schemas.microsoft.com/office/drawing/2014/main" id="{2E20A2EC-FFD9-04D2-00F1-AD02CB0C1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ko-KR" altLang="en-US" sz="2000"/>
              <a:t>━━━━━━━━━━━━━━━━━━━━━━━━━━━━━━━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 b="1"/>
              <a:t>Key Point</a:t>
            </a:r>
            <a:endParaRPr lang="ko-KR" altLang="en-US" sz="2000"/>
          </a:p>
          <a:p>
            <a:pPr>
              <a:buFont typeface="Wingdings" panose="05000000000000000000" pitchFamily="2" charset="2"/>
              <a:buNone/>
            </a:pPr>
            <a:r>
              <a:rPr lang="ko-KR" altLang="en-US" sz="2000"/>
              <a:t>이차원 배열은 행과 열로 이루어진 테이블로 생각할 수 있다</a:t>
            </a:r>
            <a:r>
              <a:rPr lang="en-US" altLang="ko-KR" sz="2000"/>
              <a:t>.</a:t>
            </a:r>
          </a:p>
          <a:p>
            <a:pPr>
              <a:buFont typeface="Wingdings" panose="05000000000000000000" pitchFamily="2" charset="2"/>
              <a:buNone/>
            </a:pPr>
            <a:r>
              <a:rPr lang="ko-KR" altLang="en-US" sz="2000"/>
              <a:t>━━━━━━━━━━━━━━━━━━━━━━━━━━━━━━━</a:t>
            </a:r>
          </a:p>
          <a:p>
            <a:r>
              <a:rPr lang="ko-KR" altLang="en-US" sz="2000"/>
              <a:t>이차원 배열은 행과 열의 크기로 선언된다</a:t>
            </a:r>
            <a:r>
              <a:rPr lang="en-US" altLang="ko-KR" sz="2000"/>
              <a:t>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	int[][] table = new int[10][5];</a:t>
            </a:r>
          </a:p>
          <a:p>
            <a:pPr>
              <a:buFont typeface="Wingdings" panose="05000000000000000000" pitchFamily="2" charset="2"/>
              <a:buNone/>
            </a:pPr>
            <a:endParaRPr lang="ko-KR" altLang="en-US" sz="2000"/>
          </a:p>
          <a:p>
            <a:r>
              <a:rPr lang="ko-KR" altLang="en-US" sz="2000"/>
              <a:t>이 배열의 원소는 두 개의 인덱스를 사용하여 참조할 수 있다</a:t>
            </a:r>
            <a:r>
              <a:rPr lang="en-US" altLang="ko-KR" sz="2000"/>
              <a:t>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	value = table[6][3];</a:t>
            </a:r>
          </a:p>
          <a:p>
            <a:pPr>
              <a:buFont typeface="Wingdings" panose="05000000000000000000" pitchFamily="2" charset="2"/>
              <a:buNone/>
            </a:pPr>
            <a:endParaRPr lang="ko-KR" altLang="en-US" sz="2000"/>
          </a:p>
          <a:p>
            <a:r>
              <a:rPr lang="ko-KR" altLang="en-US" sz="2000"/>
              <a:t>이차원 배열 초기화 리스트</a:t>
            </a:r>
            <a:endParaRPr lang="en-US" altLang="ko-KR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	int[][] table = {{1,0,0},{0,1,0}};</a:t>
            </a:r>
            <a:endParaRPr lang="ko-KR" altLang="en-US" sz="2000"/>
          </a:p>
          <a:p>
            <a:endParaRPr lang="ko-KR" altLang="en-US" sz="20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7324F8-2203-C970-46DF-132E5101092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38917" name="슬라이드 번호 개체 틀 4">
            <a:extLst>
              <a:ext uri="{FF2B5EF4-FFF2-40B4-BE49-F238E27FC236}">
                <a16:creationId xmlns:a16="http://schemas.microsoft.com/office/drawing/2014/main" id="{CCBA2F1F-270E-DCDA-D518-E5C61208A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45BBB0C-50FD-4943-B7C3-0EA1F81B422C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kumimoji="0" lang="en-US" altLang="ko-KR" sz="1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제목 1">
            <a:extLst>
              <a:ext uri="{FF2B5EF4-FFF2-40B4-BE49-F238E27FC236}">
                <a16:creationId xmlns:a16="http://schemas.microsoft.com/office/drawing/2014/main" id="{F8ED58F0-C4EF-5638-F00E-20B3F43F3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이차원 배열</a:t>
            </a: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BEA43344-F7B8-7589-8DEF-36F94530459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16013" y="2492375"/>
          <a:ext cx="6911975" cy="2449513"/>
        </p:xfrm>
        <a:graphic>
          <a:graphicData uri="http://schemas.openxmlformats.org/drawingml/2006/table">
            <a:tbl>
              <a:tblPr/>
              <a:tblGrid>
                <a:gridCol w="158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1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ts val="163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HY동녘B" pitchFamily="18" charset="-127"/>
                        </a:rPr>
                        <a:t>표현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한컴바탕" pitchFamily="18" charset="2"/>
                        <a:ea typeface="HY동녘B" pitchFamily="18" charset="-127"/>
                      </a:endParaRPr>
                    </a:p>
                  </a:txBody>
                  <a:tcPr marL="72009" marR="72009" marT="72009" marB="720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ts val="163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HY동녘B" pitchFamily="18" charset="-127"/>
                        </a:rPr>
                        <a:t>타입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한컴바탕" pitchFamily="18" charset="2"/>
                        <a:ea typeface="HY동녘B" pitchFamily="18" charset="-127"/>
                      </a:endParaRPr>
                    </a:p>
                  </a:txBody>
                  <a:tcPr marL="72009" marR="72009" marT="72009" marB="720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HY동녘B" pitchFamily="18" charset="-127"/>
                        </a:rPr>
                        <a:t>설명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한컴바탕" pitchFamily="18" charset="2"/>
                        <a:ea typeface="HY동녘B" pitchFamily="18" charset="-127"/>
                      </a:endParaRPr>
                    </a:p>
                  </a:txBody>
                  <a:tcPr marL="72009" marR="72009" marT="72009" marB="720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ts val="163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  <a:ea typeface="한컴바탕" pitchFamily="18" charset="2"/>
                          <a:cs typeface="한컴바탕" pitchFamily="18" charset="2"/>
                        </a:rPr>
                        <a:t>table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한컴바탕" pitchFamily="18" charset="2"/>
                        <a:ea typeface="HY동녘B" pitchFamily="18" charset="-127"/>
                      </a:endParaRPr>
                    </a:p>
                  </a:txBody>
                  <a:tcPr marL="72009" marR="72009" marT="72009" marB="720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ts val="163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  <a:ea typeface="한컴바탕" pitchFamily="18" charset="2"/>
                          <a:cs typeface="한컴바탕" pitchFamily="18" charset="2"/>
                        </a:rPr>
                        <a:t>int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  <a:ea typeface="한컴바탕" pitchFamily="18" charset="2"/>
                          <a:cs typeface="한컴바탕" pitchFamily="18" charset="2"/>
                        </a:rPr>
                        <a:t>[][]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한컴바탕" pitchFamily="18" charset="2"/>
                        <a:ea typeface="HY동녘B" pitchFamily="18" charset="-127"/>
                      </a:endParaRPr>
                    </a:p>
                  </a:txBody>
                  <a:tcPr marL="17907" marR="17907" marT="17907" marB="17907" anchor="ctr" horzOverflow="overflow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HY동녘B" pitchFamily="18" charset="-127"/>
                        </a:rPr>
                        <a:t>이차원 정수 배열 참조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한컴바탕" pitchFamily="18" charset="2"/>
                        <a:ea typeface="HY동녘B" pitchFamily="18" charset="-127"/>
                      </a:endParaRPr>
                    </a:p>
                  </a:txBody>
                  <a:tcPr marL="17907" marR="17907" marT="17907" marB="17907" anchor="ctr" horzOverflow="overflow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ts val="163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  <a:ea typeface="한컴바탕" pitchFamily="18" charset="2"/>
                          <a:cs typeface="한컴바탕" pitchFamily="18" charset="2"/>
                        </a:rPr>
                        <a:t>table[6]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한컴바탕" pitchFamily="18" charset="2"/>
                        <a:ea typeface="HY동녘B" pitchFamily="18" charset="-127"/>
                      </a:endParaRPr>
                    </a:p>
                  </a:txBody>
                  <a:tcPr marL="72009" marR="72009" marT="72009" marB="720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ts val="163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  <a:ea typeface="한컴바탕" pitchFamily="18" charset="2"/>
                          <a:cs typeface="한컴바탕" pitchFamily="18" charset="2"/>
                        </a:rPr>
                        <a:t>int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  <a:ea typeface="한컴바탕" pitchFamily="18" charset="2"/>
                          <a:cs typeface="한컴바탕" pitchFamily="18" charset="2"/>
                        </a:rPr>
                        <a:t>[]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한컴바탕" pitchFamily="18" charset="2"/>
                        <a:ea typeface="HY동녘B" pitchFamily="18" charset="-127"/>
                      </a:endParaRPr>
                    </a:p>
                  </a:txBody>
                  <a:tcPr marL="17907" marR="17907" marT="17907" marB="17907" anchor="ctr" horzOverflow="overflow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ts val="163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HY동녘B" pitchFamily="18" charset="-127"/>
                        </a:rPr>
                        <a:t>일차원 정수 배열 참조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한컴바탕" pitchFamily="18" charset="2"/>
                        <a:ea typeface="HY동녘B" pitchFamily="18" charset="-127"/>
                      </a:endParaRPr>
                    </a:p>
                  </a:txBody>
                  <a:tcPr marL="17907" marR="17907" marT="17907" marB="17907" anchor="ctr" horzOverflow="overflow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76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ts val="163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Console" pitchFamily="49" charset="0"/>
                          <a:ea typeface="한컴바탕" pitchFamily="18" charset="2"/>
                          <a:cs typeface="한컴바탕" pitchFamily="18" charset="2"/>
                        </a:rPr>
                        <a:t>table[6][3]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한컴바탕" pitchFamily="18" charset="2"/>
                        <a:ea typeface="HY동녘B" pitchFamily="18" charset="-127"/>
                      </a:endParaRPr>
                    </a:p>
                  </a:txBody>
                  <a:tcPr marL="72009" marR="72009" marT="72009" marB="72009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ts val="163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Lucida Console" pitchFamily="49" charset="0"/>
                          <a:ea typeface="한컴바탕" pitchFamily="18" charset="2"/>
                          <a:cs typeface="한컴바탕" pitchFamily="18" charset="2"/>
                        </a:rPr>
                        <a:t>int</a:t>
                      </a:r>
                      <a:endParaRPr kumimoji="0" lang="en-US" altLang="ko-KR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한컴바탕" pitchFamily="18" charset="2"/>
                        <a:ea typeface="HY동녘B" pitchFamily="18" charset="-127"/>
                      </a:endParaRPr>
                    </a:p>
                  </a:txBody>
                  <a:tcPr marL="17907" marR="17907" marT="17907" marB="17907" anchor="ctr" horzOverflow="overflow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ts val="163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HY동녘B" pitchFamily="18" charset="-127"/>
                        </a:rPr>
                        <a:t>정수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한컴바탕" pitchFamily="18" charset="2"/>
                        <a:ea typeface="HY동녘B" pitchFamily="18" charset="-127"/>
                      </a:endParaRPr>
                    </a:p>
                  </a:txBody>
                  <a:tcPr marL="17907" marR="17907" marT="17907" marB="17907" anchor="ctr" horzOverflow="overflow">
                    <a:lnL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E227E8-B32B-A377-C7AB-C154204FE3C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39968" name="슬라이드 번호 개체 틀 4">
            <a:extLst>
              <a:ext uri="{FF2B5EF4-FFF2-40B4-BE49-F238E27FC236}">
                <a16:creationId xmlns:a16="http://schemas.microsoft.com/office/drawing/2014/main" id="{ADEF4DEA-3A7B-9865-D9E2-2CF4935B6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9B75764-D7DA-4495-9154-C193E4A42DFE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kumimoji="0" lang="en-US" altLang="ko-KR" sz="1000"/>
          </a:p>
        </p:txBody>
      </p:sp>
      <p:sp>
        <p:nvSpPr>
          <p:cNvPr id="39969" name="Rectangle 1">
            <a:extLst>
              <a:ext uri="{FF2B5EF4-FFF2-40B4-BE49-F238E27FC236}">
                <a16:creationId xmlns:a16="http://schemas.microsoft.com/office/drawing/2014/main" id="{0E22FC0C-AD96-A005-D261-83775FEDF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제목 1">
            <a:extLst>
              <a:ext uri="{FF2B5EF4-FFF2-40B4-BE49-F238E27FC236}">
                <a16:creationId xmlns:a16="http://schemas.microsoft.com/office/drawing/2014/main" id="{9A5CE62A-4FC2-9EEB-7857-163C0BFA1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이차원 배열 예</a:t>
            </a:r>
          </a:p>
        </p:txBody>
      </p:sp>
      <p:sp>
        <p:nvSpPr>
          <p:cNvPr id="40963" name="내용 개체 틀 2">
            <a:extLst>
              <a:ext uri="{FF2B5EF4-FFF2-40B4-BE49-F238E27FC236}">
                <a16:creationId xmlns:a16="http://schemas.microsoft.com/office/drawing/2014/main" id="{3835F50D-A36F-F4BA-E709-C25C578D6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졸업작품 평가 </a:t>
            </a:r>
            <a:endParaRPr lang="en-US" altLang="ko-KR"/>
          </a:p>
          <a:p>
            <a:pPr lvl="1"/>
            <a:r>
              <a:rPr lang="ko-KR" altLang="en-US"/>
              <a:t>발표한 팀은 총</a:t>
            </a:r>
            <a:r>
              <a:rPr lang="en-US" altLang="ko-KR"/>
              <a:t>10</a:t>
            </a:r>
            <a:r>
              <a:rPr lang="ko-KR" altLang="en-US"/>
              <a:t>개 팀</a:t>
            </a:r>
            <a:endParaRPr lang="en-US" altLang="ko-KR"/>
          </a:p>
          <a:p>
            <a:pPr lvl="2"/>
            <a:r>
              <a:rPr lang="ko-KR" altLang="en-US"/>
              <a:t> 각 팀의 부문별 점수를 입력받아 최고점수 팀을 선정</a:t>
            </a:r>
            <a:endParaRPr lang="en-US" altLang="ko-KR"/>
          </a:p>
          <a:p>
            <a:pPr lvl="1"/>
            <a:r>
              <a:rPr lang="ko-KR" altLang="en-US"/>
              <a:t>부문별 점수</a:t>
            </a:r>
            <a:endParaRPr lang="en-US" altLang="ko-KR"/>
          </a:p>
          <a:p>
            <a:pPr lvl="2"/>
            <a:r>
              <a:rPr lang="ko-KR" altLang="en-US"/>
              <a:t> </a:t>
            </a:r>
            <a:r>
              <a:rPr lang="en-US" altLang="ko-KR"/>
              <a:t>(1) </a:t>
            </a:r>
            <a:r>
              <a:rPr lang="ko-KR" altLang="en-US"/>
              <a:t>이해도 </a:t>
            </a:r>
            <a:r>
              <a:rPr lang="en-US" altLang="ko-KR"/>
              <a:t>(2) </a:t>
            </a:r>
            <a:r>
              <a:rPr lang="ko-KR" altLang="en-US"/>
              <a:t>기술성 </a:t>
            </a:r>
            <a:r>
              <a:rPr lang="en-US" altLang="ko-KR"/>
              <a:t>(3) </a:t>
            </a:r>
            <a:r>
              <a:rPr lang="ko-KR" altLang="en-US"/>
              <a:t>편의성 </a:t>
            </a:r>
            <a:r>
              <a:rPr lang="en-US" altLang="ko-KR"/>
              <a:t>(4) </a:t>
            </a:r>
            <a:r>
              <a:rPr lang="ko-KR" altLang="en-US"/>
              <a:t>보안성 </a:t>
            </a:r>
            <a:r>
              <a:rPr lang="en-US" altLang="ko-KR"/>
              <a:t>(5) </a:t>
            </a:r>
            <a:r>
              <a:rPr lang="ko-KR" altLang="en-US"/>
              <a:t>발표력</a:t>
            </a:r>
            <a:endParaRPr lang="en-US" altLang="ko-KR"/>
          </a:p>
          <a:p>
            <a:pPr>
              <a:buFont typeface="Wingdings" panose="05000000000000000000" pitchFamily="2" charset="2"/>
              <a:buNone/>
            </a:pPr>
            <a:r>
              <a:rPr lang="en-US" altLang="ko-KR"/>
              <a:t>		</a:t>
            </a:r>
            <a:r>
              <a:rPr lang="en-US" altLang="ko-KR" sz="2000"/>
              <a:t>int[][] table = new int[10][5];</a:t>
            </a:r>
          </a:p>
          <a:p>
            <a:pPr lvl="4"/>
            <a:endParaRPr lang="ko-KR" altLang="en-US"/>
          </a:p>
          <a:p>
            <a:pPr lvl="1"/>
            <a:r>
              <a:rPr lang="ko-KR" altLang="en-US"/>
              <a:t>각 팀별 총점 저장</a:t>
            </a:r>
            <a:endParaRPr lang="en-US" altLang="ko-KR"/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2000"/>
              <a:t>	int[] sum = new int[10];</a:t>
            </a:r>
            <a:endParaRPr lang="ko-KR" altLang="en-US" sz="2000"/>
          </a:p>
          <a:p>
            <a:pPr>
              <a:buFont typeface="Wingdings" panose="05000000000000000000" pitchFamily="2" charset="2"/>
              <a:buNone/>
            </a:pP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E02FB1-D97D-6385-5AEF-9755E97408A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40965" name="슬라이드 번호 개체 틀 4">
            <a:extLst>
              <a:ext uri="{FF2B5EF4-FFF2-40B4-BE49-F238E27FC236}">
                <a16:creationId xmlns:a16="http://schemas.microsoft.com/office/drawing/2014/main" id="{D5739389-B996-A621-6F82-5F9B8DB9E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4A6801E-9A78-42BD-91AE-6A0DADC8CCC3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kumimoji="0" lang="en-US" altLang="ko-KR" sz="1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제목 1">
            <a:extLst>
              <a:ext uri="{FF2B5EF4-FFF2-40B4-BE49-F238E27FC236}">
                <a16:creationId xmlns:a16="http://schemas.microsoft.com/office/drawing/2014/main" id="{2E524CC9-4AFC-7970-0EAA-BA95A3591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1987" name="내용 개체 틀 2">
            <a:extLst>
              <a:ext uri="{FF2B5EF4-FFF2-40B4-BE49-F238E27FC236}">
                <a16:creationId xmlns:a16="http://schemas.microsoft.com/office/drawing/2014/main" id="{09D694C4-D2AD-36ED-FAAF-0A1DFDD26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3EBEF1-01EB-BE5A-F2C8-53CC6157B1A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41989" name="슬라이드 번호 개체 틀 4">
            <a:extLst>
              <a:ext uri="{FF2B5EF4-FFF2-40B4-BE49-F238E27FC236}">
                <a16:creationId xmlns:a16="http://schemas.microsoft.com/office/drawing/2014/main" id="{C1D58372-649B-0163-096B-EC06C21EA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13DA5FE-03C3-4021-9345-27AF2E0E5467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kumimoji="0" lang="en-US" altLang="ko-KR" sz="1000"/>
          </a:p>
        </p:txBody>
      </p:sp>
      <p:pic>
        <p:nvPicPr>
          <p:cNvPr id="41990" name="Picture 3">
            <a:extLst>
              <a:ext uri="{FF2B5EF4-FFF2-40B4-BE49-F238E27FC236}">
                <a16:creationId xmlns:a16="http://schemas.microsoft.com/office/drawing/2014/main" id="{8F43FED9-4C5D-8839-5F94-992B6B987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404813"/>
            <a:ext cx="6911975" cy="470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제목 1">
            <a:extLst>
              <a:ext uri="{FF2B5EF4-FFF2-40B4-BE49-F238E27FC236}">
                <a16:creationId xmlns:a16="http://schemas.microsoft.com/office/drawing/2014/main" id="{3C740C4E-5776-8C30-3D21-8665AE8C8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3011" name="내용 개체 틀 2">
            <a:extLst>
              <a:ext uri="{FF2B5EF4-FFF2-40B4-BE49-F238E27FC236}">
                <a16:creationId xmlns:a16="http://schemas.microsoft.com/office/drawing/2014/main" id="{D2B6C27B-E081-FE72-095B-5BCFC32F1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284688-403D-4500-1401-CC021644F56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43013" name="슬라이드 번호 개체 틀 4">
            <a:extLst>
              <a:ext uri="{FF2B5EF4-FFF2-40B4-BE49-F238E27FC236}">
                <a16:creationId xmlns:a16="http://schemas.microsoft.com/office/drawing/2014/main" id="{44BA0F50-43CE-AC17-BE67-29DF78232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0C130C3-B185-4B23-93A7-536CB485870F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kumimoji="0" lang="en-US" altLang="ko-KR" sz="1000"/>
          </a:p>
        </p:txBody>
      </p:sp>
      <p:pic>
        <p:nvPicPr>
          <p:cNvPr id="43014" name="Picture 2">
            <a:extLst>
              <a:ext uri="{FF2B5EF4-FFF2-40B4-BE49-F238E27FC236}">
                <a16:creationId xmlns:a16="http://schemas.microsoft.com/office/drawing/2014/main" id="{77CAF5AE-11A4-8D50-C4CE-F369F97BF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484313"/>
            <a:ext cx="7904163" cy="482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4">
            <a:extLst>
              <a:ext uri="{FF2B5EF4-FFF2-40B4-BE49-F238E27FC236}">
                <a16:creationId xmlns:a16="http://schemas.microsoft.com/office/drawing/2014/main" id="{6CE0F637-0B67-B445-9C21-176AFEF092F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t>© 우균, 창병모</a:t>
            </a:r>
            <a:endParaRPr kumimoji="0" lang="en-US" altLang="ko-KR" sz="10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4035" name="Rectangle 6">
            <a:extLst>
              <a:ext uri="{FF2B5EF4-FFF2-40B4-BE49-F238E27FC236}">
                <a16:creationId xmlns:a16="http://schemas.microsoft.com/office/drawing/2014/main" id="{293BFF32-B896-53AF-298E-CD2BA6A001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04C743C-FFAA-4A3C-AC8D-067BD58D9252}" type="slidenum"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kumimoji="0" lang="en-US" altLang="ko-KR" sz="10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4036" name="Rectangle 4">
            <a:extLst>
              <a:ext uri="{FF2B5EF4-FFF2-40B4-BE49-F238E27FC236}">
                <a16:creationId xmlns:a16="http://schemas.microsoft.com/office/drawing/2014/main" id="{19786325-7259-A839-7637-DCD48BB4573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4800"/>
              <a:t>7.5 ArrayList </a:t>
            </a:r>
            <a:r>
              <a:rPr lang="ko-KR" altLang="en-US" sz="4800"/>
              <a:t>클래스</a:t>
            </a:r>
          </a:p>
        </p:txBody>
      </p:sp>
      <p:sp>
        <p:nvSpPr>
          <p:cNvPr id="44037" name="Rectangle 5">
            <a:extLst>
              <a:ext uri="{FF2B5EF4-FFF2-40B4-BE49-F238E27FC236}">
                <a16:creationId xmlns:a16="http://schemas.microsoft.com/office/drawing/2014/main" id="{0ECEFB8E-CDF1-93DC-BDAC-4C0A99F6134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제목 1">
            <a:extLst>
              <a:ext uri="{FF2B5EF4-FFF2-40B4-BE49-F238E27FC236}">
                <a16:creationId xmlns:a16="http://schemas.microsoft.com/office/drawing/2014/main" id="{3CBC9F71-8034-2899-DA93-DDF1F53BF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ArrayList</a:t>
            </a:r>
            <a:endParaRPr lang="ko-KR" altLang="en-US"/>
          </a:p>
        </p:txBody>
      </p:sp>
      <p:sp>
        <p:nvSpPr>
          <p:cNvPr id="46083" name="내용 개체 틀 2">
            <a:extLst>
              <a:ext uri="{FF2B5EF4-FFF2-40B4-BE49-F238E27FC236}">
                <a16:creationId xmlns:a16="http://schemas.microsoft.com/office/drawing/2014/main" id="{B4D958BA-C1DA-D03A-EE73-DA7CF3BA2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/>
              <a:t>배열의 단점</a:t>
            </a:r>
            <a:endParaRPr lang="en-US" altLang="ko-KR" sz="2000"/>
          </a:p>
          <a:p>
            <a:pPr lvl="1"/>
            <a:r>
              <a:rPr lang="ko-KR" altLang="en-US" sz="1800"/>
              <a:t>크기가 한번 결정되면 고정되어 조정할 수 없다</a:t>
            </a:r>
            <a:endParaRPr lang="en-US" altLang="ko-KR" sz="1800"/>
          </a:p>
          <a:p>
            <a:r>
              <a:rPr lang="en-US" altLang="ko-KR" sz="2200"/>
              <a:t>ArrayList</a:t>
            </a:r>
          </a:p>
          <a:p>
            <a:pPr lvl="1"/>
            <a:r>
              <a:rPr lang="en-US" altLang="ko-KR" sz="1800"/>
              <a:t> </a:t>
            </a:r>
            <a:r>
              <a:rPr lang="ko-KR" altLang="en-US" sz="1800"/>
              <a:t>이러한 단점을 보완하기 위한 동적인 자료구조</a:t>
            </a:r>
            <a:endParaRPr lang="en-US" altLang="ko-KR" sz="1800"/>
          </a:p>
          <a:p>
            <a:pPr lvl="1"/>
            <a:r>
              <a:rPr lang="en-US" altLang="ko-KR" sz="1800"/>
              <a:t>ArrayList</a:t>
            </a:r>
            <a:r>
              <a:rPr lang="ko-KR" altLang="en-US" sz="1800"/>
              <a:t>에는 객체</a:t>
            </a:r>
            <a:r>
              <a:rPr lang="en-US" altLang="ko-KR" sz="1800"/>
              <a:t>(</a:t>
            </a:r>
            <a:r>
              <a:rPr lang="ko-KR" altLang="en-US" sz="1800"/>
              <a:t>정확히 말하면 객체에 대한 참조</a:t>
            </a:r>
            <a:r>
              <a:rPr lang="en-US" altLang="ko-KR" sz="1800"/>
              <a:t>)</a:t>
            </a:r>
            <a:r>
              <a:rPr lang="ko-KR" altLang="en-US" sz="1800"/>
              <a:t>를 저장할 수 있다</a:t>
            </a:r>
            <a:r>
              <a:rPr lang="en-US" altLang="ko-KR" sz="1800"/>
              <a:t>.</a:t>
            </a:r>
          </a:p>
          <a:p>
            <a:pPr lvl="1"/>
            <a:r>
              <a:rPr lang="ko-KR" altLang="en-US" sz="1800"/>
              <a:t>원소를 추가함에 따라 자동적으로 크기가 증가한다</a:t>
            </a:r>
            <a:r>
              <a:rPr lang="en-US" altLang="ko-KR" sz="1800"/>
              <a:t>. </a:t>
            </a:r>
          </a:p>
          <a:p>
            <a:pPr>
              <a:buFont typeface="Wingdings" panose="05000000000000000000" pitchFamily="2" charset="2"/>
              <a:buNone/>
            </a:pPr>
            <a:r>
              <a:rPr lang="ko-KR" altLang="en-US" sz="2000"/>
              <a:t>━━━━━━━━━━━━━━━━━━━━━━━━━━━━━━━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 b="1"/>
              <a:t>Key Point</a:t>
            </a:r>
            <a:endParaRPr lang="ko-KR" altLang="en-US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ArrayList</a:t>
            </a:r>
            <a:r>
              <a:rPr lang="ko-KR" altLang="en-US" sz="2000"/>
              <a:t>는 동적으로 크기가 변하는 일종의 배열이다</a:t>
            </a:r>
            <a:r>
              <a:rPr lang="en-US" altLang="ko-KR" sz="2000"/>
              <a:t>.</a:t>
            </a:r>
          </a:p>
          <a:p>
            <a:pPr>
              <a:buFont typeface="Wingdings" panose="05000000000000000000" pitchFamily="2" charset="2"/>
              <a:buNone/>
            </a:pPr>
            <a:r>
              <a:rPr lang="ko-KR" altLang="en-US" sz="2000"/>
              <a:t>━━━━━━━━━━━━━━━━━━━━━━━━━━━━━━━</a:t>
            </a:r>
          </a:p>
          <a:p>
            <a:endParaRPr lang="ko-KR" altLang="en-US" sz="20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A8F5D3-FDBC-9AB0-69A1-E63B1BC4996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46085" name="슬라이드 번호 개체 틀 4">
            <a:extLst>
              <a:ext uri="{FF2B5EF4-FFF2-40B4-BE49-F238E27FC236}">
                <a16:creationId xmlns:a16="http://schemas.microsoft.com/office/drawing/2014/main" id="{064903C1-BADA-D951-5DB3-49B12DB60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ECE6F81-690D-4E8F-ACD1-C712BF8F81FC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kumimoji="0" lang="en-US" altLang="ko-KR" sz="1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제목 1">
            <a:extLst>
              <a:ext uri="{FF2B5EF4-FFF2-40B4-BE49-F238E27FC236}">
                <a16:creationId xmlns:a16="http://schemas.microsoft.com/office/drawing/2014/main" id="{75A94CFF-833D-FBAE-DA97-21CAFE3BE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ArrayList </a:t>
            </a:r>
            <a:r>
              <a:rPr lang="ko-KR" altLang="en-US"/>
              <a:t>메소드</a:t>
            </a: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228A0ABF-9BF3-00B2-FF23-65CE161CED8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1188" y="908050"/>
          <a:ext cx="8208962" cy="5876925"/>
        </p:xfrm>
        <a:graphic>
          <a:graphicData uri="http://schemas.openxmlformats.org/drawingml/2006/table">
            <a:tbl>
              <a:tblPr/>
              <a:tblGrid>
                <a:gridCol w="3384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4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426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dirty="0" err="1">
                          <a:solidFill>
                            <a:srgbClr val="000000"/>
                          </a:solidFill>
                          <a:latin typeface="굴림체"/>
                        </a:rPr>
                        <a:t>메소드</a:t>
                      </a:r>
                      <a:r>
                        <a:rPr lang="ko-KR" altLang="en-US" sz="1600" b="1" dirty="0">
                          <a:solidFill>
                            <a:srgbClr val="000000"/>
                          </a:solidFill>
                          <a:latin typeface="굴림체"/>
                        </a:rPr>
                        <a:t> </a:t>
                      </a:r>
                      <a:endParaRPr lang="ko-KR" altLang="en-US" sz="1600" dirty="0">
                        <a:solidFill>
                          <a:srgbClr val="000000"/>
                        </a:solidFill>
                        <a:latin typeface="한컴바탕"/>
                      </a:endParaRPr>
                    </a:p>
                  </a:txBody>
                  <a:tcPr marL="72009" marR="72009" marT="72019" marB="72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>
                          <a:solidFill>
                            <a:srgbClr val="000000"/>
                          </a:solidFill>
                          <a:latin typeface="굴림체"/>
                        </a:rPr>
                        <a:t>설명</a:t>
                      </a:r>
                      <a:endParaRPr lang="ko-KR" altLang="en-US" sz="1600">
                        <a:solidFill>
                          <a:srgbClr val="000000"/>
                        </a:solidFill>
                        <a:latin typeface="한컴바탕"/>
                      </a:endParaRPr>
                    </a:p>
                  </a:txBody>
                  <a:tcPr marL="72009" marR="72009" marT="72019" marB="72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266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  <a:latin typeface="Lucida Console" pitchFamily="49" charset="0"/>
                          <a:ea typeface="굴림체"/>
                        </a:rPr>
                        <a:t>public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ArrayList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() </a:t>
                      </a:r>
                      <a:endParaRPr lang="en-US" sz="14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72009" marR="72009" marT="72019" marB="72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빈 리스트를 생성한다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72009" marR="72009" marT="72019" marB="72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266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  <a:latin typeface="Lucida Console" pitchFamily="49" charset="0"/>
                          <a:ea typeface="굴림체"/>
                        </a:rPr>
                        <a:t>public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ArrayList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(</a:t>
                      </a:r>
                      <a:r>
                        <a:rPr lang="en-US" sz="1400" dirty="0" err="1">
                          <a:solidFill>
                            <a:srgbClr val="0000FF"/>
                          </a:solidFill>
                          <a:latin typeface="Lucida Console" pitchFamily="49" charset="0"/>
                          <a:ea typeface="굴림체"/>
                        </a:rPr>
                        <a:t>int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initial) </a:t>
                      </a:r>
                      <a:endParaRPr lang="en-US" sz="14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72009" marR="72009" marT="72019" marB="72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명시된 최초 용량을 갖는 리스트를 생성한다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72009" marR="72009" marT="72019" marB="72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266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FF"/>
                          </a:solidFill>
                          <a:latin typeface="Lucida Console" pitchFamily="49" charset="0"/>
                          <a:ea typeface="굴림체"/>
                        </a:rPr>
                        <a:t>void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add(Object o)</a:t>
                      </a:r>
                      <a:endParaRPr lang="en-US" sz="140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72009" marR="72009" marT="72019" marB="72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54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끝에 객체 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o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를 원소로 추가한다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72009" marR="72009" marT="72019" marB="72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266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  <a:latin typeface="Lucida Console" pitchFamily="49" charset="0"/>
                          <a:ea typeface="굴림체"/>
                        </a:rPr>
                        <a:t>void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add(</a:t>
                      </a:r>
                      <a:r>
                        <a:rPr lang="en-US" sz="1400" dirty="0" err="1">
                          <a:solidFill>
                            <a:srgbClr val="0000FF"/>
                          </a:solidFill>
                          <a:latin typeface="Lucida Console" pitchFamily="49" charset="0"/>
                          <a:ea typeface="굴림체"/>
                        </a:rPr>
                        <a:t>int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index, Object o)</a:t>
                      </a:r>
                      <a:endParaRPr lang="en-US" sz="14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72009" marR="72009" marT="72019" marB="72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54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index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위치에 객체 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o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를 원소로 삽입한다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72009" marR="72009" marT="72019" marB="72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266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  <a:latin typeface="Lucida Console" pitchFamily="49" charset="0"/>
                          <a:ea typeface="굴림체"/>
                        </a:rPr>
                        <a:t>void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remove(</a:t>
                      </a:r>
                      <a:r>
                        <a:rPr lang="en-US" sz="1400" dirty="0" err="1">
                          <a:solidFill>
                            <a:srgbClr val="0000FF"/>
                          </a:solidFill>
                          <a:latin typeface="Lucida Console" pitchFamily="49" charset="0"/>
                          <a:ea typeface="굴림체"/>
                        </a:rPr>
                        <a:t>int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index) </a:t>
                      </a:r>
                      <a:endParaRPr lang="en-US" sz="14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72009" marR="72009" marT="72019" marB="72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54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index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위치의 원소를 제거한다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72009" marR="72009" marT="72019" marB="72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4266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  <a:latin typeface="Lucida Console" pitchFamily="49" charset="0"/>
                          <a:ea typeface="굴림체"/>
                        </a:rPr>
                        <a:t>void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remove(Object o)</a:t>
                      </a:r>
                      <a:endParaRPr lang="en-US" sz="14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72009" marR="72009" marT="72019" marB="72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54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객체 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o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와 일치하는 첫 번째 원소를 삭제한다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72009" marR="72009" marT="72019" marB="72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266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Object get(</a:t>
                      </a:r>
                      <a:r>
                        <a:rPr lang="en-US" sz="1400" dirty="0" err="1">
                          <a:solidFill>
                            <a:srgbClr val="0000FF"/>
                          </a:solidFill>
                          <a:latin typeface="Lucida Console" pitchFamily="49" charset="0"/>
                          <a:ea typeface="굴림체"/>
                        </a:rPr>
                        <a:t>int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index)</a:t>
                      </a:r>
                      <a:endParaRPr lang="en-US" sz="14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72009" marR="72009" marT="72019" marB="72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54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index 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위치의 원소를 </a:t>
                      </a:r>
                      <a:r>
                        <a:rPr lang="ko-KR" altLang="en-US" sz="160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리턴한다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72009" marR="72009" marT="72019" marB="72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4266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solidFill>
                            <a:srgbClr val="0000FF"/>
                          </a:solidFill>
                          <a:latin typeface="Lucida Console" pitchFamily="49" charset="0"/>
                          <a:ea typeface="굴림체"/>
                        </a:rPr>
                        <a:t>int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size( ) </a:t>
                      </a:r>
                      <a:endParaRPr lang="en-US" sz="14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72009" marR="72009" marT="72019" marB="72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54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원소 개수를 </a:t>
                      </a:r>
                      <a:r>
                        <a:rPr lang="ko-KR" altLang="en-US" sz="160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리턴한다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16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72009" marR="72009" marT="72019" marB="72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4266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solidFill>
                            <a:srgbClr val="0000FF"/>
                          </a:solidFill>
                          <a:latin typeface="Lucida Console" pitchFamily="49" charset="0"/>
                          <a:ea typeface="굴림체"/>
                        </a:rPr>
                        <a:t>int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indexOf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(Object o)</a:t>
                      </a:r>
                      <a:endParaRPr lang="en-US" sz="14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72009" marR="72009" marT="72019" marB="72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54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객체 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o</a:t>
                      </a:r>
                      <a:r>
                        <a:rPr lang="ko-KR" altLang="en-US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와 일치하는 첫번째 원소의 인덱스 리턴</a:t>
                      </a:r>
                    </a:p>
                  </a:txBody>
                  <a:tcPr marL="72009" marR="72009" marT="72019" marB="72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34266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  <a:latin typeface="Lucida Console" pitchFamily="49" charset="0"/>
                          <a:ea typeface="굴림체"/>
                        </a:rPr>
                        <a:t>void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clear( )</a:t>
                      </a:r>
                      <a:endParaRPr lang="en-US" sz="14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72009" marR="72009" marT="72019" marB="72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54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모든 원소를 제거한다</a:t>
                      </a:r>
                      <a:r>
                        <a:rPr lang="en-US" altLang="ko-KR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72009" marR="72009" marT="72019" marB="72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A036F5-3C23-84E9-E9FD-28BFF1FF13B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47146" name="슬라이드 번호 개체 틀 4">
            <a:extLst>
              <a:ext uri="{FF2B5EF4-FFF2-40B4-BE49-F238E27FC236}">
                <a16:creationId xmlns:a16="http://schemas.microsoft.com/office/drawing/2014/main" id="{E69EF85B-8E2D-2C89-003A-782130A92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9867816-57A9-4EE0-A3F1-AAFA1B1D3F14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kumimoji="0" lang="en-US" altLang="ko-KR" sz="1000"/>
          </a:p>
        </p:txBody>
      </p:sp>
      <p:sp>
        <p:nvSpPr>
          <p:cNvPr id="47147" name="Rectangle 1">
            <a:extLst>
              <a:ext uri="{FF2B5EF4-FFF2-40B4-BE49-F238E27FC236}">
                <a16:creationId xmlns:a16="http://schemas.microsoft.com/office/drawing/2014/main" id="{3A6DD3A3-FC43-8B42-9788-921543033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제목 1">
            <a:extLst>
              <a:ext uri="{FF2B5EF4-FFF2-40B4-BE49-F238E27FC236}">
                <a16:creationId xmlns:a16="http://schemas.microsoft.com/office/drawing/2014/main" id="{41F41F52-13C0-E562-3525-7F89301C6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PhoneBook</a:t>
            </a:r>
            <a:r>
              <a:rPr lang="ko-KR" altLang="en-US"/>
              <a:t> 클래스 재작성</a:t>
            </a:r>
          </a:p>
        </p:txBody>
      </p:sp>
      <p:sp>
        <p:nvSpPr>
          <p:cNvPr id="48131" name="내용 개체 틀 2">
            <a:extLst>
              <a:ext uri="{FF2B5EF4-FFF2-40B4-BE49-F238E27FC236}">
                <a16:creationId xmlns:a16="http://schemas.microsoft.com/office/drawing/2014/main" id="{297BB3A8-FC6C-2850-4BC1-87A96D7D6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ArrayList</a:t>
            </a:r>
            <a:r>
              <a:rPr lang="ko-KR" altLang="en-US" sz="2400"/>
              <a:t>를 이용하여 </a:t>
            </a:r>
            <a:r>
              <a:rPr lang="en-US" altLang="ko-KR" sz="2400"/>
              <a:t>PhoneBook </a:t>
            </a:r>
            <a:r>
              <a:rPr lang="ko-KR" altLang="en-US" sz="2400"/>
              <a:t>클래스 재작성</a:t>
            </a:r>
            <a:endParaRPr lang="en-US" altLang="ko-KR" sz="2400"/>
          </a:p>
          <a:p>
            <a:pPr lvl="1"/>
            <a:r>
              <a:rPr lang="en-US" altLang="ko-KR" sz="1800"/>
              <a:t>ArrayList</a:t>
            </a:r>
            <a:r>
              <a:rPr lang="ko-KR" altLang="en-US" sz="1800"/>
              <a:t>는 크기가 고정되어 있지 않음</a:t>
            </a:r>
            <a:endParaRPr lang="en-US" altLang="ko-KR" sz="1800"/>
          </a:p>
          <a:p>
            <a:pPr lvl="1"/>
            <a:r>
              <a:rPr lang="ko-KR" altLang="en-US" sz="1800"/>
              <a:t> </a:t>
            </a:r>
            <a:r>
              <a:rPr lang="en-US" altLang="ko-KR" sz="2000"/>
              <a:t>phoneBook = new</a:t>
            </a:r>
            <a:r>
              <a:rPr lang="ko-KR" altLang="en-US" sz="2000"/>
              <a:t> </a:t>
            </a:r>
            <a:r>
              <a:rPr lang="en-US" altLang="ko-KR" sz="2000"/>
              <a:t>ArrayList( );</a:t>
            </a:r>
            <a:endParaRPr lang="ko-KR" altLang="en-US"/>
          </a:p>
          <a:p>
            <a:pPr lvl="1"/>
            <a:r>
              <a:rPr lang="en-US" altLang="ko-KR" sz="1800"/>
              <a:t> </a:t>
            </a:r>
            <a:r>
              <a:rPr lang="ko-KR" altLang="en-US" sz="1800"/>
              <a:t>크기는 </a:t>
            </a:r>
            <a:r>
              <a:rPr lang="en-US" altLang="ko-KR" sz="1800"/>
              <a:t>ArrayList</a:t>
            </a:r>
            <a:r>
              <a:rPr lang="ko-KR" altLang="en-US" sz="1800"/>
              <a:t>가 제공하는 </a:t>
            </a:r>
            <a:r>
              <a:rPr lang="en-US" altLang="ko-KR" sz="1800"/>
              <a:t>size</a:t>
            </a:r>
            <a:r>
              <a:rPr lang="ko-KR" altLang="en-US" sz="1800"/>
              <a:t> 메소드를 이용 가능</a:t>
            </a:r>
            <a:endParaRPr lang="en-US" altLang="ko-KR" sz="1800"/>
          </a:p>
          <a:p>
            <a:pPr lvl="1"/>
            <a:endParaRPr lang="ko-KR" altLang="en-US" sz="1800"/>
          </a:p>
          <a:p>
            <a:r>
              <a:rPr lang="en-US" altLang="ko-KR" sz="2400"/>
              <a:t>PhoneBook</a:t>
            </a:r>
            <a:r>
              <a:rPr lang="ko-KR" altLang="en-US" sz="2400"/>
              <a:t> 클래스의 </a:t>
            </a:r>
            <a:r>
              <a:rPr lang="en-US" altLang="ko-KR" sz="2400"/>
              <a:t>add</a:t>
            </a:r>
            <a:r>
              <a:rPr lang="ko-KR" altLang="en-US" sz="2400"/>
              <a:t> 메소드</a:t>
            </a:r>
            <a:endParaRPr lang="en-US" altLang="ko-KR" sz="2400"/>
          </a:p>
          <a:p>
            <a:pPr lvl="1"/>
            <a:r>
              <a:rPr lang="en-US" altLang="ko-KR" sz="1800"/>
              <a:t>Person</a:t>
            </a:r>
            <a:r>
              <a:rPr lang="ko-KR" altLang="en-US" sz="1800"/>
              <a:t> 객체를 생성하고 </a:t>
            </a:r>
            <a:r>
              <a:rPr lang="en-US" altLang="ko-KR" sz="1800"/>
              <a:t>ArrayList</a:t>
            </a:r>
            <a:r>
              <a:rPr lang="ko-KR" altLang="en-US" sz="1800"/>
              <a:t>의 </a:t>
            </a:r>
            <a:r>
              <a:rPr lang="en-US" altLang="ko-KR" sz="1800"/>
              <a:t>add</a:t>
            </a:r>
            <a:r>
              <a:rPr lang="ko-KR" altLang="en-US" sz="1800"/>
              <a:t> 메소드를 이용하여 추가</a:t>
            </a:r>
          </a:p>
          <a:p>
            <a:pPr lvl="1"/>
            <a:r>
              <a:rPr lang="en-US" altLang="ko-KR" sz="1800"/>
              <a:t>phoneBook.add(p);</a:t>
            </a:r>
          </a:p>
          <a:p>
            <a:pPr lvl="1"/>
            <a:endParaRPr lang="ko-KR" altLang="en-US" sz="1800"/>
          </a:p>
          <a:p>
            <a:r>
              <a:rPr lang="en-US" altLang="ko-KR" sz="2400"/>
              <a:t>PhoneBook</a:t>
            </a:r>
            <a:r>
              <a:rPr lang="ko-KR" altLang="en-US" sz="2400"/>
              <a:t> 클래스의 </a:t>
            </a:r>
            <a:r>
              <a:rPr lang="en-US" altLang="ko-KR" sz="2400"/>
              <a:t>lookup</a:t>
            </a:r>
            <a:r>
              <a:rPr lang="ko-KR" altLang="en-US" sz="2400"/>
              <a:t> 메소드</a:t>
            </a:r>
            <a:endParaRPr lang="en-US" altLang="ko-KR" sz="2400"/>
          </a:p>
          <a:p>
            <a:pPr lvl="1"/>
            <a:r>
              <a:rPr lang="en-US" altLang="ko-KR" sz="1800"/>
              <a:t>ArrayList</a:t>
            </a:r>
            <a:r>
              <a:rPr lang="ko-KR" altLang="en-US" sz="1800"/>
              <a:t>의 </a:t>
            </a:r>
            <a:r>
              <a:rPr lang="en-US" altLang="ko-KR" sz="1800"/>
              <a:t>get</a:t>
            </a:r>
            <a:r>
              <a:rPr lang="ko-KR" altLang="en-US" sz="1800"/>
              <a:t> 메소드를 이용하여 </a:t>
            </a:r>
            <a:r>
              <a:rPr lang="en-US" altLang="ko-KR" sz="1800"/>
              <a:t>PhoneBook</a:t>
            </a:r>
            <a:r>
              <a:rPr lang="ko-KR" altLang="en-US" sz="1800"/>
              <a:t> 내의 </a:t>
            </a:r>
            <a:r>
              <a:rPr lang="en-US" altLang="ko-KR" sz="1800"/>
              <a:t>i-</a:t>
            </a:r>
            <a:r>
              <a:rPr lang="ko-KR" altLang="en-US" sz="1800"/>
              <a:t>번째 </a:t>
            </a:r>
            <a:r>
              <a:rPr lang="en-US" altLang="ko-KR" sz="1800"/>
              <a:t>Person</a:t>
            </a:r>
            <a:r>
              <a:rPr lang="ko-KR" altLang="en-US" sz="1800"/>
              <a:t> 객체를 가져온다</a:t>
            </a:r>
            <a:r>
              <a:rPr lang="en-US" altLang="ko-KR" sz="1800"/>
              <a:t>.</a:t>
            </a:r>
            <a:endParaRPr lang="ko-KR" altLang="en-US" sz="1800"/>
          </a:p>
          <a:p>
            <a:pPr lvl="1"/>
            <a:r>
              <a:rPr lang="en-US" altLang="ko-KR" sz="1800"/>
              <a:t>p = (Person) PhoneBook.get(i);</a:t>
            </a:r>
            <a:endParaRPr lang="ko-KR" altLang="en-US" sz="1800"/>
          </a:p>
          <a:p>
            <a:endParaRPr lang="ko-KR" altLang="en-US" sz="24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70C34C-7B50-5DE8-932F-8ECA1B06DBA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48133" name="슬라이드 번호 개체 틀 4">
            <a:extLst>
              <a:ext uri="{FF2B5EF4-FFF2-40B4-BE49-F238E27FC236}">
                <a16:creationId xmlns:a16="http://schemas.microsoft.com/office/drawing/2014/main" id="{474EE20E-7DB1-9B65-3C6E-0AEF3797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614005C-4D08-4B2B-A8AA-E83EF698C812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kumimoji="0" lang="en-US" altLang="ko-KR" sz="1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제목 1">
            <a:extLst>
              <a:ext uri="{FF2B5EF4-FFF2-40B4-BE49-F238E27FC236}">
                <a16:creationId xmlns:a16="http://schemas.microsoft.com/office/drawing/2014/main" id="{0A17C492-66B5-D1D6-6D24-FB6902AF0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9155" name="내용 개체 틀 2">
            <a:extLst>
              <a:ext uri="{FF2B5EF4-FFF2-40B4-BE49-F238E27FC236}">
                <a16:creationId xmlns:a16="http://schemas.microsoft.com/office/drawing/2014/main" id="{CBD2B148-718B-2D0F-217A-2867CE7E3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95BE89-88BE-8C51-00A2-35ACA856F8C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49157" name="슬라이드 번호 개체 틀 4">
            <a:extLst>
              <a:ext uri="{FF2B5EF4-FFF2-40B4-BE49-F238E27FC236}">
                <a16:creationId xmlns:a16="http://schemas.microsoft.com/office/drawing/2014/main" id="{D3A76A75-9857-41F4-F721-5F8ECBB00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7D3BC2C-033F-40A4-9C94-0533D3C22BA1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kumimoji="0" lang="en-US" altLang="ko-KR" sz="1000"/>
          </a:p>
        </p:txBody>
      </p:sp>
      <p:pic>
        <p:nvPicPr>
          <p:cNvPr id="49158" name="Picture 2">
            <a:extLst>
              <a:ext uri="{FF2B5EF4-FFF2-40B4-BE49-F238E27FC236}">
                <a16:creationId xmlns:a16="http://schemas.microsoft.com/office/drawing/2014/main" id="{9D72EF46-141F-9C93-0BD2-764971BBE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333375"/>
            <a:ext cx="5981700" cy="568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제목 1">
            <a:extLst>
              <a:ext uri="{FF2B5EF4-FFF2-40B4-BE49-F238E27FC236}">
                <a16:creationId xmlns:a16="http://schemas.microsoft.com/office/drawing/2014/main" id="{F69850BB-50A3-980B-FDD5-BE99470C6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0179" name="내용 개체 틀 2">
            <a:extLst>
              <a:ext uri="{FF2B5EF4-FFF2-40B4-BE49-F238E27FC236}">
                <a16:creationId xmlns:a16="http://schemas.microsoft.com/office/drawing/2014/main" id="{B081D103-B953-8A92-0B75-72CBA5371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8579F6-C4EA-96EA-4693-ED07485EB3D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50181" name="슬라이드 번호 개체 틀 4">
            <a:extLst>
              <a:ext uri="{FF2B5EF4-FFF2-40B4-BE49-F238E27FC236}">
                <a16:creationId xmlns:a16="http://schemas.microsoft.com/office/drawing/2014/main" id="{70D176C3-CF08-950E-0D8C-94EBA8C63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403A8DA-D2CD-4750-8936-2B61766AF796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kumimoji="0" lang="en-US" altLang="ko-KR" sz="1000"/>
          </a:p>
        </p:txBody>
      </p:sp>
      <p:pic>
        <p:nvPicPr>
          <p:cNvPr id="50182" name="Picture 2">
            <a:extLst>
              <a:ext uri="{FF2B5EF4-FFF2-40B4-BE49-F238E27FC236}">
                <a16:creationId xmlns:a16="http://schemas.microsoft.com/office/drawing/2014/main" id="{529ED4F6-E09E-4629-2C6D-05BE3B84C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773238"/>
            <a:ext cx="6419850" cy="3268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제목 1">
            <a:extLst>
              <a:ext uri="{FF2B5EF4-FFF2-40B4-BE49-F238E27FC236}">
                <a16:creationId xmlns:a16="http://schemas.microsoft.com/office/drawing/2014/main" id="{13F9FA6B-70EA-1049-B66A-F5C4845C6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Iterator</a:t>
            </a:r>
            <a:endParaRPr lang="ko-KR" altLang="en-US"/>
          </a:p>
        </p:txBody>
      </p:sp>
      <p:sp>
        <p:nvSpPr>
          <p:cNvPr id="51203" name="내용 개체 틀 2">
            <a:extLst>
              <a:ext uri="{FF2B5EF4-FFF2-40B4-BE49-F238E27FC236}">
                <a16:creationId xmlns:a16="http://schemas.microsoft.com/office/drawing/2014/main" id="{9754CB57-A616-CF68-91CA-3E0B8FDC1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Iterator</a:t>
            </a:r>
          </a:p>
          <a:p>
            <a:pPr lvl="1"/>
            <a:r>
              <a:rPr lang="en-US" altLang="ko-KR" sz="1800"/>
              <a:t>ArrayList</a:t>
            </a:r>
            <a:r>
              <a:rPr lang="ko-KR" altLang="en-US" sz="1800"/>
              <a:t>와 관련하여 리스트 내의 각 원소에 대해서 반복할 때 사용</a:t>
            </a:r>
            <a:endParaRPr lang="en-US" altLang="ko-KR" sz="1800"/>
          </a:p>
          <a:p>
            <a:pPr lvl="1"/>
            <a:r>
              <a:rPr lang="en-US" altLang="ko-KR" sz="1800"/>
              <a:t>Java </a:t>
            </a:r>
            <a:r>
              <a:rPr lang="ko-KR" altLang="en-US" sz="1800"/>
              <a:t>컬렉션 프레임워크</a:t>
            </a:r>
            <a:r>
              <a:rPr lang="en-US" altLang="ko-KR" sz="1800"/>
              <a:t>(Collection Framework)</a:t>
            </a:r>
            <a:r>
              <a:rPr lang="ko-KR" altLang="en-US" sz="1800"/>
              <a:t>에 정의된 인터페이스</a:t>
            </a:r>
            <a:endParaRPr lang="en-US" altLang="ko-KR" sz="1800"/>
          </a:p>
          <a:p>
            <a:pPr lvl="1"/>
            <a:r>
              <a:rPr lang="ko-KR" altLang="en-US" sz="1800"/>
              <a:t>객체들의 컬렉션이 있을 때 여기에 저장된 원소들을 편리하게 하나씩 꺼내 쓰기 위한 인터페이스</a:t>
            </a:r>
            <a:endParaRPr lang="en-US" altLang="ko-KR" sz="1800"/>
          </a:p>
          <a:p>
            <a:pPr lvl="1"/>
            <a:endParaRPr lang="en-US" altLang="ko-KR" sz="1800"/>
          </a:p>
          <a:p>
            <a:r>
              <a:rPr lang="en-US" altLang="ko-KR" sz="2400"/>
              <a:t>Iterator</a:t>
            </a:r>
            <a:r>
              <a:rPr lang="ko-KR" altLang="en-US" sz="2400"/>
              <a:t> 인터페이스</a:t>
            </a:r>
            <a:r>
              <a:rPr lang="en-US" altLang="ko-KR" sz="2400"/>
              <a:t>. </a:t>
            </a:r>
            <a:endParaRPr lang="ko-KR" altLang="en-US" sz="24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800"/>
              <a:t>public interface</a:t>
            </a:r>
            <a:r>
              <a:rPr lang="ko-KR" altLang="en-US" sz="1800"/>
              <a:t> </a:t>
            </a:r>
            <a:r>
              <a:rPr lang="en-US" altLang="ko-KR" sz="1800"/>
              <a:t>Iterator </a:t>
            </a:r>
            <a:endParaRPr lang="ko-KR" altLang="en-US" sz="18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800"/>
              <a:t>{</a:t>
            </a:r>
            <a:endParaRPr lang="ko-KR" altLang="en-US" sz="18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800"/>
              <a:t>   boolean</a:t>
            </a:r>
            <a:r>
              <a:rPr lang="ko-KR" altLang="en-US" sz="1800"/>
              <a:t> </a:t>
            </a:r>
            <a:r>
              <a:rPr lang="en-US" altLang="ko-KR" sz="1800"/>
              <a:t>hasNext();  // </a:t>
            </a:r>
            <a:r>
              <a:rPr lang="ko-KR" altLang="en-US" sz="1800"/>
              <a:t>다음 원소가 존재하면 </a:t>
            </a:r>
            <a:r>
              <a:rPr lang="en-US" altLang="ko-KR" sz="1800"/>
              <a:t>true</a:t>
            </a:r>
            <a:r>
              <a:rPr lang="ko-KR" altLang="en-US" sz="1800"/>
              <a:t>를 리턴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800"/>
              <a:t>   Object next();          // </a:t>
            </a:r>
            <a:r>
              <a:rPr lang="ko-KR" altLang="en-US" sz="1800"/>
              <a:t>메소드는 다음 원소를 리턴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800"/>
              <a:t>   void</a:t>
            </a:r>
            <a:r>
              <a:rPr lang="ko-KR" altLang="en-US" sz="1800"/>
              <a:t> </a:t>
            </a:r>
            <a:r>
              <a:rPr lang="en-US" altLang="ko-KR" sz="1800"/>
              <a:t>remove();         // </a:t>
            </a:r>
            <a:r>
              <a:rPr lang="ko-KR" altLang="en-US" sz="1800"/>
              <a:t>마지막으로 리턴된 원소를 제거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800"/>
              <a:t>}</a:t>
            </a:r>
            <a:endParaRPr lang="ko-KR" altLang="en-US" sz="1800"/>
          </a:p>
          <a:p>
            <a:endParaRPr lang="ko-KR" altLang="en-US" sz="24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3120B5-76A0-4047-A98F-DCA6E455AFE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51205" name="슬라이드 번호 개체 틀 4">
            <a:extLst>
              <a:ext uri="{FF2B5EF4-FFF2-40B4-BE49-F238E27FC236}">
                <a16:creationId xmlns:a16="http://schemas.microsoft.com/office/drawing/2014/main" id="{B21A80DB-C8DE-06DC-EDFD-5ABF525C2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6859A84-6D73-4980-9344-416C0F0A3321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kumimoji="0" lang="en-US" altLang="ko-KR" sz="10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제목 1">
            <a:extLst>
              <a:ext uri="{FF2B5EF4-FFF2-40B4-BE49-F238E27FC236}">
                <a16:creationId xmlns:a16="http://schemas.microsoft.com/office/drawing/2014/main" id="{71630AA4-E869-8CEB-33A9-101757FFF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Iterator </a:t>
            </a:r>
            <a:r>
              <a:rPr lang="ko-KR" altLang="en-US"/>
              <a:t>예제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52227" name="내용 개체 틀 2">
            <a:extLst>
              <a:ext uri="{FF2B5EF4-FFF2-40B4-BE49-F238E27FC236}">
                <a16:creationId xmlns:a16="http://schemas.microsoft.com/office/drawing/2014/main" id="{EC31BA8B-3766-6671-12E0-4FEF10650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public static void main(String[] args)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   ArrayList ints = new ArrayList();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   for (int i = 0; i &lt; 10; i++)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      ints.add (new Integer(i));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   Iterator it = ints.iterator();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   while(it.hasNext())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      System.out.println((Integer)it.next());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}</a:t>
            </a:r>
          </a:p>
          <a:p>
            <a:pPr>
              <a:buFont typeface="Wingdings" panose="05000000000000000000" pitchFamily="2" charset="2"/>
              <a:buNone/>
            </a:pPr>
            <a:endParaRPr lang="ko-KR" altLang="en-US" sz="20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9FB1D6-8E81-F09D-60A1-8C4212287C5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52229" name="슬라이드 번호 개체 틀 4">
            <a:extLst>
              <a:ext uri="{FF2B5EF4-FFF2-40B4-BE49-F238E27FC236}">
                <a16:creationId xmlns:a16="http://schemas.microsoft.com/office/drawing/2014/main" id="{E24FDF17-C799-3C0B-62F8-2C3329CB9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5378512-CB4F-4EBE-8F80-59DBA2100ED1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kumimoji="0" lang="en-US" altLang="ko-KR" sz="10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제목 1">
            <a:extLst>
              <a:ext uri="{FF2B5EF4-FFF2-40B4-BE49-F238E27FC236}">
                <a16:creationId xmlns:a16="http://schemas.microsoft.com/office/drawing/2014/main" id="{F2DC873B-99FF-FB61-5F84-A601588E9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lookup </a:t>
            </a:r>
            <a:r>
              <a:rPr lang="ko-KR" altLang="en-US"/>
              <a:t>메소드 재작성</a:t>
            </a:r>
          </a:p>
        </p:txBody>
      </p:sp>
      <p:sp>
        <p:nvSpPr>
          <p:cNvPr id="53251" name="내용 개체 틀 2">
            <a:extLst>
              <a:ext uri="{FF2B5EF4-FFF2-40B4-BE49-F238E27FC236}">
                <a16:creationId xmlns:a16="http://schemas.microsoft.com/office/drawing/2014/main" id="{BEFCD9A2-E7E0-EB0E-7CDF-998CB1486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public String lookup(String name)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   Person p;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   Iterator it = phoneBook.iterator();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   while(it.hasNext())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   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      p = (Person) it.next();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      if (p.getName().equals(name))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         return p.getPhone();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   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   return null;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}</a:t>
            </a:r>
          </a:p>
          <a:p>
            <a:pPr>
              <a:buFont typeface="Wingdings" panose="05000000000000000000" pitchFamily="2" charset="2"/>
              <a:buNone/>
            </a:pPr>
            <a:endParaRPr lang="ko-KR" altLang="en-US" sz="20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27923F-F7E6-A3A1-6BC9-C90D59241C1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53253" name="슬라이드 번호 개체 틀 4">
            <a:extLst>
              <a:ext uri="{FF2B5EF4-FFF2-40B4-BE49-F238E27FC236}">
                <a16:creationId xmlns:a16="http://schemas.microsoft.com/office/drawing/2014/main" id="{7DCC9636-F96C-DDC8-F4AF-C8A3CDBCA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B030344-AC7E-4F3E-970E-7FB9EA9EFEDD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kumimoji="0" lang="en-US" altLang="ko-KR" sz="10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제목 1">
            <a:extLst>
              <a:ext uri="{FF2B5EF4-FFF2-40B4-BE49-F238E27FC236}">
                <a16:creationId xmlns:a16="http://schemas.microsoft.com/office/drawing/2014/main" id="{CB5EC09B-26F9-52D0-79DD-16E2A454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b="1"/>
              <a:t>정적 변수</a:t>
            </a:r>
            <a:r>
              <a:rPr lang="en-US" altLang="ko-KR" b="1"/>
              <a:t>(static variable)</a:t>
            </a:r>
            <a:endParaRPr lang="ko-KR" altLang="en-US"/>
          </a:p>
        </p:txBody>
      </p:sp>
      <p:sp>
        <p:nvSpPr>
          <p:cNvPr id="54275" name="내용 개체 틀 2">
            <a:extLst>
              <a:ext uri="{FF2B5EF4-FFF2-40B4-BE49-F238E27FC236}">
                <a16:creationId xmlns:a16="http://schemas.microsoft.com/office/drawing/2014/main" id="{1FFAC9FB-1C77-0528-6EF9-63BDB9080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ko-KR" altLang="en-US" sz="2000"/>
              <a:t>클래스 내에 모든 실체</a:t>
            </a:r>
            <a:r>
              <a:rPr lang="en-US" altLang="ko-KR" sz="2000"/>
              <a:t>(</a:t>
            </a:r>
            <a:r>
              <a:rPr lang="ko-KR" altLang="en-US" sz="2000"/>
              <a:t>객체</a:t>
            </a:r>
            <a:r>
              <a:rPr lang="en-US" altLang="ko-KR" sz="2000"/>
              <a:t>)</a:t>
            </a:r>
            <a:r>
              <a:rPr lang="ko-KR" altLang="en-US" sz="2000"/>
              <a:t>가 공유해서 사용하는 멤버 변수</a:t>
            </a:r>
            <a:endParaRPr lang="en-US" altLang="ko-KR" sz="2000"/>
          </a:p>
          <a:p>
            <a:pPr eaLnBrk="1" hangingPunct="1"/>
            <a:r>
              <a:rPr lang="ko-KR" altLang="en-US" sz="2000"/>
              <a:t>객체가 아니라 클래스 내에 </a:t>
            </a:r>
            <a:r>
              <a:rPr lang="en-US" altLang="ko-KR" sz="2000"/>
              <a:t>static </a:t>
            </a:r>
            <a:r>
              <a:rPr lang="ko-KR" altLang="en-US" sz="2000"/>
              <a:t>변수를 위한 기억공간이 생성됨</a:t>
            </a:r>
            <a:r>
              <a:rPr lang="en-US" altLang="ko-KR" sz="2000"/>
              <a:t>.</a:t>
            </a:r>
          </a:p>
          <a:p>
            <a:pPr eaLnBrk="1" hangingPunct="1"/>
            <a:r>
              <a:rPr lang="ko-KR" altLang="en-US" sz="2000"/>
              <a:t>예</a:t>
            </a:r>
            <a:endParaRPr lang="en-US" altLang="ko-KR" sz="2000"/>
          </a:p>
          <a:p>
            <a:pPr eaLnBrk="1" hangingPunct="1">
              <a:buFont typeface="Wingdings" panose="05000000000000000000" pitchFamily="2" charset="2"/>
              <a:buNone/>
            </a:pPr>
            <a:endParaRPr lang="ko-KR" altLang="en-US" sz="20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167CB4-A22D-A6CB-15FA-4DB9B5AC7E9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54277" name="슬라이드 번호 개체 틀 4">
            <a:extLst>
              <a:ext uri="{FF2B5EF4-FFF2-40B4-BE49-F238E27FC236}">
                <a16:creationId xmlns:a16="http://schemas.microsoft.com/office/drawing/2014/main" id="{561B217F-C823-0CD3-20FB-AD7CCBD85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A0D06EA-4760-4E69-8062-F7099FA39A93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kumimoji="0" lang="en-US" altLang="ko-KR" sz="1000"/>
          </a:p>
        </p:txBody>
      </p:sp>
      <p:sp>
        <p:nvSpPr>
          <p:cNvPr id="54278" name="Rectangle 1">
            <a:extLst>
              <a:ext uri="{FF2B5EF4-FFF2-40B4-BE49-F238E27FC236}">
                <a16:creationId xmlns:a16="http://schemas.microsoft.com/office/drawing/2014/main" id="{703D7E00-757D-C5EB-1063-A4E8C0315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2636838"/>
            <a:ext cx="4570412" cy="397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600" b="1">
                <a:solidFill>
                  <a:srgbClr val="000000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/**</a:t>
            </a:r>
            <a:endParaRPr kumimoji="0" lang="en-US" altLang="ko-KR" sz="1600" b="1">
              <a:latin typeface="Tahoma" panose="020B0604030504040204" pitchFamily="34" charset="0"/>
              <a:ea typeface="굴림" panose="020B0600000101010101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600" b="1">
                <a:solidFill>
                  <a:srgbClr val="000000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* </a:t>
            </a:r>
            <a:r>
              <a:rPr kumimoji="0" lang="ko-KR" altLang="en-US" sz="1600" b="1">
                <a:solidFill>
                  <a:srgbClr val="000000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객체의 개수를 위해 실체 변수 </a:t>
            </a:r>
            <a:r>
              <a:rPr kumimoji="0" lang="en-US" altLang="ko-KR" sz="1600" b="1">
                <a:solidFill>
                  <a:srgbClr val="000000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no </a:t>
            </a:r>
            <a:r>
              <a:rPr kumimoji="0" lang="ko-KR" altLang="en-US" sz="1600" b="1">
                <a:solidFill>
                  <a:srgbClr val="000000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사용</a:t>
            </a:r>
            <a:endParaRPr kumimoji="0" lang="ko-KR" altLang="en-US" sz="1600" b="1">
              <a:latin typeface="Tahoma" panose="020B0604030504040204" pitchFamily="34" charset="0"/>
              <a:ea typeface="굴림" panose="020B0600000101010101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600" b="1">
                <a:solidFill>
                  <a:srgbClr val="000000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*</a:t>
            </a:r>
            <a:r>
              <a:rPr kumimoji="0" lang="en-US" altLang="ko-KR" sz="1600" b="1">
                <a:solidFill>
                  <a:srgbClr val="000000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/</a:t>
            </a:r>
            <a:endParaRPr kumimoji="0" lang="en-US" altLang="ko-KR" sz="1600" b="1">
              <a:latin typeface="Tahoma" panose="020B0604030504040204" pitchFamily="34" charset="0"/>
              <a:ea typeface="굴림" panose="020B0600000101010101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b="1">
                <a:solidFill>
                  <a:srgbClr val="0000FF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class</a:t>
            </a:r>
            <a:r>
              <a:rPr kumimoji="0" lang="en-US" altLang="ko-KR" sz="1800" b="1">
                <a:solidFill>
                  <a:srgbClr val="000000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 Point </a:t>
            </a: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b="1">
                <a:solidFill>
                  <a:srgbClr val="000000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{</a:t>
            </a:r>
            <a:endParaRPr kumimoji="0" lang="en-US" altLang="ko-KR" sz="1800" b="1">
              <a:latin typeface="Tahoma" panose="020B0604030504040204" pitchFamily="34" charset="0"/>
              <a:ea typeface="굴림" panose="020B0600000101010101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b="1">
                <a:solidFill>
                  <a:srgbClr val="0000FF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   private double</a:t>
            </a:r>
            <a:r>
              <a:rPr kumimoji="0" lang="en-US" altLang="ko-KR" sz="1800" b="1">
                <a:solidFill>
                  <a:srgbClr val="000000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 x, y;</a:t>
            </a:r>
            <a:endParaRPr kumimoji="0" lang="en-US" altLang="ko-KR" sz="1800" b="1">
              <a:latin typeface="Tahoma" panose="020B0604030504040204" pitchFamily="34" charset="0"/>
              <a:ea typeface="굴림" panose="020B0600000101010101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b="1">
                <a:solidFill>
                  <a:srgbClr val="0000FF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   int</a:t>
            </a:r>
            <a:r>
              <a:rPr kumimoji="0" lang="en-US" altLang="ko-KR" sz="1800" b="1">
                <a:solidFill>
                  <a:srgbClr val="000000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 no = 0;</a:t>
            </a:r>
            <a:endParaRPr kumimoji="0" lang="en-US" altLang="ko-KR" sz="1800" b="1">
              <a:latin typeface="Tahoma" panose="020B0604030504040204" pitchFamily="34" charset="0"/>
              <a:ea typeface="굴림" panose="020B0600000101010101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b="1">
                <a:solidFill>
                  <a:srgbClr val="000000"/>
                </a:solidFill>
                <a:latin typeface="Lucida Console" panose="020B0609040504020204" pitchFamily="49" charset="0"/>
                <a:ea typeface="굴림" panose="020B0600000101010101" pitchFamily="50" charset="-127"/>
              </a:rPr>
              <a:t> </a:t>
            </a:r>
            <a:r>
              <a:rPr kumimoji="0" lang="en-US" altLang="ko-KR" sz="1800" b="1">
                <a:solidFill>
                  <a:srgbClr val="000000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 </a:t>
            </a:r>
            <a:endParaRPr kumimoji="0" lang="en-US" altLang="ko-KR" sz="1800" b="1">
              <a:latin typeface="Tahoma" panose="020B0604030504040204" pitchFamily="34" charset="0"/>
              <a:ea typeface="굴림" panose="020B0600000101010101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b="1">
                <a:solidFill>
                  <a:srgbClr val="0000FF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   public</a:t>
            </a:r>
            <a:r>
              <a:rPr kumimoji="0" lang="en-US" altLang="ko-KR" sz="1800" b="1">
                <a:solidFill>
                  <a:srgbClr val="000000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 Point() {</a:t>
            </a:r>
            <a:endParaRPr kumimoji="0" lang="en-US" altLang="ko-KR" sz="1800" b="1">
              <a:latin typeface="Tahoma" panose="020B0604030504040204" pitchFamily="34" charset="0"/>
              <a:ea typeface="굴림" panose="020B0600000101010101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b="1">
                <a:solidFill>
                  <a:srgbClr val="000000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      x = 0.0; </a:t>
            </a:r>
            <a:endParaRPr kumimoji="0" lang="en-US" altLang="ko-KR" sz="1800" b="1">
              <a:latin typeface="Tahoma" panose="020B0604030504040204" pitchFamily="34" charset="0"/>
              <a:ea typeface="굴림" panose="020B0600000101010101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b="1">
                <a:solidFill>
                  <a:srgbClr val="000000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      y = 0.0;</a:t>
            </a:r>
            <a:endParaRPr kumimoji="0" lang="en-US" altLang="ko-KR" sz="1800" b="1">
              <a:latin typeface="Tahoma" panose="020B0604030504040204" pitchFamily="34" charset="0"/>
              <a:ea typeface="굴림" panose="020B0600000101010101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b="1">
                <a:solidFill>
                  <a:srgbClr val="000000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      no++;</a:t>
            </a:r>
            <a:endParaRPr kumimoji="0" lang="en-US" altLang="ko-KR" sz="1800" b="1">
              <a:latin typeface="Tahoma" panose="020B0604030504040204" pitchFamily="34" charset="0"/>
              <a:ea typeface="굴림" panose="020B0600000101010101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b="1">
                <a:solidFill>
                  <a:srgbClr val="000000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   }</a:t>
            </a:r>
            <a:endParaRPr kumimoji="0" lang="en-US" altLang="ko-KR" sz="1800" b="1">
              <a:latin typeface="Tahoma" panose="020B0604030504040204" pitchFamily="34" charset="0"/>
              <a:ea typeface="굴림" panose="020B0600000101010101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b="1">
                <a:solidFill>
                  <a:srgbClr val="000000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}</a:t>
            </a:r>
            <a:endParaRPr kumimoji="0" lang="en-US" altLang="ko-KR" sz="1800" b="1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54279" name="Rectangle 3">
            <a:extLst>
              <a:ext uri="{FF2B5EF4-FFF2-40B4-BE49-F238E27FC236}">
                <a16:creationId xmlns:a16="http://schemas.microsoft.com/office/drawing/2014/main" id="{50D84DD8-DBD1-041B-BAFB-ECA1AA918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2636838"/>
            <a:ext cx="4021138" cy="390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600" b="1">
                <a:solidFill>
                  <a:srgbClr val="000000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/**</a:t>
            </a:r>
            <a:endParaRPr kumimoji="0" lang="en-US" altLang="ko-KR" sz="1600" b="1">
              <a:latin typeface="Tahoma" panose="020B0604030504040204" pitchFamily="34" charset="0"/>
              <a:ea typeface="굴림" panose="020B0600000101010101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600" b="1">
                <a:solidFill>
                  <a:srgbClr val="000000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* </a:t>
            </a:r>
            <a:r>
              <a:rPr kumimoji="0" lang="ko-KR" altLang="en-US" sz="1600" b="1">
                <a:solidFill>
                  <a:srgbClr val="000000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객체의 개수를 위해 정적 변수 </a:t>
            </a:r>
            <a:r>
              <a:rPr kumimoji="0" lang="en-US" altLang="ko-KR" sz="1600" b="1">
                <a:solidFill>
                  <a:srgbClr val="000000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no </a:t>
            </a:r>
            <a:r>
              <a:rPr kumimoji="0" lang="ko-KR" altLang="en-US" sz="1600" b="1">
                <a:solidFill>
                  <a:srgbClr val="000000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사용</a:t>
            </a:r>
            <a:endParaRPr kumimoji="0" lang="ko-KR" altLang="en-US" sz="1600" b="1">
              <a:latin typeface="Tahoma" panose="020B0604030504040204" pitchFamily="34" charset="0"/>
              <a:ea typeface="굴림" panose="020B0600000101010101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600" b="1">
                <a:solidFill>
                  <a:srgbClr val="000000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*</a:t>
            </a:r>
            <a:r>
              <a:rPr kumimoji="0" lang="en-US" altLang="ko-KR" sz="1600" b="1">
                <a:solidFill>
                  <a:srgbClr val="000000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/</a:t>
            </a:r>
            <a:endParaRPr kumimoji="0" lang="en-US" altLang="ko-KR" sz="1600" b="1">
              <a:latin typeface="Tahoma" panose="020B0604030504040204" pitchFamily="34" charset="0"/>
              <a:ea typeface="굴림" panose="020B0600000101010101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b="1">
                <a:solidFill>
                  <a:srgbClr val="0000FF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class</a:t>
            </a:r>
            <a:r>
              <a:rPr kumimoji="0" lang="en-US" altLang="ko-KR" sz="1800" b="1">
                <a:solidFill>
                  <a:srgbClr val="000000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 Point </a:t>
            </a: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b="1">
                <a:solidFill>
                  <a:srgbClr val="000000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{</a:t>
            </a:r>
            <a:endParaRPr kumimoji="0" lang="en-US" altLang="ko-KR" sz="1800" b="1">
              <a:latin typeface="Tahoma" panose="020B0604030504040204" pitchFamily="34" charset="0"/>
              <a:ea typeface="굴림" panose="020B0600000101010101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b="1">
                <a:solidFill>
                  <a:srgbClr val="0000FF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   private double</a:t>
            </a:r>
            <a:r>
              <a:rPr kumimoji="0" lang="en-US" altLang="ko-KR" sz="1800" b="1">
                <a:solidFill>
                  <a:srgbClr val="000000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 x, y;</a:t>
            </a:r>
            <a:endParaRPr kumimoji="0" lang="en-US" altLang="ko-KR" sz="1800" b="1">
              <a:latin typeface="Tahoma" panose="020B0604030504040204" pitchFamily="34" charset="0"/>
              <a:ea typeface="굴림" panose="020B0600000101010101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b="1">
                <a:solidFill>
                  <a:srgbClr val="0000FF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   static int</a:t>
            </a:r>
            <a:r>
              <a:rPr kumimoji="0" lang="en-US" altLang="ko-KR" sz="1800" b="1">
                <a:solidFill>
                  <a:srgbClr val="000000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 no = 0;</a:t>
            </a:r>
            <a:endParaRPr kumimoji="0" lang="en-US" altLang="ko-KR" sz="1800" b="1">
              <a:latin typeface="Tahoma" panose="020B0604030504040204" pitchFamily="34" charset="0"/>
              <a:ea typeface="굴림" panose="020B0600000101010101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b="1">
                <a:solidFill>
                  <a:srgbClr val="000000"/>
                </a:solidFill>
                <a:latin typeface="Lucida Console" panose="020B0609040504020204" pitchFamily="49" charset="0"/>
                <a:ea typeface="굴림" panose="020B0600000101010101" pitchFamily="50" charset="-127"/>
              </a:rPr>
              <a:t> </a:t>
            </a:r>
            <a:r>
              <a:rPr kumimoji="0" lang="en-US" altLang="ko-KR" sz="1800" b="1">
                <a:solidFill>
                  <a:srgbClr val="000000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 </a:t>
            </a:r>
            <a:endParaRPr kumimoji="0" lang="en-US" altLang="ko-KR" sz="1800" b="1">
              <a:latin typeface="Tahoma" panose="020B0604030504040204" pitchFamily="34" charset="0"/>
              <a:ea typeface="굴림" panose="020B0600000101010101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b="1">
                <a:solidFill>
                  <a:srgbClr val="0000FF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   public</a:t>
            </a:r>
            <a:r>
              <a:rPr kumimoji="0" lang="en-US" altLang="ko-KR" sz="1800" b="1">
                <a:solidFill>
                  <a:srgbClr val="000000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 Point() {</a:t>
            </a:r>
            <a:endParaRPr kumimoji="0" lang="en-US" altLang="ko-KR" sz="1800" b="1">
              <a:latin typeface="Tahoma" panose="020B0604030504040204" pitchFamily="34" charset="0"/>
              <a:ea typeface="굴림" panose="020B0600000101010101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b="1">
                <a:solidFill>
                  <a:srgbClr val="000000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      x = 0.0; </a:t>
            </a:r>
            <a:endParaRPr kumimoji="0" lang="en-US" altLang="ko-KR" sz="1800" b="1">
              <a:latin typeface="Tahoma" panose="020B0604030504040204" pitchFamily="34" charset="0"/>
              <a:ea typeface="굴림" panose="020B0600000101010101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b="1">
                <a:solidFill>
                  <a:srgbClr val="000000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      y = 0.0;</a:t>
            </a:r>
            <a:endParaRPr kumimoji="0" lang="en-US" altLang="ko-KR" sz="1800" b="1">
              <a:latin typeface="Tahoma" panose="020B0604030504040204" pitchFamily="34" charset="0"/>
              <a:ea typeface="굴림" panose="020B0600000101010101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b="1">
                <a:solidFill>
                  <a:srgbClr val="000000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      no++;</a:t>
            </a:r>
            <a:endParaRPr kumimoji="0" lang="en-US" altLang="ko-KR" sz="1800" b="1">
              <a:latin typeface="Tahoma" panose="020B0604030504040204" pitchFamily="34" charset="0"/>
              <a:ea typeface="굴림" panose="020B0600000101010101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b="1">
                <a:solidFill>
                  <a:srgbClr val="000000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   }</a:t>
            </a: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b="1">
                <a:solidFill>
                  <a:srgbClr val="000000"/>
                </a:solidFill>
                <a:latin typeface="굴림체" panose="020B0609000101010101" pitchFamily="49" charset="-127"/>
                <a:ea typeface="굴림" panose="020B0600000101010101" pitchFamily="50" charset="-127"/>
              </a:rPr>
              <a:t>}</a:t>
            </a:r>
            <a:endParaRPr kumimoji="0" lang="en-US" altLang="ko-KR" sz="1800" b="1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제목 1">
            <a:extLst>
              <a:ext uri="{FF2B5EF4-FFF2-40B4-BE49-F238E27FC236}">
                <a16:creationId xmlns:a16="http://schemas.microsoft.com/office/drawing/2014/main" id="{25628296-B54E-61F5-F23B-D0DA27751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b="1"/>
              <a:t>정적 메소드</a:t>
            </a:r>
            <a:r>
              <a:rPr lang="en-US" altLang="ko-KR" b="1"/>
              <a:t>(static method)</a:t>
            </a:r>
            <a:endParaRPr lang="ko-KR" altLang="en-US"/>
          </a:p>
        </p:txBody>
      </p:sp>
      <p:sp>
        <p:nvSpPr>
          <p:cNvPr id="55299" name="내용 개체 틀 2">
            <a:extLst>
              <a:ext uri="{FF2B5EF4-FFF2-40B4-BE49-F238E27FC236}">
                <a16:creationId xmlns:a16="http://schemas.microsoft.com/office/drawing/2014/main" id="{61BF85A1-A3A9-2A8D-8DC3-16A0D7908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ko-KR" altLang="en-US" sz="2000"/>
              <a:t>정적 메소드는 객체를 생성하지 않고 클래스 이름을 이용하여 호출</a:t>
            </a:r>
            <a:endParaRPr lang="en-US" altLang="ko-KR" sz="2000"/>
          </a:p>
          <a:p>
            <a:pPr eaLnBrk="1" hangingPunct="1"/>
            <a:r>
              <a:rPr lang="ko-KR" altLang="en-US" sz="2000"/>
              <a:t>정적 메소드는 실체 변수를 사용할 수 없다</a:t>
            </a:r>
            <a:r>
              <a:rPr lang="en-US" altLang="ko-KR" sz="2000"/>
              <a:t>. </a:t>
            </a:r>
          </a:p>
          <a:p>
            <a:pPr eaLnBrk="1" hangingPunct="1"/>
            <a:r>
              <a:rPr lang="ko-KR" altLang="en-US" sz="2000"/>
              <a:t>클래스 내의 일부 혹은 모든 메소드를 </a:t>
            </a:r>
            <a:r>
              <a:rPr lang="en-US" altLang="ko-KR" sz="2000"/>
              <a:t>static</a:t>
            </a:r>
            <a:r>
              <a:rPr lang="ko-KR" altLang="en-US" sz="2000"/>
              <a:t>으로 선언할 수 있다</a:t>
            </a:r>
            <a:r>
              <a:rPr lang="en-US" altLang="ko-KR" sz="2000"/>
              <a:t>. </a:t>
            </a:r>
          </a:p>
          <a:p>
            <a:pPr eaLnBrk="1" hangingPunct="1"/>
            <a:r>
              <a:rPr lang="ko-KR" altLang="en-US" sz="2000"/>
              <a:t>대표적인 정적 메소드</a:t>
            </a:r>
            <a:endParaRPr lang="en-US" altLang="ko-KR" sz="2000"/>
          </a:p>
          <a:p>
            <a:pPr eaLnBrk="1" hangingPunct="1">
              <a:buFont typeface="Wingdings" panose="05000000000000000000" pitchFamily="2" charset="2"/>
              <a:buNone/>
            </a:pPr>
            <a:endParaRPr lang="ko-KR" altLang="en-US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2000"/>
              <a:t>	</a:t>
            </a:r>
            <a:r>
              <a:rPr lang="en-US" altLang="ko-KR" sz="2000">
                <a:solidFill>
                  <a:srgbClr val="3333FF"/>
                </a:solidFill>
              </a:rPr>
              <a:t>public static void</a:t>
            </a:r>
            <a:r>
              <a:rPr lang="ko-KR" altLang="en-US" sz="2000">
                <a:solidFill>
                  <a:srgbClr val="3333FF"/>
                </a:solidFill>
              </a:rPr>
              <a:t> </a:t>
            </a:r>
            <a:r>
              <a:rPr lang="en-US" altLang="ko-KR" sz="2000"/>
              <a:t>main (String[] args)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 sz="2000"/>
          </a:p>
          <a:p>
            <a:pPr eaLnBrk="1" hangingPunct="1"/>
            <a:r>
              <a:rPr lang="en-US" altLang="ko-KR" sz="2000"/>
              <a:t>Math</a:t>
            </a:r>
            <a:r>
              <a:rPr lang="ko-KR" altLang="en-US" sz="2000"/>
              <a:t> 클래스 내의 모든 메소드들은 </a:t>
            </a:r>
            <a:r>
              <a:rPr lang="en-US" altLang="ko-KR" sz="2000"/>
              <a:t>static</a:t>
            </a:r>
            <a:r>
              <a:rPr lang="ko-KR" altLang="en-US" sz="2000"/>
              <a:t>으로 선언되어 있음</a:t>
            </a:r>
            <a:r>
              <a:rPr lang="en-US" altLang="ko-KR" sz="2000"/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2000"/>
              <a:t>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2000"/>
              <a:t>	value = Math.cos(90) + Math.sqrt(2); </a:t>
            </a:r>
            <a:endParaRPr lang="ko-KR" altLang="en-US" sz="2000"/>
          </a:p>
          <a:p>
            <a:pPr eaLnBrk="1" hangingPunct="1">
              <a:buFont typeface="Wingdings" panose="05000000000000000000" pitchFamily="2" charset="2"/>
              <a:buNone/>
            </a:pPr>
            <a:endParaRPr lang="ko-KR" altLang="en-US" sz="2000"/>
          </a:p>
          <a:p>
            <a:pPr eaLnBrk="1" hangingPunct="1"/>
            <a:endParaRPr lang="ko-KR" altLang="en-US" sz="20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B6FACA-7704-81A5-163B-40C69271942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55301" name="슬라이드 번호 개체 틀 4">
            <a:extLst>
              <a:ext uri="{FF2B5EF4-FFF2-40B4-BE49-F238E27FC236}">
                <a16:creationId xmlns:a16="http://schemas.microsoft.com/office/drawing/2014/main" id="{CFC389E9-1AE4-BBA0-70B4-F41D546D8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14903F4-9B90-41D3-85DC-AA95218F4180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kumimoji="0" lang="en-US" altLang="ko-KR" sz="10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4">
            <a:extLst>
              <a:ext uri="{FF2B5EF4-FFF2-40B4-BE49-F238E27FC236}">
                <a16:creationId xmlns:a16="http://schemas.microsoft.com/office/drawing/2014/main" id="{B335BA33-F154-1DF5-FC3C-357F17A71D93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t>© 우균, 창병모</a:t>
            </a:r>
            <a:endParaRPr kumimoji="0" lang="en-US" altLang="ko-KR" sz="10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6323" name="Rectangle 6">
            <a:extLst>
              <a:ext uri="{FF2B5EF4-FFF2-40B4-BE49-F238E27FC236}">
                <a16:creationId xmlns:a16="http://schemas.microsoft.com/office/drawing/2014/main" id="{2C5554B3-80D5-54C4-B96F-D55FD1BFF0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E5793A4-847F-41A9-A916-82DD5BEDF964}" type="slidenum"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kumimoji="0" lang="en-US" altLang="ko-KR" sz="10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6324" name="Rectangle 4">
            <a:extLst>
              <a:ext uri="{FF2B5EF4-FFF2-40B4-BE49-F238E27FC236}">
                <a16:creationId xmlns:a16="http://schemas.microsoft.com/office/drawing/2014/main" id="{DFBC0190-4A75-349B-AAC9-E376F709688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4800"/>
              <a:t>7.6 </a:t>
            </a:r>
            <a:r>
              <a:rPr lang="ko-KR" altLang="en-US" sz="4800"/>
              <a:t>열거 타입</a:t>
            </a:r>
          </a:p>
        </p:txBody>
      </p:sp>
      <p:sp>
        <p:nvSpPr>
          <p:cNvPr id="56325" name="Rectangle 5">
            <a:extLst>
              <a:ext uri="{FF2B5EF4-FFF2-40B4-BE49-F238E27FC236}">
                <a16:creationId xmlns:a16="http://schemas.microsoft.com/office/drawing/2014/main" id="{E149D1A3-E6EC-2C0A-3DD4-30C6ABAB017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제목 1">
            <a:extLst>
              <a:ext uri="{FF2B5EF4-FFF2-40B4-BE49-F238E27FC236}">
                <a16:creationId xmlns:a16="http://schemas.microsoft.com/office/drawing/2014/main" id="{A987F038-7512-E1C9-FDD1-1CCFEE83A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열거 타입</a:t>
            </a:r>
            <a:r>
              <a:rPr lang="en-US" altLang="ko-KR" b="1"/>
              <a:t>(enumerated type)</a:t>
            </a:r>
            <a:endParaRPr lang="ko-KR" altLang="en-US"/>
          </a:p>
        </p:txBody>
      </p:sp>
      <p:sp>
        <p:nvSpPr>
          <p:cNvPr id="58371" name="내용 개체 틀 2">
            <a:extLst>
              <a:ext uri="{FF2B5EF4-FFF2-40B4-BE49-F238E27FC236}">
                <a16:creationId xmlns:a16="http://schemas.microsoft.com/office/drawing/2014/main" id="{65F9E534-C849-3E88-D949-A3BB40E7A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/>
              <a:t>모든 가능한 값</a:t>
            </a:r>
            <a:r>
              <a:rPr lang="en-US" altLang="ko-KR" sz="2400"/>
              <a:t>(</a:t>
            </a:r>
            <a:r>
              <a:rPr lang="ko-KR" altLang="en-US" sz="2400"/>
              <a:t>식별자</a:t>
            </a:r>
            <a:r>
              <a:rPr lang="en-US" altLang="ko-KR" sz="2400"/>
              <a:t>)</a:t>
            </a:r>
            <a:r>
              <a:rPr lang="ko-KR" altLang="en-US" sz="2400"/>
              <a:t>들을 열거하여 하나의 타입 정의</a:t>
            </a:r>
            <a:endParaRPr lang="en-US" altLang="ko-KR" sz="2400"/>
          </a:p>
          <a:p>
            <a:pPr lvl="1"/>
            <a:r>
              <a:rPr lang="en-US" altLang="ko-KR" sz="2000"/>
              <a:t>enum TrafficLight {GREEN, YELLOW, RED};</a:t>
            </a:r>
          </a:p>
          <a:p>
            <a:pPr lvl="3"/>
            <a:endParaRPr lang="en-US" altLang="ko-KR" sz="1400"/>
          </a:p>
          <a:p>
            <a:r>
              <a:rPr lang="ko-KR" altLang="en-US" sz="2400"/>
              <a:t>열거 타입은 다른 타입과 마찬가지로 사용될 수 있다</a:t>
            </a:r>
            <a:r>
              <a:rPr lang="en-US" altLang="ko-KR" sz="2400"/>
              <a:t>. </a:t>
            </a:r>
          </a:p>
          <a:p>
            <a:pPr lvl="1"/>
            <a:r>
              <a:rPr lang="en-US" altLang="ko-KR" sz="2000"/>
              <a:t>TrafficLight c;</a:t>
            </a:r>
            <a:endParaRPr lang="ko-KR" altLang="en-US" sz="2000"/>
          </a:p>
          <a:p>
            <a:pPr lvl="1"/>
            <a:r>
              <a:rPr lang="en-US" altLang="ko-KR" sz="2000"/>
              <a:t>c = TrafficLight.RED;</a:t>
            </a:r>
          </a:p>
          <a:p>
            <a:pPr lvl="1"/>
            <a:r>
              <a:rPr lang="en-US" altLang="ko-KR" sz="2000"/>
              <a:t>System.out.println(c); // </a:t>
            </a:r>
            <a:r>
              <a:rPr lang="ko-KR" altLang="en-US" sz="2000"/>
              <a:t>색 출력</a:t>
            </a:r>
            <a:endParaRPr lang="en-US" altLang="ko-KR" sz="2000"/>
          </a:p>
          <a:p>
            <a:pPr lvl="4"/>
            <a:endParaRPr lang="ko-KR" altLang="en-US" sz="1400"/>
          </a:p>
          <a:p>
            <a:r>
              <a:rPr lang="ko-KR" altLang="en-US" sz="2400"/>
              <a:t>열거 타입은 타입안전</a:t>
            </a:r>
            <a:r>
              <a:rPr lang="en-US" altLang="ko-KR" sz="2400"/>
              <a:t>(type-safe)</a:t>
            </a:r>
            <a:r>
              <a:rPr lang="ko-KR" altLang="en-US" sz="2400"/>
              <a:t>하다</a:t>
            </a:r>
            <a:r>
              <a:rPr lang="en-US" altLang="ko-KR" sz="2400"/>
              <a:t>.</a:t>
            </a:r>
          </a:p>
          <a:p>
            <a:pPr lvl="1"/>
            <a:r>
              <a:rPr lang="ko-KR" altLang="en-US" sz="2000"/>
              <a:t>즉 열거 타입의 값 외에 다른 값을 대입하거나 사용할 수 없다</a:t>
            </a:r>
            <a:r>
              <a:rPr lang="en-US" altLang="ko-KR" sz="2000"/>
              <a:t>. </a:t>
            </a:r>
          </a:p>
          <a:p>
            <a:endParaRPr lang="ko-KR" altLang="en-US" sz="24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656193-B0AD-87AA-0AC5-17FB03EFF3D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58373" name="슬라이드 번호 개체 틀 4">
            <a:extLst>
              <a:ext uri="{FF2B5EF4-FFF2-40B4-BE49-F238E27FC236}">
                <a16:creationId xmlns:a16="http://schemas.microsoft.com/office/drawing/2014/main" id="{D9EDA320-99A8-6294-B15C-3960E914B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23678D9-E31C-4876-92A9-F4C3BAF52384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kumimoji="0" lang="en-US" altLang="ko-KR" sz="1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제목 1">
            <a:extLst>
              <a:ext uri="{FF2B5EF4-FFF2-40B4-BE49-F238E27FC236}">
                <a16:creationId xmlns:a16="http://schemas.microsoft.com/office/drawing/2014/main" id="{86FC13FC-ECB3-939E-2182-C02251636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열거 타입의 </a:t>
            </a:r>
            <a:r>
              <a:rPr lang="en-US" altLang="ko-KR"/>
              <a:t>values</a:t>
            </a:r>
            <a:r>
              <a:rPr lang="ko-KR" altLang="en-US"/>
              <a:t> 메소드</a:t>
            </a:r>
          </a:p>
        </p:txBody>
      </p:sp>
      <p:sp>
        <p:nvSpPr>
          <p:cNvPr id="59395" name="내용 개체 틀 2">
            <a:extLst>
              <a:ext uri="{FF2B5EF4-FFF2-40B4-BE49-F238E27FC236}">
                <a16:creationId xmlns:a16="http://schemas.microsoft.com/office/drawing/2014/main" id="{996B08CF-2E3A-F0A8-0658-2E960DA9C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/>
              <a:t>정적 메소드로 열거 타입의 값들로 이루어진 배열을 리턴한다</a:t>
            </a:r>
            <a:r>
              <a:rPr lang="en-US" altLang="ko-KR" sz="2000"/>
              <a:t>. </a:t>
            </a:r>
          </a:p>
          <a:p>
            <a:r>
              <a:rPr lang="ko-KR" altLang="en-US" sz="2000"/>
              <a:t>향상된 </a:t>
            </a:r>
            <a:r>
              <a:rPr lang="en-US" altLang="ko-KR" sz="2000"/>
              <a:t>for</a:t>
            </a:r>
            <a:r>
              <a:rPr lang="ko-KR" altLang="en-US" sz="2000"/>
              <a:t> 루프를 이용하여 모든 값들 처리</a:t>
            </a:r>
            <a:r>
              <a:rPr lang="en-US" altLang="ko-KR" sz="2000"/>
              <a:t> </a:t>
            </a:r>
          </a:p>
          <a:p>
            <a:endParaRPr lang="ko-KR" altLang="en-US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/>
              <a:t>// </a:t>
            </a:r>
            <a:r>
              <a:rPr lang="ko-KR" altLang="en-US" sz="1800"/>
              <a:t>모든 값들에 대해서 루프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/>
              <a:t>for</a:t>
            </a:r>
            <a:r>
              <a:rPr lang="ko-KR" altLang="en-US" sz="1800"/>
              <a:t> </a:t>
            </a:r>
            <a:r>
              <a:rPr lang="en-US" altLang="ko-KR" sz="1800"/>
              <a:t>(TrafficLight c : TrafficLight.values()) {</a:t>
            </a:r>
            <a:endParaRPr lang="ko-KR" altLang="en-US" sz="1800"/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/>
              <a:t>   System.out.println(c); // GREEN, YELLOW, RED </a:t>
            </a:r>
            <a:r>
              <a:rPr lang="ko-KR" altLang="en-US" sz="1800"/>
              <a:t>출력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/>
              <a:t>}</a:t>
            </a:r>
            <a:endParaRPr lang="ko-KR" altLang="en-US" sz="1800"/>
          </a:p>
          <a:p>
            <a:endParaRPr lang="ko-KR" altLang="en-US" sz="20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16627A-8F3D-398E-0690-8DF1C9E7680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59397" name="슬라이드 번호 개체 틀 4">
            <a:extLst>
              <a:ext uri="{FF2B5EF4-FFF2-40B4-BE49-F238E27FC236}">
                <a16:creationId xmlns:a16="http://schemas.microsoft.com/office/drawing/2014/main" id="{E60E18E8-3A20-879A-0C48-45D47E02B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9D56CE9-EC60-40C4-AFC5-8E7924B8228B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kumimoji="0" lang="en-US" altLang="ko-KR" sz="10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제목 1">
            <a:extLst>
              <a:ext uri="{FF2B5EF4-FFF2-40B4-BE49-F238E27FC236}">
                <a16:creationId xmlns:a16="http://schemas.microsoft.com/office/drawing/2014/main" id="{5B0FBAE1-481C-9563-2A80-4636098E3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열거 타입과 </a:t>
            </a:r>
            <a:r>
              <a:rPr lang="en-US" altLang="ko-KR"/>
              <a:t>switch</a:t>
            </a:r>
            <a:endParaRPr lang="ko-KR" altLang="en-US"/>
          </a:p>
        </p:txBody>
      </p:sp>
      <p:sp>
        <p:nvSpPr>
          <p:cNvPr id="60419" name="내용 개체 틀 2">
            <a:extLst>
              <a:ext uri="{FF2B5EF4-FFF2-40B4-BE49-F238E27FC236}">
                <a16:creationId xmlns:a16="http://schemas.microsoft.com/office/drawing/2014/main" id="{0E79F1D2-9211-E639-701F-1D27F15D1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ko-KR" sz="1800"/>
              <a:t>/**</a:t>
            </a:r>
            <a:r>
              <a:rPr lang="ko-KR" altLang="en-US" sz="1800"/>
              <a:t> 빨강</a:t>
            </a:r>
            <a:r>
              <a:rPr lang="en-US" altLang="ko-KR" sz="1800"/>
              <a:t>, </a:t>
            </a:r>
            <a:r>
              <a:rPr lang="ko-KR" altLang="en-US" sz="1800"/>
              <a:t>노랑</a:t>
            </a:r>
            <a:r>
              <a:rPr lang="en-US" altLang="ko-KR" sz="1800"/>
              <a:t>, </a:t>
            </a:r>
            <a:r>
              <a:rPr lang="ko-KR" altLang="en-US" sz="1800"/>
              <a:t>녹색의 원을 </a:t>
            </a:r>
            <a:r>
              <a:rPr lang="en-US" altLang="ko-KR" sz="1800"/>
              <a:t>3</a:t>
            </a:r>
            <a:r>
              <a:rPr lang="ko-KR" altLang="en-US" sz="1800"/>
              <a:t>개 그린다</a:t>
            </a:r>
            <a:r>
              <a:rPr lang="en-US" altLang="ko-KR" sz="1800"/>
              <a:t>. </a:t>
            </a:r>
            <a:r>
              <a:rPr lang="ko-KR" altLang="en-US" sz="1800"/>
              <a:t> *</a:t>
            </a:r>
            <a:r>
              <a:rPr lang="en-US" altLang="ko-KR" sz="1800"/>
              <a:t>/</a:t>
            </a:r>
            <a:endParaRPr lang="ko-KR" altLang="en-US" sz="1800"/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/>
              <a:t>public void paint(Graphics g)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/>
              <a:t>{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/>
              <a:t>   int x = 50, y = 50;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/>
              <a:t>   for (TrafficLight c : TrafficLight.values()) 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/>
              <a:t>      switch (c) 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/>
              <a:t>         case GREEN : g.setColor(Color.green);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/>
              <a:t>                              g.fillOval(x,y,40,40);             break;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/>
              <a:t>         case YELLOW : g.setColor(Color.yellow);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/>
              <a:t>                                g.fillOval(x+50,y,40,40);     break;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/>
              <a:t>         case RED : g.setColor(Color.red);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/>
              <a:t>                          g.fillOval(x+100,y,40,40);         break;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/>
              <a:t>       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/>
              <a:t>   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/>
              <a:t>}</a:t>
            </a:r>
          </a:p>
          <a:p>
            <a:pPr>
              <a:buFont typeface="Wingdings" panose="05000000000000000000" pitchFamily="2" charset="2"/>
              <a:buNone/>
            </a:pPr>
            <a:endParaRPr lang="ko-KR" altLang="en-US" sz="18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ED4246-5AF0-D82F-470E-1457E59916B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60421" name="슬라이드 번호 개체 틀 4">
            <a:extLst>
              <a:ext uri="{FF2B5EF4-FFF2-40B4-BE49-F238E27FC236}">
                <a16:creationId xmlns:a16="http://schemas.microsoft.com/office/drawing/2014/main" id="{FD2740A6-3786-3503-1CEB-77A28FD31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4F6FCF-6302-407C-B957-BAFEB8D1109E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kumimoji="0" lang="en-US" altLang="ko-KR" sz="10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4">
            <a:extLst>
              <a:ext uri="{FF2B5EF4-FFF2-40B4-BE49-F238E27FC236}">
                <a16:creationId xmlns:a16="http://schemas.microsoft.com/office/drawing/2014/main" id="{DEF86886-BB9F-7E46-0428-A9844648A9B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t>© 우균, 창병모</a:t>
            </a:r>
            <a:endParaRPr kumimoji="0" lang="en-US" altLang="ko-KR" sz="10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1443" name="Rectangle 6">
            <a:extLst>
              <a:ext uri="{FF2B5EF4-FFF2-40B4-BE49-F238E27FC236}">
                <a16:creationId xmlns:a16="http://schemas.microsoft.com/office/drawing/2014/main" id="{A11633BD-EA32-7F15-6E72-98F06E4114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D1E0E3E-DB05-4979-91DA-430CE0ABAA54}" type="slidenum"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kumimoji="0" lang="en-US" altLang="ko-KR" sz="10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1444" name="Rectangle 4">
            <a:extLst>
              <a:ext uri="{FF2B5EF4-FFF2-40B4-BE49-F238E27FC236}">
                <a16:creationId xmlns:a16="http://schemas.microsoft.com/office/drawing/2014/main" id="{6DFB886C-C770-C4C8-A296-8BD9FCA2AAE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4800"/>
              <a:t>7.7 </a:t>
            </a:r>
            <a:r>
              <a:rPr lang="ko-KR" altLang="en-US" sz="4800"/>
              <a:t>이벤트 구동 프로그램</a:t>
            </a:r>
          </a:p>
        </p:txBody>
      </p:sp>
      <p:sp>
        <p:nvSpPr>
          <p:cNvPr id="61445" name="Rectangle 5">
            <a:extLst>
              <a:ext uri="{FF2B5EF4-FFF2-40B4-BE49-F238E27FC236}">
                <a16:creationId xmlns:a16="http://schemas.microsoft.com/office/drawing/2014/main" id="{5BAE6EF5-CAF5-DD4F-39A6-457430AEBCA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제목 1">
            <a:extLst>
              <a:ext uri="{FF2B5EF4-FFF2-40B4-BE49-F238E27FC236}">
                <a16:creationId xmlns:a16="http://schemas.microsoft.com/office/drawing/2014/main" id="{73442894-4221-9A2B-30ED-67AF2B67B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이벤트 구동 </a:t>
            </a:r>
            <a:r>
              <a:rPr lang="en-US" altLang="ko-KR" b="1"/>
              <a:t>GUI </a:t>
            </a:r>
            <a:r>
              <a:rPr lang="ko-KR" altLang="en-US" b="1"/>
              <a:t>프로그램</a:t>
            </a:r>
            <a:endParaRPr lang="ko-KR" altLang="en-US"/>
          </a:p>
        </p:txBody>
      </p:sp>
      <p:sp>
        <p:nvSpPr>
          <p:cNvPr id="63491" name="내용 개체 틀 2">
            <a:extLst>
              <a:ext uri="{FF2B5EF4-FFF2-40B4-BE49-F238E27FC236}">
                <a16:creationId xmlns:a16="http://schemas.microsoft.com/office/drawing/2014/main" id="{E701CD56-ED7E-2942-9496-8E6DA8653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b="1"/>
              <a:t>이벤트 구동 </a:t>
            </a:r>
            <a:r>
              <a:rPr lang="en-US" altLang="ko-KR" sz="2400" b="1"/>
              <a:t>GUI </a:t>
            </a:r>
            <a:r>
              <a:rPr lang="ko-KR" altLang="en-US" sz="2400" b="1"/>
              <a:t>프로그램</a:t>
            </a:r>
            <a:r>
              <a:rPr lang="en-US" altLang="ko-KR" sz="2400" b="1"/>
              <a:t>(event-driven GUI program)</a:t>
            </a:r>
            <a:r>
              <a:rPr lang="ko-KR" altLang="en-US" sz="2400" b="1"/>
              <a:t>의 </a:t>
            </a:r>
            <a:r>
              <a:rPr lang="ko-KR" altLang="en-US" sz="2400"/>
              <a:t> </a:t>
            </a:r>
            <a:r>
              <a:rPr lang="en-US" altLang="ko-KR" sz="2400"/>
              <a:t>3</a:t>
            </a:r>
            <a:r>
              <a:rPr lang="ko-KR" altLang="en-US" sz="2400"/>
              <a:t> 요소</a:t>
            </a:r>
            <a:endParaRPr lang="en-US" altLang="ko-KR" sz="2400"/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	 (1) </a:t>
            </a:r>
            <a:r>
              <a:rPr lang="ko-KR" altLang="en-US" sz="2000"/>
              <a:t>컴포넌트</a:t>
            </a:r>
            <a:r>
              <a:rPr lang="en-US" altLang="ko-KR" sz="2000"/>
              <a:t>(component)</a:t>
            </a:r>
            <a:endParaRPr lang="ko-KR" altLang="en-US" sz="20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2000"/>
              <a:t>(2) </a:t>
            </a:r>
            <a:r>
              <a:rPr lang="ko-KR" altLang="en-US" sz="2000"/>
              <a:t>이벤트</a:t>
            </a:r>
            <a:r>
              <a:rPr lang="en-US" altLang="ko-KR" sz="2000"/>
              <a:t>(event)</a:t>
            </a:r>
            <a:endParaRPr lang="ko-KR" altLang="en-US" sz="20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2000"/>
              <a:t>(3) </a:t>
            </a:r>
            <a:r>
              <a:rPr lang="ko-KR" altLang="en-US" sz="2000"/>
              <a:t>리스너</a:t>
            </a:r>
            <a:r>
              <a:rPr lang="en-US" altLang="ko-KR" sz="2000"/>
              <a:t>(listener)</a:t>
            </a:r>
            <a:endParaRPr lang="ko-KR" altLang="en-US" sz="2000"/>
          </a:p>
          <a:p>
            <a:endParaRPr lang="ko-KR" altLang="en-US" sz="24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1B2A21-22F5-4E5E-AE08-30B120F5BAB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63493" name="슬라이드 번호 개체 틀 4">
            <a:extLst>
              <a:ext uri="{FF2B5EF4-FFF2-40B4-BE49-F238E27FC236}">
                <a16:creationId xmlns:a16="http://schemas.microsoft.com/office/drawing/2014/main" id="{E5E22A8A-7396-DACC-1083-20DC1EDD6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28F89B5-05AB-4E3B-AFC5-523E9FCBC3A7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kumimoji="0" lang="en-US" altLang="ko-KR" sz="1000"/>
          </a:p>
        </p:txBody>
      </p:sp>
      <p:sp>
        <p:nvSpPr>
          <p:cNvPr id="63494" name="Rectangle 2">
            <a:extLst>
              <a:ext uri="{FF2B5EF4-FFF2-40B4-BE49-F238E27FC236}">
                <a16:creationId xmlns:a16="http://schemas.microsoft.com/office/drawing/2014/main" id="{6B90385D-77F2-7E7D-B4DD-9CED68B99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63495" name="_x95454792" descr="EMB000016109a05">
            <a:extLst>
              <a:ext uri="{FF2B5EF4-FFF2-40B4-BE49-F238E27FC236}">
                <a16:creationId xmlns:a16="http://schemas.microsoft.com/office/drawing/2014/main" id="{4C1D24F6-305E-414D-E443-CD78FD8BE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3716338"/>
            <a:ext cx="4908550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제목 1">
            <a:extLst>
              <a:ext uri="{FF2B5EF4-FFF2-40B4-BE49-F238E27FC236}">
                <a16:creationId xmlns:a16="http://schemas.microsoft.com/office/drawing/2014/main" id="{1B71DFC5-E5AC-57FA-84DB-0B539E8EC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60350"/>
            <a:ext cx="8229600" cy="1139825"/>
          </a:xfrm>
        </p:spPr>
        <p:txBody>
          <a:bodyPr/>
          <a:lstStyle/>
          <a:p>
            <a:r>
              <a:rPr lang="ko-KR" altLang="en-US"/>
              <a:t>컴포넌트</a:t>
            </a:r>
          </a:p>
        </p:txBody>
      </p:sp>
      <p:sp>
        <p:nvSpPr>
          <p:cNvPr id="64515" name="내용 개체 틀 2">
            <a:extLst>
              <a:ext uri="{FF2B5EF4-FFF2-40B4-BE49-F238E27FC236}">
                <a16:creationId xmlns:a16="http://schemas.microsoft.com/office/drawing/2014/main" id="{AD1A26B4-678C-F573-FB00-3F48FCB0F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/>
              <a:t>컴포넌트</a:t>
            </a:r>
            <a:r>
              <a:rPr lang="en-US" altLang="ko-KR" sz="2400"/>
              <a:t>(component)</a:t>
            </a:r>
          </a:p>
          <a:p>
            <a:pPr lvl="1"/>
            <a:r>
              <a:rPr lang="ko-KR" altLang="en-US" sz="1800"/>
              <a:t>화면 요소</a:t>
            </a:r>
            <a:r>
              <a:rPr lang="en-US" altLang="ko-KR" sz="1800"/>
              <a:t>(screen element)</a:t>
            </a:r>
            <a:r>
              <a:rPr lang="ko-KR" altLang="en-US" sz="1800"/>
              <a:t>를 나타내는 객체 </a:t>
            </a:r>
            <a:endParaRPr lang="en-US" altLang="ko-KR" sz="1800"/>
          </a:p>
          <a:p>
            <a:pPr lvl="1"/>
            <a:r>
              <a:rPr lang="ko-KR" altLang="en-US" sz="1800"/>
              <a:t>레이블</a:t>
            </a:r>
            <a:r>
              <a:rPr lang="en-US" altLang="ko-KR" sz="1800"/>
              <a:t>(label), </a:t>
            </a:r>
            <a:r>
              <a:rPr lang="ko-KR" altLang="en-US" sz="1800"/>
              <a:t>버튼</a:t>
            </a:r>
            <a:r>
              <a:rPr lang="en-US" altLang="ko-KR" sz="1800"/>
              <a:t>(button), </a:t>
            </a:r>
            <a:r>
              <a:rPr lang="ko-KR" altLang="en-US" sz="1800"/>
              <a:t>텍스트 필드</a:t>
            </a:r>
            <a:r>
              <a:rPr lang="en-US" altLang="ko-KR" sz="1800"/>
              <a:t>(text field), </a:t>
            </a:r>
            <a:r>
              <a:rPr lang="ko-KR" altLang="en-US" sz="1800"/>
              <a:t>메뉴</a:t>
            </a:r>
            <a:r>
              <a:rPr lang="en-US" altLang="ko-KR" sz="1800"/>
              <a:t>(menu),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800"/>
              <a:t>    </a:t>
            </a:r>
            <a:r>
              <a:rPr lang="ko-KR" altLang="en-US" sz="1800"/>
              <a:t>컨테이너</a:t>
            </a:r>
            <a:r>
              <a:rPr lang="en-US" altLang="ko-KR" sz="1800"/>
              <a:t>(container)</a:t>
            </a:r>
            <a:r>
              <a:rPr lang="ko-KR" altLang="en-US" sz="1800"/>
              <a:t>등</a:t>
            </a:r>
            <a:endParaRPr lang="en-US" altLang="ko-KR" sz="1800"/>
          </a:p>
          <a:p>
            <a:pPr lvl="1">
              <a:buFont typeface="Wingdings" panose="05000000000000000000" pitchFamily="2" charset="2"/>
              <a:buNone/>
            </a:pPr>
            <a:endParaRPr lang="en-US" altLang="ko-KR" sz="1800"/>
          </a:p>
          <a:p>
            <a:r>
              <a:rPr lang="ko-KR" altLang="en-US" sz="2400"/>
              <a:t>컨테이너</a:t>
            </a:r>
            <a:r>
              <a:rPr lang="en-US" altLang="ko-KR" sz="2400"/>
              <a:t>(containers)</a:t>
            </a:r>
          </a:p>
          <a:p>
            <a:pPr lvl="1"/>
            <a:r>
              <a:rPr lang="ko-KR" altLang="en-US" sz="1800"/>
              <a:t>특별한 컴포넌트로서  다른 컴포넌트들을 포함하고 조직하는데 사용</a:t>
            </a:r>
            <a:endParaRPr lang="en-US" altLang="ko-KR" sz="1800"/>
          </a:p>
          <a:p>
            <a:pPr lvl="1"/>
            <a:r>
              <a:rPr lang="ko-KR" altLang="en-US" sz="1800"/>
              <a:t>프레임</a:t>
            </a:r>
            <a:r>
              <a:rPr lang="en-US" altLang="ko-KR" sz="1800"/>
              <a:t>(frame), </a:t>
            </a:r>
            <a:r>
              <a:rPr lang="ko-KR" altLang="en-US" sz="1800"/>
              <a:t>패널</a:t>
            </a:r>
            <a:r>
              <a:rPr lang="en-US" altLang="ko-KR" sz="1800"/>
              <a:t>(panel), </a:t>
            </a:r>
            <a:r>
              <a:rPr lang="ko-KR" altLang="en-US" sz="1800"/>
              <a:t>애플릿</a:t>
            </a:r>
            <a:r>
              <a:rPr lang="en-US" altLang="ko-KR" sz="1800"/>
              <a:t>(applet), </a:t>
            </a:r>
            <a:r>
              <a:rPr lang="ko-KR" altLang="en-US" sz="1800"/>
              <a:t>대화상자</a:t>
            </a:r>
            <a:r>
              <a:rPr lang="en-US" altLang="ko-KR" sz="1800"/>
              <a:t>(dialog box) </a:t>
            </a:r>
            <a:r>
              <a:rPr lang="ko-KR" altLang="en-US" sz="1800"/>
              <a:t>등</a:t>
            </a:r>
            <a:endParaRPr lang="ko-KR" altLang="en-US" sz="28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36A1EC-FDC2-1A7E-E0BA-684475458DB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64517" name="슬라이드 번호 개체 틀 4">
            <a:extLst>
              <a:ext uri="{FF2B5EF4-FFF2-40B4-BE49-F238E27FC236}">
                <a16:creationId xmlns:a16="http://schemas.microsoft.com/office/drawing/2014/main" id="{2242C2C9-311A-0587-F715-0F670B24A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E8CA10-F646-45C6-8744-3347078FB88F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kumimoji="0" lang="en-US" altLang="ko-KR" sz="10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제목 1">
            <a:extLst>
              <a:ext uri="{FF2B5EF4-FFF2-40B4-BE49-F238E27FC236}">
                <a16:creationId xmlns:a16="http://schemas.microsoft.com/office/drawing/2014/main" id="{A168C1D3-A954-2D2F-83B7-8CFADDE22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이벤트</a:t>
            </a:r>
            <a:r>
              <a:rPr lang="en-US" altLang="ko-KR"/>
              <a:t>, </a:t>
            </a:r>
            <a:r>
              <a:rPr lang="ko-KR" altLang="en-US"/>
              <a:t>리스너</a:t>
            </a:r>
          </a:p>
        </p:txBody>
      </p:sp>
      <p:sp>
        <p:nvSpPr>
          <p:cNvPr id="65539" name="내용 개체 틀 2">
            <a:extLst>
              <a:ext uri="{FF2B5EF4-FFF2-40B4-BE49-F238E27FC236}">
                <a16:creationId xmlns:a16="http://schemas.microsoft.com/office/drawing/2014/main" id="{74FC4D32-B787-2110-E35B-5B9B8071B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이벤트</a:t>
            </a:r>
            <a:r>
              <a:rPr lang="en-US" altLang="ko-KR"/>
              <a:t>(event)</a:t>
            </a:r>
          </a:p>
          <a:p>
            <a:pPr lvl="1"/>
            <a:r>
              <a:rPr lang="ko-KR" altLang="en-US" sz="1800"/>
              <a:t>어떤 사건 혹은 이벤트의 발생을 나타내며 프로그램은 대응하는 액션을 취할 수 있다</a:t>
            </a:r>
            <a:r>
              <a:rPr lang="en-US" altLang="ko-KR" sz="1800"/>
              <a:t>. </a:t>
            </a:r>
          </a:p>
          <a:p>
            <a:pPr lvl="1"/>
            <a:r>
              <a:rPr lang="ko-KR" altLang="en-US" sz="2000"/>
              <a:t>마우스 드래그</a:t>
            </a:r>
            <a:r>
              <a:rPr lang="en-US" altLang="ko-KR" sz="2000"/>
              <a:t>(drag), </a:t>
            </a:r>
            <a:r>
              <a:rPr lang="ko-KR" altLang="en-US" sz="2000"/>
              <a:t>마우스 버튼 클릭</a:t>
            </a:r>
            <a:r>
              <a:rPr lang="en-US" altLang="ko-KR" sz="2000"/>
              <a:t>, GUI </a:t>
            </a:r>
            <a:r>
              <a:rPr lang="ko-KR" altLang="en-US" sz="2000"/>
              <a:t>버튼 클릭</a:t>
            </a:r>
            <a:r>
              <a:rPr lang="en-US" altLang="ko-KR" sz="2000"/>
              <a:t>, </a:t>
            </a:r>
            <a:r>
              <a:rPr lang="ko-KR" altLang="en-US" sz="2000"/>
              <a:t>키보드의 키 누름 등</a:t>
            </a:r>
            <a:endParaRPr lang="en-US" altLang="ko-KR" sz="2000"/>
          </a:p>
          <a:p>
            <a:pPr lvl="4"/>
            <a:endParaRPr lang="en-US" altLang="ko-KR" sz="1400"/>
          </a:p>
          <a:p>
            <a:r>
              <a:rPr lang="ko-KR" altLang="en-US" sz="2400" b="1"/>
              <a:t>리스너</a:t>
            </a:r>
            <a:r>
              <a:rPr lang="en-US" altLang="ko-KR" sz="2400" b="1"/>
              <a:t>(listener)</a:t>
            </a:r>
            <a:endParaRPr lang="en-US" altLang="ko-KR" sz="2400"/>
          </a:p>
          <a:p>
            <a:pPr lvl="1"/>
            <a:r>
              <a:rPr lang="ko-KR" altLang="en-US" sz="2000"/>
              <a:t>이벤트가 일어나기를‘기다리고 있다’ 발생했을 때 대응한다</a:t>
            </a:r>
            <a:r>
              <a:rPr lang="en-US" altLang="ko-KR" sz="2000"/>
              <a:t>. </a:t>
            </a:r>
          </a:p>
          <a:p>
            <a:pPr lvl="1"/>
            <a:r>
              <a:rPr lang="ko-KR" altLang="en-US" sz="2000"/>
              <a:t>이벤트에 대응하기 위한 리스너를 작성해야 한다</a:t>
            </a:r>
            <a:r>
              <a:rPr lang="en-US" altLang="ko-KR" sz="2000"/>
              <a:t>. </a:t>
            </a:r>
          </a:p>
          <a:p>
            <a:pPr lvl="1"/>
            <a:r>
              <a:rPr lang="ko-KR" altLang="en-US" sz="2000"/>
              <a:t>예</a:t>
            </a:r>
            <a:r>
              <a:rPr lang="en-US" altLang="ko-KR" sz="2000"/>
              <a:t>:</a:t>
            </a:r>
            <a:r>
              <a:rPr lang="ko-KR" altLang="en-US" sz="2000"/>
              <a:t> </a:t>
            </a:r>
            <a:r>
              <a:rPr lang="en-US" altLang="ko-KR" sz="2000"/>
              <a:t>GUI </a:t>
            </a:r>
            <a:r>
              <a:rPr lang="ko-KR" altLang="en-US" sz="2000"/>
              <a:t>버튼이 눌려졌을 때 액션 이벤트</a:t>
            </a:r>
            <a:r>
              <a:rPr lang="en-US" altLang="ko-KR" sz="2000"/>
              <a:t>(ActionEvent)</a:t>
            </a:r>
            <a:r>
              <a:rPr lang="ko-KR" altLang="en-US" sz="2000"/>
              <a:t> 발생되며</a:t>
            </a:r>
            <a:endParaRPr lang="en-US" altLang="ko-KR" sz="20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2000"/>
              <a:t>       </a:t>
            </a:r>
            <a:r>
              <a:rPr lang="ko-KR" altLang="en-US" sz="2000"/>
              <a:t> 해당 리스너에서 적절히 대응한다</a:t>
            </a:r>
            <a:r>
              <a:rPr lang="en-US" altLang="ko-KR" sz="2000"/>
              <a:t>.</a:t>
            </a:r>
          </a:p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F0B779-3ADE-FD2C-4196-E4A83AD4DC0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65541" name="슬라이드 번호 개체 틀 4">
            <a:extLst>
              <a:ext uri="{FF2B5EF4-FFF2-40B4-BE49-F238E27FC236}">
                <a16:creationId xmlns:a16="http://schemas.microsoft.com/office/drawing/2014/main" id="{B370B2AE-E186-99D0-0EA2-746D83452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85CEA86-509B-4663-95B4-61469765CEA2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kumimoji="0" lang="en-US" altLang="ko-KR" sz="10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제목 1">
            <a:extLst>
              <a:ext uri="{FF2B5EF4-FFF2-40B4-BE49-F238E27FC236}">
                <a16:creationId xmlns:a16="http://schemas.microsoft.com/office/drawing/2014/main" id="{4EF1D130-1B38-9C57-1854-44D59A253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GUI </a:t>
            </a:r>
            <a:r>
              <a:rPr lang="ko-KR" altLang="en-US"/>
              <a:t>예제 </a:t>
            </a:r>
            <a:r>
              <a:rPr lang="en-US" altLang="ko-KR"/>
              <a:t>: Answer.java</a:t>
            </a:r>
            <a:endParaRPr lang="ko-KR" altLang="en-US"/>
          </a:p>
        </p:txBody>
      </p:sp>
      <p:sp>
        <p:nvSpPr>
          <p:cNvPr id="66563" name="내용 개체 틀 2">
            <a:extLst>
              <a:ext uri="{FF2B5EF4-FFF2-40B4-BE49-F238E27FC236}">
                <a16:creationId xmlns:a16="http://schemas.microsoft.com/office/drawing/2014/main" id="{1883786A-84DD-9EEA-29D6-047FD84AF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5</a:t>
            </a:r>
            <a:r>
              <a:rPr lang="ko-KR" altLang="en-US" sz="2400"/>
              <a:t>장에서 살펴본 </a:t>
            </a:r>
            <a:r>
              <a:rPr lang="en-US" altLang="ko-KR" sz="2400"/>
              <a:t>GUI </a:t>
            </a:r>
            <a:r>
              <a:rPr lang="ko-KR" altLang="en-US" sz="2400"/>
              <a:t>프로그램 </a:t>
            </a:r>
            <a:endParaRPr lang="en-US" altLang="ko-KR" sz="2400"/>
          </a:p>
          <a:p>
            <a:pPr lvl="1"/>
            <a:r>
              <a:rPr lang="ko-KR" altLang="en-US" sz="1800"/>
              <a:t>예</a:t>
            </a:r>
            <a:r>
              <a:rPr lang="en-US" altLang="ko-KR" sz="1800"/>
              <a:t>: </a:t>
            </a:r>
            <a:r>
              <a:rPr lang="ko-KR" altLang="en-US" sz="1800"/>
              <a:t> </a:t>
            </a:r>
            <a:r>
              <a:rPr lang="en-US" altLang="ko-KR" sz="1800"/>
              <a:t>Choose.java</a:t>
            </a:r>
            <a:r>
              <a:rPr lang="ko-KR" altLang="en-US" sz="1800"/>
              <a:t>에서는 사용자가 버튼을 누르더라도 아무 반응 없음</a:t>
            </a:r>
            <a:endParaRPr lang="en-US" altLang="ko-KR" sz="1800"/>
          </a:p>
          <a:p>
            <a:pPr lvl="4"/>
            <a:endParaRPr lang="en-US" altLang="ko-KR" sz="1200"/>
          </a:p>
          <a:p>
            <a:r>
              <a:rPr lang="ko-KR" altLang="en-US" sz="2000"/>
              <a:t>이벤트와 이벤트 리스너를 이용</a:t>
            </a:r>
            <a:endParaRPr lang="en-US" altLang="ko-KR" sz="2000"/>
          </a:p>
          <a:p>
            <a:pPr lvl="1"/>
            <a:r>
              <a:rPr lang="ko-KR" altLang="en-US" sz="1800"/>
              <a:t>사용자가 </a:t>
            </a:r>
            <a:r>
              <a:rPr lang="en-US" altLang="ko-KR" sz="1800"/>
              <a:t>YES </a:t>
            </a:r>
            <a:r>
              <a:rPr lang="ko-KR" altLang="en-US" sz="1800"/>
              <a:t>혹은 </a:t>
            </a:r>
            <a:r>
              <a:rPr lang="en-US" altLang="ko-KR" sz="1800"/>
              <a:t>NO</a:t>
            </a:r>
            <a:r>
              <a:rPr lang="ko-KR" altLang="en-US" sz="1800"/>
              <a:t> 버튼을 누를 때마다 선택 결과를 보여준다</a:t>
            </a:r>
            <a:endParaRPr lang="en-US" altLang="ko-KR" sz="1800"/>
          </a:p>
          <a:p>
            <a:pPr lvl="1"/>
            <a:r>
              <a:rPr lang="ko-KR" altLang="en-US" sz="1800"/>
              <a:t>패널을 위한 클래스를 별도로 구성하여 두 개의 클래스로 작성한다</a:t>
            </a:r>
            <a:r>
              <a:rPr lang="en-US" altLang="ko-KR" sz="1800"/>
              <a:t>. </a:t>
            </a:r>
          </a:p>
          <a:p>
            <a:pPr lvl="1"/>
            <a:r>
              <a:rPr lang="en-US" altLang="ko-KR" sz="1800"/>
              <a:t>Answer </a:t>
            </a:r>
            <a:r>
              <a:rPr lang="ko-KR" altLang="en-US" sz="1800"/>
              <a:t>클래스</a:t>
            </a:r>
            <a:endParaRPr lang="en-US" altLang="ko-KR" sz="1800"/>
          </a:p>
          <a:p>
            <a:pPr lvl="2"/>
            <a:r>
              <a:rPr lang="en-US" altLang="ko-KR" sz="1600"/>
              <a:t>main</a:t>
            </a:r>
            <a:r>
              <a:rPr lang="ko-KR" altLang="en-US" sz="1600"/>
              <a:t> 메소드를 포함하는 클래스로 프레임</a:t>
            </a:r>
            <a:r>
              <a:rPr lang="en-US" altLang="ko-KR" sz="1600"/>
              <a:t>(frame)</a:t>
            </a:r>
            <a:r>
              <a:rPr lang="ko-KR" altLang="en-US" sz="1600"/>
              <a:t>을 생성하고 </a:t>
            </a:r>
            <a:endParaRPr lang="en-US" altLang="ko-KR" sz="1600"/>
          </a:p>
          <a:p>
            <a:pPr lvl="2"/>
            <a:r>
              <a:rPr lang="ko-KR" altLang="en-US" sz="1600"/>
              <a:t>새로운 패널 </a:t>
            </a:r>
            <a:r>
              <a:rPr lang="en-US" altLang="ko-KR" sz="1600"/>
              <a:t>AnswerPanel</a:t>
            </a:r>
            <a:r>
              <a:rPr lang="ko-KR" altLang="en-US" sz="1600"/>
              <a:t>을 생성하여 이 프레임에 추가한 후 보여준다</a:t>
            </a:r>
            <a:r>
              <a:rPr lang="en-US" altLang="ko-KR" sz="1600"/>
              <a:t>. </a:t>
            </a:r>
          </a:p>
          <a:p>
            <a:pPr lvl="1"/>
            <a:r>
              <a:rPr lang="en-US" altLang="ko-KR" sz="1800"/>
              <a:t>AnswerPanel</a:t>
            </a:r>
            <a:r>
              <a:rPr lang="ko-KR" altLang="en-US" sz="1800"/>
              <a:t> 클래스</a:t>
            </a:r>
            <a:endParaRPr lang="en-US" altLang="ko-KR" sz="1800"/>
          </a:p>
          <a:p>
            <a:pPr lvl="2"/>
            <a:r>
              <a:rPr lang="ko-KR" altLang="en-US" sz="1600"/>
              <a:t> </a:t>
            </a:r>
            <a:r>
              <a:rPr lang="en-US" altLang="ko-KR" sz="1600"/>
              <a:t>JPanel</a:t>
            </a:r>
            <a:r>
              <a:rPr lang="ko-KR" altLang="en-US" sz="1600"/>
              <a:t>를 상속하고 생성자는  </a:t>
            </a:r>
            <a:r>
              <a:rPr lang="en-US" altLang="ko-KR" sz="1600"/>
              <a:t>GUI </a:t>
            </a:r>
            <a:r>
              <a:rPr lang="ko-KR" altLang="en-US" sz="1600"/>
              <a:t>요소들을 설정하고 초기화한다</a:t>
            </a:r>
            <a:r>
              <a:rPr lang="en-US" altLang="ko-KR" sz="1600"/>
              <a:t>. </a:t>
            </a:r>
          </a:p>
          <a:p>
            <a:pPr lvl="2"/>
            <a:r>
              <a:rPr lang="en-US" altLang="ko-KR" sz="1600"/>
              <a:t>YES</a:t>
            </a:r>
            <a:r>
              <a:rPr lang="ko-KR" altLang="en-US" sz="1600"/>
              <a:t>와 </a:t>
            </a:r>
            <a:r>
              <a:rPr lang="en-US" altLang="ko-KR" sz="1600"/>
              <a:t>NO</a:t>
            </a:r>
            <a:r>
              <a:rPr lang="ko-KR" altLang="en-US" sz="1600"/>
              <a:t>를 나타내기 위한 두 개의 버튼과 선택 결과를 표시하는 레이블</a:t>
            </a:r>
            <a:endParaRPr lang="en-US" altLang="ko-KR" sz="1600"/>
          </a:p>
          <a:p>
            <a:pPr lvl="2"/>
            <a:r>
              <a:rPr lang="ko-KR" altLang="en-US" sz="1600"/>
              <a:t>버튼과 레이블과 같은 컴포넌트를 포함하여 조직하기 위한 패널 사용</a:t>
            </a:r>
            <a:endParaRPr lang="en-US" altLang="ko-KR" sz="1600"/>
          </a:p>
          <a:p>
            <a:endParaRPr lang="ko-KR" altLang="en-US" sz="24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F0E060-2415-FB2C-A252-2B37B499DFC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66565" name="슬라이드 번호 개체 틀 4">
            <a:extLst>
              <a:ext uri="{FF2B5EF4-FFF2-40B4-BE49-F238E27FC236}">
                <a16:creationId xmlns:a16="http://schemas.microsoft.com/office/drawing/2014/main" id="{D6C3E087-2C31-7A60-4658-6B92E9E2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1785430-3C25-4759-9765-D2BC2177A3EF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kumimoji="0" lang="en-US" altLang="ko-KR" sz="10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제목 1">
            <a:extLst>
              <a:ext uri="{FF2B5EF4-FFF2-40B4-BE49-F238E27FC236}">
                <a16:creationId xmlns:a16="http://schemas.microsoft.com/office/drawing/2014/main" id="{C448F490-236A-8EF8-6C73-7F54FF89E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7587" name="내용 개체 틀 2">
            <a:extLst>
              <a:ext uri="{FF2B5EF4-FFF2-40B4-BE49-F238E27FC236}">
                <a16:creationId xmlns:a16="http://schemas.microsoft.com/office/drawing/2014/main" id="{BD807CC8-B8AC-BF73-4744-698BA18CF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1894FE-ED42-E371-08D1-6B9789E4C2D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67589" name="슬라이드 번호 개체 틀 4">
            <a:extLst>
              <a:ext uri="{FF2B5EF4-FFF2-40B4-BE49-F238E27FC236}">
                <a16:creationId xmlns:a16="http://schemas.microsoft.com/office/drawing/2014/main" id="{EAE695F3-276D-A16C-A3B0-DDF0DC2ED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F39AE87-56A0-4EDF-ACBA-436864F0F769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kumimoji="0" lang="en-US" altLang="ko-KR" sz="1000"/>
          </a:p>
        </p:txBody>
      </p:sp>
      <p:pic>
        <p:nvPicPr>
          <p:cNvPr id="67590" name="Picture 2">
            <a:extLst>
              <a:ext uri="{FF2B5EF4-FFF2-40B4-BE49-F238E27FC236}">
                <a16:creationId xmlns:a16="http://schemas.microsoft.com/office/drawing/2014/main" id="{B06FA39E-E940-E7AD-6BDB-FE4362910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333375"/>
            <a:ext cx="6586538" cy="547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제목 1">
            <a:extLst>
              <a:ext uri="{FF2B5EF4-FFF2-40B4-BE49-F238E27FC236}">
                <a16:creationId xmlns:a16="http://schemas.microsoft.com/office/drawing/2014/main" id="{E02F45B1-F11A-A50B-6EC0-815E29C2C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8611" name="내용 개체 틀 2">
            <a:extLst>
              <a:ext uri="{FF2B5EF4-FFF2-40B4-BE49-F238E27FC236}">
                <a16:creationId xmlns:a16="http://schemas.microsoft.com/office/drawing/2014/main" id="{58C1606F-EC84-3428-3D9F-AC8E753CD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FBDA05-3C24-D1EC-D3F4-AB2C2694884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68613" name="슬라이드 번호 개체 틀 4">
            <a:extLst>
              <a:ext uri="{FF2B5EF4-FFF2-40B4-BE49-F238E27FC236}">
                <a16:creationId xmlns:a16="http://schemas.microsoft.com/office/drawing/2014/main" id="{61E1583E-1D5C-D0F2-355C-03AA85080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46199AD-4A3B-4784-82F5-24C9809C83F4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kumimoji="0" lang="en-US" altLang="ko-KR" sz="1000"/>
          </a:p>
        </p:txBody>
      </p:sp>
      <p:pic>
        <p:nvPicPr>
          <p:cNvPr id="68614" name="Picture 2">
            <a:extLst>
              <a:ext uri="{FF2B5EF4-FFF2-40B4-BE49-F238E27FC236}">
                <a16:creationId xmlns:a16="http://schemas.microsoft.com/office/drawing/2014/main" id="{B17BE7F7-D4B1-2CBE-183B-CE2154F70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404813"/>
            <a:ext cx="6513513" cy="554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제목 1">
            <a:extLst>
              <a:ext uri="{FF2B5EF4-FFF2-40B4-BE49-F238E27FC236}">
                <a16:creationId xmlns:a16="http://schemas.microsoft.com/office/drawing/2014/main" id="{D4E4D934-4573-0BC1-F6CB-BFE9E2973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리스너 작성</a:t>
            </a:r>
          </a:p>
        </p:txBody>
      </p:sp>
      <p:sp>
        <p:nvSpPr>
          <p:cNvPr id="69635" name="내용 개체 틀 2">
            <a:extLst>
              <a:ext uri="{FF2B5EF4-FFF2-40B4-BE49-F238E27FC236}">
                <a16:creationId xmlns:a16="http://schemas.microsoft.com/office/drawing/2014/main" id="{115CB8E0-8ADC-D1F2-52E3-CE9D943D5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/>
              <a:t>리스너 인터페이스</a:t>
            </a:r>
            <a:endParaRPr lang="en-US" altLang="ko-KR" sz="2400"/>
          </a:p>
          <a:p>
            <a:pPr lvl="1"/>
            <a:r>
              <a:rPr lang="ko-KR" altLang="en-US" sz="1800"/>
              <a:t>각 이벤트마다 </a:t>
            </a:r>
            <a:r>
              <a:rPr lang="ko-KR" altLang="en-US" sz="1800" b="1"/>
              <a:t>리스너 인터페이스</a:t>
            </a:r>
            <a:r>
              <a:rPr lang="en-US" altLang="ko-KR" sz="1800" b="1"/>
              <a:t>(listener interface)</a:t>
            </a:r>
            <a:r>
              <a:rPr lang="ko-KR" altLang="en-US" sz="1800"/>
              <a:t>가 정의되어</a:t>
            </a:r>
            <a:r>
              <a:rPr lang="en-US" altLang="ko-KR" sz="1800"/>
              <a:t> </a:t>
            </a:r>
            <a:r>
              <a:rPr lang="ko-KR" altLang="en-US" sz="1800"/>
              <a:t>있음</a:t>
            </a:r>
            <a:endParaRPr lang="en-US" altLang="ko-KR"/>
          </a:p>
          <a:p>
            <a:pPr lvl="1"/>
            <a:r>
              <a:rPr lang="ko-KR" altLang="en-US" sz="1800"/>
              <a:t>리스너가 작성해야 하는 메소드 목록이 선언되어 있음</a:t>
            </a:r>
            <a:endParaRPr lang="en-US" altLang="ko-KR" sz="1800"/>
          </a:p>
          <a:p>
            <a:pPr lvl="1"/>
            <a:r>
              <a:rPr lang="ko-KR" altLang="en-US" sz="1800"/>
              <a:t>예</a:t>
            </a:r>
            <a:r>
              <a:rPr lang="en-US" altLang="ko-KR" sz="1800"/>
              <a:t>: </a:t>
            </a:r>
            <a:r>
              <a:rPr lang="ko-KR" altLang="en-US" sz="1800"/>
              <a:t> </a:t>
            </a:r>
            <a:r>
              <a:rPr lang="en-US" altLang="ko-KR" sz="1800"/>
              <a:t>ActionListener</a:t>
            </a:r>
            <a:r>
              <a:rPr lang="ko-KR" altLang="en-US" sz="1800"/>
              <a:t> 인터페이스에는 </a:t>
            </a:r>
            <a:r>
              <a:rPr lang="en-US" altLang="ko-KR" sz="1800"/>
              <a:t>actionPerformed</a:t>
            </a:r>
            <a:r>
              <a:rPr lang="ko-KR" altLang="en-US" sz="1800"/>
              <a:t> 메소드만 선언되어 있음</a:t>
            </a:r>
            <a:endParaRPr lang="en-US" altLang="ko-KR" sz="1800"/>
          </a:p>
          <a:p>
            <a:pPr lvl="1"/>
            <a:endParaRPr lang="en-US" altLang="ko-KR" sz="1800"/>
          </a:p>
          <a:p>
            <a:r>
              <a:rPr lang="ko-KR" altLang="en-US" sz="2400"/>
              <a:t>리스너 작성</a:t>
            </a:r>
            <a:endParaRPr lang="en-US" altLang="ko-KR" sz="2400"/>
          </a:p>
          <a:p>
            <a:pPr lvl="1"/>
            <a:r>
              <a:rPr lang="ko-KR" altLang="en-US" sz="1800"/>
              <a:t>각 이벤트를 위한 리스너 인터페이스를 구현하여 작성할 수 있다</a:t>
            </a:r>
            <a:r>
              <a:rPr lang="en-US" altLang="ko-KR" sz="1800"/>
              <a:t>. </a:t>
            </a:r>
          </a:p>
          <a:p>
            <a:pPr lvl="1"/>
            <a:endParaRPr lang="en-US" altLang="ko-KR" sz="1800"/>
          </a:p>
          <a:p>
            <a:r>
              <a:rPr lang="en-US" altLang="ko-KR" sz="2400"/>
              <a:t>ButtonListener</a:t>
            </a:r>
            <a:r>
              <a:rPr lang="ko-KR" altLang="en-US" sz="2400"/>
              <a:t> 클래스</a:t>
            </a:r>
            <a:endParaRPr lang="en-US" altLang="ko-KR" sz="2400"/>
          </a:p>
          <a:p>
            <a:pPr lvl="1"/>
            <a:r>
              <a:rPr lang="en-US" altLang="ko-KR" sz="1800"/>
              <a:t>ActionListener</a:t>
            </a:r>
            <a:r>
              <a:rPr lang="ko-KR" altLang="en-US" sz="1800"/>
              <a:t> 인터페이스를 구현하여 작성함</a:t>
            </a:r>
            <a:endParaRPr lang="en-US" altLang="ko-KR" sz="1800"/>
          </a:p>
          <a:p>
            <a:pPr lvl="1"/>
            <a:r>
              <a:rPr lang="en-US" altLang="ko-KR" sz="1800"/>
              <a:t>actionPerformed</a:t>
            </a:r>
            <a:r>
              <a:rPr lang="ko-KR" altLang="en-US" sz="1800"/>
              <a:t> 메소드 구현함</a:t>
            </a:r>
            <a:r>
              <a:rPr lang="en-US" altLang="ko-KR" sz="1800"/>
              <a:t>.</a:t>
            </a:r>
            <a:endParaRPr lang="ko-KR" altLang="en-US" sz="18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5602A9-5E29-64C4-06EC-340F4B25B96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ko-KR" dirty="0"/>
          </a:p>
        </p:txBody>
      </p:sp>
      <p:sp>
        <p:nvSpPr>
          <p:cNvPr id="69637" name="슬라이드 번호 개체 틀 4">
            <a:extLst>
              <a:ext uri="{FF2B5EF4-FFF2-40B4-BE49-F238E27FC236}">
                <a16:creationId xmlns:a16="http://schemas.microsoft.com/office/drawing/2014/main" id="{1CC1E571-20C5-6EDE-B84A-A6935848C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59EB33B-DB19-43A9-B128-6C77F4EF93AA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kumimoji="0" lang="en-US" altLang="ko-KR" sz="10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제목 1">
            <a:extLst>
              <a:ext uri="{FF2B5EF4-FFF2-40B4-BE49-F238E27FC236}">
                <a16:creationId xmlns:a16="http://schemas.microsoft.com/office/drawing/2014/main" id="{9747D3D6-097D-7FC9-8913-BF7DF1BEF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리스너 </a:t>
            </a:r>
            <a:r>
              <a:rPr lang="en-US" altLang="ko-KR"/>
              <a:t>ButtonListener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A175CE-1443-DD19-6D8B-EF65ECCB425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70660" name="슬라이드 번호 개체 틀 4">
            <a:extLst>
              <a:ext uri="{FF2B5EF4-FFF2-40B4-BE49-F238E27FC236}">
                <a16:creationId xmlns:a16="http://schemas.microsoft.com/office/drawing/2014/main" id="{B897A627-0474-AE94-EEB0-63F0BFCD3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E13E1BC-068D-4DFE-82EB-DC1D0FA08CC0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kumimoji="0" lang="en-US" altLang="ko-KR" sz="1000"/>
          </a:p>
        </p:txBody>
      </p:sp>
      <p:pic>
        <p:nvPicPr>
          <p:cNvPr id="70661" name="Picture 2">
            <a:extLst>
              <a:ext uri="{FF2B5EF4-FFF2-40B4-BE49-F238E27FC236}">
                <a16:creationId xmlns:a16="http://schemas.microsoft.com/office/drawing/2014/main" id="{A0C764B4-7E24-F34F-9238-E53590AF5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1628775"/>
            <a:ext cx="6789738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662" name="Picture 3">
            <a:extLst>
              <a:ext uri="{FF2B5EF4-FFF2-40B4-BE49-F238E27FC236}">
                <a16:creationId xmlns:a16="http://schemas.microsoft.com/office/drawing/2014/main" id="{0ED88B30-B888-852B-06FF-ED852708C96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33513" y="4105275"/>
            <a:ext cx="6551612" cy="692150"/>
          </a:xfrm>
          <a:noFill/>
        </p:spPr>
      </p:pic>
      <p:sp>
        <p:nvSpPr>
          <p:cNvPr id="70663" name="Rectangle 5">
            <a:extLst>
              <a:ext uri="{FF2B5EF4-FFF2-40B4-BE49-F238E27FC236}">
                <a16:creationId xmlns:a16="http://schemas.microsoft.com/office/drawing/2014/main" id="{31E8EB9A-5337-AF2F-0E29-681FE84EA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70664" name="_x95405312" descr="EMB000016109a06">
            <a:extLst>
              <a:ext uri="{FF2B5EF4-FFF2-40B4-BE49-F238E27FC236}">
                <a16:creationId xmlns:a16="http://schemas.microsoft.com/office/drawing/2014/main" id="{ABE7FA16-A12A-6712-EF8B-7E3F5DF3F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4868863"/>
            <a:ext cx="4935537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제목 1">
            <a:extLst>
              <a:ext uri="{FF2B5EF4-FFF2-40B4-BE49-F238E27FC236}">
                <a16:creationId xmlns:a16="http://schemas.microsoft.com/office/drawing/2014/main" id="{75150470-67B0-FFD8-7D78-565C0C32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텍스트 필드</a:t>
            </a:r>
          </a:p>
        </p:txBody>
      </p:sp>
      <p:sp>
        <p:nvSpPr>
          <p:cNvPr id="71683" name="내용 개체 틀 2">
            <a:extLst>
              <a:ext uri="{FF2B5EF4-FFF2-40B4-BE49-F238E27FC236}">
                <a16:creationId xmlns:a16="http://schemas.microsoft.com/office/drawing/2014/main" id="{D04C9B08-0EE4-BD35-EC38-102E1FC2C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b="1"/>
              <a:t>텍스트 필드</a:t>
            </a:r>
            <a:r>
              <a:rPr lang="en-US" altLang="ko-KR" sz="2400" b="1"/>
              <a:t>(TextField)</a:t>
            </a:r>
            <a:endParaRPr lang="en-US" altLang="ko-KR" sz="2400"/>
          </a:p>
          <a:p>
            <a:pPr lvl="1"/>
            <a:r>
              <a:rPr lang="ko-KR" altLang="en-US" sz="2000"/>
              <a:t>한 줄의 텍스트를 입력 혹은 출력할 수 있는 컴포넌트</a:t>
            </a:r>
            <a:endParaRPr lang="en-US" altLang="ko-KR" sz="2000"/>
          </a:p>
          <a:p>
            <a:pPr lvl="1"/>
            <a:r>
              <a:rPr lang="ko-KR" altLang="en-US" sz="2000"/>
              <a:t>한 줄의 텍스트가 입력되었을 때 </a:t>
            </a:r>
            <a:r>
              <a:rPr lang="en-US" altLang="ko-KR" sz="2000"/>
              <a:t>ActionEvent</a:t>
            </a:r>
            <a:r>
              <a:rPr lang="ko-KR" altLang="en-US" sz="2000"/>
              <a:t>를 발생시킨다</a:t>
            </a:r>
            <a:r>
              <a:rPr lang="en-US" altLang="ko-KR" sz="2000"/>
              <a:t>.</a:t>
            </a:r>
          </a:p>
          <a:p>
            <a:pPr lvl="1"/>
            <a:endParaRPr lang="en-US" altLang="ko-KR" sz="2000"/>
          </a:p>
          <a:p>
            <a:r>
              <a:rPr lang="en-US" altLang="ko-KR" sz="2400"/>
              <a:t> </a:t>
            </a:r>
            <a:r>
              <a:rPr lang="ko-KR" altLang="en-US" sz="2400"/>
              <a:t>예제 </a:t>
            </a:r>
            <a:r>
              <a:rPr lang="en-US" altLang="ko-KR" sz="2400"/>
              <a:t>Mile.java </a:t>
            </a:r>
          </a:p>
          <a:p>
            <a:pPr lvl="1"/>
            <a:r>
              <a:rPr lang="ko-KR" altLang="en-US" sz="2000"/>
              <a:t>텍스트 필드를 사용하여 마일을 킬로미터로 변환하는 프로그램 </a:t>
            </a:r>
            <a:endParaRPr lang="en-US" altLang="ko-KR" sz="2000"/>
          </a:p>
          <a:p>
            <a:endParaRPr lang="ko-KR" altLang="en-US" sz="240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4EEA42-1B03-1592-B536-E0CFF77F685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71685" name="슬라이드 번호 개체 틀 4">
            <a:extLst>
              <a:ext uri="{FF2B5EF4-FFF2-40B4-BE49-F238E27FC236}">
                <a16:creationId xmlns:a16="http://schemas.microsoft.com/office/drawing/2014/main" id="{DD1996EB-B839-D2A4-5F02-D42C898B5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176912E-D9D3-4970-B621-A91CBFDBD171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kumimoji="0" lang="en-US" altLang="ko-KR" sz="10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제목 1">
            <a:extLst>
              <a:ext uri="{FF2B5EF4-FFF2-40B4-BE49-F238E27FC236}">
                <a16:creationId xmlns:a16="http://schemas.microsoft.com/office/drawing/2014/main" id="{624BC1A7-70A5-D2F4-6D0C-89347226A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2707" name="내용 개체 틀 2">
            <a:extLst>
              <a:ext uri="{FF2B5EF4-FFF2-40B4-BE49-F238E27FC236}">
                <a16:creationId xmlns:a16="http://schemas.microsoft.com/office/drawing/2014/main" id="{52B0ACFF-BBB0-6142-588E-268BC24B1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979C17-788C-FEE9-2FEB-3CC5F9EE79D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72709" name="슬라이드 번호 개체 틀 4">
            <a:extLst>
              <a:ext uri="{FF2B5EF4-FFF2-40B4-BE49-F238E27FC236}">
                <a16:creationId xmlns:a16="http://schemas.microsoft.com/office/drawing/2014/main" id="{D9B278DB-B033-EBEE-6D04-6B85C3705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03D6FBB-B9F9-46AD-81E5-513D54F90909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kumimoji="0" lang="en-US" altLang="ko-KR" sz="1000"/>
          </a:p>
        </p:txBody>
      </p:sp>
      <p:pic>
        <p:nvPicPr>
          <p:cNvPr id="72710" name="Picture 2">
            <a:extLst>
              <a:ext uri="{FF2B5EF4-FFF2-40B4-BE49-F238E27FC236}">
                <a16:creationId xmlns:a16="http://schemas.microsoft.com/office/drawing/2014/main" id="{8828974B-E27B-715C-160F-24D8C706C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333375"/>
            <a:ext cx="5999162" cy="561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제목 1">
            <a:extLst>
              <a:ext uri="{FF2B5EF4-FFF2-40B4-BE49-F238E27FC236}">
                <a16:creationId xmlns:a16="http://schemas.microsoft.com/office/drawing/2014/main" id="{D078C3CE-CABF-E2CD-F4B3-F1A3EDB28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3731" name="내용 개체 틀 2">
            <a:extLst>
              <a:ext uri="{FF2B5EF4-FFF2-40B4-BE49-F238E27FC236}">
                <a16:creationId xmlns:a16="http://schemas.microsoft.com/office/drawing/2014/main" id="{5862C6DF-92F4-75F4-0114-5A04F64A7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4B31A8-4863-4362-B298-F79FCCB0069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73733" name="슬라이드 번호 개체 틀 4">
            <a:extLst>
              <a:ext uri="{FF2B5EF4-FFF2-40B4-BE49-F238E27FC236}">
                <a16:creationId xmlns:a16="http://schemas.microsoft.com/office/drawing/2014/main" id="{79DDF1B8-266C-555D-A90F-698470B21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0186FFF-ACDA-479C-885D-6A114EC1F68B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kumimoji="0" lang="en-US" altLang="ko-KR" sz="1000"/>
          </a:p>
        </p:txBody>
      </p:sp>
      <p:pic>
        <p:nvPicPr>
          <p:cNvPr id="73734" name="Picture 2">
            <a:extLst>
              <a:ext uri="{FF2B5EF4-FFF2-40B4-BE49-F238E27FC236}">
                <a16:creationId xmlns:a16="http://schemas.microsoft.com/office/drawing/2014/main" id="{0ABC77CD-58A5-66E7-46FB-4651768BF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114300"/>
            <a:ext cx="5329237" cy="662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제목 1">
            <a:extLst>
              <a:ext uri="{FF2B5EF4-FFF2-40B4-BE49-F238E27FC236}">
                <a16:creationId xmlns:a16="http://schemas.microsoft.com/office/drawing/2014/main" id="{F7C4EEE9-51FE-17FB-CB0F-69C7F0983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4755" name="내용 개체 틀 2">
            <a:extLst>
              <a:ext uri="{FF2B5EF4-FFF2-40B4-BE49-F238E27FC236}">
                <a16:creationId xmlns:a16="http://schemas.microsoft.com/office/drawing/2014/main" id="{388A5946-D835-E1CA-F82D-FE07E5F22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9F0F0F-9512-2A84-C1BD-53AEA84A424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74757" name="슬라이드 번호 개체 틀 4">
            <a:extLst>
              <a:ext uri="{FF2B5EF4-FFF2-40B4-BE49-F238E27FC236}">
                <a16:creationId xmlns:a16="http://schemas.microsoft.com/office/drawing/2014/main" id="{F2BBCF4A-0978-C475-DB51-49BB9E2D9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C81276-F5BA-4EB8-9AE1-9C8F7F0B0DB9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kumimoji="0" lang="en-US" altLang="ko-KR" sz="1000"/>
          </a:p>
        </p:txBody>
      </p:sp>
      <p:pic>
        <p:nvPicPr>
          <p:cNvPr id="74758" name="Picture 2">
            <a:extLst>
              <a:ext uri="{FF2B5EF4-FFF2-40B4-BE49-F238E27FC236}">
                <a16:creationId xmlns:a16="http://schemas.microsoft.com/office/drawing/2014/main" id="{707CFE2E-02DD-1874-5FEC-C93F99546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404813"/>
            <a:ext cx="7042150" cy="433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9" name="Rectangle 4">
            <a:extLst>
              <a:ext uri="{FF2B5EF4-FFF2-40B4-BE49-F238E27FC236}">
                <a16:creationId xmlns:a16="http://schemas.microsoft.com/office/drawing/2014/main" id="{8459843A-D335-E18A-81D1-5EFE95038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74760" name="_x95405312" descr="EMB000016109a14">
            <a:extLst>
              <a:ext uri="{FF2B5EF4-FFF2-40B4-BE49-F238E27FC236}">
                <a16:creationId xmlns:a16="http://schemas.microsoft.com/office/drawing/2014/main" id="{880F9286-09DF-4CB2-29E8-B13E043A0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4724400"/>
            <a:ext cx="4240213" cy="151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제목 1">
            <a:extLst>
              <a:ext uri="{FF2B5EF4-FFF2-40B4-BE49-F238E27FC236}">
                <a16:creationId xmlns:a16="http://schemas.microsoft.com/office/drawing/2014/main" id="{D384D530-660A-3930-C1B8-C2A924BCF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텍스트 영역</a:t>
            </a:r>
            <a:r>
              <a:rPr lang="en-US" altLang="ko-KR"/>
              <a:t>(Text Area)</a:t>
            </a:r>
            <a:endParaRPr lang="ko-KR" altLang="en-US"/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D5361AC5-833E-E570-E18F-1ED10FEF51A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95288" y="1557338"/>
          <a:ext cx="8353425" cy="5148262"/>
        </p:xfrm>
        <a:graphic>
          <a:graphicData uri="http://schemas.openxmlformats.org/drawingml/2006/table">
            <a:tbl>
              <a:tblPr/>
              <a:tblGrid>
                <a:gridCol w="3816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6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53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 err="1">
                          <a:solidFill>
                            <a:srgbClr val="000000"/>
                          </a:solidFill>
                          <a:latin typeface="굴림체"/>
                        </a:rPr>
                        <a:t>생성자</a:t>
                      </a: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굴림체"/>
                        </a:rPr>
                        <a:t> 및 </a:t>
                      </a:r>
                      <a:r>
                        <a:rPr lang="ko-KR" altLang="en-US" sz="1400" b="1" dirty="0" err="1">
                          <a:solidFill>
                            <a:srgbClr val="000000"/>
                          </a:solidFill>
                          <a:latin typeface="굴림체"/>
                        </a:rPr>
                        <a:t>메소드</a:t>
                      </a: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굴림체"/>
                        </a:rPr>
                        <a:t> </a:t>
                      </a:r>
                      <a:endParaRPr lang="ko-KR" altLang="en-US" sz="1400" dirty="0">
                        <a:solidFill>
                          <a:srgbClr val="000000"/>
                        </a:solidFill>
                        <a:latin typeface="한컴바탕"/>
                      </a:endParaRPr>
                    </a:p>
                  </a:txBody>
                  <a:tcPr marL="72013" marR="72013" marT="71995" marB="7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굴림체"/>
                        </a:rPr>
                        <a:t>설명</a:t>
                      </a:r>
                      <a:endParaRPr lang="ko-KR" altLang="en-US" sz="1400">
                        <a:solidFill>
                          <a:srgbClr val="000000"/>
                        </a:solidFill>
                        <a:latin typeface="한컴바탕"/>
                      </a:endParaRPr>
                    </a:p>
                  </a:txBody>
                  <a:tcPr marL="72013" marR="72013" marT="71995" marB="7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102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JTextArea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(</a:t>
                      </a:r>
                      <a:r>
                        <a:rPr lang="en-US" sz="1600" dirty="0" err="1">
                          <a:solidFill>
                            <a:srgbClr val="0000FF"/>
                          </a:solidFill>
                          <a:latin typeface="Lucida Console" pitchFamily="49" charset="0"/>
                          <a:ea typeface="굴림체"/>
                        </a:rPr>
                        <a:t>int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rows, </a:t>
                      </a:r>
                      <a:r>
                        <a:rPr lang="en-US" sz="1600" dirty="0" err="1">
                          <a:solidFill>
                            <a:srgbClr val="0000FF"/>
                          </a:solidFill>
                          <a:latin typeface="Lucida Console" pitchFamily="49" charset="0"/>
                          <a:ea typeface="굴림체"/>
                        </a:rPr>
                        <a:t>int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cols)</a:t>
                      </a:r>
                      <a:endParaRPr lang="en-US" sz="16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72013" marR="72013" marT="71995" marB="7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rows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행 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cols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열의 크기를 갖는 텍스트 영역을 생성</a:t>
                      </a:r>
                    </a:p>
                  </a:txBody>
                  <a:tcPr marL="72013" marR="72013" marT="71995" marB="7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4212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JTextArea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(String s, </a:t>
                      </a:r>
                      <a:r>
                        <a:rPr lang="en-US" sz="1600" dirty="0" err="1">
                          <a:solidFill>
                            <a:srgbClr val="0000FF"/>
                          </a:solidFill>
                          <a:latin typeface="Lucida Console" pitchFamily="49" charset="0"/>
                          <a:ea typeface="굴림체"/>
                        </a:rPr>
                        <a:t>int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rows, </a:t>
                      </a:r>
                      <a:r>
                        <a:rPr lang="en-US" sz="1600" dirty="0" err="1">
                          <a:solidFill>
                            <a:srgbClr val="0000FF"/>
                          </a:solidFill>
                          <a:latin typeface="Lucida Console" pitchFamily="49" charset="0"/>
                          <a:ea typeface="굴림체"/>
                        </a:rPr>
                        <a:t>int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cols)</a:t>
                      </a:r>
                      <a:endParaRPr lang="en-US" sz="16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72013" marR="72013" marT="71995" marB="7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rows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행 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cols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열의 크기를 갖는 텍스트 영역을 생성하고 </a:t>
                      </a:r>
                      <a:r>
                        <a:rPr lang="ko-KR" altLang="en-US" sz="140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스트링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로 초기화한다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72013" marR="72013" marT="71995" marB="7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102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setText(String s) </a:t>
                      </a:r>
                      <a:endParaRPr lang="en-US" sz="160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72013" marR="72013" marT="71995" marB="7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이 텍스트 영역의 텍스트를 </a:t>
                      </a:r>
                      <a:r>
                        <a:rPr lang="ko-KR" altLang="en-US" sz="140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스트링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로 설정한다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</a:txBody>
                  <a:tcPr marL="72013" marR="72013" marT="71995" marB="7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102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append(String s)</a:t>
                      </a:r>
                      <a:endParaRPr lang="en-US" sz="160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72013" marR="72013" marT="71995" marB="7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이 텍스트 영역의 텍스트를 </a:t>
                      </a:r>
                      <a:r>
                        <a:rPr lang="ko-KR" altLang="en-US" sz="140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스트링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를 첨부한다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72013" marR="72013" marT="71995" marB="7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102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setFont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(Font f) </a:t>
                      </a:r>
                      <a:endParaRPr lang="en-US" sz="16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72013" marR="72013" marT="71995" marB="7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현재의 폰트를 설정한다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72013" marR="72013" marT="71995" marB="7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4102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insert(String s, </a:t>
                      </a:r>
                      <a:r>
                        <a:rPr lang="en-US" sz="1600" dirty="0" err="1">
                          <a:solidFill>
                            <a:srgbClr val="0000FF"/>
                          </a:solidFill>
                          <a:latin typeface="Lucida Console" pitchFamily="49" charset="0"/>
                          <a:ea typeface="굴림체"/>
                        </a:rPr>
                        <a:t>int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 pos)</a:t>
                      </a:r>
                      <a:endParaRPr lang="en-US" sz="16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72013" marR="72013" marT="71995" marB="7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이 텍스트 영역의 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pos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위치에 </a:t>
                      </a:r>
                      <a:r>
                        <a:rPr lang="ko-KR" altLang="en-US" sz="140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스트링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를 삽입</a:t>
                      </a:r>
                      <a:endParaRPr lang="en-US" altLang="ko-KR" sz="14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72013" marR="72013" marT="71995" marB="7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102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getText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()</a:t>
                      </a:r>
                      <a:endParaRPr lang="en-US" sz="16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72013" marR="72013" marT="71995" marB="7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이 텍스트 영역의 텍스트를 </a:t>
                      </a:r>
                      <a:r>
                        <a:rPr lang="ko-KR" altLang="en-US" sz="140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리턴한다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</a:txBody>
                  <a:tcPr marL="72013" marR="72013" marT="71995" marB="7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4102"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getLineCount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Lucida Console" pitchFamily="49" charset="0"/>
                          <a:ea typeface="굴림체"/>
                        </a:rPr>
                        <a:t>()</a:t>
                      </a:r>
                      <a:endParaRPr lang="en-US" sz="1600" dirty="0">
                        <a:solidFill>
                          <a:srgbClr val="000000"/>
                        </a:solidFill>
                        <a:latin typeface="Lucida Console" pitchFamily="49" charset="0"/>
                      </a:endParaRPr>
                    </a:p>
                  </a:txBody>
                  <a:tcPr marL="72013" marR="72013" marT="71995" marB="7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이 텍스트 영역의 줄 수를 </a:t>
                      </a:r>
                      <a:r>
                        <a:rPr lang="ko-KR" altLang="en-US" sz="140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리턴한다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72013" marR="72013" marT="71995" marB="7199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03F755-2A7A-CF17-A7C6-5C1DE1442FE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75812" name="슬라이드 번호 개체 틀 4">
            <a:extLst>
              <a:ext uri="{FF2B5EF4-FFF2-40B4-BE49-F238E27FC236}">
                <a16:creationId xmlns:a16="http://schemas.microsoft.com/office/drawing/2014/main" id="{9E8456C4-3D8D-FF67-C3E1-F934F865F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298F1A1-FB08-4FF2-B159-AC17E10D8EB0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kumimoji="0" lang="en-US" altLang="ko-KR" sz="1000"/>
          </a:p>
        </p:txBody>
      </p:sp>
      <p:sp>
        <p:nvSpPr>
          <p:cNvPr id="75813" name="Rectangle 1">
            <a:extLst>
              <a:ext uri="{FF2B5EF4-FFF2-40B4-BE49-F238E27FC236}">
                <a16:creationId xmlns:a16="http://schemas.microsoft.com/office/drawing/2014/main" id="{59059353-9F0B-DA9E-F56C-8015FC067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제목 1">
            <a:extLst>
              <a:ext uri="{FF2B5EF4-FFF2-40B4-BE49-F238E27FC236}">
                <a16:creationId xmlns:a16="http://schemas.microsoft.com/office/drawing/2014/main" id="{66FCCAB7-C883-6102-DCAD-C80091731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6803" name="내용 개체 틀 2">
            <a:extLst>
              <a:ext uri="{FF2B5EF4-FFF2-40B4-BE49-F238E27FC236}">
                <a16:creationId xmlns:a16="http://schemas.microsoft.com/office/drawing/2014/main" id="{E0D43FEE-6326-BDAD-038F-92417A800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B3A43E-18BB-71E2-055D-8B13F4F1C68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76805" name="슬라이드 번호 개체 틀 4">
            <a:extLst>
              <a:ext uri="{FF2B5EF4-FFF2-40B4-BE49-F238E27FC236}">
                <a16:creationId xmlns:a16="http://schemas.microsoft.com/office/drawing/2014/main" id="{732AE46D-DAAA-4E42-E846-B70483E90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8164EF5-93AE-453E-8453-F6EF8D004D92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kumimoji="0" lang="en-US" altLang="ko-KR" sz="1000"/>
          </a:p>
        </p:txBody>
      </p:sp>
      <p:pic>
        <p:nvPicPr>
          <p:cNvPr id="76806" name="Picture 2">
            <a:extLst>
              <a:ext uri="{FF2B5EF4-FFF2-40B4-BE49-F238E27FC236}">
                <a16:creationId xmlns:a16="http://schemas.microsoft.com/office/drawing/2014/main" id="{51FB13B4-94E3-5462-20E8-4988A7368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333375"/>
            <a:ext cx="6989763" cy="554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제목 1">
            <a:extLst>
              <a:ext uri="{FF2B5EF4-FFF2-40B4-BE49-F238E27FC236}">
                <a16:creationId xmlns:a16="http://schemas.microsoft.com/office/drawing/2014/main" id="{183DEC5E-02FD-61AB-8124-5E9008D34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7827" name="내용 개체 틀 2">
            <a:extLst>
              <a:ext uri="{FF2B5EF4-FFF2-40B4-BE49-F238E27FC236}">
                <a16:creationId xmlns:a16="http://schemas.microsoft.com/office/drawing/2014/main" id="{AD95330F-8441-A62D-2D8C-34956229D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4C14AA-1B2E-5C58-46F8-BEF7553F574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77829" name="슬라이드 번호 개체 틀 4">
            <a:extLst>
              <a:ext uri="{FF2B5EF4-FFF2-40B4-BE49-F238E27FC236}">
                <a16:creationId xmlns:a16="http://schemas.microsoft.com/office/drawing/2014/main" id="{88BF7AD1-919C-1D9F-ED09-936161C18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11C90CB-65B0-423D-BC04-D42C151E1F26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kumimoji="0" lang="en-US" altLang="ko-KR" sz="1000"/>
          </a:p>
        </p:txBody>
      </p:sp>
      <p:pic>
        <p:nvPicPr>
          <p:cNvPr id="77830" name="Picture 2">
            <a:extLst>
              <a:ext uri="{FF2B5EF4-FFF2-40B4-BE49-F238E27FC236}">
                <a16:creationId xmlns:a16="http://schemas.microsoft.com/office/drawing/2014/main" id="{10ACA3C2-EDCE-B234-59E9-88DA6FBD2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404813"/>
            <a:ext cx="7589837" cy="396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1" name="Rectangle 4">
            <a:extLst>
              <a:ext uri="{FF2B5EF4-FFF2-40B4-BE49-F238E27FC236}">
                <a16:creationId xmlns:a16="http://schemas.microsoft.com/office/drawing/2014/main" id="{BDAC9F48-FC78-9202-171C-C61FDAA38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77832" name="_x95405312" descr="EMB000016109a15">
            <a:extLst>
              <a:ext uri="{FF2B5EF4-FFF2-40B4-BE49-F238E27FC236}">
                <a16:creationId xmlns:a16="http://schemas.microsoft.com/office/drawing/2014/main" id="{C5961237-00CF-9DA5-ABA6-90A716595C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13" y="4221163"/>
            <a:ext cx="3457575" cy="215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4">
            <a:extLst>
              <a:ext uri="{FF2B5EF4-FFF2-40B4-BE49-F238E27FC236}">
                <a16:creationId xmlns:a16="http://schemas.microsoft.com/office/drawing/2014/main" id="{E85CE19B-1575-C809-DE1A-430654D0A74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000">
                <a:latin typeface="Tahoma" panose="020B0604030504040204" pitchFamily="34" charset="0"/>
                <a:ea typeface="굴림" panose="020B0600000101010101" pitchFamily="50" charset="-127"/>
              </a:rPr>
              <a:t>© </a:t>
            </a:r>
            <a:r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t>창병모</a:t>
            </a:r>
            <a:r>
              <a:rPr kumimoji="0" lang="en-US" altLang="ko-KR" sz="1000">
                <a:latin typeface="Tahoma" panose="020B0604030504040204" pitchFamily="34" charset="0"/>
                <a:ea typeface="굴림" panose="020B0600000101010101" pitchFamily="50" charset="-127"/>
              </a:rPr>
              <a:t>,</a:t>
            </a:r>
            <a:r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t>우균</a:t>
            </a:r>
            <a:endParaRPr kumimoji="0" lang="en-US" altLang="ko-KR" sz="10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78851" name="Rectangle 6">
            <a:extLst>
              <a:ext uri="{FF2B5EF4-FFF2-40B4-BE49-F238E27FC236}">
                <a16:creationId xmlns:a16="http://schemas.microsoft.com/office/drawing/2014/main" id="{416E0ECF-ACA0-92FC-49E9-EC18F001FE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CF396EF-2829-4C5D-B32D-CBFBAB8C72BB}" type="slidenum">
              <a:rPr kumimoji="0" lang="ko-KR" altLang="en-US" sz="1000">
                <a:latin typeface="Tahoma" panose="020B0604030504040204" pitchFamily="34" charset="0"/>
                <a:ea typeface="굴림" panose="020B0600000101010101" pitchFamily="50" charset="-127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kumimoji="0" lang="en-US" altLang="ko-KR" sz="1000">
              <a:latin typeface="Tahom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34F308AC-92E7-E98F-38FB-B2A82F34292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Key Point </a:t>
            </a:r>
            <a:endParaRPr lang="ko-KR" altLang="en-US"/>
          </a:p>
        </p:txBody>
      </p:sp>
      <p:sp>
        <p:nvSpPr>
          <p:cNvPr id="78853" name="Rectangle 4">
            <a:extLst>
              <a:ext uri="{FF2B5EF4-FFF2-40B4-BE49-F238E27FC236}">
                <a16:creationId xmlns:a16="http://schemas.microsoft.com/office/drawing/2014/main" id="{77670051-FF04-6229-D2A2-166B1CD9B42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A0DE02-D39B-F59B-4A04-529D9F97B05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© </a:t>
            </a:r>
            <a:r>
              <a:rPr lang="ko-KR" altLang="en-US"/>
              <a:t>창병모</a:t>
            </a:r>
            <a:r>
              <a:rPr lang="en-US" altLang="ko-KR"/>
              <a:t>,</a:t>
            </a:r>
            <a:r>
              <a:rPr lang="ko-KR" altLang="en-US"/>
              <a:t>우균</a:t>
            </a:r>
            <a:endParaRPr lang="en-US" altLang="ko-KR"/>
          </a:p>
        </p:txBody>
      </p:sp>
      <p:sp>
        <p:nvSpPr>
          <p:cNvPr id="80899" name="슬라이드 번호 개체 틀 5">
            <a:extLst>
              <a:ext uri="{FF2B5EF4-FFF2-40B4-BE49-F238E27FC236}">
                <a16:creationId xmlns:a16="http://schemas.microsoft.com/office/drawing/2014/main" id="{7BB3D404-E997-770B-55FD-7A30D261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1458618-5591-4F0B-97C7-BBF5ACCF0354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kumimoji="0" lang="en-US" altLang="ko-KR" sz="1000"/>
          </a:p>
        </p:txBody>
      </p:sp>
      <p:sp>
        <p:nvSpPr>
          <p:cNvPr id="80900" name="Rectangle 2">
            <a:extLst>
              <a:ext uri="{FF2B5EF4-FFF2-40B4-BE49-F238E27FC236}">
                <a16:creationId xmlns:a16="http://schemas.microsoft.com/office/drawing/2014/main" id="{F88D6766-339B-4ED9-F67B-81D30DA2E0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solidFill>
                  <a:schemeClr val="tx1"/>
                </a:solidFill>
              </a:rPr>
              <a:t>Key Point </a:t>
            </a:r>
          </a:p>
        </p:txBody>
      </p:sp>
      <p:sp>
        <p:nvSpPr>
          <p:cNvPr id="80901" name="Rectangle 3">
            <a:extLst>
              <a:ext uri="{FF2B5EF4-FFF2-40B4-BE49-F238E27FC236}">
                <a16:creationId xmlns:a16="http://schemas.microsoft.com/office/drawing/2014/main" id="{3820A8BC-DBB7-3935-7F28-E19E79E8C3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000"/>
              <a:t>크기가 </a:t>
            </a:r>
            <a:r>
              <a:rPr lang="en-US" altLang="ko-KR" sz="2000"/>
              <a:t>N</a:t>
            </a:r>
            <a:r>
              <a:rPr lang="ko-KR" altLang="en-US" sz="2000"/>
              <a:t>인 배열의 인덱스는 </a:t>
            </a:r>
            <a:r>
              <a:rPr lang="en-US" altLang="ko-KR" sz="2000"/>
              <a:t>0</a:t>
            </a:r>
            <a:r>
              <a:rPr lang="ko-KR" altLang="en-US" sz="2000"/>
              <a:t>부터 </a:t>
            </a:r>
            <a:r>
              <a:rPr lang="en-US" altLang="ko-KR" sz="2000"/>
              <a:t>N-1</a:t>
            </a:r>
            <a:r>
              <a:rPr lang="ko-KR" altLang="en-US" sz="2000"/>
              <a:t>까지이다</a:t>
            </a:r>
            <a:r>
              <a:rPr lang="en-US" altLang="ko-KR" sz="2000"/>
              <a:t>. </a:t>
            </a:r>
          </a:p>
          <a:p>
            <a:r>
              <a:rPr lang="ko-KR" altLang="en-US" sz="2000"/>
              <a:t>배열도 다른 객체처럼 </a:t>
            </a:r>
            <a:r>
              <a:rPr lang="en-US" altLang="ko-KR" sz="2000"/>
              <a:t>new</a:t>
            </a:r>
            <a:r>
              <a:rPr lang="ko-KR" altLang="en-US" sz="2000"/>
              <a:t> 연산자를 이용해서 반드시 실체화되어야 한다</a:t>
            </a:r>
            <a:r>
              <a:rPr lang="en-US" altLang="ko-KR" sz="2000"/>
              <a:t>.</a:t>
            </a:r>
            <a:endParaRPr lang="ko-KR" altLang="en-US" sz="2000"/>
          </a:p>
          <a:p>
            <a:r>
              <a:rPr lang="ko-KR" altLang="en-US" sz="2000"/>
              <a:t>배열 인덱스가 유효 범위를 벗어나면</a:t>
            </a:r>
            <a:r>
              <a:rPr lang="en-US" altLang="ko-KR" sz="2000"/>
              <a:t>, </a:t>
            </a:r>
            <a:r>
              <a:rPr lang="ko-KR" altLang="en-US" sz="2000"/>
              <a:t>자동적으로 </a:t>
            </a:r>
            <a:r>
              <a:rPr lang="en-US" altLang="ko-KR" sz="2000"/>
              <a:t>ArrayIndexOutOfBoundsException</a:t>
            </a:r>
            <a:r>
              <a:rPr lang="ko-KR" altLang="en-US" sz="2000"/>
              <a:t>이 발생된다</a:t>
            </a:r>
            <a:r>
              <a:rPr lang="en-US" altLang="ko-KR" sz="2000"/>
              <a:t>. </a:t>
            </a:r>
          </a:p>
          <a:p>
            <a:r>
              <a:rPr lang="ko-KR" altLang="en-US" sz="2000"/>
              <a:t>가변 길이 매개변수 리스트는 동일 타입의 임의의 개수의 매개변수를 받는다</a:t>
            </a:r>
            <a:r>
              <a:rPr lang="en-US" altLang="ko-KR" sz="2000"/>
              <a:t>.</a:t>
            </a:r>
          </a:p>
          <a:p>
            <a:r>
              <a:rPr lang="en-US" altLang="ko-KR" sz="2000"/>
              <a:t>Java</a:t>
            </a:r>
            <a:r>
              <a:rPr lang="ko-KR" altLang="en-US" sz="2000"/>
              <a:t>는 기본 값들의 배열뿐만 아니라 객체들의 배열을 제공한다</a:t>
            </a:r>
            <a:r>
              <a:rPr lang="en-US" altLang="ko-KR" sz="2000"/>
              <a:t>. </a:t>
            </a:r>
          </a:p>
          <a:p>
            <a:r>
              <a:rPr lang="ko-KR" altLang="en-US" sz="2000"/>
              <a:t>이차원 배열은 행과 열로 이루어진 테이블로 생각할 수 있다</a:t>
            </a:r>
            <a:r>
              <a:rPr lang="en-US" altLang="ko-KR" sz="2000"/>
              <a:t>.</a:t>
            </a:r>
          </a:p>
          <a:p>
            <a:r>
              <a:rPr lang="en-US" altLang="ko-KR" sz="2000"/>
              <a:t>ArrayList</a:t>
            </a:r>
            <a:r>
              <a:rPr lang="ko-KR" altLang="en-US" sz="2000"/>
              <a:t>는 동적으로 크기가 변하는 일종의 배열이다</a:t>
            </a:r>
            <a:r>
              <a:rPr lang="en-US" altLang="ko-KR" sz="2000"/>
              <a:t>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850D39-31B2-4D0D-D9CA-35F59B7C698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© 우균, 창병모</a:t>
            </a:r>
            <a:endParaRPr lang="en-US" altLang="ko-KR"/>
          </a:p>
        </p:txBody>
      </p:sp>
      <p:sp>
        <p:nvSpPr>
          <p:cNvPr id="82947" name="슬라이드 번호 개체 틀 5">
            <a:extLst>
              <a:ext uri="{FF2B5EF4-FFF2-40B4-BE49-F238E27FC236}">
                <a16:creationId xmlns:a16="http://schemas.microsoft.com/office/drawing/2014/main" id="{2E8C4118-0993-A989-53DE-FC29A19E4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00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496C92A-575F-4CD1-9822-655331B68696}" type="slidenum">
              <a:rPr kumimoji="0" lang="ko-KR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kumimoji="0" lang="en-US" altLang="ko-KR" sz="1000"/>
          </a:p>
        </p:txBody>
      </p:sp>
      <p:sp>
        <p:nvSpPr>
          <p:cNvPr id="82948" name="Rectangle 2">
            <a:extLst>
              <a:ext uri="{FF2B5EF4-FFF2-40B4-BE49-F238E27FC236}">
                <a16:creationId xmlns:a16="http://schemas.microsoft.com/office/drawing/2014/main" id="{7A020AA4-0D5B-8343-3964-5D40687AEB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solidFill>
                  <a:schemeClr val="tx1"/>
                </a:solidFill>
              </a:rPr>
              <a:t>▶ 프로그래밍 실습 </a:t>
            </a:r>
            <a:r>
              <a:rPr lang="en-US" altLang="ko-KR">
                <a:solidFill>
                  <a:schemeClr val="tx1"/>
                </a:solidFill>
              </a:rPr>
              <a:t>1 </a:t>
            </a:r>
          </a:p>
        </p:txBody>
      </p:sp>
      <p:sp>
        <p:nvSpPr>
          <p:cNvPr id="82949" name="Rectangle 3">
            <a:extLst>
              <a:ext uri="{FF2B5EF4-FFF2-40B4-BE49-F238E27FC236}">
                <a16:creationId xmlns:a16="http://schemas.microsoft.com/office/drawing/2014/main" id="{BAC13311-34EB-CF91-A081-F480872DE9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ko-KR" sz="2000"/>
              <a:t>1.</a:t>
            </a:r>
            <a:r>
              <a:rPr lang="ko-KR" altLang="en-US" sz="2000" b="1"/>
              <a:t>점수 분포</a:t>
            </a:r>
            <a:endParaRPr lang="ko-KR" altLang="en-US" sz="2000"/>
          </a:p>
          <a:p>
            <a:pPr>
              <a:buFont typeface="Wingdings" panose="05000000000000000000" pitchFamily="2" charset="2"/>
              <a:buNone/>
            </a:pPr>
            <a:r>
              <a:rPr lang="ko-KR" altLang="en-US" sz="2000"/>
              <a:t>    학생들의 점수를 입력 받아 다음과 같이 그 점수대 별로 분포를 출력하는 프로그램을 작성하시오</a:t>
            </a:r>
            <a:r>
              <a:rPr lang="en-US" altLang="ko-KR" sz="2000"/>
              <a:t>. </a:t>
            </a:r>
            <a:r>
              <a:rPr lang="ko-KR" altLang="en-US" sz="2000"/>
              <a:t>점수는 </a:t>
            </a:r>
            <a:r>
              <a:rPr lang="en-US" altLang="ko-KR" sz="2000"/>
              <a:t>0</a:t>
            </a:r>
            <a:r>
              <a:rPr lang="ko-KR" altLang="en-US" sz="2000"/>
              <a:t>부터 </a:t>
            </a:r>
            <a:r>
              <a:rPr lang="en-US" altLang="ko-KR" sz="2000"/>
              <a:t>100</a:t>
            </a:r>
            <a:r>
              <a:rPr lang="ko-KR" altLang="en-US" sz="2000"/>
              <a:t>까지이며 점수대는 </a:t>
            </a:r>
            <a:r>
              <a:rPr lang="en-US" altLang="ko-KR" sz="2000"/>
              <a:t>10</a:t>
            </a:r>
            <a:r>
              <a:rPr lang="ko-KR" altLang="en-US" sz="2000"/>
              <a:t>점 단위로 구분한다</a:t>
            </a:r>
            <a:r>
              <a:rPr lang="en-US" altLang="ko-KR" sz="2000"/>
              <a:t>. </a:t>
            </a:r>
            <a:r>
              <a:rPr lang="ko-KR" altLang="en-US" sz="2000"/>
              <a:t>별표의 수는 입력된 점수 중에 각 점수대에 해당하는 점수의 개수를 나타낸다</a:t>
            </a:r>
            <a:r>
              <a:rPr lang="en-US" altLang="ko-KR" sz="2000"/>
              <a:t>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20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400"/>
              <a:t>[ 0 ~ 10]:***</a:t>
            </a:r>
            <a:endParaRPr lang="ko-KR" altLang="en-US" sz="14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400"/>
              <a:t>[11 ~ 20]:********</a:t>
            </a:r>
            <a:endParaRPr lang="ko-KR" altLang="en-US" sz="14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400"/>
              <a:t>[21 ~ 30]:***********</a:t>
            </a:r>
            <a:endParaRPr lang="ko-KR" altLang="en-US" sz="14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400"/>
              <a:t>[31 ~ 40]:**************</a:t>
            </a:r>
            <a:endParaRPr lang="ko-KR" altLang="en-US" sz="14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400"/>
              <a:t>[41 ~ 50]:******************</a:t>
            </a:r>
            <a:endParaRPr lang="ko-KR" altLang="en-US" sz="14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400"/>
              <a:t>[51 ~ 60]:****************</a:t>
            </a:r>
            <a:endParaRPr lang="ko-KR" altLang="en-US" sz="14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400"/>
              <a:t>[61 ~ 70]:***********</a:t>
            </a:r>
            <a:endParaRPr lang="ko-KR" altLang="en-US" sz="14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400"/>
              <a:t>[71 ~ 80]:********</a:t>
            </a:r>
            <a:endParaRPr lang="ko-KR" altLang="en-US" sz="14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400"/>
              <a:t>[81 ~ 90]:*****</a:t>
            </a:r>
            <a:endParaRPr lang="ko-KR" altLang="en-US" sz="14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ko-KR" sz="1400"/>
              <a:t>[91 ~ 100]:*</a:t>
            </a:r>
            <a:endParaRPr lang="ko-KR" altLang="en-US" sz="140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br>
              <a:rPr lang="ko-KR" altLang="en-US" sz="2000"/>
            </a:br>
            <a:endParaRPr lang="ko-KR" altLang="en-US" sz="20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vel design template">
  <a:themeElements>
    <a:clrScheme name="Level design template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Level design template">
      <a:majorFont>
        <a:latin typeface="HY동녘B"/>
        <a:ea typeface="HY동녘B"/>
        <a:cs typeface="Tahoma"/>
      </a:majorFont>
      <a:minorFont>
        <a:latin typeface="HY동녘B"/>
        <a:ea typeface="HY동녘B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굴림" pitchFamily="50" charset="-127"/>
            <a:cs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굴림" pitchFamily="50" charset="-127"/>
            <a:cs typeface="Tahoma" pitchFamily="34" charset="0"/>
          </a:defRPr>
        </a:defPPr>
      </a:lstStyle>
    </a:lnDef>
  </a:objectDefaults>
  <a:extraClrSchemeLst>
    <a:extraClrScheme>
      <a:clrScheme name="Level design template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design template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design template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design template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design template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design template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design template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design template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RnE</Template>
  <TotalTime>2676</TotalTime>
  <Words>3006</Words>
  <Application>Microsoft Office PowerPoint</Application>
  <PresentationFormat>화면 슬라이드 쇼(4:3)</PresentationFormat>
  <Paragraphs>585</Paragraphs>
  <Slides>66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66</vt:i4>
      </vt:variant>
    </vt:vector>
  </HeadingPairs>
  <TitlesOfParts>
    <vt:vector size="75" baseType="lpstr">
      <vt:lpstr>HY동녘B</vt:lpstr>
      <vt:lpstr>굴림</vt:lpstr>
      <vt:lpstr>굴림체</vt:lpstr>
      <vt:lpstr>한컴바탕</vt:lpstr>
      <vt:lpstr>Lucida Console</vt:lpstr>
      <vt:lpstr>Tahoma</vt:lpstr>
      <vt:lpstr>Times New Roman</vt:lpstr>
      <vt:lpstr>Wingdings</vt:lpstr>
      <vt:lpstr>Level design template</vt:lpstr>
      <vt:lpstr>PART 7 배열</vt:lpstr>
      <vt:lpstr>이 장의 내용 </vt:lpstr>
      <vt:lpstr>7.1 배열 </vt:lpstr>
      <vt:lpstr>배열의 사용</vt:lpstr>
      <vt:lpstr>배열의 원소</vt:lpstr>
      <vt:lpstr>7.2 배열 선언과 사용</vt:lpstr>
      <vt:lpstr>배열 선언</vt:lpstr>
      <vt:lpstr>배열 선언 예</vt:lpstr>
      <vt:lpstr>배열의 사용</vt:lpstr>
      <vt:lpstr>배열 선언 및 초기화 리스트</vt:lpstr>
      <vt:lpstr>PowerPoint 프레젠테이션</vt:lpstr>
      <vt:lpstr>향상된 for 루프</vt:lpstr>
      <vt:lpstr>매개변수로 배열 전달</vt:lpstr>
      <vt:lpstr>PowerPoint 프레젠테이션</vt:lpstr>
      <vt:lpstr>PowerPoint 프레젠테이션</vt:lpstr>
      <vt:lpstr>명령줄 인수</vt:lpstr>
      <vt:lpstr>PowerPoint 프레젠테이션</vt:lpstr>
      <vt:lpstr>가변 길이 매개변수 리스트</vt:lpstr>
      <vt:lpstr>가변 길이 매개변수 리스트</vt:lpstr>
      <vt:lpstr>7.3 객체들의 배열 </vt:lpstr>
      <vt:lpstr>객체들의 배열</vt:lpstr>
      <vt:lpstr>객체들의 배열: 예</vt:lpstr>
      <vt:lpstr>PowerPoint 프레젠테이션</vt:lpstr>
      <vt:lpstr>PowerPoint 프레젠테이션</vt:lpstr>
      <vt:lpstr>PowerPoint 프레젠테이션</vt:lpstr>
      <vt:lpstr>7.4 다차원 배열 </vt:lpstr>
      <vt:lpstr>다차원 배열</vt:lpstr>
      <vt:lpstr>이차원 배열</vt:lpstr>
      <vt:lpstr>이차원 배열</vt:lpstr>
      <vt:lpstr>이차원 배열 예</vt:lpstr>
      <vt:lpstr>PowerPoint 프레젠테이션</vt:lpstr>
      <vt:lpstr>PowerPoint 프레젠테이션</vt:lpstr>
      <vt:lpstr>7.5 ArrayList 클래스</vt:lpstr>
      <vt:lpstr>ArrayList</vt:lpstr>
      <vt:lpstr>ArrayList 메소드</vt:lpstr>
      <vt:lpstr>PhoneBook 클래스 재작성</vt:lpstr>
      <vt:lpstr>PowerPoint 프레젠테이션</vt:lpstr>
      <vt:lpstr>PowerPoint 프레젠테이션</vt:lpstr>
      <vt:lpstr>Iterator</vt:lpstr>
      <vt:lpstr>Iterator 예제 </vt:lpstr>
      <vt:lpstr>lookup 메소드 재작성</vt:lpstr>
      <vt:lpstr>정적 변수(static variable)</vt:lpstr>
      <vt:lpstr>정적 메소드(static method)</vt:lpstr>
      <vt:lpstr>7.6 열거 타입</vt:lpstr>
      <vt:lpstr>열거 타입(enumerated type)</vt:lpstr>
      <vt:lpstr>열거 타입의 values 메소드</vt:lpstr>
      <vt:lpstr>열거 타입과 switch</vt:lpstr>
      <vt:lpstr>7.7 이벤트 구동 프로그램</vt:lpstr>
      <vt:lpstr>이벤트 구동 GUI 프로그램</vt:lpstr>
      <vt:lpstr>컴포넌트</vt:lpstr>
      <vt:lpstr>이벤트, 리스너</vt:lpstr>
      <vt:lpstr>GUI 예제 : Answer.java</vt:lpstr>
      <vt:lpstr>PowerPoint 프레젠테이션</vt:lpstr>
      <vt:lpstr>PowerPoint 프레젠테이션</vt:lpstr>
      <vt:lpstr>리스너 작성</vt:lpstr>
      <vt:lpstr>리스너 ButtonListener</vt:lpstr>
      <vt:lpstr>텍스트 필드</vt:lpstr>
      <vt:lpstr>PowerPoint 프레젠테이션</vt:lpstr>
      <vt:lpstr>PowerPoint 프레젠테이션</vt:lpstr>
      <vt:lpstr>PowerPoint 프레젠테이션</vt:lpstr>
      <vt:lpstr>텍스트 영역(Text Area)</vt:lpstr>
      <vt:lpstr>PowerPoint 프레젠테이션</vt:lpstr>
      <vt:lpstr>PowerPoint 프레젠테이션</vt:lpstr>
      <vt:lpstr>Key Point </vt:lpstr>
      <vt:lpstr>Key Point </vt:lpstr>
      <vt:lpstr>▶ 프로그래밍 실습 1 </vt:lpstr>
    </vt:vector>
  </TitlesOfParts>
  <Company>숙명여자대학교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 서론</dc:title>
  <dc:creator>창병모</dc:creator>
  <cp:lastModifiedBy>현우 김</cp:lastModifiedBy>
  <cp:revision>354</cp:revision>
  <cp:lastPrinted>1995-10-08T01:49:42Z</cp:lastPrinted>
  <dcterms:created xsi:type="dcterms:W3CDTF">1995-11-01T10:23:08Z</dcterms:created>
  <dcterms:modified xsi:type="dcterms:W3CDTF">2026-06-05T12:46:13Z</dcterms:modified>
</cp:coreProperties>
</file>